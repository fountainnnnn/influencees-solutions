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95FC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p:scale>
          <a:sx n="100" d="100"/>
          <a:sy n="100" d="100"/>
        </p:scale>
        <p:origin x="420" y="1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~20s. One track, two solutions for the same company. Solution 1 is an internal BD tool that actually sends and reads messages. Solution 2 is a full redesign of the public site. Both are demoable. Move quickly.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~20s. One line on what Influencees is, then the two solutions: more brands in the door (BD agent), and a site that looks as trustworthy as the product (redesign). Don't linger.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~25s. The core idea: a real operator, not a text generator. The key feature is the switch between human-approval and fully autonomous, per conversation. Mention takeover, and that messages are evidence-bound so they don't read as spam.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~25s. Walk the seven steps fast. Key point at the bottom: messages are specific and sourced, not generic AI outreach. Read one line of the sample if time allows. Step 5 (Send) is highlighted because that's where the autonomy switch acts.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~20s. Point at the shared inbox: the exact outgoing message, the live thread, and company context sit together. Human and autonomous modes visibly diverge. Take over any thread and hand it back. Screenshots are placeholders you'll paste in.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~25s. The honesty slide: a working demo on seeded data, deliberately, so it can't fail live. Then it's built to go real, layer by layer: Bright Data for research, n8n or a custom service for orchestration, a swappable channel adapter for sending. Nothing hand-wavy.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~30s. Constructive tone, this is the founder's own site. Lead with the framing: the substance is good, the system is missing. Hit the pricing conflict first (strongest, concrete). Keep it evidence-based. Straight from the site audit.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~20s. Quick sweep: same system across all pages. Point out one or two, Home and the creator directory. Placeholders are for your screenshots. Captions say the improvement each page makes.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~25s. The payoff. Lead with the pricing fix, clearest credibility win. Then status labels and split journeys. Close the point: a system change, so the site finally matches the quality of the data underneath.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~15s. Land it: one track, two solutions, both sides covered. BD agent is demoable today and live-ready. Redesign makes the site credible. Stop on time.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hyperlink" Target="https://influencees-website.vercel.app/" TargetMode="External"/><Relationship Id="rId2" Type="http://schemas.openxmlformats.org/officeDocument/2006/relationships/hyperlink" Target="https://influencees-bd-agent.vercel.app/" TargetMode="Externa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9F3D7D07-D2EB-4959-8AAA-286ECE637F22}"/>
              </a:ext>
            </a:extLst>
          </p:cNvPr>
          <p:cNvSpPr>
            <a:spLocks noGrp="1"/>
          </p:cNvSpPr>
          <p:nvPr/>
        </p:nvSpPr>
        <p:spPr>
          <a:xfrm>
            <a:off x="566928" y="640080"/>
            <a:ext cx="8229600" cy="274320"/>
          </a:xfrm>
          <a:prstGeom prst="rect">
            <a:avLst/>
          </a:prstGeom>
          <a:noFill/>
        </p:spPr>
        <p:txBody>
          <a:bodyPr wrap="square" lIns="0" tIns="0" rIns="0" bIns="0" anchor="ctr"/>
          <a:lstStyle/>
          <a:p>
            <a:pPr marL="0" indent="0" algn="l">
              <a:buNone/>
            </a:pPr>
            <a:r>
              <a:rPr sz="1150" b="1">
                <a:solidFill>
                  <a:srgbClr val="5A3EE0"/>
                </a:solidFill>
                <a:latin typeface="Arial"/>
                <a:ea typeface="Arial"/>
                <a:cs typeface="Arial"/>
              </a:rPr>
              <a:t>INFLUENCEES  ·  BUILD REVIEW</a:t>
            </a:r>
          </a:p>
        </p:txBody>
      </p:sp>
      <p:sp>
        <p:nvSpPr>
          <p:cNvPr id="3" name="Text 1">
            <a:extLst>
              <a:ext uri="{FF2B5EF4-FFF2-40B4-BE49-F238E27FC236}">
                <a16:creationId xmlns:a16="http://schemas.microsoft.com/office/drawing/2014/main" id="{1F190216-01CE-4F8F-B261-8BDA8DA2E67A}"/>
              </a:ext>
            </a:extLst>
          </p:cNvPr>
          <p:cNvSpPr>
            <a:spLocks noGrp="1"/>
          </p:cNvSpPr>
          <p:nvPr/>
        </p:nvSpPr>
        <p:spPr>
          <a:xfrm>
            <a:off x="9448495" y="640080"/>
            <a:ext cx="2176272" cy="274320"/>
          </a:xfrm>
          <a:prstGeom prst="rect">
            <a:avLst/>
          </a:prstGeom>
          <a:noFill/>
        </p:spPr>
        <p:txBody>
          <a:bodyPr wrap="square" lIns="0" tIns="0" rIns="0" bIns="0" anchor="ctr"/>
          <a:lstStyle/>
          <a:p>
            <a:pPr marL="0" indent="0" algn="r">
              <a:buNone/>
            </a:pPr>
            <a:r>
              <a:rPr sz="1050">
                <a:solidFill>
                  <a:srgbClr val="9A968C"/>
                </a:solidFill>
                <a:latin typeface="Arial"/>
                <a:ea typeface="Arial"/>
                <a:cs typeface="Arial"/>
              </a:rPr>
              <a:t>July 2026</a:t>
            </a:r>
          </a:p>
        </p:txBody>
      </p:sp>
      <p:sp>
        <p:nvSpPr>
          <p:cNvPr id="4" name="Text 2">
            <a:extLst>
              <a:ext uri="{FF2B5EF4-FFF2-40B4-BE49-F238E27FC236}">
                <a16:creationId xmlns:a16="http://schemas.microsoft.com/office/drawing/2014/main" id="{C8CF03DA-F379-4047-974A-0E574595DED0}"/>
              </a:ext>
            </a:extLst>
          </p:cNvPr>
          <p:cNvSpPr>
            <a:spLocks noGrp="1"/>
          </p:cNvSpPr>
          <p:nvPr/>
        </p:nvSpPr>
        <p:spPr>
          <a:xfrm>
            <a:off x="566928" y="1874520"/>
            <a:ext cx="7680960" cy="1920240"/>
          </a:xfrm>
          <a:prstGeom prst="rect">
            <a:avLst/>
          </a:prstGeom>
          <a:noFill/>
        </p:spPr>
        <p:txBody>
          <a:bodyPr wrap="square" lIns="0" tIns="0" rIns="0" bIns="0" anchor="t"/>
          <a:lstStyle/>
          <a:p>
            <a:pPr marL="0" indent="0" algn="l">
              <a:lnSpc>
                <a:spcPct val="98000"/>
              </a:lnSpc>
              <a:buNone/>
            </a:pPr>
            <a:r>
              <a:rPr sz="5800" b="1">
                <a:solidFill>
                  <a:srgbClr val="0D0C0A"/>
                </a:solidFill>
                <a:latin typeface="Arial"/>
                <a:ea typeface="Arial"/>
                <a:cs typeface="Arial"/>
              </a:rPr>
              <a:t>One track,</a:t>
            </a:r>
          </a:p>
          <a:p>
            <a:pPr marL="0" indent="0" algn="l">
              <a:lnSpc>
                <a:spcPct val="98000"/>
              </a:lnSpc>
              <a:buNone/>
            </a:pPr>
            <a:r>
              <a:rPr sz="5800" b="1">
                <a:solidFill>
                  <a:srgbClr val="5A3EE0"/>
                </a:solidFill>
                <a:latin typeface="Arial"/>
                <a:ea typeface="Arial"/>
                <a:cs typeface="Arial"/>
              </a:rPr>
              <a:t>two solutions.</a:t>
            </a:r>
          </a:p>
        </p:txBody>
      </p:sp>
      <p:sp>
        <p:nvSpPr>
          <p:cNvPr id="5" name="Text 3">
            <a:extLst>
              <a:ext uri="{FF2B5EF4-FFF2-40B4-BE49-F238E27FC236}">
                <a16:creationId xmlns:a16="http://schemas.microsoft.com/office/drawing/2014/main" id="{5C6507DB-14C6-4E8A-A057-6449497E1BE3}"/>
              </a:ext>
            </a:extLst>
          </p:cNvPr>
          <p:cNvSpPr>
            <a:spLocks noGrp="1"/>
          </p:cNvSpPr>
          <p:nvPr/>
        </p:nvSpPr>
        <p:spPr>
          <a:xfrm>
            <a:off x="566928" y="3977640"/>
            <a:ext cx="6949440" cy="914400"/>
          </a:xfrm>
          <a:prstGeom prst="rect">
            <a:avLst/>
          </a:prstGeom>
          <a:noFill/>
        </p:spPr>
        <p:txBody>
          <a:bodyPr wrap="square" lIns="0" tIns="0" rIns="0" bIns="0" anchor="t"/>
          <a:lstStyle/>
          <a:p>
            <a:pPr marL="0" indent="0" algn="l">
              <a:lnSpc>
                <a:spcPct val="125000"/>
              </a:lnSpc>
              <a:buNone/>
            </a:pPr>
            <a:r>
              <a:rPr sz="1500">
                <a:solidFill>
                  <a:srgbClr val="6B675F"/>
                </a:solidFill>
                <a:latin typeface="Arial"/>
                <a:ea typeface="Arial"/>
                <a:cs typeface="Arial"/>
              </a:rPr>
              <a:t>A working automated BD agent, and a full redesign of the public site. Built for Influencees, the trust layer for Singapore's creator economy.</a:t>
            </a:r>
          </a:p>
        </p:txBody>
      </p:sp>
      <p:sp>
        <p:nvSpPr>
          <p:cNvPr id="6" name="Text 4">
            <a:extLst>
              <a:ext uri="{FF2B5EF4-FFF2-40B4-BE49-F238E27FC236}">
                <a16:creationId xmlns:a16="http://schemas.microsoft.com/office/drawing/2014/main" id="{DBEFE45F-FDDB-4850-BB9E-93C5B5A5FE00}"/>
              </a:ext>
            </a:extLst>
          </p:cNvPr>
          <p:cNvSpPr>
            <a:spLocks noGrp="1"/>
          </p:cNvSpPr>
          <p:nvPr/>
        </p:nvSpPr>
        <p:spPr>
          <a:xfrm>
            <a:off x="8686800" y="1965960"/>
            <a:ext cx="822960" cy="640080"/>
          </a:xfrm>
          <a:prstGeom prst="rect">
            <a:avLst/>
          </a:prstGeom>
          <a:noFill/>
        </p:spPr>
        <p:txBody>
          <a:bodyPr wrap="square" lIns="0" tIns="0" rIns="0" bIns="0" anchor="t"/>
          <a:lstStyle/>
          <a:p>
            <a:pPr marL="0" indent="0" algn="l">
              <a:buNone/>
            </a:pPr>
            <a:r>
              <a:rPr sz="3000" b="1">
                <a:solidFill>
                  <a:srgbClr val="7A5CFF"/>
                </a:solidFill>
                <a:latin typeface="Arial"/>
                <a:ea typeface="Arial"/>
                <a:cs typeface="Arial"/>
              </a:rPr>
              <a:t>01</a:t>
            </a:r>
          </a:p>
        </p:txBody>
      </p:sp>
      <p:sp>
        <p:nvSpPr>
          <p:cNvPr id="7" name="Text 5">
            <a:extLst>
              <a:ext uri="{FF2B5EF4-FFF2-40B4-BE49-F238E27FC236}">
                <a16:creationId xmlns:a16="http://schemas.microsoft.com/office/drawing/2014/main" id="{742D73E7-1CF1-430B-8252-22738486BD5A}"/>
              </a:ext>
            </a:extLst>
          </p:cNvPr>
          <p:cNvSpPr>
            <a:spLocks noGrp="1"/>
          </p:cNvSpPr>
          <p:nvPr/>
        </p:nvSpPr>
        <p:spPr>
          <a:xfrm>
            <a:off x="9555480" y="1984248"/>
            <a:ext cx="2057400" cy="320040"/>
          </a:xfrm>
          <a:prstGeom prst="rect">
            <a:avLst/>
          </a:prstGeom>
          <a:noFill/>
        </p:spPr>
        <p:txBody>
          <a:bodyPr wrap="square" lIns="0" tIns="0" rIns="0" bIns="0" anchor="ctr"/>
          <a:lstStyle/>
          <a:p>
            <a:pPr marL="0" indent="0" algn="l">
              <a:buNone/>
            </a:pPr>
            <a:r>
              <a:rPr sz="1500" b="1">
                <a:solidFill>
                  <a:srgbClr val="0D0C0A"/>
                </a:solidFill>
                <a:latin typeface="Arial"/>
                <a:ea typeface="Arial"/>
                <a:cs typeface="Arial"/>
              </a:rPr>
              <a:t>BD Agent</a:t>
            </a:r>
          </a:p>
        </p:txBody>
      </p:sp>
      <p:sp>
        <p:nvSpPr>
          <p:cNvPr id="8" name="Text 6">
            <a:extLst>
              <a:ext uri="{FF2B5EF4-FFF2-40B4-BE49-F238E27FC236}">
                <a16:creationId xmlns:a16="http://schemas.microsoft.com/office/drawing/2014/main" id="{F745E4FA-AA0B-404F-BD39-33E7220B93D7}"/>
              </a:ext>
            </a:extLst>
          </p:cNvPr>
          <p:cNvSpPr>
            <a:spLocks noGrp="1"/>
          </p:cNvSpPr>
          <p:nvPr/>
        </p:nvSpPr>
        <p:spPr>
          <a:xfrm>
            <a:off x="9555480" y="2331720"/>
            <a:ext cx="2057400" cy="640080"/>
          </a:xfrm>
          <a:prstGeom prst="rect">
            <a:avLst/>
          </a:prstGeom>
          <a:noFill/>
        </p:spPr>
        <p:txBody>
          <a:bodyPr wrap="square" lIns="0" tIns="0" rIns="0" bIns="0" anchor="ctr"/>
          <a:lstStyle/>
          <a:p>
            <a:pPr marL="0" indent="0" algn="l">
              <a:lnSpc>
                <a:spcPct val="110000"/>
              </a:lnSpc>
              <a:buNone/>
            </a:pPr>
            <a:r>
              <a:rPr sz="1050">
                <a:solidFill>
                  <a:srgbClr val="6B675F"/>
                </a:solidFill>
                <a:latin typeface="Arial"/>
                <a:ea typeface="Arial"/>
                <a:cs typeface="Arial"/>
              </a:rPr>
              <a:t>Find brands. Message them. Stay in control.</a:t>
            </a:r>
          </a:p>
        </p:txBody>
      </p:sp>
      <p:sp>
        <p:nvSpPr>
          <p:cNvPr id="9" name="Text 7">
            <a:extLst>
              <a:ext uri="{FF2B5EF4-FFF2-40B4-BE49-F238E27FC236}">
                <a16:creationId xmlns:a16="http://schemas.microsoft.com/office/drawing/2014/main" id="{A1318EBB-2697-496F-A792-FA5DA054A079}"/>
              </a:ext>
            </a:extLst>
          </p:cNvPr>
          <p:cNvSpPr>
            <a:spLocks noGrp="1"/>
          </p:cNvSpPr>
          <p:nvPr/>
        </p:nvSpPr>
        <p:spPr>
          <a:xfrm>
            <a:off x="8686800" y="3200400"/>
            <a:ext cx="822960" cy="640080"/>
          </a:xfrm>
          <a:prstGeom prst="rect">
            <a:avLst/>
          </a:prstGeom>
          <a:noFill/>
        </p:spPr>
        <p:txBody>
          <a:bodyPr wrap="square" lIns="0" tIns="0" rIns="0" bIns="0" anchor="t"/>
          <a:lstStyle/>
          <a:p>
            <a:pPr marL="0" indent="0" algn="l">
              <a:buNone/>
            </a:pPr>
            <a:r>
              <a:rPr sz="3000" b="1">
                <a:solidFill>
                  <a:srgbClr val="7A5CFF"/>
                </a:solidFill>
                <a:latin typeface="Arial"/>
                <a:ea typeface="Arial"/>
                <a:cs typeface="Arial"/>
              </a:rPr>
              <a:t>02</a:t>
            </a:r>
          </a:p>
        </p:txBody>
      </p:sp>
      <p:sp>
        <p:nvSpPr>
          <p:cNvPr id="10" name="Text 8">
            <a:extLst>
              <a:ext uri="{FF2B5EF4-FFF2-40B4-BE49-F238E27FC236}">
                <a16:creationId xmlns:a16="http://schemas.microsoft.com/office/drawing/2014/main" id="{D5BEFE34-E1C7-4F92-BABD-009FAB1495A6}"/>
              </a:ext>
            </a:extLst>
          </p:cNvPr>
          <p:cNvSpPr>
            <a:spLocks noGrp="1"/>
          </p:cNvSpPr>
          <p:nvPr/>
        </p:nvSpPr>
        <p:spPr>
          <a:xfrm>
            <a:off x="9555480" y="3218688"/>
            <a:ext cx="2057400" cy="320040"/>
          </a:xfrm>
          <a:prstGeom prst="rect">
            <a:avLst/>
          </a:prstGeom>
          <a:noFill/>
        </p:spPr>
        <p:txBody>
          <a:bodyPr wrap="square" lIns="0" tIns="0" rIns="0" bIns="0" anchor="ctr"/>
          <a:lstStyle/>
          <a:p>
            <a:pPr marL="0" indent="0" algn="l">
              <a:buNone/>
            </a:pPr>
            <a:r>
              <a:rPr sz="1500" b="1">
                <a:solidFill>
                  <a:srgbClr val="0D0C0A"/>
                </a:solidFill>
                <a:latin typeface="Arial"/>
                <a:ea typeface="Arial"/>
                <a:cs typeface="Arial"/>
              </a:rPr>
              <a:t>Website redesign</a:t>
            </a:r>
          </a:p>
        </p:txBody>
      </p:sp>
      <p:sp>
        <p:nvSpPr>
          <p:cNvPr id="11" name="Text 9">
            <a:extLst>
              <a:ext uri="{FF2B5EF4-FFF2-40B4-BE49-F238E27FC236}">
                <a16:creationId xmlns:a16="http://schemas.microsoft.com/office/drawing/2014/main" id="{86290622-0CF7-4B3E-8597-356C2D0C307C}"/>
              </a:ext>
            </a:extLst>
          </p:cNvPr>
          <p:cNvSpPr>
            <a:spLocks noGrp="1"/>
          </p:cNvSpPr>
          <p:nvPr/>
        </p:nvSpPr>
        <p:spPr>
          <a:xfrm>
            <a:off x="9555480" y="3566160"/>
            <a:ext cx="2057400" cy="640080"/>
          </a:xfrm>
          <a:prstGeom prst="rect">
            <a:avLst/>
          </a:prstGeom>
          <a:noFill/>
        </p:spPr>
        <p:txBody>
          <a:bodyPr wrap="square" lIns="0" tIns="0" rIns="0" bIns="0" anchor="ctr"/>
          <a:lstStyle/>
          <a:p>
            <a:pPr marL="0" indent="0" algn="l">
              <a:lnSpc>
                <a:spcPct val="110000"/>
              </a:lnSpc>
              <a:buNone/>
            </a:pPr>
            <a:r>
              <a:rPr sz="1050">
                <a:solidFill>
                  <a:srgbClr val="6B675F"/>
                </a:solidFill>
                <a:latin typeface="Arial"/>
                <a:ea typeface="Arial"/>
                <a:cs typeface="Arial"/>
              </a:rPr>
              <a:t>One system. Consistent, credible, responsive.</a:t>
            </a:r>
          </a:p>
        </p:txBody>
      </p:sp>
      <p:sp>
        <p:nvSpPr>
          <p:cNvPr id="12" name="Shape 10">
            <a:extLst>
              <a:ext uri="{FF2B5EF4-FFF2-40B4-BE49-F238E27FC236}">
                <a16:creationId xmlns:a16="http://schemas.microsoft.com/office/drawing/2014/main" id="{89020301-0A11-432D-BA12-33C830AA2446}"/>
              </a:ext>
            </a:extLst>
          </p:cNvPr>
          <p:cNvSpPr>
            <a:spLocks noGrp="1"/>
          </p:cNvSpPr>
          <p:nvPr/>
        </p:nvSpPr>
        <p:spPr>
          <a:xfrm>
            <a:off x="8686800" y="1874520"/>
            <a:ext cx="0" cy="2331720"/>
          </a:xfrm>
          <a:prstGeom prst="line">
            <a:avLst/>
          </a:prstGeom>
          <a:noFill/>
          <a:ln w="12700">
            <a:solidFill>
              <a:srgbClr val="E2DED6"/>
            </a:solidFill>
            <a:prstDash val="solid"/>
          </a:ln>
        </p:spPr>
        <p:txBody>
          <a:bodyPr/>
          <a:lstStyle/>
          <a:p>
            <a:endParaRPr lang="en-SG"/>
          </a:p>
        </p:txBody>
      </p:sp>
      <p:sp>
        <p:nvSpPr>
          <p:cNvPr id="13" name="Text 11">
            <a:extLst>
              <a:ext uri="{FF2B5EF4-FFF2-40B4-BE49-F238E27FC236}">
                <a16:creationId xmlns:a16="http://schemas.microsoft.com/office/drawing/2014/main" id="{F954CBE7-37A5-4E37-8DC8-4FE9B6CA6193}"/>
              </a:ext>
            </a:extLst>
          </p:cNvPr>
          <p:cNvSpPr>
            <a:spLocks noGrp="1"/>
          </p:cNvSpPr>
          <p:nvPr/>
        </p:nvSpPr>
        <p:spPr>
          <a:xfrm>
            <a:off x="8351215" y="6382512"/>
            <a:ext cx="3273552" cy="274320"/>
          </a:xfrm>
          <a:prstGeom prst="rect">
            <a:avLst/>
          </a:prstGeom>
          <a:noFill/>
        </p:spPr>
        <p:txBody>
          <a:bodyPr wrap="square" lIns="0" tIns="0" rIns="0" bIns="0" anchor="ctr"/>
          <a:lstStyle/>
          <a:p>
            <a:pPr marL="0" indent="0" algn="r">
              <a:buNone/>
            </a:pPr>
            <a:r>
              <a:rPr sz="950" b="1">
                <a:solidFill>
                  <a:srgbClr val="9A968C"/>
                </a:solidFill>
                <a:latin typeface="Arial"/>
                <a:ea typeface="Arial"/>
                <a:cs typeface="Arial"/>
              </a:rPr>
              <a:t>INFLUENCEES</a:t>
            </a:r>
            <a:r>
              <a:rPr sz="950" b="1">
                <a:solidFill>
                  <a:srgbClr val="6B675F"/>
                </a:solidFill>
                <a:latin typeface="Arial"/>
                <a:ea typeface="Arial"/>
                <a:cs typeface="Arial"/>
              </a:rPr>
              <a:t>   01 / 10</a:t>
            </a:r>
          </a:p>
        </p:txBody>
      </p:sp>
      <p:sp>
        <p:nvSpPr>
          <p:cNvPr id="14" name="white-canvas-1">
            <a:extLst>
              <a:ext uri="{FF2B5EF4-FFF2-40B4-BE49-F238E27FC236}">
                <a16:creationId xmlns:a16="http://schemas.microsoft.com/office/drawing/2014/main" id="{86BD38D0-A473-4EF3-A5D8-471C49249336}"/>
              </a:ext>
            </a:extLst>
          </p:cNvPr>
          <p:cNvSpPr>
            <a:spLocks noGrp="1"/>
          </p:cNvSpPr>
          <p:nvPr/>
        </p:nvSpPr>
        <p:spPr>
          <a:xfrm>
            <a:off x="0" y="0"/>
            <a:ext cx="12192000" cy="6858000"/>
          </a:xfrm>
          <a:prstGeom prst="rect">
            <a:avLst/>
          </a:prstGeom>
          <a:solidFill>
            <a:srgbClr val="FFFFFF"/>
          </a:solidFill>
          <a:ln w="0">
            <a:noFill/>
            <a:prstDash val="solid"/>
          </a:ln>
        </p:spPr>
        <p:txBody>
          <a:bodyPr/>
          <a:lstStyle/>
          <a:p>
            <a:endParaRPr lang="en-SG"/>
          </a:p>
        </p:txBody>
      </p:sp>
      <p:sp>
        <p:nvSpPr>
          <p:cNvPr id="15" name="section-badge">
            <a:extLst>
              <a:ext uri="{FF2B5EF4-FFF2-40B4-BE49-F238E27FC236}">
                <a16:creationId xmlns:a16="http://schemas.microsoft.com/office/drawing/2014/main" id="{F46B4251-E111-4740-9DB2-3EBBCF9ABB28}"/>
              </a:ext>
            </a:extLst>
          </p:cNvPr>
          <p:cNvSpPr>
            <a:spLocks noGrp="1"/>
          </p:cNvSpPr>
          <p:nvPr/>
        </p:nvSpPr>
        <p:spPr>
          <a:xfrm>
            <a:off x="4191000" y="419100"/>
            <a:ext cx="3810000" cy="247650"/>
          </a:xfrm>
          <a:prstGeom prst="rect">
            <a:avLst/>
          </a:prstGeom>
          <a:noFill/>
          <a:ln w="0">
            <a:noFill/>
            <a:prstDash val="solid"/>
          </a:ln>
        </p:spPr>
        <p:txBody>
          <a:bodyPr wrap="square" lIns="0" tIns="0" rIns="0" bIns="0" anchor="t">
            <a:normAutofit/>
          </a:bodyPr>
          <a:lstStyle/>
          <a:p>
            <a:pPr algn="ctr">
              <a:lnSpc>
                <a:spcPct val="112000"/>
              </a:lnSpc>
              <a:buNone/>
              <a:defRPr sz="1200" b="1">
                <a:solidFill>
                  <a:srgbClr val="7C5CFC"/>
                </a:solidFill>
                <a:latin typeface="Inter"/>
                <a:ea typeface="Inter"/>
                <a:cs typeface="Inter"/>
              </a:defRPr>
            </a:pPr>
            <a:r>
              <a:rPr sz="1200" b="1">
                <a:solidFill>
                  <a:srgbClr val="7C5CFC"/>
                </a:solidFill>
                <a:latin typeface="Inter"/>
                <a:ea typeface="Inter"/>
                <a:cs typeface="Inter"/>
              </a:rPr>
              <a:t>INFLUENCEES · TWO-TRACK PROPOSAL</a:t>
            </a:r>
          </a:p>
        </p:txBody>
      </p:sp>
      <p:sp>
        <p:nvSpPr>
          <p:cNvPr id="16" name="cover-title-1">
            <a:extLst>
              <a:ext uri="{FF2B5EF4-FFF2-40B4-BE49-F238E27FC236}">
                <a16:creationId xmlns:a16="http://schemas.microsoft.com/office/drawing/2014/main" id="{05D17E65-1173-419D-AB90-534A8946B366}"/>
              </a:ext>
            </a:extLst>
          </p:cNvPr>
          <p:cNvSpPr>
            <a:spLocks noGrp="1"/>
          </p:cNvSpPr>
          <p:nvPr/>
        </p:nvSpPr>
        <p:spPr>
          <a:xfrm>
            <a:off x="1524000" y="1162050"/>
            <a:ext cx="9144000" cy="723900"/>
          </a:xfrm>
          <a:prstGeom prst="rect">
            <a:avLst/>
          </a:prstGeom>
          <a:noFill/>
          <a:ln w="0">
            <a:noFill/>
            <a:prstDash val="solid"/>
          </a:ln>
        </p:spPr>
        <p:txBody>
          <a:bodyPr wrap="square" lIns="0" tIns="0" rIns="0" bIns="0" anchor="ctr">
            <a:normAutofit fontScale="88282" lnSpcReduction="10000"/>
          </a:bodyPr>
          <a:lstStyle/>
          <a:p>
            <a:pPr algn="ctr">
              <a:lnSpc>
                <a:spcPct val="112000"/>
              </a:lnSpc>
              <a:buNone/>
              <a:defRPr sz="5250" b="0">
                <a:solidFill>
                  <a:srgbClr val="0F172A"/>
                </a:solidFill>
                <a:latin typeface="Inter"/>
                <a:ea typeface="Inter"/>
                <a:cs typeface="Inter"/>
              </a:defRPr>
            </a:pPr>
            <a:r>
              <a:rPr sz="5250" b="0">
                <a:solidFill>
                  <a:srgbClr val="0F172A"/>
                </a:solidFill>
                <a:latin typeface="Inter"/>
                <a:ea typeface="Inter"/>
                <a:cs typeface="Inter"/>
              </a:rPr>
              <a:t>One track,</a:t>
            </a:r>
          </a:p>
        </p:txBody>
      </p:sp>
      <p:sp>
        <p:nvSpPr>
          <p:cNvPr id="17" name="cover-title-2">
            <a:extLst>
              <a:ext uri="{FF2B5EF4-FFF2-40B4-BE49-F238E27FC236}">
                <a16:creationId xmlns:a16="http://schemas.microsoft.com/office/drawing/2014/main" id="{E36E7DF3-97EF-476E-9DB2-1AB0305DE9B7}"/>
              </a:ext>
            </a:extLst>
          </p:cNvPr>
          <p:cNvSpPr>
            <a:spLocks noGrp="1"/>
          </p:cNvSpPr>
          <p:nvPr/>
        </p:nvSpPr>
        <p:spPr>
          <a:xfrm>
            <a:off x="1524000" y="1847850"/>
            <a:ext cx="9144000" cy="800100"/>
          </a:xfrm>
          <a:prstGeom prst="rect">
            <a:avLst/>
          </a:prstGeom>
          <a:noFill/>
          <a:ln w="0">
            <a:noFill/>
            <a:prstDash val="solid"/>
          </a:ln>
        </p:spPr>
        <p:txBody>
          <a:bodyPr wrap="square" lIns="0" tIns="0" rIns="0" bIns="0" anchor="ctr">
            <a:normAutofit fontScale="94306" lnSpcReduction="10000"/>
          </a:bodyPr>
          <a:lstStyle/>
          <a:p>
            <a:pPr algn="ctr">
              <a:lnSpc>
                <a:spcPct val="112000"/>
              </a:lnSpc>
              <a:buNone/>
              <a:defRPr sz="5400" b="1">
                <a:solidFill>
                  <a:srgbClr val="7C5CFC"/>
                </a:solidFill>
                <a:latin typeface="Inter"/>
                <a:ea typeface="Inter"/>
                <a:cs typeface="Inter"/>
              </a:defRPr>
            </a:pPr>
            <a:r>
              <a:rPr sz="5400" b="1">
                <a:solidFill>
                  <a:srgbClr val="7C5CFC"/>
                </a:solidFill>
                <a:latin typeface="Inter"/>
                <a:ea typeface="Inter"/>
                <a:cs typeface="Inter"/>
              </a:rPr>
              <a:t>two solutions.</a:t>
            </a:r>
          </a:p>
        </p:txBody>
      </p:sp>
      <p:sp>
        <p:nvSpPr>
          <p:cNvPr id="18" name="cover-subtitle">
            <a:extLst>
              <a:ext uri="{FF2B5EF4-FFF2-40B4-BE49-F238E27FC236}">
                <a16:creationId xmlns:a16="http://schemas.microsoft.com/office/drawing/2014/main" id="{DDB0E521-566B-4E54-9ABD-49ED4D967BFF}"/>
              </a:ext>
            </a:extLst>
          </p:cNvPr>
          <p:cNvSpPr>
            <a:spLocks noGrp="1"/>
          </p:cNvSpPr>
          <p:nvPr/>
        </p:nvSpPr>
        <p:spPr>
          <a:xfrm>
            <a:off x="2238375" y="2838450"/>
            <a:ext cx="7715250" cy="704850"/>
          </a:xfrm>
          <a:prstGeom prst="rect">
            <a:avLst/>
          </a:prstGeom>
          <a:noFill/>
          <a:ln w="0">
            <a:noFill/>
            <a:prstDash val="solid"/>
          </a:ln>
        </p:spPr>
        <p:txBody>
          <a:bodyPr wrap="square" lIns="0" tIns="0" rIns="0" bIns="0" anchor="ctr">
            <a:normAutofit/>
          </a:bodyPr>
          <a:lstStyle/>
          <a:p>
            <a:pPr algn="ctr">
              <a:lnSpc>
                <a:spcPct val="125000"/>
              </a:lnSpc>
              <a:buNone/>
              <a:defRPr sz="1650" b="0">
                <a:solidFill>
                  <a:srgbClr val="64748B"/>
                </a:solidFill>
                <a:latin typeface="Inter"/>
                <a:ea typeface="Inter"/>
                <a:cs typeface="Inter"/>
              </a:defRPr>
            </a:pPr>
            <a:r>
              <a:rPr sz="1650" b="0">
                <a:solidFill>
                  <a:srgbClr val="64748B"/>
                </a:solidFill>
                <a:latin typeface="Inter"/>
                <a:ea typeface="Inter"/>
                <a:cs typeface="Inter"/>
              </a:rPr>
              <a:t>A working business-development agent and a complete redesign of the public site—built for both sides of the Influencees platform.</a:t>
            </a:r>
          </a:p>
        </p:txBody>
      </p:sp>
      <p:sp>
        <p:nvSpPr>
          <p:cNvPr id="19" name="cover-card-01">
            <a:extLst>
              <a:ext uri="{FF2B5EF4-FFF2-40B4-BE49-F238E27FC236}">
                <a16:creationId xmlns:a16="http://schemas.microsoft.com/office/drawing/2014/main" id="{E542C971-320F-4F53-B3E1-626A7BDECD37}"/>
              </a:ext>
            </a:extLst>
          </p:cNvPr>
          <p:cNvSpPr>
            <a:spLocks noGrp="1"/>
          </p:cNvSpPr>
          <p:nvPr/>
        </p:nvSpPr>
        <p:spPr>
          <a:xfrm>
            <a:off x="1381125" y="3943350"/>
            <a:ext cx="4524375" cy="1952625"/>
          </a:xfrm>
          <a:prstGeom prst="roundRect">
            <a:avLst>
              <a:gd name="adj" fmla="val 9756"/>
            </a:avLst>
          </a:prstGeom>
          <a:solidFill>
            <a:srgbClr val="FFF7E6"/>
          </a:solidFill>
          <a:ln w="9525">
            <a:solidFill>
              <a:srgbClr val="FFFFFF">
                <a:alpha val="60000"/>
              </a:srgbClr>
            </a:solidFill>
            <a:prstDash val="solid"/>
          </a:ln>
        </p:spPr>
        <p:style>
          <a:lnRef idx="0">
            <a:scrgbClr r="0" g="0" b="0"/>
          </a:lnRef>
          <a:fillRef idx="0">
            <a:scrgbClr r="0" g="0" b="0"/>
          </a:fillRef>
          <a:effectRef idx="4">
            <a:scrgbClr r="0" g="0" b="0"/>
          </a:effectRef>
          <a:fontRef idx="major"/>
        </p:style>
        <p:txBody>
          <a:bodyPr/>
          <a:lstStyle/>
          <a:p>
            <a:endParaRPr lang="en-SG"/>
          </a:p>
        </p:txBody>
      </p:sp>
      <p:sp>
        <p:nvSpPr>
          <p:cNvPr id="20" name="cover-num-01">
            <a:extLst>
              <a:ext uri="{FF2B5EF4-FFF2-40B4-BE49-F238E27FC236}">
                <a16:creationId xmlns:a16="http://schemas.microsoft.com/office/drawing/2014/main" id="{95047AEE-D59A-4FE6-BF2C-B063C25E5AB8}"/>
              </a:ext>
            </a:extLst>
          </p:cNvPr>
          <p:cNvSpPr>
            <a:spLocks noGrp="1"/>
          </p:cNvSpPr>
          <p:nvPr/>
        </p:nvSpPr>
        <p:spPr>
          <a:xfrm>
            <a:off x="1628775" y="4171950"/>
            <a:ext cx="666750" cy="323850"/>
          </a:xfrm>
          <a:prstGeom prst="rect">
            <a:avLst/>
          </a:prstGeom>
          <a:noFill/>
          <a:ln w="0">
            <a:noFill/>
            <a:prstDash val="solid"/>
          </a:ln>
        </p:spPr>
        <p:txBody>
          <a:bodyPr wrap="square" lIns="0" tIns="0" rIns="0" bIns="0" anchor="t">
            <a:normAutofit/>
          </a:bodyPr>
          <a:lstStyle/>
          <a:p>
            <a:pPr algn="l">
              <a:lnSpc>
                <a:spcPct val="112000"/>
              </a:lnSpc>
              <a:buNone/>
              <a:defRPr sz="1650" b="1">
                <a:solidFill>
                  <a:srgbClr val="7C5CFC"/>
                </a:solidFill>
                <a:latin typeface="Inter"/>
                <a:ea typeface="Inter"/>
                <a:cs typeface="Inter"/>
              </a:defRPr>
            </a:pPr>
            <a:r>
              <a:rPr sz="1650" b="1">
                <a:solidFill>
                  <a:srgbClr val="7C5CFC"/>
                </a:solidFill>
                <a:latin typeface="Inter"/>
                <a:ea typeface="Inter"/>
                <a:cs typeface="Inter"/>
              </a:rPr>
              <a:t>01</a:t>
            </a:r>
          </a:p>
        </p:txBody>
      </p:sp>
      <p:sp>
        <p:nvSpPr>
          <p:cNvPr id="21" name="cover-card-title-01">
            <a:extLst>
              <a:ext uri="{FF2B5EF4-FFF2-40B4-BE49-F238E27FC236}">
                <a16:creationId xmlns:a16="http://schemas.microsoft.com/office/drawing/2014/main" id="{2D8F0BB3-9E36-4483-AC7F-8F061B30894F}"/>
              </a:ext>
            </a:extLst>
          </p:cNvPr>
          <p:cNvSpPr>
            <a:spLocks noGrp="1"/>
          </p:cNvSpPr>
          <p:nvPr/>
        </p:nvSpPr>
        <p:spPr>
          <a:xfrm>
            <a:off x="1628775" y="4629150"/>
            <a:ext cx="4000500" cy="381000"/>
          </a:xfrm>
          <a:prstGeom prst="rect">
            <a:avLst/>
          </a:prstGeom>
          <a:noFill/>
          <a:ln w="0">
            <a:noFill/>
            <a:prstDash val="solid"/>
          </a:ln>
        </p:spPr>
        <p:txBody>
          <a:bodyPr wrap="square" lIns="0" tIns="0" rIns="0" bIns="0" anchor="t">
            <a:normAutofit/>
          </a:bodyPr>
          <a:lstStyle/>
          <a:p>
            <a:pPr algn="l">
              <a:lnSpc>
                <a:spcPct val="112000"/>
              </a:lnSpc>
              <a:buNone/>
              <a:defRPr sz="2100" b="1">
                <a:solidFill>
                  <a:srgbClr val="0F172A"/>
                </a:solidFill>
                <a:latin typeface="Inter"/>
                <a:ea typeface="Inter"/>
                <a:cs typeface="Inter"/>
              </a:defRPr>
            </a:pPr>
            <a:r>
              <a:rPr sz="2100" b="1">
                <a:solidFill>
                  <a:srgbClr val="0F172A"/>
                </a:solidFill>
                <a:latin typeface="Inter"/>
                <a:ea typeface="Inter"/>
                <a:cs typeface="Inter"/>
              </a:rPr>
              <a:t>BD Agent</a:t>
            </a:r>
          </a:p>
        </p:txBody>
      </p:sp>
      <p:sp>
        <p:nvSpPr>
          <p:cNvPr id="22" name="cover-card-body-01">
            <a:extLst>
              <a:ext uri="{FF2B5EF4-FFF2-40B4-BE49-F238E27FC236}">
                <a16:creationId xmlns:a16="http://schemas.microsoft.com/office/drawing/2014/main" id="{1C2392F2-A3A8-4B44-8FD5-196FF4AF443C}"/>
              </a:ext>
            </a:extLst>
          </p:cNvPr>
          <p:cNvSpPr>
            <a:spLocks noGrp="1"/>
          </p:cNvSpPr>
          <p:nvPr/>
        </p:nvSpPr>
        <p:spPr>
          <a:xfrm>
            <a:off x="1628775" y="5124450"/>
            <a:ext cx="3905250" cy="571500"/>
          </a:xfrm>
          <a:prstGeom prst="rect">
            <a:avLst/>
          </a:prstGeom>
          <a:noFill/>
          <a:ln w="0">
            <a:noFill/>
            <a:prstDash val="solid"/>
          </a:ln>
        </p:spPr>
        <p:txBody>
          <a:bodyPr wrap="square" lIns="0" tIns="0" rIns="0" bIns="0" anchor="ctr">
            <a:normAutofit/>
          </a:bodyPr>
          <a:lstStyle/>
          <a:p>
            <a:pPr algn="l">
              <a:lnSpc>
                <a:spcPct val="120000"/>
              </a:lnSpc>
              <a:buNone/>
              <a:defRPr sz="1500" b="0">
                <a:solidFill>
                  <a:srgbClr val="64748B"/>
                </a:solidFill>
                <a:latin typeface="Inter"/>
                <a:ea typeface="Inter"/>
                <a:cs typeface="Inter"/>
              </a:defRPr>
            </a:pPr>
            <a:r>
              <a:rPr sz="1500" b="0">
                <a:solidFill>
                  <a:srgbClr val="64748B"/>
                </a:solidFill>
                <a:latin typeface="Inter"/>
                <a:ea typeface="Inter"/>
                <a:cs typeface="Inter"/>
              </a:rPr>
              <a:t>Find brands, research the moment, send the message, and manage every reply.</a:t>
            </a:r>
          </a:p>
        </p:txBody>
      </p:sp>
      <p:sp>
        <p:nvSpPr>
          <p:cNvPr id="23" name="cover-card-02">
            <a:extLst>
              <a:ext uri="{FF2B5EF4-FFF2-40B4-BE49-F238E27FC236}">
                <a16:creationId xmlns:a16="http://schemas.microsoft.com/office/drawing/2014/main" id="{C5B6481A-D417-40E7-84D5-FE8EBCA44487}"/>
              </a:ext>
            </a:extLst>
          </p:cNvPr>
          <p:cNvSpPr>
            <a:spLocks noGrp="1"/>
          </p:cNvSpPr>
          <p:nvPr/>
        </p:nvSpPr>
        <p:spPr>
          <a:xfrm>
            <a:off x="6286500" y="3943350"/>
            <a:ext cx="4524375" cy="1952625"/>
          </a:xfrm>
          <a:prstGeom prst="roundRect">
            <a:avLst>
              <a:gd name="adj" fmla="val 9756"/>
            </a:avLst>
          </a:prstGeom>
          <a:solidFill>
            <a:srgbClr val="F7EEFB"/>
          </a:solidFill>
          <a:ln w="9525">
            <a:solidFill>
              <a:srgbClr val="FFFFFF">
                <a:alpha val="60000"/>
              </a:srgbClr>
            </a:solidFill>
            <a:prstDash val="solid"/>
          </a:ln>
        </p:spPr>
        <p:style>
          <a:lnRef idx="0">
            <a:scrgbClr r="0" g="0" b="0"/>
          </a:lnRef>
          <a:fillRef idx="0">
            <a:scrgbClr r="0" g="0" b="0"/>
          </a:fillRef>
          <a:effectRef idx="4">
            <a:scrgbClr r="0" g="0" b="0"/>
          </a:effectRef>
          <a:fontRef idx="major"/>
        </p:style>
        <p:txBody>
          <a:bodyPr/>
          <a:lstStyle/>
          <a:p>
            <a:endParaRPr lang="en-SG"/>
          </a:p>
        </p:txBody>
      </p:sp>
      <p:sp>
        <p:nvSpPr>
          <p:cNvPr id="24" name="cover-num-02">
            <a:extLst>
              <a:ext uri="{FF2B5EF4-FFF2-40B4-BE49-F238E27FC236}">
                <a16:creationId xmlns:a16="http://schemas.microsoft.com/office/drawing/2014/main" id="{D0CF7771-5C33-4190-9290-49EBAD109F41}"/>
              </a:ext>
            </a:extLst>
          </p:cNvPr>
          <p:cNvSpPr>
            <a:spLocks noGrp="1"/>
          </p:cNvSpPr>
          <p:nvPr/>
        </p:nvSpPr>
        <p:spPr>
          <a:xfrm>
            <a:off x="6534150" y="4171950"/>
            <a:ext cx="666750" cy="323850"/>
          </a:xfrm>
          <a:prstGeom prst="rect">
            <a:avLst/>
          </a:prstGeom>
          <a:noFill/>
          <a:ln w="0">
            <a:noFill/>
            <a:prstDash val="solid"/>
          </a:ln>
        </p:spPr>
        <p:txBody>
          <a:bodyPr wrap="square" lIns="0" tIns="0" rIns="0" bIns="0" anchor="t">
            <a:normAutofit/>
          </a:bodyPr>
          <a:lstStyle/>
          <a:p>
            <a:pPr algn="l">
              <a:lnSpc>
                <a:spcPct val="112000"/>
              </a:lnSpc>
              <a:buNone/>
              <a:defRPr sz="1650" b="1">
                <a:solidFill>
                  <a:srgbClr val="7C5CFC"/>
                </a:solidFill>
                <a:latin typeface="Inter"/>
                <a:ea typeface="Inter"/>
                <a:cs typeface="Inter"/>
              </a:defRPr>
            </a:pPr>
            <a:r>
              <a:rPr sz="1650" b="1">
                <a:solidFill>
                  <a:srgbClr val="7C5CFC"/>
                </a:solidFill>
                <a:latin typeface="Inter"/>
                <a:ea typeface="Inter"/>
                <a:cs typeface="Inter"/>
              </a:rPr>
              <a:t>02</a:t>
            </a:r>
          </a:p>
        </p:txBody>
      </p:sp>
      <p:sp>
        <p:nvSpPr>
          <p:cNvPr id="25" name="cover-card-title-02">
            <a:extLst>
              <a:ext uri="{FF2B5EF4-FFF2-40B4-BE49-F238E27FC236}">
                <a16:creationId xmlns:a16="http://schemas.microsoft.com/office/drawing/2014/main" id="{406AE8A4-441F-4964-8308-A050ABDB4545}"/>
              </a:ext>
            </a:extLst>
          </p:cNvPr>
          <p:cNvSpPr>
            <a:spLocks noGrp="1"/>
          </p:cNvSpPr>
          <p:nvPr/>
        </p:nvSpPr>
        <p:spPr>
          <a:xfrm>
            <a:off x="6534150" y="4629150"/>
            <a:ext cx="4000500" cy="381000"/>
          </a:xfrm>
          <a:prstGeom prst="rect">
            <a:avLst/>
          </a:prstGeom>
          <a:noFill/>
          <a:ln w="0">
            <a:noFill/>
            <a:prstDash val="solid"/>
          </a:ln>
        </p:spPr>
        <p:txBody>
          <a:bodyPr wrap="square" lIns="0" tIns="0" rIns="0" bIns="0" anchor="t">
            <a:normAutofit/>
          </a:bodyPr>
          <a:lstStyle/>
          <a:p>
            <a:pPr algn="l">
              <a:lnSpc>
                <a:spcPct val="112000"/>
              </a:lnSpc>
              <a:buNone/>
              <a:defRPr sz="2100" b="1">
                <a:solidFill>
                  <a:srgbClr val="0F172A"/>
                </a:solidFill>
                <a:latin typeface="Inter"/>
                <a:ea typeface="Inter"/>
                <a:cs typeface="Inter"/>
              </a:defRPr>
            </a:pPr>
            <a:r>
              <a:rPr sz="2100" b="1">
                <a:solidFill>
                  <a:srgbClr val="0F172A"/>
                </a:solidFill>
                <a:latin typeface="Inter"/>
                <a:ea typeface="Inter"/>
                <a:cs typeface="Inter"/>
              </a:rPr>
              <a:t>Website redesign</a:t>
            </a:r>
          </a:p>
        </p:txBody>
      </p:sp>
      <p:sp>
        <p:nvSpPr>
          <p:cNvPr id="26" name="cover-card-body-02">
            <a:extLst>
              <a:ext uri="{FF2B5EF4-FFF2-40B4-BE49-F238E27FC236}">
                <a16:creationId xmlns:a16="http://schemas.microsoft.com/office/drawing/2014/main" id="{E1A6B0FB-A7AA-484D-A867-EEA09251C8C7}"/>
              </a:ext>
            </a:extLst>
          </p:cNvPr>
          <p:cNvSpPr>
            <a:spLocks noGrp="1"/>
          </p:cNvSpPr>
          <p:nvPr/>
        </p:nvSpPr>
        <p:spPr>
          <a:xfrm>
            <a:off x="6534150" y="5124450"/>
            <a:ext cx="3905250" cy="571500"/>
          </a:xfrm>
          <a:prstGeom prst="rect">
            <a:avLst/>
          </a:prstGeom>
          <a:noFill/>
          <a:ln w="0">
            <a:noFill/>
            <a:prstDash val="solid"/>
          </a:ln>
        </p:spPr>
        <p:txBody>
          <a:bodyPr wrap="square" lIns="0" tIns="0" rIns="0" bIns="0" anchor="ctr">
            <a:normAutofit/>
          </a:bodyPr>
          <a:lstStyle/>
          <a:p>
            <a:pPr algn="l">
              <a:lnSpc>
                <a:spcPct val="120000"/>
              </a:lnSpc>
              <a:buNone/>
              <a:defRPr sz="1500" b="0">
                <a:solidFill>
                  <a:srgbClr val="64748B"/>
                </a:solidFill>
                <a:latin typeface="Inter"/>
                <a:ea typeface="Inter"/>
                <a:cs typeface="Inter"/>
              </a:defRPr>
            </a:pPr>
            <a:r>
              <a:rPr sz="1500" b="0">
                <a:solidFill>
                  <a:srgbClr val="64748B"/>
                </a:solidFill>
                <a:latin typeface="Inter"/>
                <a:ea typeface="Inter"/>
                <a:cs typeface="Inter"/>
              </a:rPr>
              <a:t>One coherent, credible and responsive system across every public page.</a:t>
            </a:r>
          </a:p>
        </p:txBody>
      </p:sp>
      <p:sp>
        <p:nvSpPr>
          <p:cNvPr id="27" name="footer-brand">
            <a:extLst>
              <a:ext uri="{FF2B5EF4-FFF2-40B4-BE49-F238E27FC236}">
                <a16:creationId xmlns:a16="http://schemas.microsoft.com/office/drawing/2014/main" id="{F747DA60-BE8C-44CF-A934-CE6B30F689DE}"/>
              </a:ext>
            </a:extLst>
          </p:cNvPr>
          <p:cNvSpPr>
            <a:spLocks noGrp="1"/>
          </p:cNvSpPr>
          <p:nvPr/>
        </p:nvSpPr>
        <p:spPr>
          <a:xfrm>
            <a:off x="533400" y="6457950"/>
            <a:ext cx="1714500" cy="190500"/>
          </a:xfrm>
          <a:prstGeom prst="rect">
            <a:avLst/>
          </a:prstGeom>
          <a:noFill/>
          <a:ln w="0">
            <a:noFill/>
            <a:prstDash val="solid"/>
          </a:ln>
        </p:spPr>
        <p:txBody>
          <a:bodyPr wrap="square" lIns="0" tIns="0" rIns="0" bIns="0" anchor="ctr">
            <a:normAutofit/>
          </a:bodyPr>
          <a:lstStyle/>
          <a:p>
            <a:pPr algn="l">
              <a:lnSpc>
                <a:spcPct val="112000"/>
              </a:lnSpc>
              <a:buNone/>
              <a:defRPr sz="975" b="1">
                <a:solidFill>
                  <a:srgbClr val="94A3B8"/>
                </a:solidFill>
                <a:latin typeface="Inter"/>
                <a:ea typeface="Inter"/>
                <a:cs typeface="Inter"/>
              </a:defRPr>
            </a:pPr>
            <a:r>
              <a:rPr sz="975" b="1">
                <a:solidFill>
                  <a:srgbClr val="94A3B8"/>
                </a:solidFill>
                <a:latin typeface="Inter"/>
                <a:ea typeface="Inter"/>
                <a:cs typeface="Inter"/>
              </a:rPr>
              <a:t>INFLUENCEES</a:t>
            </a:r>
          </a:p>
        </p:txBody>
      </p:sp>
      <p:sp>
        <p:nvSpPr>
          <p:cNvPr id="28" name="footer-page">
            <a:extLst>
              <a:ext uri="{FF2B5EF4-FFF2-40B4-BE49-F238E27FC236}">
                <a16:creationId xmlns:a16="http://schemas.microsoft.com/office/drawing/2014/main" id="{D48D8AB1-9DCA-4DA8-9140-7D6284F55FD1}"/>
              </a:ext>
            </a:extLst>
          </p:cNvPr>
          <p:cNvSpPr>
            <a:spLocks noGrp="1"/>
          </p:cNvSpPr>
          <p:nvPr/>
        </p:nvSpPr>
        <p:spPr>
          <a:xfrm>
            <a:off x="10572750" y="6457950"/>
            <a:ext cx="1085850" cy="190500"/>
          </a:xfrm>
          <a:prstGeom prst="rect">
            <a:avLst/>
          </a:prstGeom>
          <a:noFill/>
          <a:ln w="0">
            <a:noFill/>
            <a:prstDash val="solid"/>
          </a:ln>
        </p:spPr>
        <p:txBody>
          <a:bodyPr wrap="square" lIns="0" tIns="0" rIns="0" bIns="0" anchor="ctr">
            <a:normAutofit/>
          </a:bodyPr>
          <a:lstStyle/>
          <a:p>
            <a:pPr algn="r">
              <a:lnSpc>
                <a:spcPct val="112000"/>
              </a:lnSpc>
              <a:buNone/>
              <a:defRPr sz="975" b="1">
                <a:solidFill>
                  <a:srgbClr val="94A3B8"/>
                </a:solidFill>
                <a:latin typeface="Inter"/>
                <a:ea typeface="Inter"/>
                <a:cs typeface="Inter"/>
              </a:defRPr>
            </a:pPr>
            <a:r>
              <a:rPr sz="975" b="1">
                <a:solidFill>
                  <a:srgbClr val="94A3B8"/>
                </a:solidFill>
                <a:latin typeface="Inter"/>
                <a:ea typeface="Inter"/>
                <a:cs typeface="Inter"/>
              </a:rPr>
              <a:t>01 / 10</a:t>
            </a:r>
          </a:p>
        </p:txBody>
      </p:sp>
    </p:spTree>
    <p:extLst>
      <p:ext uri="{BB962C8B-B14F-4D97-AF65-F5344CB8AC3E}">
        <p14:creationId xmlns:p14="http://schemas.microsoft.com/office/powerpoint/2010/main" val="15877459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9649AC2-7B05-40C8-B6FC-7A8842513420}"/>
              </a:ext>
            </a:extLst>
          </p:cNvPr>
          <p:cNvSpPr>
            <a:spLocks noGrp="1"/>
          </p:cNvSpPr>
          <p:nvPr/>
        </p:nvSpPr>
        <p:spPr>
          <a:xfrm>
            <a:off x="566928" y="457200"/>
            <a:ext cx="8229600" cy="274320"/>
          </a:xfrm>
          <a:prstGeom prst="rect">
            <a:avLst/>
          </a:prstGeom>
          <a:noFill/>
        </p:spPr>
        <p:txBody>
          <a:bodyPr wrap="square" lIns="0" tIns="0" rIns="0" bIns="0" anchor="ctr"/>
          <a:lstStyle/>
          <a:p>
            <a:pPr marL="0" indent="0" algn="l">
              <a:buNone/>
            </a:pPr>
            <a:r>
              <a:rPr sz="1150" b="1">
                <a:solidFill>
                  <a:srgbClr val="5A3EE0"/>
                </a:solidFill>
                <a:latin typeface="Arial"/>
                <a:ea typeface="Arial"/>
                <a:cs typeface="Arial"/>
              </a:rPr>
              <a:t>THE SETUP</a:t>
            </a:r>
          </a:p>
        </p:txBody>
      </p:sp>
      <p:sp>
        <p:nvSpPr>
          <p:cNvPr id="3" name="Text 1">
            <a:extLst>
              <a:ext uri="{FF2B5EF4-FFF2-40B4-BE49-F238E27FC236}">
                <a16:creationId xmlns:a16="http://schemas.microsoft.com/office/drawing/2014/main" id="{700AB125-6A9A-478D-8615-940305CB728C}"/>
              </a:ext>
            </a:extLst>
          </p:cNvPr>
          <p:cNvSpPr>
            <a:spLocks noGrp="1"/>
          </p:cNvSpPr>
          <p:nvPr/>
        </p:nvSpPr>
        <p:spPr>
          <a:xfrm>
            <a:off x="566928" y="822960"/>
            <a:ext cx="10607040" cy="1188720"/>
          </a:xfrm>
          <a:prstGeom prst="rect">
            <a:avLst/>
          </a:prstGeom>
          <a:noFill/>
        </p:spPr>
        <p:txBody>
          <a:bodyPr wrap="square" lIns="0" tIns="0" rIns="0" bIns="0" anchor="t"/>
          <a:lstStyle/>
          <a:p>
            <a:pPr marL="0" indent="0" algn="l">
              <a:lnSpc>
                <a:spcPct val="102000"/>
              </a:lnSpc>
              <a:buNone/>
            </a:pPr>
            <a:r>
              <a:rPr sz="2800" b="1">
                <a:solidFill>
                  <a:srgbClr val="0D0C0A"/>
                </a:solidFill>
                <a:latin typeface="Arial"/>
                <a:ea typeface="Arial"/>
                <a:cs typeface="Arial"/>
              </a:rPr>
              <a:t>Influencees has the substance. Two solutions move it forward now.</a:t>
            </a:r>
          </a:p>
        </p:txBody>
      </p:sp>
      <p:sp>
        <p:nvSpPr>
          <p:cNvPr id="4" name="Text 2">
            <a:extLst>
              <a:ext uri="{FF2B5EF4-FFF2-40B4-BE49-F238E27FC236}">
                <a16:creationId xmlns:a16="http://schemas.microsoft.com/office/drawing/2014/main" id="{D31F356D-FCBB-4BFA-91C3-168DDE271F16}"/>
              </a:ext>
            </a:extLst>
          </p:cNvPr>
          <p:cNvSpPr>
            <a:spLocks noGrp="1"/>
          </p:cNvSpPr>
          <p:nvPr/>
        </p:nvSpPr>
        <p:spPr>
          <a:xfrm>
            <a:off x="566928" y="1920240"/>
            <a:ext cx="10881360" cy="868680"/>
          </a:xfrm>
          <a:prstGeom prst="rect">
            <a:avLst/>
          </a:prstGeom>
          <a:noFill/>
        </p:spPr>
        <p:txBody>
          <a:bodyPr wrap="square" lIns="0" tIns="0" rIns="0" bIns="0" anchor="t"/>
          <a:lstStyle/>
          <a:p>
            <a:pPr marL="0" indent="0" algn="l">
              <a:lnSpc>
                <a:spcPct val="125000"/>
              </a:lnSpc>
              <a:buNone/>
            </a:pPr>
            <a:r>
              <a:rPr sz="1350">
                <a:solidFill>
                  <a:srgbClr val="6B675F"/>
                </a:solidFill>
                <a:latin typeface="Arial"/>
                <a:ea typeface="Arial"/>
                <a:cs typeface="Arial"/>
              </a:rPr>
              <a:t>Brands find Singapore creators and verify them with data, not vibes. Ai-kyo runs campaigns, Trust Check flags fakes, and the workspace tracks it end to end. The company launched around June 2026, so the job now is traction and trust.</a:t>
            </a:r>
          </a:p>
        </p:txBody>
      </p:sp>
      <p:sp>
        <p:nvSpPr>
          <p:cNvPr id="5" name="Shape 3">
            <a:extLst>
              <a:ext uri="{FF2B5EF4-FFF2-40B4-BE49-F238E27FC236}">
                <a16:creationId xmlns:a16="http://schemas.microsoft.com/office/drawing/2014/main" id="{B8ADC03D-B205-4AA0-9CAE-D43D44A28888}"/>
              </a:ext>
            </a:extLst>
          </p:cNvPr>
          <p:cNvSpPr>
            <a:spLocks noGrp="1"/>
          </p:cNvSpPr>
          <p:nvPr/>
        </p:nvSpPr>
        <p:spPr>
          <a:xfrm>
            <a:off x="566928" y="3063240"/>
            <a:ext cx="5257800" cy="2788920"/>
          </a:xfrm>
          <a:prstGeom prst="roundRect">
            <a:avLst>
              <a:gd name="adj" fmla="val 1475"/>
            </a:avLst>
          </a:prstGeom>
          <a:solidFill>
            <a:srgbClr val="FFFFFF"/>
          </a:solidFill>
          <a:ln w="12700">
            <a:solidFill>
              <a:srgbClr val="E2DED6"/>
            </a:solidFill>
            <a:prstDash val="solid"/>
          </a:ln>
          <a:effectLst>
            <a:outerShdw blurRad="76200" dist="25400" dir="5400000" algn="bl" rotWithShape="0">
              <a:srgbClr val="C9C4BA">
                <a:alpha val="55000"/>
              </a:srgbClr>
            </a:outerShdw>
          </a:effectLst>
        </p:spPr>
        <p:txBody>
          <a:bodyPr/>
          <a:lstStyle/>
          <a:p>
            <a:endParaRPr lang="en-SG"/>
          </a:p>
        </p:txBody>
      </p:sp>
      <p:sp>
        <p:nvSpPr>
          <p:cNvPr id="6" name="Text 4">
            <a:extLst>
              <a:ext uri="{FF2B5EF4-FFF2-40B4-BE49-F238E27FC236}">
                <a16:creationId xmlns:a16="http://schemas.microsoft.com/office/drawing/2014/main" id="{735D3038-3C4E-45FE-A9D2-EF38390CAB2F}"/>
              </a:ext>
            </a:extLst>
          </p:cNvPr>
          <p:cNvSpPr>
            <a:spLocks noGrp="1"/>
          </p:cNvSpPr>
          <p:nvPr/>
        </p:nvSpPr>
        <p:spPr>
          <a:xfrm>
            <a:off x="859536" y="3319272"/>
            <a:ext cx="1097280" cy="548640"/>
          </a:xfrm>
          <a:prstGeom prst="rect">
            <a:avLst/>
          </a:prstGeom>
          <a:noFill/>
        </p:spPr>
        <p:txBody>
          <a:bodyPr wrap="square" lIns="0" tIns="0" rIns="0" bIns="0" anchor="ctr"/>
          <a:lstStyle/>
          <a:p>
            <a:pPr marL="0" indent="0">
              <a:buNone/>
            </a:pPr>
            <a:r>
              <a:rPr sz="2600" b="1">
                <a:solidFill>
                  <a:srgbClr val="7A5CFF"/>
                </a:solidFill>
                <a:latin typeface="Arial"/>
                <a:ea typeface="Arial"/>
                <a:cs typeface="Arial"/>
              </a:rPr>
              <a:t>01</a:t>
            </a:r>
          </a:p>
        </p:txBody>
      </p:sp>
      <p:sp>
        <p:nvSpPr>
          <p:cNvPr id="7" name="Text 5">
            <a:extLst>
              <a:ext uri="{FF2B5EF4-FFF2-40B4-BE49-F238E27FC236}">
                <a16:creationId xmlns:a16="http://schemas.microsoft.com/office/drawing/2014/main" id="{676899E9-B4EB-4E32-AD1C-8DD8B47CE762}"/>
              </a:ext>
            </a:extLst>
          </p:cNvPr>
          <p:cNvSpPr>
            <a:spLocks noGrp="1"/>
          </p:cNvSpPr>
          <p:nvPr/>
        </p:nvSpPr>
        <p:spPr>
          <a:xfrm>
            <a:off x="1801368" y="3374136"/>
            <a:ext cx="3794760" cy="457200"/>
          </a:xfrm>
          <a:prstGeom prst="rect">
            <a:avLst/>
          </a:prstGeom>
          <a:noFill/>
        </p:spPr>
        <p:txBody>
          <a:bodyPr wrap="square" lIns="0" tIns="0" rIns="0" bIns="0" anchor="ctr"/>
          <a:lstStyle/>
          <a:p>
            <a:pPr marL="0" indent="0">
              <a:buNone/>
            </a:pPr>
            <a:r>
              <a:rPr sz="1800" b="1">
                <a:solidFill>
                  <a:srgbClr val="0D0C0A"/>
                </a:solidFill>
                <a:latin typeface="Arial"/>
                <a:ea typeface="Arial"/>
                <a:cs typeface="Arial"/>
              </a:rPr>
              <a:t>BD Agent</a:t>
            </a:r>
          </a:p>
        </p:txBody>
      </p:sp>
      <p:sp>
        <p:nvSpPr>
          <p:cNvPr id="8" name="Text 6">
            <a:extLst>
              <a:ext uri="{FF2B5EF4-FFF2-40B4-BE49-F238E27FC236}">
                <a16:creationId xmlns:a16="http://schemas.microsoft.com/office/drawing/2014/main" id="{9A3B17EC-2EDC-432A-BD9A-62257B662B8D}"/>
              </a:ext>
            </a:extLst>
          </p:cNvPr>
          <p:cNvSpPr>
            <a:spLocks noGrp="1"/>
          </p:cNvSpPr>
          <p:nvPr/>
        </p:nvSpPr>
        <p:spPr>
          <a:xfrm>
            <a:off x="877824" y="4069080"/>
            <a:ext cx="4654296" cy="502920"/>
          </a:xfrm>
          <a:prstGeom prst="rect">
            <a:avLst/>
          </a:prstGeom>
          <a:noFill/>
        </p:spPr>
        <p:txBody>
          <a:bodyPr wrap="square" lIns="0" tIns="0" rIns="0" bIns="0" anchor="ctr"/>
          <a:lstStyle/>
          <a:p>
            <a:pPr marL="0" indent="0">
              <a:lnSpc>
                <a:spcPct val="110000"/>
              </a:lnSpc>
              <a:buNone/>
            </a:pPr>
            <a:r>
              <a:rPr sz="1400" b="1">
                <a:solidFill>
                  <a:srgbClr val="5A3EE0"/>
                </a:solidFill>
                <a:latin typeface="Arial"/>
                <a:ea typeface="Arial"/>
                <a:cs typeface="Arial"/>
              </a:rPr>
              <a:t>Get more of the right brands in the door.</a:t>
            </a:r>
          </a:p>
        </p:txBody>
      </p:sp>
      <p:sp>
        <p:nvSpPr>
          <p:cNvPr id="9" name="Text 7">
            <a:extLst>
              <a:ext uri="{FF2B5EF4-FFF2-40B4-BE49-F238E27FC236}">
                <a16:creationId xmlns:a16="http://schemas.microsoft.com/office/drawing/2014/main" id="{B84BA6D7-7601-4EB6-BE46-E824554A2A10}"/>
              </a:ext>
            </a:extLst>
          </p:cNvPr>
          <p:cNvSpPr>
            <a:spLocks noGrp="1"/>
          </p:cNvSpPr>
          <p:nvPr/>
        </p:nvSpPr>
        <p:spPr>
          <a:xfrm>
            <a:off x="877824" y="4636008"/>
            <a:ext cx="4654296" cy="1097280"/>
          </a:xfrm>
          <a:prstGeom prst="rect">
            <a:avLst/>
          </a:prstGeom>
          <a:noFill/>
        </p:spPr>
        <p:txBody>
          <a:bodyPr wrap="square" lIns="0" tIns="0" rIns="0" bIns="0" anchor="ctr"/>
          <a:lstStyle/>
          <a:p>
            <a:pPr marL="0" indent="0">
              <a:lnSpc>
                <a:spcPct val="128000"/>
              </a:lnSpc>
              <a:buNone/>
            </a:pPr>
            <a:r>
              <a:rPr sz="1200">
                <a:solidFill>
                  <a:srgbClr val="6B675F"/>
                </a:solidFill>
                <a:latin typeface="Arial"/>
                <a:ea typeface="Arial"/>
                <a:cs typeface="Arial"/>
              </a:rPr>
              <a:t>An AI operator that finds suitable Singapore companies, researches them, writes a specific first message, sends it, reads the reply, and follows up. The founder keeps the wheel.</a:t>
            </a:r>
          </a:p>
        </p:txBody>
      </p:sp>
      <p:sp>
        <p:nvSpPr>
          <p:cNvPr id="10" name="Shape 8">
            <a:extLst>
              <a:ext uri="{FF2B5EF4-FFF2-40B4-BE49-F238E27FC236}">
                <a16:creationId xmlns:a16="http://schemas.microsoft.com/office/drawing/2014/main" id="{625D24D4-C07B-4832-B796-CC5F88DEFBF2}"/>
              </a:ext>
            </a:extLst>
          </p:cNvPr>
          <p:cNvSpPr>
            <a:spLocks noGrp="1"/>
          </p:cNvSpPr>
          <p:nvPr/>
        </p:nvSpPr>
        <p:spPr>
          <a:xfrm>
            <a:off x="6190488" y="3063240"/>
            <a:ext cx="5257800" cy="2788920"/>
          </a:xfrm>
          <a:prstGeom prst="roundRect">
            <a:avLst>
              <a:gd name="adj" fmla="val 1475"/>
            </a:avLst>
          </a:prstGeom>
          <a:solidFill>
            <a:srgbClr val="FFFFFF"/>
          </a:solidFill>
          <a:ln w="12700">
            <a:solidFill>
              <a:srgbClr val="E2DED6"/>
            </a:solidFill>
            <a:prstDash val="solid"/>
          </a:ln>
          <a:effectLst>
            <a:outerShdw blurRad="76200" dist="25400" dir="5400000" algn="bl" rotWithShape="0">
              <a:srgbClr val="C9C4BA">
                <a:alpha val="55000"/>
              </a:srgbClr>
            </a:outerShdw>
          </a:effectLst>
        </p:spPr>
        <p:txBody>
          <a:bodyPr/>
          <a:lstStyle/>
          <a:p>
            <a:endParaRPr lang="en-SG"/>
          </a:p>
        </p:txBody>
      </p:sp>
      <p:sp>
        <p:nvSpPr>
          <p:cNvPr id="11" name="Text 9">
            <a:extLst>
              <a:ext uri="{FF2B5EF4-FFF2-40B4-BE49-F238E27FC236}">
                <a16:creationId xmlns:a16="http://schemas.microsoft.com/office/drawing/2014/main" id="{EBD2BD8A-9741-45AF-BFA8-C8C6CF880A44}"/>
              </a:ext>
            </a:extLst>
          </p:cNvPr>
          <p:cNvSpPr>
            <a:spLocks noGrp="1"/>
          </p:cNvSpPr>
          <p:nvPr/>
        </p:nvSpPr>
        <p:spPr>
          <a:xfrm>
            <a:off x="6483096" y="3319272"/>
            <a:ext cx="1097280" cy="548640"/>
          </a:xfrm>
          <a:prstGeom prst="rect">
            <a:avLst/>
          </a:prstGeom>
          <a:noFill/>
        </p:spPr>
        <p:txBody>
          <a:bodyPr wrap="square" lIns="0" tIns="0" rIns="0" bIns="0" anchor="ctr"/>
          <a:lstStyle/>
          <a:p>
            <a:pPr marL="0" indent="0">
              <a:buNone/>
            </a:pPr>
            <a:r>
              <a:rPr sz="2600" b="1">
                <a:solidFill>
                  <a:srgbClr val="7A5CFF"/>
                </a:solidFill>
                <a:latin typeface="Arial"/>
                <a:ea typeface="Arial"/>
                <a:cs typeface="Arial"/>
              </a:rPr>
              <a:t>02</a:t>
            </a:r>
          </a:p>
        </p:txBody>
      </p:sp>
      <p:sp>
        <p:nvSpPr>
          <p:cNvPr id="12" name="Text 10">
            <a:extLst>
              <a:ext uri="{FF2B5EF4-FFF2-40B4-BE49-F238E27FC236}">
                <a16:creationId xmlns:a16="http://schemas.microsoft.com/office/drawing/2014/main" id="{FAEB192C-B0A2-4B0A-8AAE-AE1FC7369528}"/>
              </a:ext>
            </a:extLst>
          </p:cNvPr>
          <p:cNvSpPr>
            <a:spLocks noGrp="1"/>
          </p:cNvSpPr>
          <p:nvPr/>
        </p:nvSpPr>
        <p:spPr>
          <a:xfrm>
            <a:off x="7424928" y="3374136"/>
            <a:ext cx="3794760" cy="457200"/>
          </a:xfrm>
          <a:prstGeom prst="rect">
            <a:avLst/>
          </a:prstGeom>
          <a:noFill/>
        </p:spPr>
        <p:txBody>
          <a:bodyPr wrap="square" lIns="0" tIns="0" rIns="0" bIns="0" anchor="ctr"/>
          <a:lstStyle/>
          <a:p>
            <a:pPr marL="0" indent="0">
              <a:buNone/>
            </a:pPr>
            <a:r>
              <a:rPr sz="1800" b="1">
                <a:solidFill>
                  <a:srgbClr val="0D0C0A"/>
                </a:solidFill>
                <a:latin typeface="Arial"/>
                <a:ea typeface="Arial"/>
                <a:cs typeface="Arial"/>
              </a:rPr>
              <a:t>Website redesign</a:t>
            </a:r>
          </a:p>
        </p:txBody>
      </p:sp>
      <p:sp>
        <p:nvSpPr>
          <p:cNvPr id="13" name="Text 11">
            <a:extLst>
              <a:ext uri="{FF2B5EF4-FFF2-40B4-BE49-F238E27FC236}">
                <a16:creationId xmlns:a16="http://schemas.microsoft.com/office/drawing/2014/main" id="{B93E6217-5D44-41FF-A8F6-BA2DF6900370}"/>
              </a:ext>
            </a:extLst>
          </p:cNvPr>
          <p:cNvSpPr>
            <a:spLocks noGrp="1"/>
          </p:cNvSpPr>
          <p:nvPr/>
        </p:nvSpPr>
        <p:spPr>
          <a:xfrm>
            <a:off x="6501384" y="4069080"/>
            <a:ext cx="4654296" cy="502920"/>
          </a:xfrm>
          <a:prstGeom prst="rect">
            <a:avLst/>
          </a:prstGeom>
          <a:noFill/>
        </p:spPr>
        <p:txBody>
          <a:bodyPr wrap="square" lIns="0" tIns="0" rIns="0" bIns="0" anchor="ctr"/>
          <a:lstStyle/>
          <a:p>
            <a:pPr marL="0" indent="0">
              <a:lnSpc>
                <a:spcPct val="110000"/>
              </a:lnSpc>
              <a:buNone/>
            </a:pPr>
            <a:r>
              <a:rPr sz="1400" b="1">
                <a:solidFill>
                  <a:srgbClr val="5A3EE0"/>
                </a:solidFill>
                <a:latin typeface="Arial"/>
                <a:ea typeface="Arial"/>
                <a:cs typeface="Arial"/>
              </a:rPr>
              <a:t>Make the site as credible as the data behind it.</a:t>
            </a:r>
          </a:p>
        </p:txBody>
      </p:sp>
      <p:sp>
        <p:nvSpPr>
          <p:cNvPr id="14" name="Text 12">
            <a:extLst>
              <a:ext uri="{FF2B5EF4-FFF2-40B4-BE49-F238E27FC236}">
                <a16:creationId xmlns:a16="http://schemas.microsoft.com/office/drawing/2014/main" id="{6A9E95FE-6B4E-400F-ABE5-ACCC0C6A6F78}"/>
              </a:ext>
            </a:extLst>
          </p:cNvPr>
          <p:cNvSpPr>
            <a:spLocks noGrp="1"/>
          </p:cNvSpPr>
          <p:nvPr/>
        </p:nvSpPr>
        <p:spPr>
          <a:xfrm>
            <a:off x="6501384" y="4636008"/>
            <a:ext cx="4654296" cy="1097280"/>
          </a:xfrm>
          <a:prstGeom prst="rect">
            <a:avLst/>
          </a:prstGeom>
          <a:noFill/>
        </p:spPr>
        <p:txBody>
          <a:bodyPr wrap="square" lIns="0" tIns="0" rIns="0" bIns="0" anchor="ctr"/>
          <a:lstStyle/>
          <a:p>
            <a:pPr marL="0" indent="0">
              <a:lnSpc>
                <a:spcPct val="128000"/>
              </a:lnSpc>
              <a:buNone/>
            </a:pPr>
            <a:r>
              <a:rPr sz="1200">
                <a:solidFill>
                  <a:srgbClr val="6B675F"/>
                </a:solidFill>
                <a:latin typeface="Arial"/>
                <a:ea typeface="Arial"/>
                <a:cs typeface="Arial"/>
              </a:rPr>
              <a:t>One coherent design system across every public page. Consistent pricing, honest feature labels, clear brand and creator paths. Static, responsive, no backend.</a:t>
            </a:r>
          </a:p>
        </p:txBody>
      </p:sp>
      <p:sp>
        <p:nvSpPr>
          <p:cNvPr id="15" name="Text 13">
            <a:extLst>
              <a:ext uri="{FF2B5EF4-FFF2-40B4-BE49-F238E27FC236}">
                <a16:creationId xmlns:a16="http://schemas.microsoft.com/office/drawing/2014/main" id="{0F8EF07D-1E19-4B46-A739-3B8EB10865EC}"/>
              </a:ext>
            </a:extLst>
          </p:cNvPr>
          <p:cNvSpPr>
            <a:spLocks noGrp="1"/>
          </p:cNvSpPr>
          <p:nvPr/>
        </p:nvSpPr>
        <p:spPr>
          <a:xfrm>
            <a:off x="8351215" y="6382512"/>
            <a:ext cx="3273552" cy="274320"/>
          </a:xfrm>
          <a:prstGeom prst="rect">
            <a:avLst/>
          </a:prstGeom>
          <a:noFill/>
        </p:spPr>
        <p:txBody>
          <a:bodyPr wrap="square" lIns="0" tIns="0" rIns="0" bIns="0" anchor="ctr"/>
          <a:lstStyle/>
          <a:p>
            <a:pPr marL="0" indent="0" algn="r">
              <a:buNone/>
            </a:pPr>
            <a:r>
              <a:rPr sz="950" b="1">
                <a:solidFill>
                  <a:srgbClr val="9A968C"/>
                </a:solidFill>
                <a:latin typeface="Arial"/>
                <a:ea typeface="Arial"/>
                <a:cs typeface="Arial"/>
              </a:rPr>
              <a:t>INFLUENCEES</a:t>
            </a:r>
            <a:r>
              <a:rPr sz="950" b="1">
                <a:solidFill>
                  <a:srgbClr val="6B675F"/>
                </a:solidFill>
                <a:latin typeface="Arial"/>
                <a:ea typeface="Arial"/>
                <a:cs typeface="Arial"/>
              </a:rPr>
              <a:t>   02 / 10</a:t>
            </a:r>
          </a:p>
        </p:txBody>
      </p:sp>
      <p:sp>
        <p:nvSpPr>
          <p:cNvPr id="16" name="white-canvas-2">
            <a:extLst>
              <a:ext uri="{FF2B5EF4-FFF2-40B4-BE49-F238E27FC236}">
                <a16:creationId xmlns:a16="http://schemas.microsoft.com/office/drawing/2014/main" id="{D7CE75C4-DA42-467C-8092-BCE85ABC7DB7}"/>
              </a:ext>
            </a:extLst>
          </p:cNvPr>
          <p:cNvSpPr>
            <a:spLocks noGrp="1"/>
          </p:cNvSpPr>
          <p:nvPr/>
        </p:nvSpPr>
        <p:spPr>
          <a:xfrm>
            <a:off x="0" y="0"/>
            <a:ext cx="12192000" cy="6858000"/>
          </a:xfrm>
          <a:prstGeom prst="rect">
            <a:avLst/>
          </a:prstGeom>
          <a:solidFill>
            <a:srgbClr val="FFFFFF"/>
          </a:solidFill>
          <a:ln w="0">
            <a:noFill/>
            <a:prstDash val="solid"/>
          </a:ln>
        </p:spPr>
        <p:txBody>
          <a:bodyPr/>
          <a:lstStyle/>
          <a:p>
            <a:endParaRPr lang="en-SG"/>
          </a:p>
        </p:txBody>
      </p:sp>
      <p:sp>
        <p:nvSpPr>
          <p:cNvPr id="17" name="section-badge">
            <a:extLst>
              <a:ext uri="{FF2B5EF4-FFF2-40B4-BE49-F238E27FC236}">
                <a16:creationId xmlns:a16="http://schemas.microsoft.com/office/drawing/2014/main" id="{2B40B73C-A0D8-4536-9F5D-E06718A40947}"/>
              </a:ext>
            </a:extLst>
          </p:cNvPr>
          <p:cNvSpPr>
            <a:spLocks noGrp="1"/>
          </p:cNvSpPr>
          <p:nvPr/>
        </p:nvSpPr>
        <p:spPr>
          <a:xfrm>
            <a:off x="4191000" y="323850"/>
            <a:ext cx="3810000" cy="247650"/>
          </a:xfrm>
          <a:prstGeom prst="rect">
            <a:avLst/>
          </a:prstGeom>
          <a:noFill/>
          <a:ln w="0">
            <a:noFill/>
            <a:prstDash val="solid"/>
          </a:ln>
        </p:spPr>
        <p:txBody>
          <a:bodyPr wrap="square" lIns="0" tIns="0" rIns="0" bIns="0" anchor="t">
            <a:normAutofit/>
          </a:bodyPr>
          <a:lstStyle/>
          <a:p>
            <a:pPr algn="ctr">
              <a:lnSpc>
                <a:spcPct val="112000"/>
              </a:lnSpc>
              <a:buNone/>
              <a:defRPr sz="1200" b="1">
                <a:solidFill>
                  <a:srgbClr val="7C5CFC"/>
                </a:solidFill>
                <a:latin typeface="Inter"/>
                <a:ea typeface="Inter"/>
                <a:cs typeface="Inter"/>
              </a:defRPr>
            </a:pPr>
            <a:r>
              <a:rPr sz="1200" b="1">
                <a:solidFill>
                  <a:srgbClr val="7C5CFC"/>
                </a:solidFill>
                <a:latin typeface="Inter"/>
                <a:ea typeface="Inter"/>
                <a:cs typeface="Inter"/>
              </a:rPr>
              <a:t>THE SETUP</a:t>
            </a:r>
          </a:p>
        </p:txBody>
      </p:sp>
      <p:sp>
        <p:nvSpPr>
          <p:cNvPr id="18" name="slide-title">
            <a:extLst>
              <a:ext uri="{FF2B5EF4-FFF2-40B4-BE49-F238E27FC236}">
                <a16:creationId xmlns:a16="http://schemas.microsoft.com/office/drawing/2014/main" id="{6BB1D3CA-A6C3-4A27-A80C-2347EBC8B41F}"/>
              </a:ext>
            </a:extLst>
          </p:cNvPr>
          <p:cNvSpPr>
            <a:spLocks noGrp="1"/>
          </p:cNvSpPr>
          <p:nvPr/>
        </p:nvSpPr>
        <p:spPr>
          <a:xfrm>
            <a:off x="952500" y="666750"/>
            <a:ext cx="10287000" cy="685800"/>
          </a:xfrm>
          <a:prstGeom prst="rect">
            <a:avLst/>
          </a:prstGeom>
          <a:noFill/>
          <a:ln w="0">
            <a:noFill/>
            <a:prstDash val="solid"/>
          </a:ln>
        </p:spPr>
        <p:txBody>
          <a:bodyPr wrap="square" lIns="0" tIns="0" rIns="0" bIns="0" anchor="ctr">
            <a:normAutofit/>
          </a:bodyPr>
          <a:lstStyle/>
          <a:p>
            <a:pPr algn="ctr">
              <a:lnSpc>
                <a:spcPct val="102000"/>
              </a:lnSpc>
              <a:buNone/>
              <a:defRPr sz="3675" b="0">
                <a:solidFill>
                  <a:srgbClr val="0F172A"/>
                </a:solidFill>
                <a:latin typeface="Inter"/>
                <a:ea typeface="Inter"/>
                <a:cs typeface="Inter"/>
              </a:defRPr>
            </a:pPr>
            <a:r>
              <a:rPr sz="3675" b="0">
                <a:solidFill>
                  <a:srgbClr val="0F172A"/>
                </a:solidFill>
                <a:latin typeface="Inter"/>
                <a:ea typeface="Inter"/>
                <a:cs typeface="Inter"/>
              </a:rPr>
              <a:t>Influencees has the substance.</a:t>
            </a:r>
          </a:p>
        </p:txBody>
      </p:sp>
      <p:sp>
        <p:nvSpPr>
          <p:cNvPr id="19" name="slide-subtitle">
            <a:extLst>
              <a:ext uri="{FF2B5EF4-FFF2-40B4-BE49-F238E27FC236}">
                <a16:creationId xmlns:a16="http://schemas.microsoft.com/office/drawing/2014/main" id="{CD33171F-DEA0-4090-B246-6A112BCBC427}"/>
              </a:ext>
            </a:extLst>
          </p:cNvPr>
          <p:cNvSpPr>
            <a:spLocks noGrp="1"/>
          </p:cNvSpPr>
          <p:nvPr/>
        </p:nvSpPr>
        <p:spPr>
          <a:xfrm>
            <a:off x="1333500" y="1333500"/>
            <a:ext cx="9525000" cy="590550"/>
          </a:xfrm>
          <a:prstGeom prst="rect">
            <a:avLst/>
          </a:prstGeom>
          <a:noFill/>
          <a:ln w="0">
            <a:noFill/>
            <a:prstDash val="solid"/>
          </a:ln>
        </p:spPr>
        <p:txBody>
          <a:bodyPr wrap="square" lIns="0" tIns="0" rIns="0" bIns="0" anchor="ctr">
            <a:normAutofit/>
          </a:bodyPr>
          <a:lstStyle/>
          <a:p>
            <a:pPr algn="ctr">
              <a:lnSpc>
                <a:spcPct val="122000"/>
              </a:lnSpc>
              <a:buNone/>
              <a:defRPr sz="1575" b="0">
                <a:solidFill>
                  <a:srgbClr val="64748B"/>
                </a:solidFill>
                <a:latin typeface="Inter"/>
                <a:ea typeface="Inter"/>
                <a:cs typeface="Inter"/>
              </a:defRPr>
            </a:pPr>
            <a:r>
              <a:rPr sz="1575" b="0">
                <a:solidFill>
                  <a:srgbClr val="64748B"/>
                </a:solidFill>
                <a:latin typeface="Inter"/>
                <a:ea typeface="Inter"/>
                <a:cs typeface="Inter"/>
              </a:rPr>
              <a:t>Two focused solutions move it forward: one builds traction, the other builds trust.</a:t>
            </a:r>
          </a:p>
        </p:txBody>
      </p:sp>
      <p:sp>
        <p:nvSpPr>
          <p:cNvPr id="20" name="setup-card-01">
            <a:extLst>
              <a:ext uri="{FF2B5EF4-FFF2-40B4-BE49-F238E27FC236}">
                <a16:creationId xmlns:a16="http://schemas.microsoft.com/office/drawing/2014/main" id="{033211B7-A183-4B3C-8B5B-2F972850605E}"/>
              </a:ext>
            </a:extLst>
          </p:cNvPr>
          <p:cNvSpPr>
            <a:spLocks noGrp="1"/>
          </p:cNvSpPr>
          <p:nvPr/>
        </p:nvSpPr>
        <p:spPr>
          <a:xfrm>
            <a:off x="876300" y="2571750"/>
            <a:ext cx="5086350" cy="3314700"/>
          </a:xfrm>
          <a:prstGeom prst="roundRect">
            <a:avLst>
              <a:gd name="adj" fmla="val 5747"/>
            </a:avLst>
          </a:prstGeom>
          <a:solidFill>
            <a:srgbClr val="FFF7E6"/>
          </a:solidFill>
          <a:ln w="9525">
            <a:solidFill>
              <a:srgbClr val="FFFFFF">
                <a:alpha val="60000"/>
              </a:srgbClr>
            </a:solidFill>
            <a:prstDash val="solid"/>
          </a:ln>
        </p:spPr>
        <p:style>
          <a:lnRef idx="0">
            <a:scrgbClr r="0" g="0" b="0"/>
          </a:lnRef>
          <a:fillRef idx="0">
            <a:scrgbClr r="0" g="0" b="0"/>
          </a:fillRef>
          <a:effectRef idx="4">
            <a:scrgbClr r="0" g="0" b="0"/>
          </a:effectRef>
          <a:fontRef idx="major"/>
        </p:style>
        <p:txBody>
          <a:bodyPr/>
          <a:lstStyle/>
          <a:p>
            <a:endParaRPr lang="en-SG"/>
          </a:p>
        </p:txBody>
      </p:sp>
      <p:sp>
        <p:nvSpPr>
          <p:cNvPr id="21" name="setup-num-01">
            <a:extLst>
              <a:ext uri="{FF2B5EF4-FFF2-40B4-BE49-F238E27FC236}">
                <a16:creationId xmlns:a16="http://schemas.microsoft.com/office/drawing/2014/main" id="{F6DB38C6-5FC0-4795-98FF-3373FA03633E}"/>
              </a:ext>
            </a:extLst>
          </p:cNvPr>
          <p:cNvSpPr>
            <a:spLocks noGrp="1"/>
          </p:cNvSpPr>
          <p:nvPr/>
        </p:nvSpPr>
        <p:spPr>
          <a:xfrm>
            <a:off x="1143000" y="2819400"/>
            <a:ext cx="666750" cy="323850"/>
          </a:xfrm>
          <a:prstGeom prst="rect">
            <a:avLst/>
          </a:prstGeom>
          <a:noFill/>
          <a:ln w="0">
            <a:noFill/>
            <a:prstDash val="solid"/>
          </a:ln>
        </p:spPr>
        <p:txBody>
          <a:bodyPr wrap="square" lIns="0" tIns="0" rIns="0" bIns="0" anchor="t">
            <a:normAutofit/>
          </a:bodyPr>
          <a:lstStyle/>
          <a:p>
            <a:pPr algn="l">
              <a:lnSpc>
                <a:spcPct val="112000"/>
              </a:lnSpc>
              <a:buNone/>
              <a:defRPr sz="1650" b="1">
                <a:solidFill>
                  <a:srgbClr val="7C5CFC"/>
                </a:solidFill>
                <a:latin typeface="Inter"/>
                <a:ea typeface="Inter"/>
                <a:cs typeface="Inter"/>
              </a:defRPr>
            </a:pPr>
            <a:r>
              <a:rPr sz="1650" b="1">
                <a:solidFill>
                  <a:srgbClr val="7C5CFC"/>
                </a:solidFill>
                <a:latin typeface="Inter"/>
                <a:ea typeface="Inter"/>
                <a:cs typeface="Inter"/>
              </a:rPr>
              <a:t>01</a:t>
            </a:r>
          </a:p>
        </p:txBody>
      </p:sp>
      <p:sp>
        <p:nvSpPr>
          <p:cNvPr id="22" name="setup-title-01">
            <a:extLst>
              <a:ext uri="{FF2B5EF4-FFF2-40B4-BE49-F238E27FC236}">
                <a16:creationId xmlns:a16="http://schemas.microsoft.com/office/drawing/2014/main" id="{A342B91C-2B14-4B59-B71B-6780B3237DB0}"/>
              </a:ext>
            </a:extLst>
          </p:cNvPr>
          <p:cNvSpPr>
            <a:spLocks noGrp="1"/>
          </p:cNvSpPr>
          <p:nvPr/>
        </p:nvSpPr>
        <p:spPr>
          <a:xfrm>
            <a:off x="1143000" y="3276600"/>
            <a:ext cx="4476750" cy="400050"/>
          </a:xfrm>
          <a:prstGeom prst="rect">
            <a:avLst/>
          </a:prstGeom>
          <a:noFill/>
          <a:ln w="0">
            <a:noFill/>
            <a:prstDash val="solid"/>
          </a:ln>
        </p:spPr>
        <p:txBody>
          <a:bodyPr wrap="square" lIns="0" tIns="0" rIns="0" bIns="0" anchor="t">
            <a:normAutofit/>
          </a:bodyPr>
          <a:lstStyle/>
          <a:p>
            <a:pPr algn="l">
              <a:lnSpc>
                <a:spcPct val="112000"/>
              </a:lnSpc>
              <a:buNone/>
              <a:defRPr sz="2175" b="1">
                <a:solidFill>
                  <a:srgbClr val="0F172A"/>
                </a:solidFill>
                <a:latin typeface="Inter"/>
                <a:ea typeface="Inter"/>
                <a:cs typeface="Inter"/>
              </a:defRPr>
            </a:pPr>
            <a:r>
              <a:rPr sz="2175" b="1">
                <a:solidFill>
                  <a:srgbClr val="0F172A"/>
                </a:solidFill>
                <a:latin typeface="Inter"/>
                <a:ea typeface="Inter"/>
                <a:cs typeface="Inter"/>
              </a:rPr>
              <a:t>BD Agent</a:t>
            </a:r>
          </a:p>
        </p:txBody>
      </p:sp>
      <p:sp>
        <p:nvSpPr>
          <p:cNvPr id="23" name="setup-callout-01">
            <a:extLst>
              <a:ext uri="{FF2B5EF4-FFF2-40B4-BE49-F238E27FC236}">
                <a16:creationId xmlns:a16="http://schemas.microsoft.com/office/drawing/2014/main" id="{D09A940F-B1CE-430D-AD4A-F68A6B1484F9}"/>
              </a:ext>
            </a:extLst>
          </p:cNvPr>
          <p:cNvSpPr>
            <a:spLocks noGrp="1"/>
          </p:cNvSpPr>
          <p:nvPr/>
        </p:nvSpPr>
        <p:spPr>
          <a:xfrm>
            <a:off x="1143000" y="3886200"/>
            <a:ext cx="4476750" cy="533400"/>
          </a:xfrm>
          <a:prstGeom prst="rect">
            <a:avLst/>
          </a:prstGeom>
          <a:noFill/>
          <a:ln w="0">
            <a:noFill/>
            <a:prstDash val="solid"/>
          </a:ln>
        </p:spPr>
        <p:txBody>
          <a:bodyPr wrap="square" lIns="0" tIns="0" rIns="0" bIns="0" anchor="ctr">
            <a:normAutofit/>
          </a:bodyPr>
          <a:lstStyle/>
          <a:p>
            <a:pPr algn="l">
              <a:lnSpc>
                <a:spcPct val="112000"/>
              </a:lnSpc>
              <a:buNone/>
              <a:defRPr sz="1650" b="1">
                <a:solidFill>
                  <a:srgbClr val="1E293B"/>
                </a:solidFill>
                <a:latin typeface="Inter"/>
                <a:ea typeface="Inter"/>
                <a:cs typeface="Inter"/>
              </a:defRPr>
            </a:pPr>
            <a:r>
              <a:rPr sz="1650" b="1">
                <a:solidFill>
                  <a:srgbClr val="1E293B"/>
                </a:solidFill>
                <a:latin typeface="Inter"/>
                <a:ea typeface="Inter"/>
                <a:cs typeface="Inter"/>
              </a:rPr>
              <a:t>Get more of the right brands in the door.</a:t>
            </a:r>
          </a:p>
        </p:txBody>
      </p:sp>
      <p:sp>
        <p:nvSpPr>
          <p:cNvPr id="24" name="setup-note-01">
            <a:extLst>
              <a:ext uri="{FF2B5EF4-FFF2-40B4-BE49-F238E27FC236}">
                <a16:creationId xmlns:a16="http://schemas.microsoft.com/office/drawing/2014/main" id="{9A8227B0-63F5-4346-AEBC-1843F72BFD10}"/>
              </a:ext>
            </a:extLst>
          </p:cNvPr>
          <p:cNvSpPr>
            <a:spLocks noGrp="1"/>
          </p:cNvSpPr>
          <p:nvPr/>
        </p:nvSpPr>
        <p:spPr>
          <a:xfrm>
            <a:off x="1143000" y="4591050"/>
            <a:ext cx="4552950" cy="1028700"/>
          </a:xfrm>
          <a:prstGeom prst="roundRect">
            <a:avLst>
              <a:gd name="adj" fmla="val 11111"/>
            </a:avLst>
          </a:prstGeom>
          <a:solidFill>
            <a:srgbClr val="FFFFFF">
              <a:alpha val="86000"/>
            </a:srgbClr>
          </a:solidFill>
          <a:ln w="9525">
            <a:solidFill>
              <a:srgbClr val="FFFFFF"/>
            </a:solidFill>
            <a:prstDash val="solid"/>
          </a:ln>
        </p:spPr>
        <p:style>
          <a:lnRef idx="0">
            <a:scrgbClr r="0" g="0" b="0"/>
          </a:lnRef>
          <a:fillRef idx="0">
            <a:scrgbClr r="0" g="0" b="0"/>
          </a:fillRef>
          <a:effectRef idx="5">
            <a:scrgbClr r="0" g="0" b="0"/>
          </a:effectRef>
          <a:fontRef idx="major"/>
        </p:style>
        <p:txBody>
          <a:bodyPr/>
          <a:lstStyle/>
          <a:p>
            <a:endParaRPr lang="en-SG"/>
          </a:p>
        </p:txBody>
      </p:sp>
      <p:sp>
        <p:nvSpPr>
          <p:cNvPr id="25" name="setup-body-01">
            <a:extLst>
              <a:ext uri="{FF2B5EF4-FFF2-40B4-BE49-F238E27FC236}">
                <a16:creationId xmlns:a16="http://schemas.microsoft.com/office/drawing/2014/main" id="{D57F92E1-3782-41A8-B534-A0333DEE6090}"/>
              </a:ext>
            </a:extLst>
          </p:cNvPr>
          <p:cNvSpPr>
            <a:spLocks noGrp="1"/>
          </p:cNvSpPr>
          <p:nvPr/>
        </p:nvSpPr>
        <p:spPr>
          <a:xfrm>
            <a:off x="1314450" y="4724400"/>
            <a:ext cx="4210050" cy="762000"/>
          </a:xfrm>
          <a:prstGeom prst="rect">
            <a:avLst/>
          </a:prstGeom>
          <a:noFill/>
          <a:ln w="0">
            <a:noFill/>
            <a:prstDash val="solid"/>
          </a:ln>
        </p:spPr>
        <p:txBody>
          <a:bodyPr wrap="square" lIns="0" tIns="0" rIns="0" bIns="0" anchor="ctr">
            <a:normAutofit fontScale="97466"/>
          </a:bodyPr>
          <a:lstStyle/>
          <a:p>
            <a:pPr algn="l">
              <a:lnSpc>
                <a:spcPct val="120000"/>
              </a:lnSpc>
              <a:buNone/>
              <a:defRPr sz="1425" b="0">
                <a:solidFill>
                  <a:srgbClr val="64748B"/>
                </a:solidFill>
                <a:latin typeface="Inter"/>
                <a:ea typeface="Inter"/>
                <a:cs typeface="Inter"/>
              </a:defRPr>
            </a:pPr>
            <a:r>
              <a:rPr sz="1425" b="0">
                <a:solidFill>
                  <a:srgbClr val="64748B"/>
                </a:solidFill>
                <a:latin typeface="Inter"/>
                <a:ea typeface="Inter"/>
                <a:cs typeface="Inter"/>
              </a:rPr>
              <a:t>Discover suitable Singapore companies, research the moment, send a specific first message, read the reply and follow up—with the founder still in control.</a:t>
            </a:r>
          </a:p>
        </p:txBody>
      </p:sp>
      <p:sp>
        <p:nvSpPr>
          <p:cNvPr id="26" name="setup-card-02">
            <a:extLst>
              <a:ext uri="{FF2B5EF4-FFF2-40B4-BE49-F238E27FC236}">
                <a16:creationId xmlns:a16="http://schemas.microsoft.com/office/drawing/2014/main" id="{B6B57BFD-361C-4031-A184-A45CE0D83D83}"/>
              </a:ext>
            </a:extLst>
          </p:cNvPr>
          <p:cNvSpPr>
            <a:spLocks noGrp="1"/>
          </p:cNvSpPr>
          <p:nvPr/>
        </p:nvSpPr>
        <p:spPr>
          <a:xfrm>
            <a:off x="6229350" y="2571750"/>
            <a:ext cx="5086350" cy="3314700"/>
          </a:xfrm>
          <a:prstGeom prst="roundRect">
            <a:avLst>
              <a:gd name="adj" fmla="val 5747"/>
            </a:avLst>
          </a:prstGeom>
          <a:solidFill>
            <a:srgbClr val="EEF3FF"/>
          </a:solidFill>
          <a:ln w="9525">
            <a:solidFill>
              <a:srgbClr val="FFFFFF">
                <a:alpha val="60000"/>
              </a:srgbClr>
            </a:solidFill>
            <a:prstDash val="solid"/>
          </a:ln>
        </p:spPr>
        <p:style>
          <a:lnRef idx="0">
            <a:scrgbClr r="0" g="0" b="0"/>
          </a:lnRef>
          <a:fillRef idx="0">
            <a:scrgbClr r="0" g="0" b="0"/>
          </a:fillRef>
          <a:effectRef idx="4">
            <a:scrgbClr r="0" g="0" b="0"/>
          </a:effectRef>
          <a:fontRef idx="major"/>
        </p:style>
        <p:txBody>
          <a:bodyPr/>
          <a:lstStyle/>
          <a:p>
            <a:endParaRPr lang="en-SG"/>
          </a:p>
        </p:txBody>
      </p:sp>
      <p:sp>
        <p:nvSpPr>
          <p:cNvPr id="27" name="setup-num-02">
            <a:extLst>
              <a:ext uri="{FF2B5EF4-FFF2-40B4-BE49-F238E27FC236}">
                <a16:creationId xmlns:a16="http://schemas.microsoft.com/office/drawing/2014/main" id="{DBB075F9-F45B-4BD5-817F-B67AB86C0E50}"/>
              </a:ext>
            </a:extLst>
          </p:cNvPr>
          <p:cNvSpPr>
            <a:spLocks noGrp="1"/>
          </p:cNvSpPr>
          <p:nvPr/>
        </p:nvSpPr>
        <p:spPr>
          <a:xfrm>
            <a:off x="6496050" y="2819400"/>
            <a:ext cx="666750" cy="323850"/>
          </a:xfrm>
          <a:prstGeom prst="rect">
            <a:avLst/>
          </a:prstGeom>
          <a:noFill/>
          <a:ln w="0">
            <a:noFill/>
            <a:prstDash val="solid"/>
          </a:ln>
        </p:spPr>
        <p:txBody>
          <a:bodyPr wrap="square" lIns="0" tIns="0" rIns="0" bIns="0" anchor="t">
            <a:normAutofit/>
          </a:bodyPr>
          <a:lstStyle/>
          <a:p>
            <a:pPr algn="l">
              <a:lnSpc>
                <a:spcPct val="112000"/>
              </a:lnSpc>
              <a:buNone/>
              <a:defRPr sz="1650" b="1">
                <a:solidFill>
                  <a:srgbClr val="7C5CFC"/>
                </a:solidFill>
                <a:latin typeface="Inter"/>
                <a:ea typeface="Inter"/>
                <a:cs typeface="Inter"/>
              </a:defRPr>
            </a:pPr>
            <a:r>
              <a:rPr sz="1650" b="1">
                <a:solidFill>
                  <a:srgbClr val="7C5CFC"/>
                </a:solidFill>
                <a:latin typeface="Inter"/>
                <a:ea typeface="Inter"/>
                <a:cs typeface="Inter"/>
              </a:rPr>
              <a:t>02</a:t>
            </a:r>
          </a:p>
        </p:txBody>
      </p:sp>
      <p:sp>
        <p:nvSpPr>
          <p:cNvPr id="28" name="setup-title-02">
            <a:extLst>
              <a:ext uri="{FF2B5EF4-FFF2-40B4-BE49-F238E27FC236}">
                <a16:creationId xmlns:a16="http://schemas.microsoft.com/office/drawing/2014/main" id="{CEC3DA9D-2718-46BD-944E-3CD7F419A2B5}"/>
              </a:ext>
            </a:extLst>
          </p:cNvPr>
          <p:cNvSpPr>
            <a:spLocks noGrp="1"/>
          </p:cNvSpPr>
          <p:nvPr/>
        </p:nvSpPr>
        <p:spPr>
          <a:xfrm>
            <a:off x="6496050" y="3276600"/>
            <a:ext cx="4476750" cy="400050"/>
          </a:xfrm>
          <a:prstGeom prst="rect">
            <a:avLst/>
          </a:prstGeom>
          <a:noFill/>
          <a:ln w="0">
            <a:noFill/>
            <a:prstDash val="solid"/>
          </a:ln>
        </p:spPr>
        <p:txBody>
          <a:bodyPr wrap="square" lIns="0" tIns="0" rIns="0" bIns="0" anchor="t">
            <a:normAutofit/>
          </a:bodyPr>
          <a:lstStyle/>
          <a:p>
            <a:pPr algn="l">
              <a:lnSpc>
                <a:spcPct val="112000"/>
              </a:lnSpc>
              <a:buNone/>
              <a:defRPr sz="2175" b="1">
                <a:solidFill>
                  <a:srgbClr val="0F172A"/>
                </a:solidFill>
                <a:latin typeface="Inter"/>
                <a:ea typeface="Inter"/>
                <a:cs typeface="Inter"/>
              </a:defRPr>
            </a:pPr>
            <a:r>
              <a:rPr sz="2175" b="1">
                <a:solidFill>
                  <a:srgbClr val="0F172A"/>
                </a:solidFill>
                <a:latin typeface="Inter"/>
                <a:ea typeface="Inter"/>
                <a:cs typeface="Inter"/>
              </a:rPr>
              <a:t>Website redesign</a:t>
            </a:r>
          </a:p>
        </p:txBody>
      </p:sp>
      <p:sp>
        <p:nvSpPr>
          <p:cNvPr id="29" name="setup-callout-02">
            <a:extLst>
              <a:ext uri="{FF2B5EF4-FFF2-40B4-BE49-F238E27FC236}">
                <a16:creationId xmlns:a16="http://schemas.microsoft.com/office/drawing/2014/main" id="{57A24138-3833-4691-864C-A9B567D9CD51}"/>
              </a:ext>
            </a:extLst>
          </p:cNvPr>
          <p:cNvSpPr>
            <a:spLocks noGrp="1"/>
          </p:cNvSpPr>
          <p:nvPr/>
        </p:nvSpPr>
        <p:spPr>
          <a:xfrm>
            <a:off x="6496050" y="3886200"/>
            <a:ext cx="4476750" cy="533400"/>
          </a:xfrm>
          <a:prstGeom prst="rect">
            <a:avLst/>
          </a:prstGeom>
          <a:noFill/>
          <a:ln w="0">
            <a:noFill/>
            <a:prstDash val="solid"/>
          </a:ln>
        </p:spPr>
        <p:txBody>
          <a:bodyPr wrap="square" lIns="0" tIns="0" rIns="0" bIns="0" anchor="ctr">
            <a:normAutofit/>
          </a:bodyPr>
          <a:lstStyle/>
          <a:p>
            <a:pPr algn="l">
              <a:lnSpc>
                <a:spcPct val="112000"/>
              </a:lnSpc>
              <a:buNone/>
              <a:defRPr sz="1650" b="1">
                <a:solidFill>
                  <a:srgbClr val="1E293B"/>
                </a:solidFill>
                <a:latin typeface="Inter"/>
                <a:ea typeface="Inter"/>
                <a:cs typeface="Inter"/>
              </a:defRPr>
            </a:pPr>
            <a:r>
              <a:rPr sz="1650" b="1">
                <a:solidFill>
                  <a:srgbClr val="1E293B"/>
                </a:solidFill>
                <a:latin typeface="Inter"/>
                <a:ea typeface="Inter"/>
                <a:cs typeface="Inter"/>
              </a:rPr>
              <a:t>Make the site as credible as the data behind it.</a:t>
            </a:r>
          </a:p>
        </p:txBody>
      </p:sp>
      <p:sp>
        <p:nvSpPr>
          <p:cNvPr id="30" name="setup-note-02">
            <a:extLst>
              <a:ext uri="{FF2B5EF4-FFF2-40B4-BE49-F238E27FC236}">
                <a16:creationId xmlns:a16="http://schemas.microsoft.com/office/drawing/2014/main" id="{0E84F3D9-3947-47E9-ACBD-6AB9AC5F6F9E}"/>
              </a:ext>
            </a:extLst>
          </p:cNvPr>
          <p:cNvSpPr>
            <a:spLocks noGrp="1"/>
          </p:cNvSpPr>
          <p:nvPr/>
        </p:nvSpPr>
        <p:spPr>
          <a:xfrm>
            <a:off x="6496050" y="4591050"/>
            <a:ext cx="4552950" cy="1028700"/>
          </a:xfrm>
          <a:prstGeom prst="roundRect">
            <a:avLst>
              <a:gd name="adj" fmla="val 11111"/>
            </a:avLst>
          </a:prstGeom>
          <a:solidFill>
            <a:srgbClr val="FFFFFF">
              <a:alpha val="86000"/>
            </a:srgbClr>
          </a:solidFill>
          <a:ln w="9525">
            <a:solidFill>
              <a:srgbClr val="FFFFFF"/>
            </a:solidFill>
            <a:prstDash val="solid"/>
          </a:ln>
        </p:spPr>
        <p:style>
          <a:lnRef idx="0">
            <a:scrgbClr r="0" g="0" b="0"/>
          </a:lnRef>
          <a:fillRef idx="0">
            <a:scrgbClr r="0" g="0" b="0"/>
          </a:fillRef>
          <a:effectRef idx="5">
            <a:scrgbClr r="0" g="0" b="0"/>
          </a:effectRef>
          <a:fontRef idx="major"/>
        </p:style>
        <p:txBody>
          <a:bodyPr/>
          <a:lstStyle/>
          <a:p>
            <a:endParaRPr lang="en-SG"/>
          </a:p>
        </p:txBody>
      </p:sp>
      <p:sp>
        <p:nvSpPr>
          <p:cNvPr id="31" name="setup-body-02">
            <a:extLst>
              <a:ext uri="{FF2B5EF4-FFF2-40B4-BE49-F238E27FC236}">
                <a16:creationId xmlns:a16="http://schemas.microsoft.com/office/drawing/2014/main" id="{E22403A7-5618-4B5E-A9CE-94CBB71878A9}"/>
              </a:ext>
            </a:extLst>
          </p:cNvPr>
          <p:cNvSpPr>
            <a:spLocks noGrp="1"/>
          </p:cNvSpPr>
          <p:nvPr/>
        </p:nvSpPr>
        <p:spPr>
          <a:xfrm>
            <a:off x="6667500" y="4724400"/>
            <a:ext cx="4210050" cy="762000"/>
          </a:xfrm>
          <a:prstGeom prst="rect">
            <a:avLst/>
          </a:prstGeom>
          <a:noFill/>
          <a:ln w="0">
            <a:noFill/>
            <a:prstDash val="solid"/>
          </a:ln>
        </p:spPr>
        <p:txBody>
          <a:bodyPr wrap="square" lIns="0" tIns="0" rIns="0" bIns="0" anchor="ctr">
            <a:normAutofit fontScale="97466"/>
          </a:bodyPr>
          <a:lstStyle/>
          <a:p>
            <a:pPr algn="l">
              <a:lnSpc>
                <a:spcPct val="120000"/>
              </a:lnSpc>
              <a:buNone/>
              <a:defRPr sz="1425" b="0">
                <a:solidFill>
                  <a:srgbClr val="64748B"/>
                </a:solidFill>
                <a:latin typeface="Inter"/>
                <a:ea typeface="Inter"/>
                <a:cs typeface="Inter"/>
              </a:defRPr>
            </a:pPr>
            <a:r>
              <a:rPr sz="1425" b="0">
                <a:solidFill>
                  <a:srgbClr val="64748B"/>
                </a:solidFill>
                <a:latin typeface="Inter"/>
                <a:ea typeface="Inter"/>
                <a:cs typeface="Inter"/>
              </a:rPr>
              <a:t>Unify every public page around one system: consistent pricing, honest feature labels, clearer brand and creator journeys, and responsive static delivery.</a:t>
            </a:r>
          </a:p>
        </p:txBody>
      </p:sp>
      <p:sp>
        <p:nvSpPr>
          <p:cNvPr id="32" name="footer-brand">
            <a:extLst>
              <a:ext uri="{FF2B5EF4-FFF2-40B4-BE49-F238E27FC236}">
                <a16:creationId xmlns:a16="http://schemas.microsoft.com/office/drawing/2014/main" id="{5530F04D-C7AA-4889-81F1-F709F4F74FF2}"/>
              </a:ext>
            </a:extLst>
          </p:cNvPr>
          <p:cNvSpPr>
            <a:spLocks noGrp="1"/>
          </p:cNvSpPr>
          <p:nvPr/>
        </p:nvSpPr>
        <p:spPr>
          <a:xfrm>
            <a:off x="533400" y="6457950"/>
            <a:ext cx="1714500" cy="190500"/>
          </a:xfrm>
          <a:prstGeom prst="rect">
            <a:avLst/>
          </a:prstGeom>
          <a:noFill/>
          <a:ln w="0">
            <a:noFill/>
            <a:prstDash val="solid"/>
          </a:ln>
        </p:spPr>
        <p:txBody>
          <a:bodyPr wrap="square" lIns="0" tIns="0" rIns="0" bIns="0" anchor="ctr">
            <a:normAutofit/>
          </a:bodyPr>
          <a:lstStyle/>
          <a:p>
            <a:pPr algn="l">
              <a:lnSpc>
                <a:spcPct val="112000"/>
              </a:lnSpc>
              <a:buNone/>
              <a:defRPr sz="975" b="1">
                <a:solidFill>
                  <a:srgbClr val="94A3B8"/>
                </a:solidFill>
                <a:latin typeface="Inter"/>
                <a:ea typeface="Inter"/>
                <a:cs typeface="Inter"/>
              </a:defRPr>
            </a:pPr>
            <a:r>
              <a:rPr sz="975" b="1">
                <a:solidFill>
                  <a:srgbClr val="94A3B8"/>
                </a:solidFill>
                <a:latin typeface="Inter"/>
                <a:ea typeface="Inter"/>
                <a:cs typeface="Inter"/>
              </a:rPr>
              <a:t>INFLUENCEES</a:t>
            </a:r>
          </a:p>
        </p:txBody>
      </p:sp>
      <p:sp>
        <p:nvSpPr>
          <p:cNvPr id="33" name="footer-page">
            <a:extLst>
              <a:ext uri="{FF2B5EF4-FFF2-40B4-BE49-F238E27FC236}">
                <a16:creationId xmlns:a16="http://schemas.microsoft.com/office/drawing/2014/main" id="{B2B37671-DD53-46B2-8A3D-B23BA4F33659}"/>
              </a:ext>
            </a:extLst>
          </p:cNvPr>
          <p:cNvSpPr>
            <a:spLocks noGrp="1"/>
          </p:cNvSpPr>
          <p:nvPr/>
        </p:nvSpPr>
        <p:spPr>
          <a:xfrm>
            <a:off x="10572750" y="6457950"/>
            <a:ext cx="1085850" cy="190500"/>
          </a:xfrm>
          <a:prstGeom prst="rect">
            <a:avLst/>
          </a:prstGeom>
          <a:noFill/>
          <a:ln w="0">
            <a:noFill/>
            <a:prstDash val="solid"/>
          </a:ln>
        </p:spPr>
        <p:txBody>
          <a:bodyPr wrap="square" lIns="0" tIns="0" rIns="0" bIns="0" anchor="ctr">
            <a:normAutofit/>
          </a:bodyPr>
          <a:lstStyle/>
          <a:p>
            <a:pPr algn="r">
              <a:lnSpc>
                <a:spcPct val="112000"/>
              </a:lnSpc>
              <a:buNone/>
              <a:defRPr sz="975" b="1">
                <a:solidFill>
                  <a:srgbClr val="94A3B8"/>
                </a:solidFill>
                <a:latin typeface="Inter"/>
                <a:ea typeface="Inter"/>
                <a:cs typeface="Inter"/>
              </a:defRPr>
            </a:pPr>
            <a:r>
              <a:rPr sz="975" b="1">
                <a:solidFill>
                  <a:srgbClr val="94A3B8"/>
                </a:solidFill>
                <a:latin typeface="Inter"/>
                <a:ea typeface="Inter"/>
                <a:cs typeface="Inter"/>
              </a:rPr>
              <a:t>02 / 10</a:t>
            </a:r>
          </a:p>
        </p:txBody>
      </p:sp>
    </p:spTree>
    <p:extLst>
      <p:ext uri="{BB962C8B-B14F-4D97-AF65-F5344CB8AC3E}">
        <p14:creationId xmlns:p14="http://schemas.microsoft.com/office/powerpoint/2010/main" val="3004880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5A1F8A12-7970-4C10-962E-A17A4EC35944}"/>
              </a:ext>
            </a:extLst>
          </p:cNvPr>
          <p:cNvSpPr>
            <a:spLocks noGrp="1"/>
          </p:cNvSpPr>
          <p:nvPr/>
        </p:nvSpPr>
        <p:spPr>
          <a:xfrm>
            <a:off x="566928" y="457200"/>
            <a:ext cx="8229600" cy="274320"/>
          </a:xfrm>
          <a:prstGeom prst="rect">
            <a:avLst/>
          </a:prstGeom>
          <a:noFill/>
        </p:spPr>
        <p:txBody>
          <a:bodyPr wrap="square" lIns="0" tIns="0" rIns="0" bIns="0" anchor="ctr"/>
          <a:lstStyle/>
          <a:p>
            <a:pPr marL="0" indent="0" algn="l">
              <a:buNone/>
            </a:pPr>
            <a:r>
              <a:rPr sz="1150" b="1">
                <a:solidFill>
                  <a:srgbClr val="5A3EE0"/>
                </a:solidFill>
                <a:latin typeface="Arial"/>
                <a:ea typeface="Arial"/>
                <a:cs typeface="Arial"/>
              </a:rPr>
              <a:t>SOLUTION 01  ·  BD AGENT</a:t>
            </a:r>
          </a:p>
        </p:txBody>
      </p:sp>
      <p:sp>
        <p:nvSpPr>
          <p:cNvPr id="3" name="Text 1">
            <a:extLst>
              <a:ext uri="{FF2B5EF4-FFF2-40B4-BE49-F238E27FC236}">
                <a16:creationId xmlns:a16="http://schemas.microsoft.com/office/drawing/2014/main" id="{8040FA4C-00B5-4637-887D-0DC92A21EDE7}"/>
              </a:ext>
            </a:extLst>
          </p:cNvPr>
          <p:cNvSpPr>
            <a:spLocks noGrp="1"/>
          </p:cNvSpPr>
          <p:nvPr/>
        </p:nvSpPr>
        <p:spPr>
          <a:xfrm>
            <a:off x="566928" y="822960"/>
            <a:ext cx="10424160" cy="1188720"/>
          </a:xfrm>
          <a:prstGeom prst="rect">
            <a:avLst/>
          </a:prstGeom>
          <a:noFill/>
        </p:spPr>
        <p:txBody>
          <a:bodyPr wrap="square" lIns="0" tIns="0" rIns="0" bIns="0" anchor="t"/>
          <a:lstStyle/>
          <a:p>
            <a:pPr marL="0" indent="0" algn="l">
              <a:lnSpc>
                <a:spcPct val="102000"/>
              </a:lnSpc>
              <a:buNone/>
            </a:pPr>
            <a:r>
              <a:rPr sz="2800" b="1">
                <a:solidFill>
                  <a:srgbClr val="0D0C0A"/>
                </a:solidFill>
                <a:latin typeface="Arial"/>
                <a:ea typeface="Arial"/>
                <a:cs typeface="Arial"/>
              </a:rPr>
              <a:t>An AI operator that finds brands and actually talks to them.</a:t>
            </a:r>
          </a:p>
        </p:txBody>
      </p:sp>
      <p:sp>
        <p:nvSpPr>
          <p:cNvPr id="4" name="Text 2">
            <a:extLst>
              <a:ext uri="{FF2B5EF4-FFF2-40B4-BE49-F238E27FC236}">
                <a16:creationId xmlns:a16="http://schemas.microsoft.com/office/drawing/2014/main" id="{4C44AA20-2528-4DDB-8B88-0B5FB74C9916}"/>
              </a:ext>
            </a:extLst>
          </p:cNvPr>
          <p:cNvSpPr>
            <a:spLocks noGrp="1"/>
          </p:cNvSpPr>
          <p:nvPr/>
        </p:nvSpPr>
        <p:spPr>
          <a:xfrm>
            <a:off x="566928" y="1965960"/>
            <a:ext cx="10607040" cy="457200"/>
          </a:xfrm>
          <a:prstGeom prst="rect">
            <a:avLst/>
          </a:prstGeom>
          <a:noFill/>
        </p:spPr>
        <p:txBody>
          <a:bodyPr wrap="square" lIns="0" tIns="0" rIns="0" bIns="0" anchor="ctr"/>
          <a:lstStyle/>
          <a:p>
            <a:pPr marL="0" indent="0" algn="l">
              <a:lnSpc>
                <a:spcPct val="120000"/>
              </a:lnSpc>
              <a:buNone/>
            </a:pPr>
            <a:r>
              <a:rPr sz="1400">
                <a:solidFill>
                  <a:srgbClr val="6B675F"/>
                </a:solidFill>
                <a:latin typeface="Arial"/>
                <a:ea typeface="Arial"/>
                <a:cs typeface="Arial"/>
              </a:rPr>
              <a:t>Not a message generator. A full pipeline that runs the whole outreach loop, with every step visible.</a:t>
            </a:r>
          </a:p>
        </p:txBody>
      </p:sp>
      <p:sp>
        <p:nvSpPr>
          <p:cNvPr id="5" name="Shape 3">
            <a:extLst>
              <a:ext uri="{FF2B5EF4-FFF2-40B4-BE49-F238E27FC236}">
                <a16:creationId xmlns:a16="http://schemas.microsoft.com/office/drawing/2014/main" id="{14CC7F4A-993D-4AE0-84A4-B43A9EED36D5}"/>
              </a:ext>
            </a:extLst>
          </p:cNvPr>
          <p:cNvSpPr>
            <a:spLocks noGrp="1"/>
          </p:cNvSpPr>
          <p:nvPr/>
        </p:nvSpPr>
        <p:spPr>
          <a:xfrm>
            <a:off x="566928" y="2743200"/>
            <a:ext cx="6903720" cy="1874520"/>
          </a:xfrm>
          <a:prstGeom prst="roundRect">
            <a:avLst>
              <a:gd name="adj" fmla="val 2195"/>
            </a:avLst>
          </a:prstGeom>
          <a:solidFill>
            <a:srgbClr val="FFFFFF"/>
          </a:solidFill>
          <a:ln w="12700">
            <a:solidFill>
              <a:srgbClr val="E2DED6"/>
            </a:solidFill>
            <a:prstDash val="solid"/>
          </a:ln>
          <a:effectLst>
            <a:outerShdw blurRad="76200" dist="25400" dir="5400000" algn="bl" rotWithShape="0">
              <a:srgbClr val="C9C4BA">
                <a:alpha val="55000"/>
              </a:srgbClr>
            </a:outerShdw>
          </a:effectLst>
        </p:spPr>
        <p:txBody>
          <a:bodyPr/>
          <a:lstStyle/>
          <a:p>
            <a:endParaRPr lang="en-SG"/>
          </a:p>
        </p:txBody>
      </p:sp>
      <p:sp>
        <p:nvSpPr>
          <p:cNvPr id="6" name="Text 4">
            <a:extLst>
              <a:ext uri="{FF2B5EF4-FFF2-40B4-BE49-F238E27FC236}">
                <a16:creationId xmlns:a16="http://schemas.microsoft.com/office/drawing/2014/main" id="{A1CA8A50-6876-4834-9811-7E09866B8019}"/>
              </a:ext>
            </a:extLst>
          </p:cNvPr>
          <p:cNvSpPr>
            <a:spLocks noGrp="1"/>
          </p:cNvSpPr>
          <p:nvPr/>
        </p:nvSpPr>
        <p:spPr>
          <a:xfrm>
            <a:off x="886968" y="3017520"/>
            <a:ext cx="6309360" cy="274320"/>
          </a:xfrm>
          <a:prstGeom prst="rect">
            <a:avLst/>
          </a:prstGeom>
          <a:noFill/>
        </p:spPr>
        <p:txBody>
          <a:bodyPr wrap="square" lIns="0" tIns="0" rIns="0" bIns="0" anchor="ctr"/>
          <a:lstStyle/>
          <a:p>
            <a:pPr marL="0" indent="0">
              <a:buNone/>
            </a:pPr>
            <a:r>
              <a:rPr sz="1000" b="1">
                <a:solidFill>
                  <a:srgbClr val="9A968C"/>
                </a:solidFill>
                <a:latin typeface="Arial"/>
                <a:ea typeface="Arial"/>
                <a:cs typeface="Arial"/>
              </a:rPr>
              <a:t>ONE SWITCH, GLOBAL OR PER CONVERSATION</a:t>
            </a:r>
          </a:p>
        </p:txBody>
      </p:sp>
      <p:sp>
        <p:nvSpPr>
          <p:cNvPr id="7" name="Shape 5">
            <a:extLst>
              <a:ext uri="{FF2B5EF4-FFF2-40B4-BE49-F238E27FC236}">
                <a16:creationId xmlns:a16="http://schemas.microsoft.com/office/drawing/2014/main" id="{C8DB5EC4-5A50-4F91-B8A2-9572BB07B3CF}"/>
              </a:ext>
            </a:extLst>
          </p:cNvPr>
          <p:cNvSpPr>
            <a:spLocks noGrp="1"/>
          </p:cNvSpPr>
          <p:nvPr/>
        </p:nvSpPr>
        <p:spPr>
          <a:xfrm>
            <a:off x="886968" y="3520440"/>
            <a:ext cx="2788920" cy="566928"/>
          </a:xfrm>
          <a:prstGeom prst="roundRect">
            <a:avLst>
              <a:gd name="adj" fmla="val 12903"/>
            </a:avLst>
          </a:prstGeom>
          <a:solidFill>
            <a:srgbClr val="FBF9F5"/>
          </a:solidFill>
          <a:ln w="12700">
            <a:solidFill>
              <a:srgbClr val="E2DED6"/>
            </a:solidFill>
            <a:prstDash val="solid"/>
          </a:ln>
        </p:spPr>
        <p:txBody>
          <a:bodyPr/>
          <a:lstStyle/>
          <a:p>
            <a:endParaRPr lang="en-SG"/>
          </a:p>
        </p:txBody>
      </p:sp>
      <p:sp>
        <p:nvSpPr>
          <p:cNvPr id="8" name="Text 6">
            <a:extLst>
              <a:ext uri="{FF2B5EF4-FFF2-40B4-BE49-F238E27FC236}">
                <a16:creationId xmlns:a16="http://schemas.microsoft.com/office/drawing/2014/main" id="{CA174FD9-6852-4FBB-B5A9-948C4C99D984}"/>
              </a:ext>
            </a:extLst>
          </p:cNvPr>
          <p:cNvSpPr>
            <a:spLocks noGrp="1"/>
          </p:cNvSpPr>
          <p:nvPr/>
        </p:nvSpPr>
        <p:spPr>
          <a:xfrm>
            <a:off x="886968" y="3520440"/>
            <a:ext cx="2788920" cy="566928"/>
          </a:xfrm>
          <a:prstGeom prst="rect">
            <a:avLst/>
          </a:prstGeom>
          <a:noFill/>
        </p:spPr>
        <p:txBody>
          <a:bodyPr wrap="square" lIns="0" tIns="0" rIns="0" bIns="0" anchor="ctr"/>
          <a:lstStyle/>
          <a:p>
            <a:pPr marL="0" indent="0" algn="ctr">
              <a:lnSpc>
                <a:spcPct val="100000"/>
              </a:lnSpc>
              <a:buNone/>
            </a:pPr>
            <a:r>
              <a:rPr sz="1400" b="1">
                <a:solidFill>
                  <a:srgbClr val="0D0C0A"/>
                </a:solidFill>
                <a:latin typeface="Arial"/>
                <a:ea typeface="Arial"/>
                <a:cs typeface="Arial"/>
              </a:rPr>
              <a:t>Human approval
</a:t>
            </a:r>
            <a:r>
              <a:rPr sz="950">
                <a:solidFill>
                  <a:srgbClr val="6B675F"/>
                </a:solidFill>
                <a:latin typeface="Arial"/>
                <a:ea typeface="Arial"/>
                <a:cs typeface="Arial"/>
              </a:rPr>
              <a:t>agent drafts, you approve</a:t>
            </a:r>
          </a:p>
        </p:txBody>
      </p:sp>
      <p:sp>
        <p:nvSpPr>
          <p:cNvPr id="9" name="Text 7">
            <a:extLst>
              <a:ext uri="{FF2B5EF4-FFF2-40B4-BE49-F238E27FC236}">
                <a16:creationId xmlns:a16="http://schemas.microsoft.com/office/drawing/2014/main" id="{EC73586B-9F4F-4F52-92C6-5F8A99746155}"/>
              </a:ext>
            </a:extLst>
          </p:cNvPr>
          <p:cNvSpPr>
            <a:spLocks noGrp="1"/>
          </p:cNvSpPr>
          <p:nvPr/>
        </p:nvSpPr>
        <p:spPr>
          <a:xfrm>
            <a:off x="3675888" y="3520440"/>
            <a:ext cx="640080" cy="566928"/>
          </a:xfrm>
          <a:prstGeom prst="rect">
            <a:avLst/>
          </a:prstGeom>
          <a:noFill/>
        </p:spPr>
        <p:txBody>
          <a:bodyPr wrap="square" lIns="0" tIns="0" rIns="0" bIns="0" anchor="ctr"/>
          <a:lstStyle/>
          <a:p>
            <a:pPr marL="0" indent="0" algn="ctr">
              <a:buNone/>
            </a:pPr>
            <a:r>
              <a:rPr sz="2200" b="1">
                <a:solidFill>
                  <a:srgbClr val="7A5CFF"/>
                </a:solidFill>
                <a:latin typeface="Arial"/>
                <a:ea typeface="Arial"/>
                <a:cs typeface="Arial"/>
              </a:rPr>
              <a:t>→</a:t>
            </a:r>
          </a:p>
        </p:txBody>
      </p:sp>
      <p:sp>
        <p:nvSpPr>
          <p:cNvPr id="10" name="Shape 8">
            <a:extLst>
              <a:ext uri="{FF2B5EF4-FFF2-40B4-BE49-F238E27FC236}">
                <a16:creationId xmlns:a16="http://schemas.microsoft.com/office/drawing/2014/main" id="{C71AA7CB-44E4-480D-922F-ED36BA7FE3E0}"/>
              </a:ext>
            </a:extLst>
          </p:cNvPr>
          <p:cNvSpPr>
            <a:spLocks noGrp="1"/>
          </p:cNvSpPr>
          <p:nvPr/>
        </p:nvSpPr>
        <p:spPr>
          <a:xfrm>
            <a:off x="4315968" y="3520440"/>
            <a:ext cx="2788920" cy="566928"/>
          </a:xfrm>
          <a:prstGeom prst="roundRect">
            <a:avLst>
              <a:gd name="adj" fmla="val 12903"/>
            </a:avLst>
          </a:prstGeom>
          <a:solidFill>
            <a:srgbClr val="0D0C0A"/>
          </a:solidFill>
          <a:ln w="12700">
            <a:solidFill>
              <a:srgbClr val="0D0C0A"/>
            </a:solidFill>
            <a:prstDash val="solid"/>
          </a:ln>
        </p:spPr>
        <p:txBody>
          <a:bodyPr/>
          <a:lstStyle/>
          <a:p>
            <a:endParaRPr lang="en-SG"/>
          </a:p>
        </p:txBody>
      </p:sp>
      <p:sp>
        <p:nvSpPr>
          <p:cNvPr id="11" name="Text 9">
            <a:extLst>
              <a:ext uri="{FF2B5EF4-FFF2-40B4-BE49-F238E27FC236}">
                <a16:creationId xmlns:a16="http://schemas.microsoft.com/office/drawing/2014/main" id="{B96ED1C5-4CF2-4969-90E0-825BB3CB4FA8}"/>
              </a:ext>
            </a:extLst>
          </p:cNvPr>
          <p:cNvSpPr>
            <a:spLocks noGrp="1"/>
          </p:cNvSpPr>
          <p:nvPr/>
        </p:nvSpPr>
        <p:spPr>
          <a:xfrm>
            <a:off x="4315968" y="3520440"/>
            <a:ext cx="2788920" cy="566928"/>
          </a:xfrm>
          <a:prstGeom prst="rect">
            <a:avLst/>
          </a:prstGeom>
          <a:noFill/>
        </p:spPr>
        <p:txBody>
          <a:bodyPr wrap="square" lIns="0" tIns="0" rIns="0" bIns="0" anchor="ctr"/>
          <a:lstStyle/>
          <a:p>
            <a:pPr marL="0" indent="0" algn="ctr">
              <a:lnSpc>
                <a:spcPct val="100000"/>
              </a:lnSpc>
              <a:buNone/>
            </a:pPr>
            <a:r>
              <a:rPr sz="1400" b="1">
                <a:solidFill>
                  <a:srgbClr val="FFFFFF"/>
                </a:solidFill>
                <a:latin typeface="Arial"/>
                <a:ea typeface="Arial"/>
                <a:cs typeface="Arial"/>
              </a:rPr>
              <a:t>Fully autonomous
</a:t>
            </a:r>
            <a:r>
              <a:rPr sz="950">
                <a:solidFill>
                  <a:srgbClr val="B7B2C9"/>
                </a:solidFill>
                <a:latin typeface="Arial"/>
                <a:ea typeface="Arial"/>
                <a:cs typeface="Arial"/>
              </a:rPr>
              <a:t>agent sends and replies</a:t>
            </a:r>
          </a:p>
        </p:txBody>
      </p:sp>
      <p:sp>
        <p:nvSpPr>
          <p:cNvPr id="12" name="Text 10">
            <a:extLst>
              <a:ext uri="{FF2B5EF4-FFF2-40B4-BE49-F238E27FC236}">
                <a16:creationId xmlns:a16="http://schemas.microsoft.com/office/drawing/2014/main" id="{23976E14-CBEC-45C7-B4FD-5D39F163426D}"/>
              </a:ext>
            </a:extLst>
          </p:cNvPr>
          <p:cNvSpPr>
            <a:spLocks noGrp="1"/>
          </p:cNvSpPr>
          <p:nvPr/>
        </p:nvSpPr>
        <p:spPr>
          <a:xfrm>
            <a:off x="886968" y="4224528"/>
            <a:ext cx="6263640" cy="365760"/>
          </a:xfrm>
          <a:prstGeom prst="rect">
            <a:avLst/>
          </a:prstGeom>
          <a:noFill/>
        </p:spPr>
        <p:txBody>
          <a:bodyPr wrap="square" lIns="0" tIns="0" rIns="0" bIns="0" anchor="ctr"/>
          <a:lstStyle/>
          <a:p>
            <a:pPr marL="0" indent="0">
              <a:lnSpc>
                <a:spcPct val="115000"/>
              </a:lnSpc>
              <a:buNone/>
            </a:pPr>
            <a:r>
              <a:rPr sz="1050" i="1">
                <a:solidFill>
                  <a:srgbClr val="6B675F"/>
                </a:solidFill>
                <a:latin typeface="Arial"/>
                <a:ea typeface="Arial"/>
                <a:cs typeface="Arial"/>
              </a:rPr>
              <a:t>Take over any thread and send a manual reply. Hand it back and the agent reads the whole conversation before it resumes.</a:t>
            </a:r>
          </a:p>
        </p:txBody>
      </p:sp>
      <p:sp>
        <p:nvSpPr>
          <p:cNvPr id="13" name="Text 11">
            <a:extLst>
              <a:ext uri="{FF2B5EF4-FFF2-40B4-BE49-F238E27FC236}">
                <a16:creationId xmlns:a16="http://schemas.microsoft.com/office/drawing/2014/main" id="{586D9089-3DDF-4CA0-9885-44958AF9F610}"/>
              </a:ext>
            </a:extLst>
          </p:cNvPr>
          <p:cNvSpPr>
            <a:spLocks noGrp="1"/>
          </p:cNvSpPr>
          <p:nvPr/>
        </p:nvSpPr>
        <p:spPr>
          <a:xfrm>
            <a:off x="7818120" y="2743200"/>
            <a:ext cx="3794760" cy="274320"/>
          </a:xfrm>
          <a:prstGeom prst="rect">
            <a:avLst/>
          </a:prstGeom>
          <a:noFill/>
        </p:spPr>
        <p:txBody>
          <a:bodyPr wrap="square" lIns="0" tIns="0" rIns="0" bIns="0" anchor="ctr"/>
          <a:lstStyle/>
          <a:p>
            <a:pPr marL="0" indent="0">
              <a:buNone/>
            </a:pPr>
            <a:r>
              <a:rPr sz="1000" b="1">
                <a:solidFill>
                  <a:srgbClr val="9A968C"/>
                </a:solidFill>
                <a:latin typeface="Arial"/>
                <a:ea typeface="Arial"/>
                <a:cs typeface="Arial"/>
              </a:rPr>
              <a:t>BUILT-IN GUARDRAILS</a:t>
            </a:r>
          </a:p>
        </p:txBody>
      </p:sp>
      <p:sp>
        <p:nvSpPr>
          <p:cNvPr id="14" name="Text 12">
            <a:extLst>
              <a:ext uri="{FF2B5EF4-FFF2-40B4-BE49-F238E27FC236}">
                <a16:creationId xmlns:a16="http://schemas.microsoft.com/office/drawing/2014/main" id="{4B499EF4-E450-4277-A68A-B8E5265EC017}"/>
              </a:ext>
            </a:extLst>
          </p:cNvPr>
          <p:cNvSpPr>
            <a:spLocks noGrp="1"/>
          </p:cNvSpPr>
          <p:nvPr/>
        </p:nvSpPr>
        <p:spPr>
          <a:xfrm>
            <a:off x="7818120" y="3145536"/>
            <a:ext cx="201168" cy="274320"/>
          </a:xfrm>
          <a:prstGeom prst="rect">
            <a:avLst/>
          </a:prstGeom>
          <a:noFill/>
        </p:spPr>
        <p:txBody>
          <a:bodyPr wrap="square" lIns="0" tIns="0" rIns="0" bIns="0" anchor="ctr"/>
          <a:lstStyle/>
          <a:p>
            <a:pPr marL="0" indent="0">
              <a:buNone/>
            </a:pPr>
            <a:r>
              <a:rPr sz="800">
                <a:solidFill>
                  <a:srgbClr val="7A5CFF"/>
                </a:solidFill>
                <a:latin typeface="Arial"/>
                <a:ea typeface="Arial"/>
                <a:cs typeface="Arial"/>
              </a:rPr>
              <a:t>■</a:t>
            </a:r>
          </a:p>
        </p:txBody>
      </p:sp>
      <p:sp>
        <p:nvSpPr>
          <p:cNvPr id="15" name="Text 13">
            <a:extLst>
              <a:ext uri="{FF2B5EF4-FFF2-40B4-BE49-F238E27FC236}">
                <a16:creationId xmlns:a16="http://schemas.microsoft.com/office/drawing/2014/main" id="{313D26D8-DBB5-4E4B-965F-D62B36C47680}"/>
              </a:ext>
            </a:extLst>
          </p:cNvPr>
          <p:cNvSpPr>
            <a:spLocks noGrp="1"/>
          </p:cNvSpPr>
          <p:nvPr/>
        </p:nvSpPr>
        <p:spPr>
          <a:xfrm>
            <a:off x="8055864" y="3127248"/>
            <a:ext cx="3557016" cy="457200"/>
          </a:xfrm>
          <a:prstGeom prst="rect">
            <a:avLst/>
          </a:prstGeom>
          <a:noFill/>
        </p:spPr>
        <p:txBody>
          <a:bodyPr wrap="square" lIns="0" tIns="0" rIns="0" bIns="0" anchor="ctr"/>
          <a:lstStyle/>
          <a:p>
            <a:pPr marL="0" indent="0">
              <a:lnSpc>
                <a:spcPct val="110000"/>
              </a:lnSpc>
              <a:buNone/>
            </a:pPr>
            <a:r>
              <a:rPr sz="1150">
                <a:solidFill>
                  <a:srgbClr val="35322D"/>
                </a:solidFill>
                <a:latin typeface="Arial"/>
                <a:ea typeface="Arial"/>
                <a:cs typeface="Arial"/>
              </a:rPr>
              <a:t>Every claim links to stored evidence, with source and date</a:t>
            </a:r>
          </a:p>
        </p:txBody>
      </p:sp>
      <p:sp>
        <p:nvSpPr>
          <p:cNvPr id="16" name="Text 14">
            <a:extLst>
              <a:ext uri="{FF2B5EF4-FFF2-40B4-BE49-F238E27FC236}">
                <a16:creationId xmlns:a16="http://schemas.microsoft.com/office/drawing/2014/main" id="{7E94073C-E749-43DA-8BE9-8F2A50BFEACC}"/>
              </a:ext>
            </a:extLst>
          </p:cNvPr>
          <p:cNvSpPr>
            <a:spLocks noGrp="1"/>
          </p:cNvSpPr>
          <p:nvPr/>
        </p:nvSpPr>
        <p:spPr>
          <a:xfrm>
            <a:off x="7818120" y="3602736"/>
            <a:ext cx="201168" cy="274320"/>
          </a:xfrm>
          <a:prstGeom prst="rect">
            <a:avLst/>
          </a:prstGeom>
          <a:noFill/>
        </p:spPr>
        <p:txBody>
          <a:bodyPr wrap="square" lIns="0" tIns="0" rIns="0" bIns="0" anchor="ctr"/>
          <a:lstStyle/>
          <a:p>
            <a:pPr marL="0" indent="0">
              <a:buNone/>
            </a:pPr>
            <a:r>
              <a:rPr sz="800">
                <a:solidFill>
                  <a:srgbClr val="7A5CFF"/>
                </a:solidFill>
                <a:latin typeface="Arial"/>
                <a:ea typeface="Arial"/>
                <a:cs typeface="Arial"/>
              </a:rPr>
              <a:t>■</a:t>
            </a:r>
          </a:p>
        </p:txBody>
      </p:sp>
      <p:sp>
        <p:nvSpPr>
          <p:cNvPr id="17" name="Text 15">
            <a:extLst>
              <a:ext uri="{FF2B5EF4-FFF2-40B4-BE49-F238E27FC236}">
                <a16:creationId xmlns:a16="http://schemas.microsoft.com/office/drawing/2014/main" id="{53871275-3017-4EB5-A93A-6C1561A7BF3E}"/>
              </a:ext>
            </a:extLst>
          </p:cNvPr>
          <p:cNvSpPr>
            <a:spLocks noGrp="1"/>
          </p:cNvSpPr>
          <p:nvPr/>
        </p:nvSpPr>
        <p:spPr>
          <a:xfrm>
            <a:off x="8055864" y="3584448"/>
            <a:ext cx="3557016" cy="457200"/>
          </a:xfrm>
          <a:prstGeom prst="rect">
            <a:avLst/>
          </a:prstGeom>
          <a:noFill/>
        </p:spPr>
        <p:txBody>
          <a:bodyPr wrap="square" lIns="0" tIns="0" rIns="0" bIns="0" anchor="ctr"/>
          <a:lstStyle/>
          <a:p>
            <a:pPr marL="0" indent="0">
              <a:lnSpc>
                <a:spcPct val="110000"/>
              </a:lnSpc>
              <a:buNone/>
            </a:pPr>
            <a:r>
              <a:rPr sz="1150">
                <a:solidFill>
                  <a:srgbClr val="35322D"/>
                </a:solidFill>
                <a:latin typeface="Arial"/>
                <a:ea typeface="Arial"/>
                <a:cs typeface="Arial"/>
              </a:rPr>
              <a:t>No fake familiarity, no guaranteed-ROI, no invented history</a:t>
            </a:r>
          </a:p>
        </p:txBody>
      </p:sp>
      <p:sp>
        <p:nvSpPr>
          <p:cNvPr id="18" name="Text 16">
            <a:extLst>
              <a:ext uri="{FF2B5EF4-FFF2-40B4-BE49-F238E27FC236}">
                <a16:creationId xmlns:a16="http://schemas.microsoft.com/office/drawing/2014/main" id="{780FC5A7-012A-4C3C-8244-D60E28A55E01}"/>
              </a:ext>
            </a:extLst>
          </p:cNvPr>
          <p:cNvSpPr>
            <a:spLocks noGrp="1"/>
          </p:cNvSpPr>
          <p:nvPr/>
        </p:nvSpPr>
        <p:spPr>
          <a:xfrm>
            <a:off x="7818120" y="4059936"/>
            <a:ext cx="201168" cy="274320"/>
          </a:xfrm>
          <a:prstGeom prst="rect">
            <a:avLst/>
          </a:prstGeom>
          <a:noFill/>
        </p:spPr>
        <p:txBody>
          <a:bodyPr wrap="square" lIns="0" tIns="0" rIns="0" bIns="0" anchor="ctr"/>
          <a:lstStyle/>
          <a:p>
            <a:pPr marL="0" indent="0">
              <a:buNone/>
            </a:pPr>
            <a:r>
              <a:rPr sz="800">
                <a:solidFill>
                  <a:srgbClr val="7A5CFF"/>
                </a:solidFill>
                <a:latin typeface="Arial"/>
                <a:ea typeface="Arial"/>
                <a:cs typeface="Arial"/>
              </a:rPr>
              <a:t>■</a:t>
            </a:r>
          </a:p>
        </p:txBody>
      </p:sp>
      <p:sp>
        <p:nvSpPr>
          <p:cNvPr id="19" name="Text 17">
            <a:extLst>
              <a:ext uri="{FF2B5EF4-FFF2-40B4-BE49-F238E27FC236}">
                <a16:creationId xmlns:a16="http://schemas.microsoft.com/office/drawing/2014/main" id="{4F2524EE-9513-4E6B-BF76-19553AB3795A}"/>
              </a:ext>
            </a:extLst>
          </p:cNvPr>
          <p:cNvSpPr>
            <a:spLocks noGrp="1"/>
          </p:cNvSpPr>
          <p:nvPr/>
        </p:nvSpPr>
        <p:spPr>
          <a:xfrm>
            <a:off x="8055864" y="4041648"/>
            <a:ext cx="3557016" cy="457200"/>
          </a:xfrm>
          <a:prstGeom prst="rect">
            <a:avLst/>
          </a:prstGeom>
          <a:noFill/>
        </p:spPr>
        <p:txBody>
          <a:bodyPr wrap="square" lIns="0" tIns="0" rIns="0" bIns="0" anchor="ctr"/>
          <a:lstStyle/>
          <a:p>
            <a:pPr marL="0" indent="0">
              <a:lnSpc>
                <a:spcPct val="110000"/>
              </a:lnSpc>
              <a:buNone/>
            </a:pPr>
            <a:r>
              <a:rPr sz="1150">
                <a:solidFill>
                  <a:srgbClr val="35322D"/>
                </a:solidFill>
                <a:latin typeface="Arial"/>
                <a:ea typeface="Arial"/>
                <a:cs typeface="Arial"/>
              </a:rPr>
              <a:t>Sensitive or high-value replies escalate to a human</a:t>
            </a:r>
          </a:p>
        </p:txBody>
      </p:sp>
      <p:sp>
        <p:nvSpPr>
          <p:cNvPr id="20" name="Text 18">
            <a:extLst>
              <a:ext uri="{FF2B5EF4-FFF2-40B4-BE49-F238E27FC236}">
                <a16:creationId xmlns:a16="http://schemas.microsoft.com/office/drawing/2014/main" id="{482FFF87-68EF-44B6-8344-39CFAC859746}"/>
              </a:ext>
            </a:extLst>
          </p:cNvPr>
          <p:cNvSpPr>
            <a:spLocks noGrp="1"/>
          </p:cNvSpPr>
          <p:nvPr/>
        </p:nvSpPr>
        <p:spPr>
          <a:xfrm>
            <a:off x="7818120" y="4517136"/>
            <a:ext cx="201168" cy="274320"/>
          </a:xfrm>
          <a:prstGeom prst="rect">
            <a:avLst/>
          </a:prstGeom>
          <a:noFill/>
        </p:spPr>
        <p:txBody>
          <a:bodyPr wrap="square" lIns="0" tIns="0" rIns="0" bIns="0" anchor="ctr"/>
          <a:lstStyle/>
          <a:p>
            <a:pPr marL="0" indent="0">
              <a:buNone/>
            </a:pPr>
            <a:r>
              <a:rPr sz="800">
                <a:solidFill>
                  <a:srgbClr val="7A5CFF"/>
                </a:solidFill>
                <a:latin typeface="Arial"/>
                <a:ea typeface="Arial"/>
                <a:cs typeface="Arial"/>
              </a:rPr>
              <a:t>■</a:t>
            </a:r>
          </a:p>
        </p:txBody>
      </p:sp>
      <p:sp>
        <p:nvSpPr>
          <p:cNvPr id="21" name="Text 19">
            <a:extLst>
              <a:ext uri="{FF2B5EF4-FFF2-40B4-BE49-F238E27FC236}">
                <a16:creationId xmlns:a16="http://schemas.microsoft.com/office/drawing/2014/main" id="{E17D1ACE-F359-4AA0-9A32-1C953C1C128C}"/>
              </a:ext>
            </a:extLst>
          </p:cNvPr>
          <p:cNvSpPr>
            <a:spLocks noGrp="1"/>
          </p:cNvSpPr>
          <p:nvPr/>
        </p:nvSpPr>
        <p:spPr>
          <a:xfrm>
            <a:off x="8055864" y="4498848"/>
            <a:ext cx="3557016" cy="457200"/>
          </a:xfrm>
          <a:prstGeom prst="rect">
            <a:avLst/>
          </a:prstGeom>
          <a:noFill/>
        </p:spPr>
        <p:txBody>
          <a:bodyPr wrap="square" lIns="0" tIns="0" rIns="0" bIns="0" anchor="ctr"/>
          <a:lstStyle/>
          <a:p>
            <a:pPr marL="0" indent="0">
              <a:lnSpc>
                <a:spcPct val="110000"/>
              </a:lnSpc>
              <a:buNone/>
            </a:pPr>
            <a:r>
              <a:rPr sz="1150">
                <a:solidFill>
                  <a:srgbClr val="35322D"/>
                </a:solidFill>
                <a:latin typeface="Arial"/>
                <a:ea typeface="Arial"/>
                <a:cs typeface="Arial"/>
              </a:rPr>
              <a:t>Follow-ups stop on a reply, a no, or an opt-out</a:t>
            </a:r>
          </a:p>
        </p:txBody>
      </p:sp>
      <p:sp>
        <p:nvSpPr>
          <p:cNvPr id="22" name="Text 20">
            <a:extLst>
              <a:ext uri="{FF2B5EF4-FFF2-40B4-BE49-F238E27FC236}">
                <a16:creationId xmlns:a16="http://schemas.microsoft.com/office/drawing/2014/main" id="{0EBBF78C-2017-4E6D-BA9A-78D7FB2AE678}"/>
              </a:ext>
            </a:extLst>
          </p:cNvPr>
          <p:cNvSpPr>
            <a:spLocks noGrp="1"/>
          </p:cNvSpPr>
          <p:nvPr/>
        </p:nvSpPr>
        <p:spPr>
          <a:xfrm>
            <a:off x="8351215" y="6382512"/>
            <a:ext cx="3273552" cy="274320"/>
          </a:xfrm>
          <a:prstGeom prst="rect">
            <a:avLst/>
          </a:prstGeom>
          <a:noFill/>
        </p:spPr>
        <p:txBody>
          <a:bodyPr wrap="square" lIns="0" tIns="0" rIns="0" bIns="0" anchor="ctr"/>
          <a:lstStyle/>
          <a:p>
            <a:pPr marL="0" indent="0" algn="r">
              <a:buNone/>
            </a:pPr>
            <a:r>
              <a:rPr sz="950" b="1">
                <a:solidFill>
                  <a:srgbClr val="9A968C"/>
                </a:solidFill>
                <a:latin typeface="Arial"/>
                <a:ea typeface="Arial"/>
                <a:cs typeface="Arial"/>
              </a:rPr>
              <a:t>INFLUENCEES</a:t>
            </a:r>
            <a:r>
              <a:rPr sz="950" b="1">
                <a:solidFill>
                  <a:srgbClr val="6B675F"/>
                </a:solidFill>
                <a:latin typeface="Arial"/>
                <a:ea typeface="Arial"/>
                <a:cs typeface="Arial"/>
              </a:rPr>
              <a:t>   03 / 10</a:t>
            </a:r>
          </a:p>
        </p:txBody>
      </p:sp>
      <p:sp>
        <p:nvSpPr>
          <p:cNvPr id="23" name="white-canvas-3">
            <a:extLst>
              <a:ext uri="{FF2B5EF4-FFF2-40B4-BE49-F238E27FC236}">
                <a16:creationId xmlns:a16="http://schemas.microsoft.com/office/drawing/2014/main" id="{991E30E5-F594-4640-9938-981B0D394B9C}"/>
              </a:ext>
            </a:extLst>
          </p:cNvPr>
          <p:cNvSpPr>
            <a:spLocks noGrp="1"/>
          </p:cNvSpPr>
          <p:nvPr/>
        </p:nvSpPr>
        <p:spPr>
          <a:xfrm>
            <a:off x="0" y="0"/>
            <a:ext cx="12192000" cy="6858000"/>
          </a:xfrm>
          <a:prstGeom prst="rect">
            <a:avLst/>
          </a:prstGeom>
          <a:solidFill>
            <a:srgbClr val="FFFFFF"/>
          </a:solidFill>
          <a:ln w="0">
            <a:noFill/>
            <a:prstDash val="solid"/>
          </a:ln>
        </p:spPr>
        <p:txBody>
          <a:bodyPr/>
          <a:lstStyle/>
          <a:p>
            <a:endParaRPr lang="en-SG"/>
          </a:p>
        </p:txBody>
      </p:sp>
      <p:sp>
        <p:nvSpPr>
          <p:cNvPr id="24" name="section-badge">
            <a:extLst>
              <a:ext uri="{FF2B5EF4-FFF2-40B4-BE49-F238E27FC236}">
                <a16:creationId xmlns:a16="http://schemas.microsoft.com/office/drawing/2014/main" id="{2F034B90-0F5F-48F2-BB3F-ABB5A1F99639}"/>
              </a:ext>
            </a:extLst>
          </p:cNvPr>
          <p:cNvSpPr>
            <a:spLocks noGrp="1"/>
          </p:cNvSpPr>
          <p:nvPr/>
        </p:nvSpPr>
        <p:spPr>
          <a:xfrm>
            <a:off x="4191000" y="323850"/>
            <a:ext cx="3810000" cy="247650"/>
          </a:xfrm>
          <a:prstGeom prst="rect">
            <a:avLst/>
          </a:prstGeom>
          <a:noFill/>
          <a:ln w="0">
            <a:noFill/>
            <a:prstDash val="solid"/>
          </a:ln>
        </p:spPr>
        <p:txBody>
          <a:bodyPr wrap="square" lIns="0" tIns="0" rIns="0" bIns="0" anchor="t">
            <a:normAutofit/>
          </a:bodyPr>
          <a:lstStyle/>
          <a:p>
            <a:pPr algn="ctr">
              <a:lnSpc>
                <a:spcPct val="112000"/>
              </a:lnSpc>
              <a:buNone/>
              <a:defRPr sz="1200" b="1">
                <a:solidFill>
                  <a:srgbClr val="7C5CFC"/>
                </a:solidFill>
                <a:latin typeface="Inter"/>
                <a:ea typeface="Inter"/>
                <a:cs typeface="Inter"/>
              </a:defRPr>
            </a:pPr>
            <a:r>
              <a:rPr sz="1200" b="1">
                <a:solidFill>
                  <a:srgbClr val="7C5CFC"/>
                </a:solidFill>
                <a:latin typeface="Inter"/>
                <a:ea typeface="Inter"/>
                <a:cs typeface="Inter"/>
              </a:rPr>
              <a:t>SOLUTION 01 · BD AGENT</a:t>
            </a:r>
          </a:p>
        </p:txBody>
      </p:sp>
      <p:sp>
        <p:nvSpPr>
          <p:cNvPr id="25" name="slide-title">
            <a:extLst>
              <a:ext uri="{FF2B5EF4-FFF2-40B4-BE49-F238E27FC236}">
                <a16:creationId xmlns:a16="http://schemas.microsoft.com/office/drawing/2014/main" id="{AF68220B-5CC8-4755-95D1-4AFA033B49D2}"/>
              </a:ext>
            </a:extLst>
          </p:cNvPr>
          <p:cNvSpPr>
            <a:spLocks noGrp="1"/>
          </p:cNvSpPr>
          <p:nvPr/>
        </p:nvSpPr>
        <p:spPr>
          <a:xfrm>
            <a:off x="952500" y="685800"/>
            <a:ext cx="10287000" cy="685800"/>
          </a:xfrm>
          <a:prstGeom prst="rect">
            <a:avLst/>
          </a:prstGeom>
          <a:noFill/>
          <a:ln w="0">
            <a:noFill/>
            <a:prstDash val="solid"/>
          </a:ln>
        </p:spPr>
        <p:txBody>
          <a:bodyPr wrap="square" lIns="0" tIns="0" rIns="0" bIns="0" anchor="ctr">
            <a:normAutofit/>
          </a:bodyPr>
          <a:lstStyle/>
          <a:p>
            <a:pPr algn="ctr">
              <a:lnSpc>
                <a:spcPct val="102000"/>
              </a:lnSpc>
              <a:buNone/>
              <a:defRPr sz="3450" b="0">
                <a:solidFill>
                  <a:srgbClr val="0F172A"/>
                </a:solidFill>
                <a:latin typeface="Inter"/>
                <a:ea typeface="Inter"/>
                <a:cs typeface="Inter"/>
              </a:defRPr>
            </a:pPr>
            <a:r>
              <a:rPr sz="3450" b="0">
                <a:solidFill>
                  <a:srgbClr val="0F172A"/>
                </a:solidFill>
                <a:latin typeface="Inter"/>
                <a:ea typeface="Inter"/>
                <a:cs typeface="Inter"/>
              </a:rPr>
              <a:t>An AI operator that actually talks to brands.</a:t>
            </a:r>
          </a:p>
        </p:txBody>
      </p:sp>
      <p:sp>
        <p:nvSpPr>
          <p:cNvPr id="26" name="slide-subtitle">
            <a:extLst>
              <a:ext uri="{FF2B5EF4-FFF2-40B4-BE49-F238E27FC236}">
                <a16:creationId xmlns:a16="http://schemas.microsoft.com/office/drawing/2014/main" id="{46DF6A60-E292-4E42-9E1D-3414BDB713BE}"/>
              </a:ext>
            </a:extLst>
          </p:cNvPr>
          <p:cNvSpPr>
            <a:spLocks noGrp="1"/>
          </p:cNvSpPr>
          <p:nvPr/>
        </p:nvSpPr>
        <p:spPr>
          <a:xfrm>
            <a:off x="1333500" y="1352550"/>
            <a:ext cx="9525000" cy="590550"/>
          </a:xfrm>
          <a:prstGeom prst="rect">
            <a:avLst/>
          </a:prstGeom>
          <a:noFill/>
          <a:ln w="0">
            <a:noFill/>
            <a:prstDash val="solid"/>
          </a:ln>
        </p:spPr>
        <p:txBody>
          <a:bodyPr wrap="square" lIns="0" tIns="0" rIns="0" bIns="0" anchor="ctr">
            <a:normAutofit/>
          </a:bodyPr>
          <a:lstStyle/>
          <a:p>
            <a:pPr algn="ctr">
              <a:lnSpc>
                <a:spcPct val="122000"/>
              </a:lnSpc>
              <a:buNone/>
              <a:defRPr sz="1575" b="0">
                <a:solidFill>
                  <a:srgbClr val="64748B"/>
                </a:solidFill>
                <a:latin typeface="Inter"/>
                <a:ea typeface="Inter"/>
                <a:cs typeface="Inter"/>
              </a:defRPr>
            </a:pPr>
            <a:r>
              <a:rPr sz="1575" b="0">
                <a:solidFill>
                  <a:srgbClr val="64748B"/>
                </a:solidFill>
                <a:latin typeface="Inter"/>
                <a:ea typeface="Inter"/>
                <a:cs typeface="Inter"/>
              </a:rPr>
              <a:t>Not a message generator—a visible outreach loop with human control built in.</a:t>
            </a:r>
          </a:p>
        </p:txBody>
      </p:sp>
      <p:sp>
        <p:nvSpPr>
          <p:cNvPr id="27" name="autonomy-card">
            <a:extLst>
              <a:ext uri="{FF2B5EF4-FFF2-40B4-BE49-F238E27FC236}">
                <a16:creationId xmlns:a16="http://schemas.microsoft.com/office/drawing/2014/main" id="{11698015-9DB7-4C82-AEEC-B9E203B0B041}"/>
              </a:ext>
            </a:extLst>
          </p:cNvPr>
          <p:cNvSpPr>
            <a:spLocks noGrp="1"/>
          </p:cNvSpPr>
          <p:nvPr/>
        </p:nvSpPr>
        <p:spPr>
          <a:xfrm>
            <a:off x="704850" y="2362200"/>
            <a:ext cx="6419850" cy="3257550"/>
          </a:xfrm>
          <a:prstGeom prst="roundRect">
            <a:avLst>
              <a:gd name="adj" fmla="val 5848"/>
            </a:avLst>
          </a:prstGeom>
          <a:solidFill>
            <a:srgbClr val="F7EEFB"/>
          </a:solidFill>
          <a:ln w="9525">
            <a:solidFill>
              <a:srgbClr val="FFFFFF">
                <a:alpha val="60000"/>
              </a:srgbClr>
            </a:solidFill>
            <a:prstDash val="solid"/>
          </a:ln>
        </p:spPr>
        <p:style>
          <a:lnRef idx="0">
            <a:scrgbClr r="0" g="0" b="0"/>
          </a:lnRef>
          <a:fillRef idx="0">
            <a:scrgbClr r="0" g="0" b="0"/>
          </a:fillRef>
          <a:effectRef idx="4">
            <a:scrgbClr r="0" g="0" b="0"/>
          </a:effectRef>
          <a:fontRef idx="major"/>
        </p:style>
        <p:txBody>
          <a:bodyPr/>
          <a:lstStyle/>
          <a:p>
            <a:endParaRPr lang="en-SG"/>
          </a:p>
        </p:txBody>
      </p:sp>
      <p:sp>
        <p:nvSpPr>
          <p:cNvPr id="28" name="autonomy-label">
            <a:extLst>
              <a:ext uri="{FF2B5EF4-FFF2-40B4-BE49-F238E27FC236}">
                <a16:creationId xmlns:a16="http://schemas.microsoft.com/office/drawing/2014/main" id="{3F00602D-67FB-48C2-B54F-51AA2826E06F}"/>
              </a:ext>
            </a:extLst>
          </p:cNvPr>
          <p:cNvSpPr>
            <a:spLocks noGrp="1"/>
          </p:cNvSpPr>
          <p:nvPr/>
        </p:nvSpPr>
        <p:spPr>
          <a:xfrm>
            <a:off x="990600" y="2628900"/>
            <a:ext cx="5810250" cy="247650"/>
          </a:xfrm>
          <a:prstGeom prst="rect">
            <a:avLst/>
          </a:prstGeom>
          <a:noFill/>
          <a:ln w="0">
            <a:noFill/>
            <a:prstDash val="solid"/>
          </a:ln>
        </p:spPr>
        <p:txBody>
          <a:bodyPr wrap="square" lIns="0" tIns="0" rIns="0" bIns="0" anchor="t">
            <a:normAutofit/>
          </a:bodyPr>
          <a:lstStyle/>
          <a:p>
            <a:pPr algn="l">
              <a:lnSpc>
                <a:spcPct val="112000"/>
              </a:lnSpc>
              <a:buNone/>
              <a:defRPr sz="1125" b="1">
                <a:solidFill>
                  <a:srgbClr val="7C5CFC"/>
                </a:solidFill>
                <a:latin typeface="Inter"/>
                <a:ea typeface="Inter"/>
                <a:cs typeface="Inter"/>
              </a:defRPr>
            </a:pPr>
            <a:r>
              <a:rPr sz="1125" b="1">
                <a:solidFill>
                  <a:srgbClr val="7C5CFC"/>
                </a:solidFill>
                <a:latin typeface="Inter"/>
                <a:ea typeface="Inter"/>
                <a:cs typeface="Inter"/>
              </a:rPr>
              <a:t>ONE SWITCH, GLOBAL OR PER CONVERSATION</a:t>
            </a:r>
          </a:p>
        </p:txBody>
      </p:sp>
      <p:sp>
        <p:nvSpPr>
          <p:cNvPr id="29" name="autonomy-title">
            <a:extLst>
              <a:ext uri="{FF2B5EF4-FFF2-40B4-BE49-F238E27FC236}">
                <a16:creationId xmlns:a16="http://schemas.microsoft.com/office/drawing/2014/main" id="{FAFE2346-0C23-4571-8440-EEB4B7798045}"/>
              </a:ext>
            </a:extLst>
          </p:cNvPr>
          <p:cNvSpPr>
            <a:spLocks noGrp="1"/>
          </p:cNvSpPr>
          <p:nvPr/>
        </p:nvSpPr>
        <p:spPr>
          <a:xfrm>
            <a:off x="990600" y="3028950"/>
            <a:ext cx="5810250" cy="476250"/>
          </a:xfrm>
          <a:prstGeom prst="rect">
            <a:avLst/>
          </a:prstGeom>
          <a:noFill/>
          <a:ln w="0">
            <a:noFill/>
            <a:prstDash val="solid"/>
          </a:ln>
        </p:spPr>
        <p:txBody>
          <a:bodyPr wrap="square" lIns="0" tIns="0" rIns="0" bIns="0" anchor="t">
            <a:normAutofit/>
          </a:bodyPr>
          <a:lstStyle/>
          <a:p>
            <a:pPr algn="l">
              <a:lnSpc>
                <a:spcPct val="112000"/>
              </a:lnSpc>
              <a:buNone/>
              <a:defRPr sz="2325" b="1">
                <a:solidFill>
                  <a:srgbClr val="0F172A"/>
                </a:solidFill>
                <a:latin typeface="Inter"/>
                <a:ea typeface="Inter"/>
                <a:cs typeface="Inter"/>
              </a:defRPr>
            </a:pPr>
            <a:r>
              <a:rPr sz="2325" b="1">
                <a:solidFill>
                  <a:srgbClr val="0F172A"/>
                </a:solidFill>
                <a:latin typeface="Inter"/>
                <a:ea typeface="Inter"/>
                <a:cs typeface="Inter"/>
              </a:rPr>
              <a:t>Control how far the agent goes.</a:t>
            </a:r>
          </a:p>
        </p:txBody>
      </p:sp>
      <p:sp>
        <p:nvSpPr>
          <p:cNvPr id="30" name="mode-toggle">
            <a:extLst>
              <a:ext uri="{FF2B5EF4-FFF2-40B4-BE49-F238E27FC236}">
                <a16:creationId xmlns:a16="http://schemas.microsoft.com/office/drawing/2014/main" id="{5B71FCCA-42C1-40E0-B177-9DD9CD9BAB77}"/>
              </a:ext>
            </a:extLst>
          </p:cNvPr>
          <p:cNvSpPr>
            <a:spLocks noGrp="1"/>
          </p:cNvSpPr>
          <p:nvPr/>
        </p:nvSpPr>
        <p:spPr>
          <a:xfrm>
            <a:off x="990600" y="3752850"/>
            <a:ext cx="5810250" cy="685800"/>
          </a:xfrm>
          <a:prstGeom prst="roundRect">
            <a:avLst>
              <a:gd name="adj" fmla="val 50000"/>
            </a:avLst>
          </a:prstGeom>
          <a:solidFill>
            <a:srgbClr val="FFFFFF">
              <a:alpha val="92000"/>
            </a:srgbClr>
          </a:solidFill>
          <a:ln w="9525">
            <a:solidFill>
              <a:srgbClr val="FFFFFF"/>
            </a:solidFill>
            <a:prstDash val="solid"/>
          </a:ln>
        </p:spPr>
        <p:style>
          <a:lnRef idx="0">
            <a:scrgbClr r="0" g="0" b="0"/>
          </a:lnRef>
          <a:fillRef idx="0">
            <a:scrgbClr r="0" g="0" b="0"/>
          </a:fillRef>
          <a:effectRef idx="6">
            <a:scrgbClr r="0" g="0" b="0"/>
          </a:effectRef>
          <a:fontRef idx="major"/>
        </p:style>
        <p:txBody>
          <a:bodyPr/>
          <a:lstStyle/>
          <a:p>
            <a:endParaRPr lang="en-SG"/>
          </a:p>
        </p:txBody>
      </p:sp>
      <p:sp>
        <p:nvSpPr>
          <p:cNvPr id="31" name="human-mode">
            <a:extLst>
              <a:ext uri="{FF2B5EF4-FFF2-40B4-BE49-F238E27FC236}">
                <a16:creationId xmlns:a16="http://schemas.microsoft.com/office/drawing/2014/main" id="{1FB9EE8F-8D5E-4567-A5E8-9FFF2FB0D9C6}"/>
              </a:ext>
            </a:extLst>
          </p:cNvPr>
          <p:cNvSpPr>
            <a:spLocks noGrp="1"/>
          </p:cNvSpPr>
          <p:nvPr/>
        </p:nvSpPr>
        <p:spPr>
          <a:xfrm>
            <a:off x="1066800" y="3829050"/>
            <a:ext cx="2743200" cy="533400"/>
          </a:xfrm>
          <a:prstGeom prst="roundRect">
            <a:avLst>
              <a:gd name="adj" fmla="val 50000"/>
            </a:avLst>
          </a:prstGeom>
          <a:solidFill>
            <a:srgbClr val="FFFFFF"/>
          </a:solidFill>
          <a:ln w="9525">
            <a:solidFill>
              <a:srgbClr val="E2E8F0"/>
            </a:solidFill>
            <a:prstDash val="solid"/>
          </a:ln>
        </p:spPr>
        <p:style>
          <a:lnRef idx="0">
            <a:scrgbClr r="0" g="0" b="0"/>
          </a:lnRef>
          <a:fillRef idx="0">
            <a:scrgbClr r="0" g="0" b="0"/>
          </a:fillRef>
          <a:effectRef idx="7">
            <a:scrgbClr r="0" g="0" b="0"/>
          </a:effectRef>
          <a:fontRef idx="major"/>
        </p:style>
        <p:txBody>
          <a:bodyPr lIns="0" tIns="0" rIns="0" bIns="0" anchor="ctr"/>
          <a:lstStyle/>
          <a:p>
            <a:pPr algn="ctr">
              <a:defRPr sz="1500" b="1">
                <a:solidFill>
                  <a:srgbClr val="1E293B"/>
                </a:solidFill>
                <a:latin typeface="Inter"/>
                <a:ea typeface="Inter"/>
                <a:cs typeface="Inter"/>
              </a:defRPr>
            </a:pPr>
            <a:r>
              <a:rPr sz="1500" b="1">
                <a:solidFill>
                  <a:srgbClr val="1E293B"/>
                </a:solidFill>
                <a:latin typeface="Inter"/>
                <a:ea typeface="Inter"/>
                <a:cs typeface="Inter"/>
              </a:rPr>
              <a:t>Human approval</a:t>
            </a:r>
          </a:p>
        </p:txBody>
      </p:sp>
      <p:sp>
        <p:nvSpPr>
          <p:cNvPr id="32" name="autonomous-mode">
            <a:extLst>
              <a:ext uri="{FF2B5EF4-FFF2-40B4-BE49-F238E27FC236}">
                <a16:creationId xmlns:a16="http://schemas.microsoft.com/office/drawing/2014/main" id="{4637B5A6-90F1-4500-BDDE-CA43AD55194F}"/>
              </a:ext>
            </a:extLst>
          </p:cNvPr>
          <p:cNvSpPr>
            <a:spLocks noGrp="1"/>
          </p:cNvSpPr>
          <p:nvPr/>
        </p:nvSpPr>
        <p:spPr>
          <a:xfrm>
            <a:off x="3905250" y="3829050"/>
            <a:ext cx="2819400" cy="533400"/>
          </a:xfrm>
          <a:prstGeom prst="roundRect">
            <a:avLst>
              <a:gd name="adj" fmla="val 50000"/>
            </a:avLst>
          </a:prstGeom>
          <a:solidFill>
            <a:srgbClr val="0F172A"/>
          </a:solidFill>
          <a:ln w="0">
            <a:noFill/>
            <a:prstDash val="solid"/>
          </a:ln>
        </p:spPr>
        <p:style>
          <a:lnRef idx="0">
            <a:scrgbClr r="0" g="0" b="0"/>
          </a:lnRef>
          <a:fillRef idx="0">
            <a:scrgbClr r="0" g="0" b="0"/>
          </a:fillRef>
          <a:effectRef idx="8">
            <a:scrgbClr r="0" g="0" b="0"/>
          </a:effectRef>
          <a:fontRef idx="major"/>
        </p:style>
        <p:txBody>
          <a:bodyPr lIns="0" tIns="0" rIns="0" bIns="0" anchor="ctr"/>
          <a:lstStyle/>
          <a:p>
            <a:pPr algn="ctr">
              <a:defRPr sz="1500" b="1">
                <a:solidFill>
                  <a:srgbClr val="FFFFFF"/>
                </a:solidFill>
                <a:latin typeface="Inter"/>
                <a:ea typeface="Inter"/>
                <a:cs typeface="Inter"/>
              </a:defRPr>
            </a:pPr>
            <a:r>
              <a:rPr sz="1500" b="1">
                <a:solidFill>
                  <a:srgbClr val="FFFFFF"/>
                </a:solidFill>
                <a:latin typeface="Inter"/>
                <a:ea typeface="Inter"/>
                <a:cs typeface="Inter"/>
              </a:rPr>
              <a:t>Fully autonomous</a:t>
            </a:r>
          </a:p>
        </p:txBody>
      </p:sp>
      <p:sp>
        <p:nvSpPr>
          <p:cNvPr id="33" name="autonomy-detail">
            <a:extLst>
              <a:ext uri="{FF2B5EF4-FFF2-40B4-BE49-F238E27FC236}">
                <a16:creationId xmlns:a16="http://schemas.microsoft.com/office/drawing/2014/main" id="{E3934BC2-23EA-471E-9F1E-C9E518B171B9}"/>
              </a:ext>
            </a:extLst>
          </p:cNvPr>
          <p:cNvSpPr>
            <a:spLocks noGrp="1"/>
          </p:cNvSpPr>
          <p:nvPr/>
        </p:nvSpPr>
        <p:spPr>
          <a:xfrm>
            <a:off x="990600" y="4743450"/>
            <a:ext cx="5810250" cy="609600"/>
          </a:xfrm>
          <a:prstGeom prst="rect">
            <a:avLst/>
          </a:prstGeom>
          <a:noFill/>
          <a:ln w="0">
            <a:noFill/>
            <a:prstDash val="solid"/>
          </a:ln>
        </p:spPr>
        <p:txBody>
          <a:bodyPr wrap="square" lIns="0" tIns="0" rIns="0" bIns="0" anchor="ctr">
            <a:normAutofit/>
          </a:bodyPr>
          <a:lstStyle/>
          <a:p>
            <a:pPr algn="l">
              <a:lnSpc>
                <a:spcPct val="122000"/>
              </a:lnSpc>
              <a:buNone/>
              <a:defRPr sz="1500" b="0">
                <a:solidFill>
                  <a:srgbClr val="64748B"/>
                </a:solidFill>
                <a:latin typeface="Inter"/>
                <a:ea typeface="Inter"/>
                <a:cs typeface="Inter"/>
              </a:defRPr>
            </a:pPr>
            <a:r>
              <a:rPr sz="1500" b="0">
                <a:solidFill>
                  <a:srgbClr val="64748B"/>
                </a:solidFill>
                <a:latin typeface="Inter"/>
                <a:ea typeface="Inter"/>
                <a:cs typeface="Inter"/>
              </a:rPr>
              <a:t>Take over any thread, reply manually, then hand it back. The agent reads the full conversation before it resumes.</a:t>
            </a:r>
          </a:p>
        </p:txBody>
      </p:sp>
      <p:sp>
        <p:nvSpPr>
          <p:cNvPr id="34" name="guardrail-label">
            <a:extLst>
              <a:ext uri="{FF2B5EF4-FFF2-40B4-BE49-F238E27FC236}">
                <a16:creationId xmlns:a16="http://schemas.microsoft.com/office/drawing/2014/main" id="{9D47623E-4846-4D13-BE76-304BA2D658E3}"/>
              </a:ext>
            </a:extLst>
          </p:cNvPr>
          <p:cNvSpPr>
            <a:spLocks noGrp="1"/>
          </p:cNvSpPr>
          <p:nvPr/>
        </p:nvSpPr>
        <p:spPr>
          <a:xfrm>
            <a:off x="7524750" y="2476500"/>
            <a:ext cx="4000500" cy="247650"/>
          </a:xfrm>
          <a:prstGeom prst="rect">
            <a:avLst/>
          </a:prstGeom>
          <a:noFill/>
          <a:ln w="0">
            <a:noFill/>
            <a:prstDash val="solid"/>
          </a:ln>
        </p:spPr>
        <p:txBody>
          <a:bodyPr wrap="square" lIns="0" tIns="0" rIns="0" bIns="0" anchor="t">
            <a:normAutofit/>
          </a:bodyPr>
          <a:lstStyle/>
          <a:p>
            <a:pPr algn="l">
              <a:lnSpc>
                <a:spcPct val="112000"/>
              </a:lnSpc>
              <a:buNone/>
              <a:defRPr sz="1125" b="1">
                <a:solidFill>
                  <a:srgbClr val="7C5CFC"/>
                </a:solidFill>
                <a:latin typeface="Inter"/>
                <a:ea typeface="Inter"/>
                <a:cs typeface="Inter"/>
              </a:defRPr>
            </a:pPr>
            <a:r>
              <a:rPr sz="1125" b="1">
                <a:solidFill>
                  <a:srgbClr val="7C5CFC"/>
                </a:solidFill>
                <a:latin typeface="Inter"/>
                <a:ea typeface="Inter"/>
                <a:cs typeface="Inter"/>
              </a:rPr>
              <a:t>BUILT-IN GUARDRAILS</a:t>
            </a:r>
          </a:p>
        </p:txBody>
      </p:sp>
      <p:sp>
        <p:nvSpPr>
          <p:cNvPr id="35" name="guard-card-0">
            <a:extLst>
              <a:ext uri="{FF2B5EF4-FFF2-40B4-BE49-F238E27FC236}">
                <a16:creationId xmlns:a16="http://schemas.microsoft.com/office/drawing/2014/main" id="{97173761-EC60-4607-8904-0BD90541CDA7}"/>
              </a:ext>
            </a:extLst>
          </p:cNvPr>
          <p:cNvSpPr>
            <a:spLocks noGrp="1"/>
          </p:cNvSpPr>
          <p:nvPr/>
        </p:nvSpPr>
        <p:spPr>
          <a:xfrm>
            <a:off x="7524750" y="2905125"/>
            <a:ext cx="4000500" cy="552450"/>
          </a:xfrm>
          <a:prstGeom prst="roundRect">
            <a:avLst>
              <a:gd name="adj" fmla="val 24138"/>
            </a:avLst>
          </a:prstGeom>
          <a:solidFill>
            <a:srgbClr val="FBF7FF"/>
          </a:solidFill>
          <a:ln w="9525">
            <a:solidFill>
              <a:srgbClr val="FFFFFF"/>
            </a:solidFill>
            <a:prstDash val="solid"/>
          </a:ln>
        </p:spPr>
        <p:style>
          <a:lnRef idx="0">
            <a:scrgbClr r="0" g="0" b="0"/>
          </a:lnRef>
          <a:fillRef idx="0">
            <a:scrgbClr r="0" g="0" b="0"/>
          </a:fillRef>
          <a:effectRef idx="9">
            <a:scrgbClr r="0" g="0" b="0"/>
          </a:effectRef>
          <a:fontRef idx="major"/>
        </p:style>
        <p:txBody>
          <a:bodyPr/>
          <a:lstStyle/>
          <a:p>
            <a:endParaRPr lang="en-SG"/>
          </a:p>
        </p:txBody>
      </p:sp>
      <p:sp>
        <p:nvSpPr>
          <p:cNvPr id="36" name="guard-check-0">
            <a:extLst>
              <a:ext uri="{FF2B5EF4-FFF2-40B4-BE49-F238E27FC236}">
                <a16:creationId xmlns:a16="http://schemas.microsoft.com/office/drawing/2014/main" id="{32576D6F-939E-46F0-BB25-BC0055A5380C}"/>
              </a:ext>
            </a:extLst>
          </p:cNvPr>
          <p:cNvSpPr>
            <a:spLocks noGrp="1"/>
          </p:cNvSpPr>
          <p:nvPr/>
        </p:nvSpPr>
        <p:spPr>
          <a:xfrm>
            <a:off x="7696200" y="3057525"/>
            <a:ext cx="247650" cy="247650"/>
          </a:xfrm>
          <a:prstGeom prst="ellipse">
            <a:avLst/>
          </a:prstGeom>
          <a:solidFill>
            <a:srgbClr val="B567C2"/>
          </a:solidFill>
          <a:ln w="0">
            <a:noFill/>
            <a:prstDash val="solid"/>
          </a:ln>
        </p:spPr>
        <p:txBody>
          <a:bodyPr/>
          <a:lstStyle/>
          <a:p>
            <a:endParaRPr lang="en-SG"/>
          </a:p>
        </p:txBody>
      </p:sp>
      <p:sp>
        <p:nvSpPr>
          <p:cNvPr id="37" name="guard-text-0">
            <a:extLst>
              <a:ext uri="{FF2B5EF4-FFF2-40B4-BE49-F238E27FC236}">
                <a16:creationId xmlns:a16="http://schemas.microsoft.com/office/drawing/2014/main" id="{760A4924-2EC1-40AF-8526-75B3B74BB87E}"/>
              </a:ext>
            </a:extLst>
          </p:cNvPr>
          <p:cNvSpPr>
            <a:spLocks noGrp="1"/>
          </p:cNvSpPr>
          <p:nvPr/>
        </p:nvSpPr>
        <p:spPr>
          <a:xfrm>
            <a:off x="8096250" y="2990850"/>
            <a:ext cx="3219450" cy="381000"/>
          </a:xfrm>
          <a:prstGeom prst="rect">
            <a:avLst/>
          </a:prstGeom>
          <a:noFill/>
          <a:ln w="0">
            <a:noFill/>
            <a:prstDash val="solid"/>
          </a:ln>
        </p:spPr>
        <p:txBody>
          <a:bodyPr wrap="square" lIns="0" tIns="0" rIns="0" bIns="0" anchor="ctr">
            <a:normAutofit/>
          </a:bodyPr>
          <a:lstStyle/>
          <a:p>
            <a:pPr algn="l">
              <a:lnSpc>
                <a:spcPct val="112000"/>
              </a:lnSpc>
              <a:buNone/>
              <a:defRPr sz="1350" b="0">
                <a:solidFill>
                  <a:srgbClr val="1E293B"/>
                </a:solidFill>
                <a:latin typeface="Inter"/>
                <a:ea typeface="Inter"/>
                <a:cs typeface="Inter"/>
              </a:defRPr>
            </a:pPr>
            <a:r>
              <a:rPr sz="1350" b="0">
                <a:solidFill>
                  <a:srgbClr val="1E293B"/>
                </a:solidFill>
                <a:latin typeface="Inter"/>
                <a:ea typeface="Inter"/>
                <a:cs typeface="Inter"/>
              </a:rPr>
              <a:t>Claims link to stored evidence</a:t>
            </a:r>
          </a:p>
        </p:txBody>
      </p:sp>
      <p:sp>
        <p:nvSpPr>
          <p:cNvPr id="38" name="guard-card-1">
            <a:extLst>
              <a:ext uri="{FF2B5EF4-FFF2-40B4-BE49-F238E27FC236}">
                <a16:creationId xmlns:a16="http://schemas.microsoft.com/office/drawing/2014/main" id="{88FD4C05-74A3-4CF3-A274-87447EB42122}"/>
              </a:ext>
            </a:extLst>
          </p:cNvPr>
          <p:cNvSpPr>
            <a:spLocks noGrp="1"/>
          </p:cNvSpPr>
          <p:nvPr/>
        </p:nvSpPr>
        <p:spPr>
          <a:xfrm>
            <a:off x="7524750" y="3590925"/>
            <a:ext cx="4000500" cy="552450"/>
          </a:xfrm>
          <a:prstGeom prst="roundRect">
            <a:avLst>
              <a:gd name="adj" fmla="val 24138"/>
            </a:avLst>
          </a:prstGeom>
          <a:solidFill>
            <a:srgbClr val="FFF7F5"/>
          </a:solidFill>
          <a:ln w="9525">
            <a:solidFill>
              <a:srgbClr val="FFFFFF"/>
            </a:solidFill>
            <a:prstDash val="solid"/>
          </a:ln>
        </p:spPr>
        <p:style>
          <a:lnRef idx="0">
            <a:scrgbClr r="0" g="0" b="0"/>
          </a:lnRef>
          <a:fillRef idx="0">
            <a:scrgbClr r="0" g="0" b="0"/>
          </a:fillRef>
          <a:effectRef idx="9">
            <a:scrgbClr r="0" g="0" b="0"/>
          </a:effectRef>
          <a:fontRef idx="major"/>
        </p:style>
        <p:txBody>
          <a:bodyPr/>
          <a:lstStyle/>
          <a:p>
            <a:endParaRPr lang="en-SG"/>
          </a:p>
        </p:txBody>
      </p:sp>
      <p:sp>
        <p:nvSpPr>
          <p:cNvPr id="39" name="guard-check-1">
            <a:extLst>
              <a:ext uri="{FF2B5EF4-FFF2-40B4-BE49-F238E27FC236}">
                <a16:creationId xmlns:a16="http://schemas.microsoft.com/office/drawing/2014/main" id="{39D8EDC5-22FE-490B-AC7E-EB2B165441FD}"/>
              </a:ext>
            </a:extLst>
          </p:cNvPr>
          <p:cNvSpPr>
            <a:spLocks noGrp="1"/>
          </p:cNvSpPr>
          <p:nvPr/>
        </p:nvSpPr>
        <p:spPr>
          <a:xfrm>
            <a:off x="7696200" y="3743325"/>
            <a:ext cx="247650" cy="247650"/>
          </a:xfrm>
          <a:prstGeom prst="ellipse">
            <a:avLst/>
          </a:prstGeom>
          <a:solidFill>
            <a:srgbClr val="F28482"/>
          </a:solidFill>
          <a:ln w="0">
            <a:noFill/>
            <a:prstDash val="solid"/>
          </a:ln>
        </p:spPr>
        <p:txBody>
          <a:bodyPr/>
          <a:lstStyle/>
          <a:p>
            <a:endParaRPr lang="en-SG"/>
          </a:p>
        </p:txBody>
      </p:sp>
      <p:sp>
        <p:nvSpPr>
          <p:cNvPr id="40" name="guard-text-1">
            <a:extLst>
              <a:ext uri="{FF2B5EF4-FFF2-40B4-BE49-F238E27FC236}">
                <a16:creationId xmlns:a16="http://schemas.microsoft.com/office/drawing/2014/main" id="{99B9B929-EB0D-4B37-A307-A737BD1A359C}"/>
              </a:ext>
            </a:extLst>
          </p:cNvPr>
          <p:cNvSpPr>
            <a:spLocks noGrp="1"/>
          </p:cNvSpPr>
          <p:nvPr/>
        </p:nvSpPr>
        <p:spPr>
          <a:xfrm>
            <a:off x="8096250" y="3676650"/>
            <a:ext cx="3219450" cy="381000"/>
          </a:xfrm>
          <a:prstGeom prst="rect">
            <a:avLst/>
          </a:prstGeom>
          <a:noFill/>
          <a:ln w="0">
            <a:noFill/>
            <a:prstDash val="solid"/>
          </a:ln>
        </p:spPr>
        <p:txBody>
          <a:bodyPr wrap="square" lIns="0" tIns="0" rIns="0" bIns="0" anchor="ctr">
            <a:normAutofit/>
          </a:bodyPr>
          <a:lstStyle/>
          <a:p>
            <a:pPr algn="l">
              <a:lnSpc>
                <a:spcPct val="112000"/>
              </a:lnSpc>
              <a:buNone/>
              <a:defRPr sz="1350" b="0">
                <a:solidFill>
                  <a:srgbClr val="1E293B"/>
                </a:solidFill>
                <a:latin typeface="Inter"/>
                <a:ea typeface="Inter"/>
                <a:cs typeface="Inter"/>
              </a:defRPr>
            </a:pPr>
            <a:r>
              <a:rPr sz="1350" b="0">
                <a:solidFill>
                  <a:srgbClr val="1E293B"/>
                </a:solidFill>
                <a:latin typeface="Inter"/>
                <a:ea typeface="Inter"/>
                <a:cs typeface="Inter"/>
              </a:rPr>
              <a:t>No fake familiarity or invented history</a:t>
            </a:r>
          </a:p>
        </p:txBody>
      </p:sp>
      <p:sp>
        <p:nvSpPr>
          <p:cNvPr id="41" name="guard-card-2">
            <a:extLst>
              <a:ext uri="{FF2B5EF4-FFF2-40B4-BE49-F238E27FC236}">
                <a16:creationId xmlns:a16="http://schemas.microsoft.com/office/drawing/2014/main" id="{124290F7-3BCF-4BB7-A572-CB1CB3A2F095}"/>
              </a:ext>
            </a:extLst>
          </p:cNvPr>
          <p:cNvSpPr>
            <a:spLocks noGrp="1"/>
          </p:cNvSpPr>
          <p:nvPr/>
        </p:nvSpPr>
        <p:spPr>
          <a:xfrm>
            <a:off x="7524750" y="4276725"/>
            <a:ext cx="4000500" cy="552450"/>
          </a:xfrm>
          <a:prstGeom prst="roundRect">
            <a:avLst>
              <a:gd name="adj" fmla="val 24138"/>
            </a:avLst>
          </a:prstGeom>
          <a:solidFill>
            <a:srgbClr val="FBF7FF"/>
          </a:solidFill>
          <a:ln w="9525">
            <a:solidFill>
              <a:srgbClr val="FFFFFF"/>
            </a:solidFill>
            <a:prstDash val="solid"/>
          </a:ln>
        </p:spPr>
        <p:style>
          <a:lnRef idx="0">
            <a:scrgbClr r="0" g="0" b="0"/>
          </a:lnRef>
          <a:fillRef idx="0">
            <a:scrgbClr r="0" g="0" b="0"/>
          </a:fillRef>
          <a:effectRef idx="9">
            <a:scrgbClr r="0" g="0" b="0"/>
          </a:effectRef>
          <a:fontRef idx="major"/>
        </p:style>
        <p:txBody>
          <a:bodyPr/>
          <a:lstStyle/>
          <a:p>
            <a:endParaRPr lang="en-SG"/>
          </a:p>
        </p:txBody>
      </p:sp>
      <p:sp>
        <p:nvSpPr>
          <p:cNvPr id="42" name="guard-check-2">
            <a:extLst>
              <a:ext uri="{FF2B5EF4-FFF2-40B4-BE49-F238E27FC236}">
                <a16:creationId xmlns:a16="http://schemas.microsoft.com/office/drawing/2014/main" id="{75D3E444-2944-4A0A-9D71-55E9D1243F2F}"/>
              </a:ext>
            </a:extLst>
          </p:cNvPr>
          <p:cNvSpPr>
            <a:spLocks noGrp="1"/>
          </p:cNvSpPr>
          <p:nvPr/>
        </p:nvSpPr>
        <p:spPr>
          <a:xfrm>
            <a:off x="7696200" y="4429125"/>
            <a:ext cx="247650" cy="247650"/>
          </a:xfrm>
          <a:prstGeom prst="ellipse">
            <a:avLst/>
          </a:prstGeom>
          <a:solidFill>
            <a:srgbClr val="B567C2"/>
          </a:solidFill>
          <a:ln w="0">
            <a:noFill/>
            <a:prstDash val="solid"/>
          </a:ln>
        </p:spPr>
        <p:txBody>
          <a:bodyPr/>
          <a:lstStyle/>
          <a:p>
            <a:endParaRPr lang="en-SG"/>
          </a:p>
        </p:txBody>
      </p:sp>
      <p:sp>
        <p:nvSpPr>
          <p:cNvPr id="43" name="guard-text-2">
            <a:extLst>
              <a:ext uri="{FF2B5EF4-FFF2-40B4-BE49-F238E27FC236}">
                <a16:creationId xmlns:a16="http://schemas.microsoft.com/office/drawing/2014/main" id="{F2ABD402-3DBA-4BC3-9E98-6ED1E87901AD}"/>
              </a:ext>
            </a:extLst>
          </p:cNvPr>
          <p:cNvSpPr>
            <a:spLocks noGrp="1"/>
          </p:cNvSpPr>
          <p:nvPr/>
        </p:nvSpPr>
        <p:spPr>
          <a:xfrm>
            <a:off x="8096250" y="4362450"/>
            <a:ext cx="3219450" cy="381000"/>
          </a:xfrm>
          <a:prstGeom prst="rect">
            <a:avLst/>
          </a:prstGeom>
          <a:noFill/>
          <a:ln w="0">
            <a:noFill/>
            <a:prstDash val="solid"/>
          </a:ln>
        </p:spPr>
        <p:txBody>
          <a:bodyPr wrap="square" lIns="0" tIns="0" rIns="0" bIns="0" anchor="ctr">
            <a:normAutofit/>
          </a:bodyPr>
          <a:lstStyle/>
          <a:p>
            <a:pPr algn="l">
              <a:lnSpc>
                <a:spcPct val="112000"/>
              </a:lnSpc>
              <a:buNone/>
              <a:defRPr sz="1350" b="0">
                <a:solidFill>
                  <a:srgbClr val="1E293B"/>
                </a:solidFill>
                <a:latin typeface="Inter"/>
                <a:ea typeface="Inter"/>
                <a:cs typeface="Inter"/>
              </a:defRPr>
            </a:pPr>
            <a:r>
              <a:rPr sz="1350" b="0">
                <a:solidFill>
                  <a:srgbClr val="1E293B"/>
                </a:solidFill>
                <a:latin typeface="Inter"/>
                <a:ea typeface="Inter"/>
                <a:cs typeface="Inter"/>
              </a:rPr>
              <a:t>Sensitive replies escalate to a human</a:t>
            </a:r>
          </a:p>
        </p:txBody>
      </p:sp>
      <p:sp>
        <p:nvSpPr>
          <p:cNvPr id="44" name="guard-card-3">
            <a:extLst>
              <a:ext uri="{FF2B5EF4-FFF2-40B4-BE49-F238E27FC236}">
                <a16:creationId xmlns:a16="http://schemas.microsoft.com/office/drawing/2014/main" id="{DE6397B0-85BB-47D5-9A49-F45CE4D68CA1}"/>
              </a:ext>
            </a:extLst>
          </p:cNvPr>
          <p:cNvSpPr>
            <a:spLocks noGrp="1"/>
          </p:cNvSpPr>
          <p:nvPr/>
        </p:nvSpPr>
        <p:spPr>
          <a:xfrm>
            <a:off x="7524750" y="4962525"/>
            <a:ext cx="4000500" cy="552450"/>
          </a:xfrm>
          <a:prstGeom prst="roundRect">
            <a:avLst>
              <a:gd name="adj" fmla="val 24138"/>
            </a:avLst>
          </a:prstGeom>
          <a:solidFill>
            <a:srgbClr val="FFF7F5"/>
          </a:solidFill>
          <a:ln w="9525">
            <a:solidFill>
              <a:srgbClr val="FFFFFF"/>
            </a:solidFill>
            <a:prstDash val="solid"/>
          </a:ln>
        </p:spPr>
        <p:style>
          <a:lnRef idx="0">
            <a:scrgbClr r="0" g="0" b="0"/>
          </a:lnRef>
          <a:fillRef idx="0">
            <a:scrgbClr r="0" g="0" b="0"/>
          </a:fillRef>
          <a:effectRef idx="9">
            <a:scrgbClr r="0" g="0" b="0"/>
          </a:effectRef>
          <a:fontRef idx="major"/>
        </p:style>
        <p:txBody>
          <a:bodyPr/>
          <a:lstStyle/>
          <a:p>
            <a:endParaRPr lang="en-SG"/>
          </a:p>
        </p:txBody>
      </p:sp>
      <p:sp>
        <p:nvSpPr>
          <p:cNvPr id="45" name="guard-check-3">
            <a:extLst>
              <a:ext uri="{FF2B5EF4-FFF2-40B4-BE49-F238E27FC236}">
                <a16:creationId xmlns:a16="http://schemas.microsoft.com/office/drawing/2014/main" id="{10D33C20-4A5A-46CB-8063-0E652B56F198}"/>
              </a:ext>
            </a:extLst>
          </p:cNvPr>
          <p:cNvSpPr>
            <a:spLocks noGrp="1"/>
          </p:cNvSpPr>
          <p:nvPr/>
        </p:nvSpPr>
        <p:spPr>
          <a:xfrm>
            <a:off x="7696200" y="5114925"/>
            <a:ext cx="247650" cy="247650"/>
          </a:xfrm>
          <a:prstGeom prst="ellipse">
            <a:avLst/>
          </a:prstGeom>
          <a:solidFill>
            <a:srgbClr val="F28482"/>
          </a:solidFill>
          <a:ln w="0">
            <a:noFill/>
            <a:prstDash val="solid"/>
          </a:ln>
        </p:spPr>
        <p:txBody>
          <a:bodyPr/>
          <a:lstStyle/>
          <a:p>
            <a:endParaRPr lang="en-SG"/>
          </a:p>
        </p:txBody>
      </p:sp>
      <p:sp>
        <p:nvSpPr>
          <p:cNvPr id="46" name="guard-text-3">
            <a:extLst>
              <a:ext uri="{FF2B5EF4-FFF2-40B4-BE49-F238E27FC236}">
                <a16:creationId xmlns:a16="http://schemas.microsoft.com/office/drawing/2014/main" id="{D2DC62D6-E91B-4D15-8AAA-ECE29BF17316}"/>
              </a:ext>
            </a:extLst>
          </p:cNvPr>
          <p:cNvSpPr>
            <a:spLocks noGrp="1"/>
          </p:cNvSpPr>
          <p:nvPr/>
        </p:nvSpPr>
        <p:spPr>
          <a:xfrm>
            <a:off x="8096250" y="5048250"/>
            <a:ext cx="3219450" cy="381000"/>
          </a:xfrm>
          <a:prstGeom prst="rect">
            <a:avLst/>
          </a:prstGeom>
          <a:noFill/>
          <a:ln w="0">
            <a:noFill/>
            <a:prstDash val="solid"/>
          </a:ln>
        </p:spPr>
        <p:txBody>
          <a:bodyPr wrap="square" lIns="0" tIns="0" rIns="0" bIns="0" anchor="ctr">
            <a:normAutofit/>
          </a:bodyPr>
          <a:lstStyle/>
          <a:p>
            <a:pPr algn="l">
              <a:lnSpc>
                <a:spcPct val="112000"/>
              </a:lnSpc>
              <a:buNone/>
              <a:defRPr sz="1350" b="0">
                <a:solidFill>
                  <a:srgbClr val="1E293B"/>
                </a:solidFill>
                <a:latin typeface="Inter"/>
                <a:ea typeface="Inter"/>
                <a:cs typeface="Inter"/>
              </a:defRPr>
            </a:pPr>
            <a:r>
              <a:rPr sz="1350" b="0">
                <a:solidFill>
                  <a:srgbClr val="1E293B"/>
                </a:solidFill>
                <a:latin typeface="Inter"/>
                <a:ea typeface="Inter"/>
                <a:cs typeface="Inter"/>
              </a:rPr>
              <a:t>Follow-ups stop on reply, no or opt-out</a:t>
            </a:r>
          </a:p>
        </p:txBody>
      </p:sp>
      <p:sp>
        <p:nvSpPr>
          <p:cNvPr id="47" name="footer-brand">
            <a:extLst>
              <a:ext uri="{FF2B5EF4-FFF2-40B4-BE49-F238E27FC236}">
                <a16:creationId xmlns:a16="http://schemas.microsoft.com/office/drawing/2014/main" id="{DE35479A-A9C0-450A-992B-6159CA0D44B8}"/>
              </a:ext>
            </a:extLst>
          </p:cNvPr>
          <p:cNvSpPr>
            <a:spLocks noGrp="1"/>
          </p:cNvSpPr>
          <p:nvPr/>
        </p:nvSpPr>
        <p:spPr>
          <a:xfrm>
            <a:off x="533400" y="6457950"/>
            <a:ext cx="1714500" cy="190500"/>
          </a:xfrm>
          <a:prstGeom prst="rect">
            <a:avLst/>
          </a:prstGeom>
          <a:noFill/>
          <a:ln w="0">
            <a:noFill/>
            <a:prstDash val="solid"/>
          </a:ln>
        </p:spPr>
        <p:txBody>
          <a:bodyPr wrap="square" lIns="0" tIns="0" rIns="0" bIns="0" anchor="ctr">
            <a:normAutofit/>
          </a:bodyPr>
          <a:lstStyle/>
          <a:p>
            <a:pPr algn="l">
              <a:lnSpc>
                <a:spcPct val="112000"/>
              </a:lnSpc>
              <a:buNone/>
              <a:defRPr sz="975" b="1">
                <a:solidFill>
                  <a:srgbClr val="94A3B8"/>
                </a:solidFill>
                <a:latin typeface="Inter"/>
                <a:ea typeface="Inter"/>
                <a:cs typeface="Inter"/>
              </a:defRPr>
            </a:pPr>
            <a:r>
              <a:rPr sz="975" b="1">
                <a:solidFill>
                  <a:srgbClr val="94A3B8"/>
                </a:solidFill>
                <a:latin typeface="Inter"/>
                <a:ea typeface="Inter"/>
                <a:cs typeface="Inter"/>
              </a:rPr>
              <a:t>INFLUENCEES</a:t>
            </a:r>
          </a:p>
        </p:txBody>
      </p:sp>
      <p:sp>
        <p:nvSpPr>
          <p:cNvPr id="48" name="footer-page">
            <a:extLst>
              <a:ext uri="{FF2B5EF4-FFF2-40B4-BE49-F238E27FC236}">
                <a16:creationId xmlns:a16="http://schemas.microsoft.com/office/drawing/2014/main" id="{0891FC9F-9C63-49C2-83DA-2184C5EA5884}"/>
              </a:ext>
            </a:extLst>
          </p:cNvPr>
          <p:cNvSpPr>
            <a:spLocks noGrp="1"/>
          </p:cNvSpPr>
          <p:nvPr/>
        </p:nvSpPr>
        <p:spPr>
          <a:xfrm>
            <a:off x="10572750" y="6457950"/>
            <a:ext cx="1085850" cy="190500"/>
          </a:xfrm>
          <a:prstGeom prst="rect">
            <a:avLst/>
          </a:prstGeom>
          <a:noFill/>
          <a:ln w="0">
            <a:noFill/>
            <a:prstDash val="solid"/>
          </a:ln>
        </p:spPr>
        <p:txBody>
          <a:bodyPr wrap="square" lIns="0" tIns="0" rIns="0" bIns="0" anchor="ctr">
            <a:normAutofit/>
          </a:bodyPr>
          <a:lstStyle/>
          <a:p>
            <a:pPr algn="r">
              <a:lnSpc>
                <a:spcPct val="112000"/>
              </a:lnSpc>
              <a:buNone/>
              <a:defRPr sz="975" b="1">
                <a:solidFill>
                  <a:srgbClr val="94A3B8"/>
                </a:solidFill>
                <a:latin typeface="Inter"/>
                <a:ea typeface="Inter"/>
                <a:cs typeface="Inter"/>
              </a:defRPr>
            </a:pPr>
            <a:r>
              <a:rPr sz="975" b="1">
                <a:solidFill>
                  <a:srgbClr val="94A3B8"/>
                </a:solidFill>
                <a:latin typeface="Inter"/>
                <a:ea typeface="Inter"/>
                <a:cs typeface="Inter"/>
              </a:rPr>
              <a:t>03 / 10</a:t>
            </a:r>
          </a:p>
        </p:txBody>
      </p:sp>
    </p:spTree>
    <p:extLst>
      <p:ext uri="{BB962C8B-B14F-4D97-AF65-F5344CB8AC3E}">
        <p14:creationId xmlns:p14="http://schemas.microsoft.com/office/powerpoint/2010/main" val="13849577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D04348C5-0ED5-4E4E-9139-49B0FC1D3CB9}"/>
              </a:ext>
            </a:extLst>
          </p:cNvPr>
          <p:cNvSpPr>
            <a:spLocks noGrp="1"/>
          </p:cNvSpPr>
          <p:nvPr/>
        </p:nvSpPr>
        <p:spPr>
          <a:xfrm>
            <a:off x="566928" y="457200"/>
            <a:ext cx="8229600" cy="274320"/>
          </a:xfrm>
          <a:prstGeom prst="rect">
            <a:avLst/>
          </a:prstGeom>
          <a:noFill/>
        </p:spPr>
        <p:txBody>
          <a:bodyPr wrap="square" lIns="0" tIns="0" rIns="0" bIns="0" anchor="ctr"/>
          <a:lstStyle/>
          <a:p>
            <a:pPr marL="0" indent="0" algn="l">
              <a:buNone/>
            </a:pPr>
            <a:r>
              <a:rPr sz="1150" b="1">
                <a:solidFill>
                  <a:srgbClr val="5A3EE0"/>
                </a:solidFill>
                <a:latin typeface="Arial"/>
                <a:ea typeface="Arial"/>
                <a:cs typeface="Arial"/>
              </a:rPr>
              <a:t>SOLUTION 01  ·  HOW IT WORKS</a:t>
            </a:r>
          </a:p>
        </p:txBody>
      </p:sp>
      <p:sp>
        <p:nvSpPr>
          <p:cNvPr id="3" name="Text 1">
            <a:extLst>
              <a:ext uri="{FF2B5EF4-FFF2-40B4-BE49-F238E27FC236}">
                <a16:creationId xmlns:a16="http://schemas.microsoft.com/office/drawing/2014/main" id="{474718FB-D48D-491E-8D62-411B2194DC13}"/>
              </a:ext>
            </a:extLst>
          </p:cNvPr>
          <p:cNvSpPr>
            <a:spLocks noGrp="1"/>
          </p:cNvSpPr>
          <p:nvPr/>
        </p:nvSpPr>
        <p:spPr>
          <a:xfrm>
            <a:off x="566928" y="822960"/>
            <a:ext cx="10607040" cy="822960"/>
          </a:xfrm>
          <a:prstGeom prst="rect">
            <a:avLst/>
          </a:prstGeom>
          <a:noFill/>
        </p:spPr>
        <p:txBody>
          <a:bodyPr wrap="square" lIns="0" tIns="0" rIns="0" bIns="0" anchor="t"/>
          <a:lstStyle/>
          <a:p>
            <a:pPr marL="0" indent="0" algn="l">
              <a:lnSpc>
                <a:spcPct val="102000"/>
              </a:lnSpc>
              <a:buNone/>
            </a:pPr>
            <a:r>
              <a:rPr sz="2700" b="1">
                <a:solidFill>
                  <a:srgbClr val="0D0C0A"/>
                </a:solidFill>
                <a:latin typeface="Arial"/>
                <a:ea typeface="Arial"/>
                <a:cs typeface="Arial"/>
              </a:rPr>
              <a:t>One loop, from cold company to booked conversation.</a:t>
            </a:r>
          </a:p>
        </p:txBody>
      </p:sp>
      <p:sp>
        <p:nvSpPr>
          <p:cNvPr id="4" name="Shape 2">
            <a:extLst>
              <a:ext uri="{FF2B5EF4-FFF2-40B4-BE49-F238E27FC236}">
                <a16:creationId xmlns:a16="http://schemas.microsoft.com/office/drawing/2014/main" id="{55B29921-6DD3-41C2-B784-B50FC0BA8A19}"/>
              </a:ext>
            </a:extLst>
          </p:cNvPr>
          <p:cNvSpPr>
            <a:spLocks noGrp="1"/>
          </p:cNvSpPr>
          <p:nvPr/>
        </p:nvSpPr>
        <p:spPr>
          <a:xfrm>
            <a:off x="566928" y="2148840"/>
            <a:ext cx="1454288" cy="2148840"/>
          </a:xfrm>
          <a:prstGeom prst="roundRect">
            <a:avLst>
              <a:gd name="adj" fmla="val 2829"/>
            </a:avLst>
          </a:prstGeom>
          <a:solidFill>
            <a:srgbClr val="FFFFFF"/>
          </a:solidFill>
          <a:ln w="12700">
            <a:solidFill>
              <a:srgbClr val="E2DED6"/>
            </a:solidFill>
            <a:prstDash val="solid"/>
          </a:ln>
          <a:effectLst>
            <a:outerShdw blurRad="76200" dist="25400" dir="5400000" algn="bl" rotWithShape="0">
              <a:srgbClr val="C9C4BA">
                <a:alpha val="55000"/>
              </a:srgbClr>
            </a:outerShdw>
          </a:effectLst>
        </p:spPr>
        <p:txBody>
          <a:bodyPr/>
          <a:lstStyle/>
          <a:p>
            <a:endParaRPr lang="en-SG"/>
          </a:p>
        </p:txBody>
      </p:sp>
      <p:sp>
        <p:nvSpPr>
          <p:cNvPr id="5" name="Shape 3">
            <a:extLst>
              <a:ext uri="{FF2B5EF4-FFF2-40B4-BE49-F238E27FC236}">
                <a16:creationId xmlns:a16="http://schemas.microsoft.com/office/drawing/2014/main" id="{0399647A-F847-4C9D-AC8E-F0253BBC5021}"/>
              </a:ext>
            </a:extLst>
          </p:cNvPr>
          <p:cNvSpPr>
            <a:spLocks noGrp="1"/>
          </p:cNvSpPr>
          <p:nvPr/>
        </p:nvSpPr>
        <p:spPr>
          <a:xfrm>
            <a:off x="1038040" y="2404872"/>
            <a:ext cx="512064" cy="512064"/>
          </a:xfrm>
          <a:prstGeom prst="ellipse">
            <a:avLst/>
          </a:prstGeom>
          <a:solidFill>
            <a:srgbClr val="0D0C0A"/>
          </a:solidFill>
        </p:spPr>
        <p:txBody>
          <a:bodyPr/>
          <a:lstStyle/>
          <a:p>
            <a:endParaRPr lang="en-SG"/>
          </a:p>
        </p:txBody>
      </p:sp>
      <p:sp>
        <p:nvSpPr>
          <p:cNvPr id="6" name="Text 4">
            <a:extLst>
              <a:ext uri="{FF2B5EF4-FFF2-40B4-BE49-F238E27FC236}">
                <a16:creationId xmlns:a16="http://schemas.microsoft.com/office/drawing/2014/main" id="{760AE322-C5E2-4123-A2C9-E79C5AC3EC03}"/>
              </a:ext>
            </a:extLst>
          </p:cNvPr>
          <p:cNvSpPr>
            <a:spLocks noGrp="1"/>
          </p:cNvSpPr>
          <p:nvPr/>
        </p:nvSpPr>
        <p:spPr>
          <a:xfrm>
            <a:off x="1038040" y="2404872"/>
            <a:ext cx="512064" cy="512064"/>
          </a:xfrm>
          <a:prstGeom prst="rect">
            <a:avLst/>
          </a:prstGeom>
          <a:noFill/>
        </p:spPr>
        <p:txBody>
          <a:bodyPr wrap="square" lIns="0" tIns="0" rIns="0" bIns="0" anchor="ctr"/>
          <a:lstStyle/>
          <a:p>
            <a:pPr marL="0" indent="0" algn="ctr">
              <a:buNone/>
            </a:pPr>
            <a:r>
              <a:rPr sz="1600" b="1">
                <a:solidFill>
                  <a:srgbClr val="FFFFFF"/>
                </a:solidFill>
                <a:latin typeface="Arial"/>
                <a:ea typeface="Arial"/>
                <a:cs typeface="Arial"/>
              </a:rPr>
              <a:t>1</a:t>
            </a:r>
          </a:p>
        </p:txBody>
      </p:sp>
      <p:sp>
        <p:nvSpPr>
          <p:cNvPr id="7" name="Text 5">
            <a:extLst>
              <a:ext uri="{FF2B5EF4-FFF2-40B4-BE49-F238E27FC236}">
                <a16:creationId xmlns:a16="http://schemas.microsoft.com/office/drawing/2014/main" id="{28E29733-D0EC-4B28-9EF6-809349E3BE87}"/>
              </a:ext>
            </a:extLst>
          </p:cNvPr>
          <p:cNvSpPr>
            <a:spLocks noGrp="1"/>
          </p:cNvSpPr>
          <p:nvPr/>
        </p:nvSpPr>
        <p:spPr>
          <a:xfrm>
            <a:off x="640080" y="3063240"/>
            <a:ext cx="1307984" cy="320040"/>
          </a:xfrm>
          <a:prstGeom prst="rect">
            <a:avLst/>
          </a:prstGeom>
          <a:noFill/>
        </p:spPr>
        <p:txBody>
          <a:bodyPr wrap="square" lIns="0" tIns="0" rIns="0" bIns="0" anchor="ctr"/>
          <a:lstStyle/>
          <a:p>
            <a:pPr marL="0" indent="0" algn="ctr">
              <a:buNone/>
            </a:pPr>
            <a:r>
              <a:rPr sz="1250" b="1">
                <a:solidFill>
                  <a:srgbClr val="0D0C0A"/>
                </a:solidFill>
                <a:latin typeface="Arial"/>
                <a:ea typeface="Arial"/>
                <a:cs typeface="Arial"/>
              </a:rPr>
              <a:t>Discover</a:t>
            </a:r>
          </a:p>
        </p:txBody>
      </p:sp>
      <p:sp>
        <p:nvSpPr>
          <p:cNvPr id="8" name="Text 6">
            <a:extLst>
              <a:ext uri="{FF2B5EF4-FFF2-40B4-BE49-F238E27FC236}">
                <a16:creationId xmlns:a16="http://schemas.microsoft.com/office/drawing/2014/main" id="{3ADC75F7-03FF-490A-AA1C-C62484BB3B1A}"/>
              </a:ext>
            </a:extLst>
          </p:cNvPr>
          <p:cNvSpPr>
            <a:spLocks noGrp="1"/>
          </p:cNvSpPr>
          <p:nvPr/>
        </p:nvSpPr>
        <p:spPr>
          <a:xfrm>
            <a:off x="658368" y="3410712"/>
            <a:ext cx="1271408" cy="822960"/>
          </a:xfrm>
          <a:prstGeom prst="rect">
            <a:avLst/>
          </a:prstGeom>
          <a:noFill/>
        </p:spPr>
        <p:txBody>
          <a:bodyPr wrap="square" lIns="0" tIns="0" rIns="0" bIns="0" anchor="ctr"/>
          <a:lstStyle/>
          <a:p>
            <a:pPr marL="0" indent="0" algn="ctr">
              <a:lnSpc>
                <a:spcPct val="112000"/>
              </a:lnSpc>
              <a:buNone/>
            </a:pPr>
            <a:r>
              <a:rPr sz="950">
                <a:solidFill>
                  <a:srgbClr val="6B675F"/>
                </a:solidFill>
                <a:latin typeface="Arial"/>
                <a:ea typeface="Arial"/>
                <a:cs typeface="Arial"/>
              </a:rPr>
              <a:t>Find SG companies that fit the ICP</a:t>
            </a:r>
          </a:p>
        </p:txBody>
      </p:sp>
      <p:sp>
        <p:nvSpPr>
          <p:cNvPr id="9" name="Text 7">
            <a:extLst>
              <a:ext uri="{FF2B5EF4-FFF2-40B4-BE49-F238E27FC236}">
                <a16:creationId xmlns:a16="http://schemas.microsoft.com/office/drawing/2014/main" id="{7B789F38-6293-4DE4-BAB5-F29D2B680649}"/>
              </a:ext>
            </a:extLst>
          </p:cNvPr>
          <p:cNvSpPr>
            <a:spLocks noGrp="1"/>
          </p:cNvSpPr>
          <p:nvPr/>
        </p:nvSpPr>
        <p:spPr>
          <a:xfrm>
            <a:off x="2002928" y="2967228"/>
            <a:ext cx="182880" cy="457200"/>
          </a:xfrm>
          <a:prstGeom prst="rect">
            <a:avLst/>
          </a:prstGeom>
          <a:noFill/>
        </p:spPr>
        <p:txBody>
          <a:bodyPr wrap="square" lIns="0" tIns="0" rIns="0" bIns="0" anchor="ctr"/>
          <a:lstStyle/>
          <a:p>
            <a:pPr marL="0" indent="0" algn="ctr">
              <a:buNone/>
            </a:pPr>
            <a:r>
              <a:rPr sz="1600" b="1">
                <a:solidFill>
                  <a:srgbClr val="9A968C"/>
                </a:solidFill>
                <a:latin typeface="Arial"/>
                <a:ea typeface="Arial"/>
                <a:cs typeface="Arial"/>
              </a:rPr>
              <a:t>›</a:t>
            </a:r>
          </a:p>
        </p:txBody>
      </p:sp>
      <p:sp>
        <p:nvSpPr>
          <p:cNvPr id="10" name="Shape 8">
            <a:extLst>
              <a:ext uri="{FF2B5EF4-FFF2-40B4-BE49-F238E27FC236}">
                <a16:creationId xmlns:a16="http://schemas.microsoft.com/office/drawing/2014/main" id="{4DD92C9C-2B7A-43AB-A5A8-C62C4B0A1BA4}"/>
              </a:ext>
            </a:extLst>
          </p:cNvPr>
          <p:cNvSpPr>
            <a:spLocks noGrp="1"/>
          </p:cNvSpPr>
          <p:nvPr/>
        </p:nvSpPr>
        <p:spPr>
          <a:xfrm>
            <a:off x="2167520" y="2148840"/>
            <a:ext cx="1454288" cy="2148840"/>
          </a:xfrm>
          <a:prstGeom prst="roundRect">
            <a:avLst>
              <a:gd name="adj" fmla="val 2829"/>
            </a:avLst>
          </a:prstGeom>
          <a:solidFill>
            <a:srgbClr val="FFFFFF"/>
          </a:solidFill>
          <a:ln w="12700">
            <a:solidFill>
              <a:srgbClr val="E2DED6"/>
            </a:solidFill>
            <a:prstDash val="solid"/>
          </a:ln>
          <a:effectLst>
            <a:outerShdw blurRad="76200" dist="25400" dir="5400000" algn="bl" rotWithShape="0">
              <a:srgbClr val="C9C4BA">
                <a:alpha val="55000"/>
              </a:srgbClr>
            </a:outerShdw>
          </a:effectLst>
        </p:spPr>
        <p:txBody>
          <a:bodyPr/>
          <a:lstStyle/>
          <a:p>
            <a:endParaRPr lang="en-SG"/>
          </a:p>
        </p:txBody>
      </p:sp>
      <p:sp>
        <p:nvSpPr>
          <p:cNvPr id="11" name="Shape 9">
            <a:extLst>
              <a:ext uri="{FF2B5EF4-FFF2-40B4-BE49-F238E27FC236}">
                <a16:creationId xmlns:a16="http://schemas.microsoft.com/office/drawing/2014/main" id="{4D1BD57A-3A26-4B8D-8B7E-4BC26ABA72EE}"/>
              </a:ext>
            </a:extLst>
          </p:cNvPr>
          <p:cNvSpPr>
            <a:spLocks noGrp="1"/>
          </p:cNvSpPr>
          <p:nvPr/>
        </p:nvSpPr>
        <p:spPr>
          <a:xfrm>
            <a:off x="2638632" y="2404872"/>
            <a:ext cx="512064" cy="512064"/>
          </a:xfrm>
          <a:prstGeom prst="ellipse">
            <a:avLst/>
          </a:prstGeom>
          <a:solidFill>
            <a:srgbClr val="0D0C0A"/>
          </a:solidFill>
        </p:spPr>
        <p:txBody>
          <a:bodyPr/>
          <a:lstStyle/>
          <a:p>
            <a:endParaRPr lang="en-SG"/>
          </a:p>
        </p:txBody>
      </p:sp>
      <p:sp>
        <p:nvSpPr>
          <p:cNvPr id="12" name="Text 10">
            <a:extLst>
              <a:ext uri="{FF2B5EF4-FFF2-40B4-BE49-F238E27FC236}">
                <a16:creationId xmlns:a16="http://schemas.microsoft.com/office/drawing/2014/main" id="{E92A68D1-EAD9-44F2-BAF9-546AB0881F5C}"/>
              </a:ext>
            </a:extLst>
          </p:cNvPr>
          <p:cNvSpPr>
            <a:spLocks noGrp="1"/>
          </p:cNvSpPr>
          <p:nvPr/>
        </p:nvSpPr>
        <p:spPr>
          <a:xfrm>
            <a:off x="2638632" y="2404872"/>
            <a:ext cx="512064" cy="512064"/>
          </a:xfrm>
          <a:prstGeom prst="rect">
            <a:avLst/>
          </a:prstGeom>
          <a:noFill/>
        </p:spPr>
        <p:txBody>
          <a:bodyPr wrap="square" lIns="0" tIns="0" rIns="0" bIns="0" anchor="ctr"/>
          <a:lstStyle/>
          <a:p>
            <a:pPr marL="0" indent="0" algn="ctr">
              <a:buNone/>
            </a:pPr>
            <a:r>
              <a:rPr sz="1600" b="1">
                <a:solidFill>
                  <a:srgbClr val="FFFFFF"/>
                </a:solidFill>
                <a:latin typeface="Arial"/>
                <a:ea typeface="Arial"/>
                <a:cs typeface="Arial"/>
              </a:rPr>
              <a:t>2</a:t>
            </a:r>
          </a:p>
        </p:txBody>
      </p:sp>
      <p:sp>
        <p:nvSpPr>
          <p:cNvPr id="13" name="Text 11">
            <a:extLst>
              <a:ext uri="{FF2B5EF4-FFF2-40B4-BE49-F238E27FC236}">
                <a16:creationId xmlns:a16="http://schemas.microsoft.com/office/drawing/2014/main" id="{EBB792F8-6946-472D-B6C6-98345BAD1E44}"/>
              </a:ext>
            </a:extLst>
          </p:cNvPr>
          <p:cNvSpPr>
            <a:spLocks noGrp="1"/>
          </p:cNvSpPr>
          <p:nvPr/>
        </p:nvSpPr>
        <p:spPr>
          <a:xfrm>
            <a:off x="2240672" y="3063240"/>
            <a:ext cx="1307984" cy="320040"/>
          </a:xfrm>
          <a:prstGeom prst="rect">
            <a:avLst/>
          </a:prstGeom>
          <a:noFill/>
        </p:spPr>
        <p:txBody>
          <a:bodyPr wrap="square" lIns="0" tIns="0" rIns="0" bIns="0" anchor="ctr"/>
          <a:lstStyle/>
          <a:p>
            <a:pPr marL="0" indent="0" algn="ctr">
              <a:buNone/>
            </a:pPr>
            <a:r>
              <a:rPr sz="1250" b="1">
                <a:solidFill>
                  <a:srgbClr val="0D0C0A"/>
                </a:solidFill>
                <a:latin typeface="Arial"/>
                <a:ea typeface="Arial"/>
                <a:cs typeface="Arial"/>
              </a:rPr>
              <a:t>Research</a:t>
            </a:r>
          </a:p>
        </p:txBody>
      </p:sp>
      <p:sp>
        <p:nvSpPr>
          <p:cNvPr id="14" name="Text 12">
            <a:extLst>
              <a:ext uri="{FF2B5EF4-FFF2-40B4-BE49-F238E27FC236}">
                <a16:creationId xmlns:a16="http://schemas.microsoft.com/office/drawing/2014/main" id="{F5D70D23-8D10-42FF-8FD4-5439ED22C6F2}"/>
              </a:ext>
            </a:extLst>
          </p:cNvPr>
          <p:cNvSpPr>
            <a:spLocks noGrp="1"/>
          </p:cNvSpPr>
          <p:nvPr/>
        </p:nvSpPr>
        <p:spPr>
          <a:xfrm>
            <a:off x="2258960" y="3410712"/>
            <a:ext cx="1271408" cy="822960"/>
          </a:xfrm>
          <a:prstGeom prst="rect">
            <a:avLst/>
          </a:prstGeom>
          <a:noFill/>
        </p:spPr>
        <p:txBody>
          <a:bodyPr wrap="square" lIns="0" tIns="0" rIns="0" bIns="0" anchor="ctr"/>
          <a:lstStyle/>
          <a:p>
            <a:pPr marL="0" indent="0" algn="ctr">
              <a:lnSpc>
                <a:spcPct val="112000"/>
              </a:lnSpc>
              <a:buNone/>
            </a:pPr>
            <a:r>
              <a:rPr sz="950">
                <a:solidFill>
                  <a:srgbClr val="6B675F"/>
                </a:solidFill>
                <a:latin typeface="Arial"/>
                <a:ea typeface="Arial"/>
                <a:cs typeface="Arial"/>
              </a:rPr>
              <a:t>Pull recent public activity + evidence</a:t>
            </a:r>
          </a:p>
        </p:txBody>
      </p:sp>
      <p:sp>
        <p:nvSpPr>
          <p:cNvPr id="15" name="Text 13">
            <a:extLst>
              <a:ext uri="{FF2B5EF4-FFF2-40B4-BE49-F238E27FC236}">
                <a16:creationId xmlns:a16="http://schemas.microsoft.com/office/drawing/2014/main" id="{19BE9E4D-BD38-4E7A-A6E9-DA10FD7A513E}"/>
              </a:ext>
            </a:extLst>
          </p:cNvPr>
          <p:cNvSpPr>
            <a:spLocks noGrp="1"/>
          </p:cNvSpPr>
          <p:nvPr/>
        </p:nvSpPr>
        <p:spPr>
          <a:xfrm>
            <a:off x="3603520" y="2967228"/>
            <a:ext cx="182880" cy="457200"/>
          </a:xfrm>
          <a:prstGeom prst="rect">
            <a:avLst/>
          </a:prstGeom>
          <a:noFill/>
        </p:spPr>
        <p:txBody>
          <a:bodyPr wrap="square" lIns="0" tIns="0" rIns="0" bIns="0" anchor="ctr"/>
          <a:lstStyle/>
          <a:p>
            <a:pPr marL="0" indent="0" algn="ctr">
              <a:buNone/>
            </a:pPr>
            <a:r>
              <a:rPr sz="1600" b="1">
                <a:solidFill>
                  <a:srgbClr val="9A968C"/>
                </a:solidFill>
                <a:latin typeface="Arial"/>
                <a:ea typeface="Arial"/>
                <a:cs typeface="Arial"/>
              </a:rPr>
              <a:t>›</a:t>
            </a:r>
          </a:p>
        </p:txBody>
      </p:sp>
      <p:sp>
        <p:nvSpPr>
          <p:cNvPr id="16" name="Shape 14">
            <a:extLst>
              <a:ext uri="{FF2B5EF4-FFF2-40B4-BE49-F238E27FC236}">
                <a16:creationId xmlns:a16="http://schemas.microsoft.com/office/drawing/2014/main" id="{73E0974C-563D-4FA5-BFBC-DA74E8FC0F01}"/>
              </a:ext>
            </a:extLst>
          </p:cNvPr>
          <p:cNvSpPr>
            <a:spLocks noGrp="1"/>
          </p:cNvSpPr>
          <p:nvPr/>
        </p:nvSpPr>
        <p:spPr>
          <a:xfrm>
            <a:off x="3768112" y="2148840"/>
            <a:ext cx="1454288" cy="2148840"/>
          </a:xfrm>
          <a:prstGeom prst="roundRect">
            <a:avLst>
              <a:gd name="adj" fmla="val 2829"/>
            </a:avLst>
          </a:prstGeom>
          <a:solidFill>
            <a:srgbClr val="FFFFFF"/>
          </a:solidFill>
          <a:ln w="12700">
            <a:solidFill>
              <a:srgbClr val="E2DED6"/>
            </a:solidFill>
            <a:prstDash val="solid"/>
          </a:ln>
          <a:effectLst>
            <a:outerShdw blurRad="76200" dist="25400" dir="5400000" algn="bl" rotWithShape="0">
              <a:srgbClr val="C9C4BA">
                <a:alpha val="55000"/>
              </a:srgbClr>
            </a:outerShdw>
          </a:effectLst>
        </p:spPr>
        <p:txBody>
          <a:bodyPr/>
          <a:lstStyle/>
          <a:p>
            <a:endParaRPr lang="en-SG"/>
          </a:p>
        </p:txBody>
      </p:sp>
      <p:sp>
        <p:nvSpPr>
          <p:cNvPr id="17" name="Shape 15">
            <a:extLst>
              <a:ext uri="{FF2B5EF4-FFF2-40B4-BE49-F238E27FC236}">
                <a16:creationId xmlns:a16="http://schemas.microsoft.com/office/drawing/2014/main" id="{BD1B1FE8-AA01-4B98-BDEA-4FFA834DFB83}"/>
              </a:ext>
            </a:extLst>
          </p:cNvPr>
          <p:cNvSpPr>
            <a:spLocks noGrp="1"/>
          </p:cNvSpPr>
          <p:nvPr/>
        </p:nvSpPr>
        <p:spPr>
          <a:xfrm>
            <a:off x="4239224" y="2404872"/>
            <a:ext cx="512064" cy="512064"/>
          </a:xfrm>
          <a:prstGeom prst="ellipse">
            <a:avLst/>
          </a:prstGeom>
          <a:solidFill>
            <a:srgbClr val="0D0C0A"/>
          </a:solidFill>
        </p:spPr>
        <p:txBody>
          <a:bodyPr/>
          <a:lstStyle/>
          <a:p>
            <a:endParaRPr lang="en-SG"/>
          </a:p>
        </p:txBody>
      </p:sp>
      <p:sp>
        <p:nvSpPr>
          <p:cNvPr id="18" name="Text 16">
            <a:extLst>
              <a:ext uri="{FF2B5EF4-FFF2-40B4-BE49-F238E27FC236}">
                <a16:creationId xmlns:a16="http://schemas.microsoft.com/office/drawing/2014/main" id="{07E7829E-0D80-4DC8-A679-C7D0179C038D}"/>
              </a:ext>
            </a:extLst>
          </p:cNvPr>
          <p:cNvSpPr>
            <a:spLocks noGrp="1"/>
          </p:cNvSpPr>
          <p:nvPr/>
        </p:nvSpPr>
        <p:spPr>
          <a:xfrm>
            <a:off x="4239224" y="2404872"/>
            <a:ext cx="512064" cy="512064"/>
          </a:xfrm>
          <a:prstGeom prst="rect">
            <a:avLst/>
          </a:prstGeom>
          <a:noFill/>
        </p:spPr>
        <p:txBody>
          <a:bodyPr wrap="square" lIns="0" tIns="0" rIns="0" bIns="0" anchor="ctr"/>
          <a:lstStyle/>
          <a:p>
            <a:pPr marL="0" indent="0" algn="ctr">
              <a:buNone/>
            </a:pPr>
            <a:r>
              <a:rPr sz="1600" b="1">
                <a:solidFill>
                  <a:srgbClr val="FFFFFF"/>
                </a:solidFill>
                <a:latin typeface="Arial"/>
                <a:ea typeface="Arial"/>
                <a:cs typeface="Arial"/>
              </a:rPr>
              <a:t>3</a:t>
            </a:r>
          </a:p>
        </p:txBody>
      </p:sp>
      <p:sp>
        <p:nvSpPr>
          <p:cNvPr id="19" name="Text 17">
            <a:extLst>
              <a:ext uri="{FF2B5EF4-FFF2-40B4-BE49-F238E27FC236}">
                <a16:creationId xmlns:a16="http://schemas.microsoft.com/office/drawing/2014/main" id="{2AC3774D-688C-4B84-B5F2-77E5F5BBC12B}"/>
              </a:ext>
            </a:extLst>
          </p:cNvPr>
          <p:cNvSpPr>
            <a:spLocks noGrp="1"/>
          </p:cNvSpPr>
          <p:nvPr/>
        </p:nvSpPr>
        <p:spPr>
          <a:xfrm>
            <a:off x="3841264" y="3063240"/>
            <a:ext cx="1307984" cy="320040"/>
          </a:xfrm>
          <a:prstGeom prst="rect">
            <a:avLst/>
          </a:prstGeom>
          <a:noFill/>
        </p:spPr>
        <p:txBody>
          <a:bodyPr wrap="square" lIns="0" tIns="0" rIns="0" bIns="0" anchor="ctr"/>
          <a:lstStyle/>
          <a:p>
            <a:pPr marL="0" indent="0" algn="ctr">
              <a:buNone/>
            </a:pPr>
            <a:r>
              <a:rPr sz="1250" b="1">
                <a:solidFill>
                  <a:srgbClr val="0D0C0A"/>
                </a:solidFill>
                <a:latin typeface="Arial"/>
                <a:ea typeface="Arial"/>
                <a:cs typeface="Arial"/>
              </a:rPr>
              <a:t>Score</a:t>
            </a:r>
          </a:p>
        </p:txBody>
      </p:sp>
      <p:sp>
        <p:nvSpPr>
          <p:cNvPr id="20" name="Text 18">
            <a:extLst>
              <a:ext uri="{FF2B5EF4-FFF2-40B4-BE49-F238E27FC236}">
                <a16:creationId xmlns:a16="http://schemas.microsoft.com/office/drawing/2014/main" id="{C6A42B0D-8AD9-48D2-8916-F093164570E9}"/>
              </a:ext>
            </a:extLst>
          </p:cNvPr>
          <p:cNvSpPr>
            <a:spLocks noGrp="1"/>
          </p:cNvSpPr>
          <p:nvPr/>
        </p:nvSpPr>
        <p:spPr>
          <a:xfrm>
            <a:off x="3859552" y="3410712"/>
            <a:ext cx="1271408" cy="822960"/>
          </a:xfrm>
          <a:prstGeom prst="rect">
            <a:avLst/>
          </a:prstGeom>
          <a:noFill/>
        </p:spPr>
        <p:txBody>
          <a:bodyPr wrap="square" lIns="0" tIns="0" rIns="0" bIns="0" anchor="ctr"/>
          <a:lstStyle/>
          <a:p>
            <a:pPr marL="0" indent="0" algn="ctr">
              <a:lnSpc>
                <a:spcPct val="112000"/>
              </a:lnSpc>
              <a:buNone/>
            </a:pPr>
            <a:r>
              <a:rPr sz="950">
                <a:solidFill>
                  <a:srgbClr val="6B675F"/>
                </a:solidFill>
                <a:latin typeface="Arial"/>
                <a:ea typeface="Arial"/>
                <a:cs typeface="Arial"/>
              </a:rPr>
              <a:t>Fit score with a transparent reason</a:t>
            </a:r>
          </a:p>
        </p:txBody>
      </p:sp>
      <p:sp>
        <p:nvSpPr>
          <p:cNvPr id="21" name="Text 19">
            <a:extLst>
              <a:ext uri="{FF2B5EF4-FFF2-40B4-BE49-F238E27FC236}">
                <a16:creationId xmlns:a16="http://schemas.microsoft.com/office/drawing/2014/main" id="{9556C2B3-8DB2-428E-8BF7-5FEAEFF1E0F5}"/>
              </a:ext>
            </a:extLst>
          </p:cNvPr>
          <p:cNvSpPr>
            <a:spLocks noGrp="1"/>
          </p:cNvSpPr>
          <p:nvPr/>
        </p:nvSpPr>
        <p:spPr>
          <a:xfrm>
            <a:off x="5204112" y="2967228"/>
            <a:ext cx="182880" cy="457200"/>
          </a:xfrm>
          <a:prstGeom prst="rect">
            <a:avLst/>
          </a:prstGeom>
          <a:noFill/>
        </p:spPr>
        <p:txBody>
          <a:bodyPr wrap="square" lIns="0" tIns="0" rIns="0" bIns="0" anchor="ctr"/>
          <a:lstStyle/>
          <a:p>
            <a:pPr marL="0" indent="0" algn="ctr">
              <a:buNone/>
            </a:pPr>
            <a:r>
              <a:rPr sz="1600" b="1">
                <a:solidFill>
                  <a:srgbClr val="9A968C"/>
                </a:solidFill>
                <a:latin typeface="Arial"/>
                <a:ea typeface="Arial"/>
                <a:cs typeface="Arial"/>
              </a:rPr>
              <a:t>›</a:t>
            </a:r>
          </a:p>
        </p:txBody>
      </p:sp>
      <p:sp>
        <p:nvSpPr>
          <p:cNvPr id="22" name="Shape 20">
            <a:extLst>
              <a:ext uri="{FF2B5EF4-FFF2-40B4-BE49-F238E27FC236}">
                <a16:creationId xmlns:a16="http://schemas.microsoft.com/office/drawing/2014/main" id="{6514E644-CF4F-4F96-B28D-C5DC47277CB9}"/>
              </a:ext>
            </a:extLst>
          </p:cNvPr>
          <p:cNvSpPr>
            <a:spLocks noGrp="1"/>
          </p:cNvSpPr>
          <p:nvPr/>
        </p:nvSpPr>
        <p:spPr>
          <a:xfrm>
            <a:off x="5368704" y="2148840"/>
            <a:ext cx="1454288" cy="2148840"/>
          </a:xfrm>
          <a:prstGeom prst="roundRect">
            <a:avLst>
              <a:gd name="adj" fmla="val 2829"/>
            </a:avLst>
          </a:prstGeom>
          <a:solidFill>
            <a:srgbClr val="FFFFFF"/>
          </a:solidFill>
          <a:ln w="12700">
            <a:solidFill>
              <a:srgbClr val="E2DED6"/>
            </a:solidFill>
            <a:prstDash val="solid"/>
          </a:ln>
          <a:effectLst>
            <a:outerShdw blurRad="76200" dist="25400" dir="5400000" algn="bl" rotWithShape="0">
              <a:srgbClr val="C9C4BA">
                <a:alpha val="55000"/>
              </a:srgbClr>
            </a:outerShdw>
          </a:effectLst>
        </p:spPr>
        <p:txBody>
          <a:bodyPr/>
          <a:lstStyle/>
          <a:p>
            <a:endParaRPr lang="en-SG"/>
          </a:p>
        </p:txBody>
      </p:sp>
      <p:sp>
        <p:nvSpPr>
          <p:cNvPr id="23" name="Shape 21">
            <a:extLst>
              <a:ext uri="{FF2B5EF4-FFF2-40B4-BE49-F238E27FC236}">
                <a16:creationId xmlns:a16="http://schemas.microsoft.com/office/drawing/2014/main" id="{7DB11027-E03C-4AF7-8C23-F61624C9B441}"/>
              </a:ext>
            </a:extLst>
          </p:cNvPr>
          <p:cNvSpPr>
            <a:spLocks noGrp="1"/>
          </p:cNvSpPr>
          <p:nvPr/>
        </p:nvSpPr>
        <p:spPr>
          <a:xfrm>
            <a:off x="5839816" y="2404872"/>
            <a:ext cx="512064" cy="512064"/>
          </a:xfrm>
          <a:prstGeom prst="ellipse">
            <a:avLst/>
          </a:prstGeom>
          <a:solidFill>
            <a:srgbClr val="0D0C0A"/>
          </a:solidFill>
        </p:spPr>
        <p:txBody>
          <a:bodyPr/>
          <a:lstStyle/>
          <a:p>
            <a:endParaRPr lang="en-SG"/>
          </a:p>
        </p:txBody>
      </p:sp>
      <p:sp>
        <p:nvSpPr>
          <p:cNvPr id="24" name="Text 22">
            <a:extLst>
              <a:ext uri="{FF2B5EF4-FFF2-40B4-BE49-F238E27FC236}">
                <a16:creationId xmlns:a16="http://schemas.microsoft.com/office/drawing/2014/main" id="{DB20CA8D-FC49-4767-959F-2D4F90043EF7}"/>
              </a:ext>
            </a:extLst>
          </p:cNvPr>
          <p:cNvSpPr>
            <a:spLocks noGrp="1"/>
          </p:cNvSpPr>
          <p:nvPr/>
        </p:nvSpPr>
        <p:spPr>
          <a:xfrm>
            <a:off x="5839816" y="2404872"/>
            <a:ext cx="512064" cy="512064"/>
          </a:xfrm>
          <a:prstGeom prst="rect">
            <a:avLst/>
          </a:prstGeom>
          <a:noFill/>
        </p:spPr>
        <p:txBody>
          <a:bodyPr wrap="square" lIns="0" tIns="0" rIns="0" bIns="0" anchor="ctr"/>
          <a:lstStyle/>
          <a:p>
            <a:pPr marL="0" indent="0" algn="ctr">
              <a:buNone/>
            </a:pPr>
            <a:r>
              <a:rPr sz="1600" b="1">
                <a:solidFill>
                  <a:srgbClr val="FFFFFF"/>
                </a:solidFill>
                <a:latin typeface="Arial"/>
                <a:ea typeface="Arial"/>
                <a:cs typeface="Arial"/>
              </a:rPr>
              <a:t>4</a:t>
            </a:r>
          </a:p>
        </p:txBody>
      </p:sp>
      <p:sp>
        <p:nvSpPr>
          <p:cNvPr id="25" name="Text 23">
            <a:extLst>
              <a:ext uri="{FF2B5EF4-FFF2-40B4-BE49-F238E27FC236}">
                <a16:creationId xmlns:a16="http://schemas.microsoft.com/office/drawing/2014/main" id="{D8936CC5-EE0E-46B4-BC96-DEB7343ED337}"/>
              </a:ext>
            </a:extLst>
          </p:cNvPr>
          <p:cNvSpPr>
            <a:spLocks noGrp="1"/>
          </p:cNvSpPr>
          <p:nvPr/>
        </p:nvSpPr>
        <p:spPr>
          <a:xfrm>
            <a:off x="5441856" y="3063240"/>
            <a:ext cx="1307984" cy="320040"/>
          </a:xfrm>
          <a:prstGeom prst="rect">
            <a:avLst/>
          </a:prstGeom>
          <a:noFill/>
        </p:spPr>
        <p:txBody>
          <a:bodyPr wrap="square" lIns="0" tIns="0" rIns="0" bIns="0" anchor="ctr"/>
          <a:lstStyle/>
          <a:p>
            <a:pPr marL="0" indent="0" algn="ctr">
              <a:buNone/>
            </a:pPr>
            <a:r>
              <a:rPr sz="1250" b="1">
                <a:solidFill>
                  <a:srgbClr val="0D0C0A"/>
                </a:solidFill>
                <a:latin typeface="Arial"/>
                <a:ea typeface="Arial"/>
                <a:cs typeface="Arial"/>
              </a:rPr>
              <a:t>Draft</a:t>
            </a:r>
          </a:p>
        </p:txBody>
      </p:sp>
      <p:sp>
        <p:nvSpPr>
          <p:cNvPr id="26" name="Text 24">
            <a:extLst>
              <a:ext uri="{FF2B5EF4-FFF2-40B4-BE49-F238E27FC236}">
                <a16:creationId xmlns:a16="http://schemas.microsoft.com/office/drawing/2014/main" id="{9634126E-C267-4A09-9806-F64932C972B4}"/>
              </a:ext>
            </a:extLst>
          </p:cNvPr>
          <p:cNvSpPr>
            <a:spLocks noGrp="1"/>
          </p:cNvSpPr>
          <p:nvPr/>
        </p:nvSpPr>
        <p:spPr>
          <a:xfrm>
            <a:off x="5460144" y="3410712"/>
            <a:ext cx="1271408" cy="822960"/>
          </a:xfrm>
          <a:prstGeom prst="rect">
            <a:avLst/>
          </a:prstGeom>
          <a:noFill/>
        </p:spPr>
        <p:txBody>
          <a:bodyPr wrap="square" lIns="0" tIns="0" rIns="0" bIns="0" anchor="ctr"/>
          <a:lstStyle/>
          <a:p>
            <a:pPr marL="0" indent="0" algn="ctr">
              <a:lnSpc>
                <a:spcPct val="112000"/>
              </a:lnSpc>
              <a:buNone/>
            </a:pPr>
            <a:r>
              <a:rPr sz="950">
                <a:solidFill>
                  <a:srgbClr val="6B675F"/>
                </a:solidFill>
                <a:latin typeface="Arial"/>
                <a:ea typeface="Arial"/>
                <a:cs typeface="Arial"/>
              </a:rPr>
              <a:t>One sourced observation, one ask</a:t>
            </a:r>
          </a:p>
        </p:txBody>
      </p:sp>
      <p:sp>
        <p:nvSpPr>
          <p:cNvPr id="27" name="Text 25">
            <a:extLst>
              <a:ext uri="{FF2B5EF4-FFF2-40B4-BE49-F238E27FC236}">
                <a16:creationId xmlns:a16="http://schemas.microsoft.com/office/drawing/2014/main" id="{09E1D1B8-5F07-43F9-BDA2-41CD8027E51E}"/>
              </a:ext>
            </a:extLst>
          </p:cNvPr>
          <p:cNvSpPr>
            <a:spLocks noGrp="1"/>
          </p:cNvSpPr>
          <p:nvPr/>
        </p:nvSpPr>
        <p:spPr>
          <a:xfrm>
            <a:off x="6804704" y="2967228"/>
            <a:ext cx="182880" cy="457200"/>
          </a:xfrm>
          <a:prstGeom prst="rect">
            <a:avLst/>
          </a:prstGeom>
          <a:noFill/>
        </p:spPr>
        <p:txBody>
          <a:bodyPr wrap="square" lIns="0" tIns="0" rIns="0" bIns="0" anchor="ctr"/>
          <a:lstStyle/>
          <a:p>
            <a:pPr marL="0" indent="0" algn="ctr">
              <a:buNone/>
            </a:pPr>
            <a:r>
              <a:rPr sz="1600" b="1">
                <a:solidFill>
                  <a:srgbClr val="9A968C"/>
                </a:solidFill>
                <a:latin typeface="Arial"/>
                <a:ea typeface="Arial"/>
                <a:cs typeface="Arial"/>
              </a:rPr>
              <a:t>›</a:t>
            </a:r>
          </a:p>
        </p:txBody>
      </p:sp>
      <p:sp>
        <p:nvSpPr>
          <p:cNvPr id="28" name="Shape 26">
            <a:extLst>
              <a:ext uri="{FF2B5EF4-FFF2-40B4-BE49-F238E27FC236}">
                <a16:creationId xmlns:a16="http://schemas.microsoft.com/office/drawing/2014/main" id="{8C069291-E8BC-40E3-8E6E-ABCCA72307E6}"/>
              </a:ext>
            </a:extLst>
          </p:cNvPr>
          <p:cNvSpPr>
            <a:spLocks noGrp="1"/>
          </p:cNvSpPr>
          <p:nvPr/>
        </p:nvSpPr>
        <p:spPr>
          <a:xfrm>
            <a:off x="6969296" y="2148840"/>
            <a:ext cx="1454288" cy="2148840"/>
          </a:xfrm>
          <a:prstGeom prst="roundRect">
            <a:avLst>
              <a:gd name="adj" fmla="val 2829"/>
            </a:avLst>
          </a:prstGeom>
          <a:solidFill>
            <a:srgbClr val="FFFFFF"/>
          </a:solidFill>
          <a:ln w="12700">
            <a:solidFill>
              <a:srgbClr val="E2DED6"/>
            </a:solidFill>
            <a:prstDash val="solid"/>
          </a:ln>
          <a:effectLst>
            <a:outerShdw blurRad="76200" dist="25400" dir="5400000" algn="bl" rotWithShape="0">
              <a:srgbClr val="C9C4BA">
                <a:alpha val="55000"/>
              </a:srgbClr>
            </a:outerShdw>
          </a:effectLst>
        </p:spPr>
        <p:txBody>
          <a:bodyPr/>
          <a:lstStyle/>
          <a:p>
            <a:endParaRPr lang="en-SG"/>
          </a:p>
        </p:txBody>
      </p:sp>
      <p:sp>
        <p:nvSpPr>
          <p:cNvPr id="29" name="Shape 27">
            <a:extLst>
              <a:ext uri="{FF2B5EF4-FFF2-40B4-BE49-F238E27FC236}">
                <a16:creationId xmlns:a16="http://schemas.microsoft.com/office/drawing/2014/main" id="{B0B049BE-9E5F-4CC9-881C-E1535B46DEB1}"/>
              </a:ext>
            </a:extLst>
          </p:cNvPr>
          <p:cNvSpPr>
            <a:spLocks noGrp="1"/>
          </p:cNvSpPr>
          <p:nvPr/>
        </p:nvSpPr>
        <p:spPr>
          <a:xfrm>
            <a:off x="7440407" y="2404872"/>
            <a:ext cx="512064" cy="512064"/>
          </a:xfrm>
          <a:prstGeom prst="ellipse">
            <a:avLst/>
          </a:prstGeom>
          <a:solidFill>
            <a:srgbClr val="7A5CFF"/>
          </a:solidFill>
        </p:spPr>
        <p:txBody>
          <a:bodyPr/>
          <a:lstStyle/>
          <a:p>
            <a:endParaRPr lang="en-SG"/>
          </a:p>
        </p:txBody>
      </p:sp>
      <p:sp>
        <p:nvSpPr>
          <p:cNvPr id="30" name="Text 28">
            <a:extLst>
              <a:ext uri="{FF2B5EF4-FFF2-40B4-BE49-F238E27FC236}">
                <a16:creationId xmlns:a16="http://schemas.microsoft.com/office/drawing/2014/main" id="{0F197AFC-40E5-4162-B186-6BCD97A14244}"/>
              </a:ext>
            </a:extLst>
          </p:cNvPr>
          <p:cNvSpPr>
            <a:spLocks noGrp="1"/>
          </p:cNvSpPr>
          <p:nvPr/>
        </p:nvSpPr>
        <p:spPr>
          <a:xfrm>
            <a:off x="7440407" y="2404872"/>
            <a:ext cx="512064" cy="512064"/>
          </a:xfrm>
          <a:prstGeom prst="rect">
            <a:avLst/>
          </a:prstGeom>
          <a:noFill/>
        </p:spPr>
        <p:txBody>
          <a:bodyPr wrap="square" lIns="0" tIns="0" rIns="0" bIns="0" anchor="ctr"/>
          <a:lstStyle/>
          <a:p>
            <a:pPr marL="0" indent="0" algn="ctr">
              <a:buNone/>
            </a:pPr>
            <a:r>
              <a:rPr sz="1600" b="1">
                <a:solidFill>
                  <a:srgbClr val="FFFFFF"/>
                </a:solidFill>
                <a:latin typeface="Arial"/>
                <a:ea typeface="Arial"/>
                <a:cs typeface="Arial"/>
              </a:rPr>
              <a:t>5</a:t>
            </a:r>
          </a:p>
        </p:txBody>
      </p:sp>
      <p:sp>
        <p:nvSpPr>
          <p:cNvPr id="31" name="Text 29">
            <a:extLst>
              <a:ext uri="{FF2B5EF4-FFF2-40B4-BE49-F238E27FC236}">
                <a16:creationId xmlns:a16="http://schemas.microsoft.com/office/drawing/2014/main" id="{EA5C744D-0C80-4E79-9F1F-CD7E631269E2}"/>
              </a:ext>
            </a:extLst>
          </p:cNvPr>
          <p:cNvSpPr>
            <a:spLocks noGrp="1"/>
          </p:cNvSpPr>
          <p:nvPr/>
        </p:nvSpPr>
        <p:spPr>
          <a:xfrm>
            <a:off x="7042448" y="3063240"/>
            <a:ext cx="1307984" cy="320040"/>
          </a:xfrm>
          <a:prstGeom prst="rect">
            <a:avLst/>
          </a:prstGeom>
          <a:noFill/>
        </p:spPr>
        <p:txBody>
          <a:bodyPr wrap="square" lIns="0" tIns="0" rIns="0" bIns="0" anchor="ctr"/>
          <a:lstStyle/>
          <a:p>
            <a:pPr marL="0" indent="0" algn="ctr">
              <a:buNone/>
            </a:pPr>
            <a:r>
              <a:rPr sz="1250" b="1">
                <a:solidFill>
                  <a:srgbClr val="0D0C0A"/>
                </a:solidFill>
                <a:latin typeface="Arial"/>
                <a:ea typeface="Arial"/>
                <a:cs typeface="Arial"/>
              </a:rPr>
              <a:t>Send</a:t>
            </a:r>
          </a:p>
        </p:txBody>
      </p:sp>
      <p:sp>
        <p:nvSpPr>
          <p:cNvPr id="32" name="Text 30">
            <a:extLst>
              <a:ext uri="{FF2B5EF4-FFF2-40B4-BE49-F238E27FC236}">
                <a16:creationId xmlns:a16="http://schemas.microsoft.com/office/drawing/2014/main" id="{639CBBC3-4210-4E79-BEB3-D4B3796A480D}"/>
              </a:ext>
            </a:extLst>
          </p:cNvPr>
          <p:cNvSpPr>
            <a:spLocks noGrp="1"/>
          </p:cNvSpPr>
          <p:nvPr/>
        </p:nvSpPr>
        <p:spPr>
          <a:xfrm>
            <a:off x="7060736" y="3410712"/>
            <a:ext cx="1271408" cy="822960"/>
          </a:xfrm>
          <a:prstGeom prst="rect">
            <a:avLst/>
          </a:prstGeom>
          <a:noFill/>
        </p:spPr>
        <p:txBody>
          <a:bodyPr wrap="square" lIns="0" tIns="0" rIns="0" bIns="0" anchor="ctr"/>
          <a:lstStyle/>
          <a:p>
            <a:pPr marL="0" indent="0" algn="ctr">
              <a:lnSpc>
                <a:spcPct val="112000"/>
              </a:lnSpc>
              <a:buNone/>
            </a:pPr>
            <a:r>
              <a:rPr sz="950">
                <a:solidFill>
                  <a:srgbClr val="6B675F"/>
                </a:solidFill>
                <a:latin typeface="Arial"/>
                <a:ea typeface="Arial"/>
                <a:cs typeface="Arial"/>
              </a:rPr>
              <a:t>Approve, or autonomous send</a:t>
            </a:r>
          </a:p>
        </p:txBody>
      </p:sp>
      <p:sp>
        <p:nvSpPr>
          <p:cNvPr id="33" name="Text 31">
            <a:extLst>
              <a:ext uri="{FF2B5EF4-FFF2-40B4-BE49-F238E27FC236}">
                <a16:creationId xmlns:a16="http://schemas.microsoft.com/office/drawing/2014/main" id="{039AA8B1-F4DB-41DD-9799-E6435CE750C1}"/>
              </a:ext>
            </a:extLst>
          </p:cNvPr>
          <p:cNvSpPr>
            <a:spLocks noGrp="1"/>
          </p:cNvSpPr>
          <p:nvPr/>
        </p:nvSpPr>
        <p:spPr>
          <a:xfrm>
            <a:off x="8405295" y="2967228"/>
            <a:ext cx="182880" cy="457200"/>
          </a:xfrm>
          <a:prstGeom prst="rect">
            <a:avLst/>
          </a:prstGeom>
          <a:noFill/>
        </p:spPr>
        <p:txBody>
          <a:bodyPr wrap="square" lIns="0" tIns="0" rIns="0" bIns="0" anchor="ctr"/>
          <a:lstStyle/>
          <a:p>
            <a:pPr marL="0" indent="0" algn="ctr">
              <a:buNone/>
            </a:pPr>
            <a:r>
              <a:rPr sz="1600" b="1">
                <a:solidFill>
                  <a:srgbClr val="9A968C"/>
                </a:solidFill>
                <a:latin typeface="Arial"/>
                <a:ea typeface="Arial"/>
                <a:cs typeface="Arial"/>
              </a:rPr>
              <a:t>›</a:t>
            </a:r>
          </a:p>
        </p:txBody>
      </p:sp>
      <p:sp>
        <p:nvSpPr>
          <p:cNvPr id="34" name="Shape 32">
            <a:extLst>
              <a:ext uri="{FF2B5EF4-FFF2-40B4-BE49-F238E27FC236}">
                <a16:creationId xmlns:a16="http://schemas.microsoft.com/office/drawing/2014/main" id="{85636DE4-8726-4202-9DEB-086CDC0410B6}"/>
              </a:ext>
            </a:extLst>
          </p:cNvPr>
          <p:cNvSpPr>
            <a:spLocks noGrp="1"/>
          </p:cNvSpPr>
          <p:nvPr/>
        </p:nvSpPr>
        <p:spPr>
          <a:xfrm>
            <a:off x="8569887" y="2148840"/>
            <a:ext cx="1454288" cy="2148840"/>
          </a:xfrm>
          <a:prstGeom prst="roundRect">
            <a:avLst>
              <a:gd name="adj" fmla="val 2829"/>
            </a:avLst>
          </a:prstGeom>
          <a:solidFill>
            <a:srgbClr val="FFFFFF"/>
          </a:solidFill>
          <a:ln w="12700">
            <a:solidFill>
              <a:srgbClr val="E2DED6"/>
            </a:solidFill>
            <a:prstDash val="solid"/>
          </a:ln>
          <a:effectLst>
            <a:outerShdw blurRad="76200" dist="25400" dir="5400000" algn="bl" rotWithShape="0">
              <a:srgbClr val="C9C4BA">
                <a:alpha val="55000"/>
              </a:srgbClr>
            </a:outerShdw>
          </a:effectLst>
        </p:spPr>
        <p:txBody>
          <a:bodyPr/>
          <a:lstStyle/>
          <a:p>
            <a:endParaRPr lang="en-SG"/>
          </a:p>
        </p:txBody>
      </p:sp>
      <p:sp>
        <p:nvSpPr>
          <p:cNvPr id="35" name="Shape 33">
            <a:extLst>
              <a:ext uri="{FF2B5EF4-FFF2-40B4-BE49-F238E27FC236}">
                <a16:creationId xmlns:a16="http://schemas.microsoft.com/office/drawing/2014/main" id="{2A1BCAE3-4B81-4C70-8231-F60EA63D8DBC}"/>
              </a:ext>
            </a:extLst>
          </p:cNvPr>
          <p:cNvSpPr>
            <a:spLocks noGrp="1"/>
          </p:cNvSpPr>
          <p:nvPr/>
        </p:nvSpPr>
        <p:spPr>
          <a:xfrm>
            <a:off x="9040999" y="2404872"/>
            <a:ext cx="512064" cy="512064"/>
          </a:xfrm>
          <a:prstGeom prst="ellipse">
            <a:avLst/>
          </a:prstGeom>
          <a:solidFill>
            <a:srgbClr val="0D0C0A"/>
          </a:solidFill>
        </p:spPr>
        <p:txBody>
          <a:bodyPr/>
          <a:lstStyle/>
          <a:p>
            <a:endParaRPr lang="en-SG"/>
          </a:p>
        </p:txBody>
      </p:sp>
      <p:sp>
        <p:nvSpPr>
          <p:cNvPr id="36" name="Text 34">
            <a:extLst>
              <a:ext uri="{FF2B5EF4-FFF2-40B4-BE49-F238E27FC236}">
                <a16:creationId xmlns:a16="http://schemas.microsoft.com/office/drawing/2014/main" id="{30FC69EB-CEB1-4C4F-91AA-0BCF637458B3}"/>
              </a:ext>
            </a:extLst>
          </p:cNvPr>
          <p:cNvSpPr>
            <a:spLocks noGrp="1"/>
          </p:cNvSpPr>
          <p:nvPr/>
        </p:nvSpPr>
        <p:spPr>
          <a:xfrm>
            <a:off x="9040999" y="2404872"/>
            <a:ext cx="512064" cy="512064"/>
          </a:xfrm>
          <a:prstGeom prst="rect">
            <a:avLst/>
          </a:prstGeom>
          <a:noFill/>
        </p:spPr>
        <p:txBody>
          <a:bodyPr wrap="square" lIns="0" tIns="0" rIns="0" bIns="0" anchor="ctr"/>
          <a:lstStyle/>
          <a:p>
            <a:pPr marL="0" indent="0" algn="ctr">
              <a:buNone/>
            </a:pPr>
            <a:r>
              <a:rPr sz="1600" b="1">
                <a:solidFill>
                  <a:srgbClr val="FFFFFF"/>
                </a:solidFill>
                <a:latin typeface="Arial"/>
                <a:ea typeface="Arial"/>
                <a:cs typeface="Arial"/>
              </a:rPr>
              <a:t>6</a:t>
            </a:r>
          </a:p>
        </p:txBody>
      </p:sp>
      <p:sp>
        <p:nvSpPr>
          <p:cNvPr id="37" name="Text 35">
            <a:extLst>
              <a:ext uri="{FF2B5EF4-FFF2-40B4-BE49-F238E27FC236}">
                <a16:creationId xmlns:a16="http://schemas.microsoft.com/office/drawing/2014/main" id="{150EABEE-CFCC-487E-B8E4-FEF919B68044}"/>
              </a:ext>
            </a:extLst>
          </p:cNvPr>
          <p:cNvSpPr>
            <a:spLocks noGrp="1"/>
          </p:cNvSpPr>
          <p:nvPr/>
        </p:nvSpPr>
        <p:spPr>
          <a:xfrm>
            <a:off x="8643039" y="3063240"/>
            <a:ext cx="1307984" cy="320040"/>
          </a:xfrm>
          <a:prstGeom prst="rect">
            <a:avLst/>
          </a:prstGeom>
          <a:noFill/>
        </p:spPr>
        <p:txBody>
          <a:bodyPr wrap="square" lIns="0" tIns="0" rIns="0" bIns="0" anchor="ctr"/>
          <a:lstStyle/>
          <a:p>
            <a:pPr marL="0" indent="0" algn="ctr">
              <a:buNone/>
            </a:pPr>
            <a:r>
              <a:rPr sz="1250" b="1">
                <a:solidFill>
                  <a:srgbClr val="0D0C0A"/>
                </a:solidFill>
                <a:latin typeface="Arial"/>
                <a:ea typeface="Arial"/>
                <a:cs typeface="Arial"/>
              </a:rPr>
              <a:t>Read reply</a:t>
            </a:r>
          </a:p>
        </p:txBody>
      </p:sp>
      <p:sp>
        <p:nvSpPr>
          <p:cNvPr id="38" name="Text 36">
            <a:extLst>
              <a:ext uri="{FF2B5EF4-FFF2-40B4-BE49-F238E27FC236}">
                <a16:creationId xmlns:a16="http://schemas.microsoft.com/office/drawing/2014/main" id="{4A9DA2A6-DD78-4C9D-A5CA-E05CB05B5C6E}"/>
              </a:ext>
            </a:extLst>
          </p:cNvPr>
          <p:cNvSpPr>
            <a:spLocks noGrp="1"/>
          </p:cNvSpPr>
          <p:nvPr/>
        </p:nvSpPr>
        <p:spPr>
          <a:xfrm>
            <a:off x="8661327" y="3410712"/>
            <a:ext cx="1271408" cy="822960"/>
          </a:xfrm>
          <a:prstGeom prst="rect">
            <a:avLst/>
          </a:prstGeom>
          <a:noFill/>
        </p:spPr>
        <p:txBody>
          <a:bodyPr wrap="square" lIns="0" tIns="0" rIns="0" bIns="0" anchor="ctr"/>
          <a:lstStyle/>
          <a:p>
            <a:pPr marL="0" indent="0" algn="ctr">
              <a:lnSpc>
                <a:spcPct val="112000"/>
              </a:lnSpc>
              <a:buNone/>
            </a:pPr>
            <a:r>
              <a:rPr sz="950">
                <a:solidFill>
                  <a:srgbClr val="6B675F"/>
                </a:solidFill>
                <a:latin typeface="Arial"/>
                <a:ea typeface="Arial"/>
                <a:cs typeface="Arial"/>
              </a:rPr>
              <a:t>Classify intent, update the thread</a:t>
            </a:r>
          </a:p>
        </p:txBody>
      </p:sp>
      <p:sp>
        <p:nvSpPr>
          <p:cNvPr id="39" name="Text 37">
            <a:extLst>
              <a:ext uri="{FF2B5EF4-FFF2-40B4-BE49-F238E27FC236}">
                <a16:creationId xmlns:a16="http://schemas.microsoft.com/office/drawing/2014/main" id="{C6CEEAC1-3C5D-4954-AB09-F63314475ABC}"/>
              </a:ext>
            </a:extLst>
          </p:cNvPr>
          <p:cNvSpPr>
            <a:spLocks noGrp="1"/>
          </p:cNvSpPr>
          <p:nvPr/>
        </p:nvSpPr>
        <p:spPr>
          <a:xfrm>
            <a:off x="10005887" y="2967228"/>
            <a:ext cx="182880" cy="457200"/>
          </a:xfrm>
          <a:prstGeom prst="rect">
            <a:avLst/>
          </a:prstGeom>
          <a:noFill/>
        </p:spPr>
        <p:txBody>
          <a:bodyPr wrap="square" lIns="0" tIns="0" rIns="0" bIns="0" anchor="ctr"/>
          <a:lstStyle/>
          <a:p>
            <a:pPr marL="0" indent="0" algn="ctr">
              <a:buNone/>
            </a:pPr>
            <a:r>
              <a:rPr sz="1600" b="1">
                <a:solidFill>
                  <a:srgbClr val="9A968C"/>
                </a:solidFill>
                <a:latin typeface="Arial"/>
                <a:ea typeface="Arial"/>
                <a:cs typeface="Arial"/>
              </a:rPr>
              <a:t>›</a:t>
            </a:r>
          </a:p>
        </p:txBody>
      </p:sp>
      <p:sp>
        <p:nvSpPr>
          <p:cNvPr id="40" name="Shape 38">
            <a:extLst>
              <a:ext uri="{FF2B5EF4-FFF2-40B4-BE49-F238E27FC236}">
                <a16:creationId xmlns:a16="http://schemas.microsoft.com/office/drawing/2014/main" id="{CC3F8CB1-107B-4D88-BA59-22780F270FFD}"/>
              </a:ext>
            </a:extLst>
          </p:cNvPr>
          <p:cNvSpPr>
            <a:spLocks noGrp="1"/>
          </p:cNvSpPr>
          <p:nvPr/>
        </p:nvSpPr>
        <p:spPr>
          <a:xfrm>
            <a:off x="10170479" y="2148840"/>
            <a:ext cx="1454288" cy="2148840"/>
          </a:xfrm>
          <a:prstGeom prst="roundRect">
            <a:avLst>
              <a:gd name="adj" fmla="val 2829"/>
            </a:avLst>
          </a:prstGeom>
          <a:solidFill>
            <a:srgbClr val="FFFFFF"/>
          </a:solidFill>
          <a:ln w="12700">
            <a:solidFill>
              <a:srgbClr val="E2DED6"/>
            </a:solidFill>
            <a:prstDash val="solid"/>
          </a:ln>
          <a:effectLst>
            <a:outerShdw blurRad="76200" dist="25400" dir="5400000" algn="bl" rotWithShape="0">
              <a:srgbClr val="C9C4BA">
                <a:alpha val="55000"/>
              </a:srgbClr>
            </a:outerShdw>
          </a:effectLst>
        </p:spPr>
        <p:txBody>
          <a:bodyPr/>
          <a:lstStyle/>
          <a:p>
            <a:endParaRPr lang="en-SG"/>
          </a:p>
        </p:txBody>
      </p:sp>
      <p:sp>
        <p:nvSpPr>
          <p:cNvPr id="41" name="Shape 39">
            <a:extLst>
              <a:ext uri="{FF2B5EF4-FFF2-40B4-BE49-F238E27FC236}">
                <a16:creationId xmlns:a16="http://schemas.microsoft.com/office/drawing/2014/main" id="{CD139757-8E48-42BD-A337-E664F6B0E555}"/>
              </a:ext>
            </a:extLst>
          </p:cNvPr>
          <p:cNvSpPr>
            <a:spLocks noGrp="1"/>
          </p:cNvSpPr>
          <p:nvPr/>
        </p:nvSpPr>
        <p:spPr>
          <a:xfrm>
            <a:off x="10641591" y="2404872"/>
            <a:ext cx="512064" cy="512064"/>
          </a:xfrm>
          <a:prstGeom prst="ellipse">
            <a:avLst/>
          </a:prstGeom>
          <a:solidFill>
            <a:srgbClr val="0D0C0A"/>
          </a:solidFill>
        </p:spPr>
        <p:txBody>
          <a:bodyPr/>
          <a:lstStyle/>
          <a:p>
            <a:endParaRPr lang="en-SG"/>
          </a:p>
        </p:txBody>
      </p:sp>
      <p:sp>
        <p:nvSpPr>
          <p:cNvPr id="42" name="Text 40">
            <a:extLst>
              <a:ext uri="{FF2B5EF4-FFF2-40B4-BE49-F238E27FC236}">
                <a16:creationId xmlns:a16="http://schemas.microsoft.com/office/drawing/2014/main" id="{139BEB37-0989-4D23-BA57-08135E440668}"/>
              </a:ext>
            </a:extLst>
          </p:cNvPr>
          <p:cNvSpPr>
            <a:spLocks noGrp="1"/>
          </p:cNvSpPr>
          <p:nvPr/>
        </p:nvSpPr>
        <p:spPr>
          <a:xfrm>
            <a:off x="10641591" y="2404872"/>
            <a:ext cx="512064" cy="512064"/>
          </a:xfrm>
          <a:prstGeom prst="rect">
            <a:avLst/>
          </a:prstGeom>
          <a:noFill/>
        </p:spPr>
        <p:txBody>
          <a:bodyPr wrap="square" lIns="0" tIns="0" rIns="0" bIns="0" anchor="ctr"/>
          <a:lstStyle/>
          <a:p>
            <a:pPr marL="0" indent="0" algn="ctr">
              <a:buNone/>
            </a:pPr>
            <a:r>
              <a:rPr sz="1600" b="1">
                <a:solidFill>
                  <a:srgbClr val="FFFFFF"/>
                </a:solidFill>
                <a:latin typeface="Arial"/>
                <a:ea typeface="Arial"/>
                <a:cs typeface="Arial"/>
              </a:rPr>
              <a:t>7</a:t>
            </a:r>
          </a:p>
        </p:txBody>
      </p:sp>
      <p:sp>
        <p:nvSpPr>
          <p:cNvPr id="43" name="Text 41">
            <a:extLst>
              <a:ext uri="{FF2B5EF4-FFF2-40B4-BE49-F238E27FC236}">
                <a16:creationId xmlns:a16="http://schemas.microsoft.com/office/drawing/2014/main" id="{0ADAB11E-74C6-42FE-8F90-3F3313ED5BE6}"/>
              </a:ext>
            </a:extLst>
          </p:cNvPr>
          <p:cNvSpPr>
            <a:spLocks noGrp="1"/>
          </p:cNvSpPr>
          <p:nvPr/>
        </p:nvSpPr>
        <p:spPr>
          <a:xfrm>
            <a:off x="10243631" y="3063240"/>
            <a:ext cx="1307984" cy="320040"/>
          </a:xfrm>
          <a:prstGeom prst="rect">
            <a:avLst/>
          </a:prstGeom>
          <a:noFill/>
        </p:spPr>
        <p:txBody>
          <a:bodyPr wrap="square" lIns="0" tIns="0" rIns="0" bIns="0" anchor="ctr"/>
          <a:lstStyle/>
          <a:p>
            <a:pPr marL="0" indent="0" algn="ctr">
              <a:buNone/>
            </a:pPr>
            <a:r>
              <a:rPr sz="1250" b="1">
                <a:solidFill>
                  <a:srgbClr val="0D0C0A"/>
                </a:solidFill>
                <a:latin typeface="Arial"/>
                <a:ea typeface="Arial"/>
                <a:cs typeface="Arial"/>
              </a:rPr>
              <a:t>Follow up</a:t>
            </a:r>
          </a:p>
        </p:txBody>
      </p:sp>
      <p:sp>
        <p:nvSpPr>
          <p:cNvPr id="44" name="Text 42">
            <a:extLst>
              <a:ext uri="{FF2B5EF4-FFF2-40B4-BE49-F238E27FC236}">
                <a16:creationId xmlns:a16="http://schemas.microsoft.com/office/drawing/2014/main" id="{47C71728-593E-49F1-9B44-0A95897F035E}"/>
              </a:ext>
            </a:extLst>
          </p:cNvPr>
          <p:cNvSpPr>
            <a:spLocks noGrp="1"/>
          </p:cNvSpPr>
          <p:nvPr/>
        </p:nvSpPr>
        <p:spPr>
          <a:xfrm>
            <a:off x="10261919" y="3410712"/>
            <a:ext cx="1271408" cy="822960"/>
          </a:xfrm>
          <a:prstGeom prst="rect">
            <a:avLst/>
          </a:prstGeom>
          <a:noFill/>
        </p:spPr>
        <p:txBody>
          <a:bodyPr wrap="square" lIns="0" tIns="0" rIns="0" bIns="0" anchor="ctr"/>
          <a:lstStyle/>
          <a:p>
            <a:pPr marL="0" indent="0" algn="ctr">
              <a:lnSpc>
                <a:spcPct val="112000"/>
              </a:lnSpc>
              <a:buNone/>
            </a:pPr>
            <a:r>
              <a:rPr sz="950">
                <a:solidFill>
                  <a:srgbClr val="6B675F"/>
                </a:solidFill>
                <a:latin typeface="Arial"/>
                <a:ea typeface="Arial"/>
                <a:cs typeface="Arial"/>
              </a:rPr>
              <a:t>Non-repetitive, capped, opt-out aware</a:t>
            </a:r>
          </a:p>
        </p:txBody>
      </p:sp>
      <p:sp>
        <p:nvSpPr>
          <p:cNvPr id="45" name="Shape 43">
            <a:extLst>
              <a:ext uri="{FF2B5EF4-FFF2-40B4-BE49-F238E27FC236}">
                <a16:creationId xmlns:a16="http://schemas.microsoft.com/office/drawing/2014/main" id="{93DFFAA8-35EA-4FE4-90CE-BC00268CD437}"/>
              </a:ext>
            </a:extLst>
          </p:cNvPr>
          <p:cNvSpPr>
            <a:spLocks noGrp="1"/>
          </p:cNvSpPr>
          <p:nvPr/>
        </p:nvSpPr>
        <p:spPr>
          <a:xfrm>
            <a:off x="566928" y="4709160"/>
            <a:ext cx="11057839" cy="1417320"/>
          </a:xfrm>
          <a:prstGeom prst="roundRect">
            <a:avLst>
              <a:gd name="adj" fmla="val 2903"/>
            </a:avLst>
          </a:prstGeom>
          <a:solidFill>
            <a:srgbClr val="FFFFFF"/>
          </a:solidFill>
          <a:ln w="12700">
            <a:solidFill>
              <a:srgbClr val="E2DED6"/>
            </a:solidFill>
            <a:prstDash val="solid"/>
          </a:ln>
          <a:effectLst>
            <a:outerShdw blurRad="76200" dist="25400" dir="5400000" algn="bl" rotWithShape="0">
              <a:srgbClr val="C9C4BA">
                <a:alpha val="55000"/>
              </a:srgbClr>
            </a:outerShdw>
          </a:effectLst>
        </p:spPr>
        <p:txBody>
          <a:bodyPr/>
          <a:lstStyle/>
          <a:p>
            <a:endParaRPr lang="en-SG"/>
          </a:p>
        </p:txBody>
      </p:sp>
      <p:sp>
        <p:nvSpPr>
          <p:cNvPr id="46" name="Text 44">
            <a:extLst>
              <a:ext uri="{FF2B5EF4-FFF2-40B4-BE49-F238E27FC236}">
                <a16:creationId xmlns:a16="http://schemas.microsoft.com/office/drawing/2014/main" id="{874781D8-98E3-4E3A-9784-8F0D779D7E37}"/>
              </a:ext>
            </a:extLst>
          </p:cNvPr>
          <p:cNvSpPr>
            <a:spLocks noGrp="1"/>
          </p:cNvSpPr>
          <p:nvPr/>
        </p:nvSpPr>
        <p:spPr>
          <a:xfrm>
            <a:off x="886968" y="4928616"/>
            <a:ext cx="3657600" cy="274320"/>
          </a:xfrm>
          <a:prstGeom prst="rect">
            <a:avLst/>
          </a:prstGeom>
          <a:noFill/>
        </p:spPr>
        <p:txBody>
          <a:bodyPr wrap="square" lIns="0" tIns="0" rIns="0" bIns="0" anchor="ctr"/>
          <a:lstStyle/>
          <a:p>
            <a:pPr marL="0" indent="0">
              <a:buNone/>
            </a:pPr>
            <a:r>
              <a:rPr sz="950" b="1">
                <a:solidFill>
                  <a:srgbClr val="5A3EE0"/>
                </a:solidFill>
                <a:latin typeface="Arial"/>
                <a:ea typeface="Arial"/>
                <a:cs typeface="Arial"/>
              </a:rPr>
              <a:t>SAMPLE FIRST TOUCH</a:t>
            </a:r>
          </a:p>
        </p:txBody>
      </p:sp>
      <p:sp>
        <p:nvSpPr>
          <p:cNvPr id="47" name="Shape 45">
            <a:extLst>
              <a:ext uri="{FF2B5EF4-FFF2-40B4-BE49-F238E27FC236}">
                <a16:creationId xmlns:a16="http://schemas.microsoft.com/office/drawing/2014/main" id="{76114CF6-5366-49A5-95EB-C4A8CB57A873}"/>
              </a:ext>
            </a:extLst>
          </p:cNvPr>
          <p:cNvSpPr>
            <a:spLocks noGrp="1"/>
          </p:cNvSpPr>
          <p:nvPr/>
        </p:nvSpPr>
        <p:spPr>
          <a:xfrm>
            <a:off x="10207447" y="4910328"/>
            <a:ext cx="1144829" cy="237744"/>
          </a:xfrm>
          <a:prstGeom prst="roundRect">
            <a:avLst>
              <a:gd name="adj" fmla="val 23077"/>
            </a:avLst>
          </a:prstGeom>
          <a:solidFill>
            <a:srgbClr val="FFFFFF"/>
          </a:solidFill>
          <a:ln w="12700">
            <a:solidFill>
              <a:srgbClr val="5A3EE0"/>
            </a:solidFill>
            <a:prstDash val="solid"/>
          </a:ln>
        </p:spPr>
        <p:txBody>
          <a:bodyPr/>
          <a:lstStyle/>
          <a:p>
            <a:endParaRPr lang="en-SG"/>
          </a:p>
        </p:txBody>
      </p:sp>
      <p:sp>
        <p:nvSpPr>
          <p:cNvPr id="48" name="Text 46">
            <a:extLst>
              <a:ext uri="{FF2B5EF4-FFF2-40B4-BE49-F238E27FC236}">
                <a16:creationId xmlns:a16="http://schemas.microsoft.com/office/drawing/2014/main" id="{70FEDEEE-FC71-4A11-83C4-D05BCAA7A161}"/>
              </a:ext>
            </a:extLst>
          </p:cNvPr>
          <p:cNvSpPr>
            <a:spLocks noGrp="1"/>
          </p:cNvSpPr>
          <p:nvPr/>
        </p:nvSpPr>
        <p:spPr>
          <a:xfrm>
            <a:off x="10207447" y="4910328"/>
            <a:ext cx="1144829" cy="237744"/>
          </a:xfrm>
          <a:prstGeom prst="rect">
            <a:avLst/>
          </a:prstGeom>
          <a:noFill/>
        </p:spPr>
        <p:txBody>
          <a:bodyPr wrap="square" lIns="0" tIns="0" rIns="0" bIns="0" anchor="ctr"/>
          <a:lstStyle/>
          <a:p>
            <a:pPr marL="0" indent="0" algn="ctr">
              <a:buNone/>
            </a:pPr>
            <a:r>
              <a:rPr sz="850" b="1">
                <a:solidFill>
                  <a:srgbClr val="5A3EE0"/>
                </a:solidFill>
                <a:latin typeface="Arial"/>
                <a:ea typeface="Arial"/>
                <a:cs typeface="Arial"/>
              </a:rPr>
              <a:t>EVIDENCE-BOUND</a:t>
            </a:r>
          </a:p>
        </p:txBody>
      </p:sp>
      <p:sp>
        <p:nvSpPr>
          <p:cNvPr id="49" name="Text 47">
            <a:extLst>
              <a:ext uri="{FF2B5EF4-FFF2-40B4-BE49-F238E27FC236}">
                <a16:creationId xmlns:a16="http://schemas.microsoft.com/office/drawing/2014/main" id="{6825B4A4-FFFD-4219-907F-A4B217D7A7F3}"/>
              </a:ext>
            </a:extLst>
          </p:cNvPr>
          <p:cNvSpPr>
            <a:spLocks noGrp="1"/>
          </p:cNvSpPr>
          <p:nvPr/>
        </p:nvSpPr>
        <p:spPr>
          <a:xfrm>
            <a:off x="886968" y="5239512"/>
            <a:ext cx="10417759" cy="822960"/>
          </a:xfrm>
          <a:prstGeom prst="rect">
            <a:avLst/>
          </a:prstGeom>
          <a:noFill/>
        </p:spPr>
        <p:txBody>
          <a:bodyPr wrap="square" lIns="0" tIns="0" rIns="0" bIns="0" anchor="ctr"/>
          <a:lstStyle/>
          <a:p>
            <a:pPr marL="0" indent="0">
              <a:lnSpc>
                <a:spcPct val="120000"/>
              </a:lnSpc>
              <a:buNone/>
            </a:pPr>
            <a:r>
              <a:rPr sz="1250" i="1">
                <a:solidFill>
                  <a:srgbClr val="35322D"/>
                </a:solidFill>
                <a:latin typeface="Arial"/>
                <a:ea typeface="Arial"/>
                <a:cs typeface="Arial"/>
              </a:rPr>
              <a:t>“Hi Wei Ling, saw Kōri put the Uji matcha line on the TikTok menu drop. If you’re lining up creators for it, Influencees can shortlist SG F&amp;B micro-creators by real engagement, tracked from IG/TikTok, and run a match score against the launch. Worth a 15-min look this week?”</a:t>
            </a:r>
          </a:p>
        </p:txBody>
      </p:sp>
      <p:sp>
        <p:nvSpPr>
          <p:cNvPr id="50" name="Text 48">
            <a:extLst>
              <a:ext uri="{FF2B5EF4-FFF2-40B4-BE49-F238E27FC236}">
                <a16:creationId xmlns:a16="http://schemas.microsoft.com/office/drawing/2014/main" id="{A40C72D7-05C7-4D9B-80F6-FBFAD715B9AA}"/>
              </a:ext>
            </a:extLst>
          </p:cNvPr>
          <p:cNvSpPr>
            <a:spLocks noGrp="1"/>
          </p:cNvSpPr>
          <p:nvPr/>
        </p:nvSpPr>
        <p:spPr>
          <a:xfrm>
            <a:off x="8351215" y="6382512"/>
            <a:ext cx="3273552" cy="274320"/>
          </a:xfrm>
          <a:prstGeom prst="rect">
            <a:avLst/>
          </a:prstGeom>
          <a:noFill/>
        </p:spPr>
        <p:txBody>
          <a:bodyPr wrap="square" lIns="0" tIns="0" rIns="0" bIns="0" anchor="ctr"/>
          <a:lstStyle/>
          <a:p>
            <a:pPr marL="0" indent="0" algn="r">
              <a:buNone/>
            </a:pPr>
            <a:r>
              <a:rPr sz="950" b="1">
                <a:solidFill>
                  <a:srgbClr val="9A968C"/>
                </a:solidFill>
                <a:latin typeface="Arial"/>
                <a:ea typeface="Arial"/>
                <a:cs typeface="Arial"/>
              </a:rPr>
              <a:t>INFLUENCEES</a:t>
            </a:r>
            <a:r>
              <a:rPr sz="950" b="1">
                <a:solidFill>
                  <a:srgbClr val="6B675F"/>
                </a:solidFill>
                <a:latin typeface="Arial"/>
                <a:ea typeface="Arial"/>
                <a:cs typeface="Arial"/>
              </a:rPr>
              <a:t>   04 / 10</a:t>
            </a:r>
          </a:p>
        </p:txBody>
      </p:sp>
      <p:sp>
        <p:nvSpPr>
          <p:cNvPr id="51" name="white-canvas-4">
            <a:extLst>
              <a:ext uri="{FF2B5EF4-FFF2-40B4-BE49-F238E27FC236}">
                <a16:creationId xmlns:a16="http://schemas.microsoft.com/office/drawing/2014/main" id="{89C0C135-F336-467E-8F34-6CE1637FAE21}"/>
              </a:ext>
            </a:extLst>
          </p:cNvPr>
          <p:cNvSpPr>
            <a:spLocks noGrp="1"/>
          </p:cNvSpPr>
          <p:nvPr/>
        </p:nvSpPr>
        <p:spPr>
          <a:xfrm>
            <a:off x="0" y="0"/>
            <a:ext cx="12192000" cy="6858000"/>
          </a:xfrm>
          <a:prstGeom prst="rect">
            <a:avLst/>
          </a:prstGeom>
          <a:solidFill>
            <a:srgbClr val="FFFFFF"/>
          </a:solidFill>
          <a:ln w="0">
            <a:noFill/>
            <a:prstDash val="solid"/>
          </a:ln>
        </p:spPr>
        <p:txBody>
          <a:bodyPr/>
          <a:lstStyle/>
          <a:p>
            <a:endParaRPr lang="en-SG"/>
          </a:p>
        </p:txBody>
      </p:sp>
      <p:sp>
        <p:nvSpPr>
          <p:cNvPr id="52" name="section-badge">
            <a:extLst>
              <a:ext uri="{FF2B5EF4-FFF2-40B4-BE49-F238E27FC236}">
                <a16:creationId xmlns:a16="http://schemas.microsoft.com/office/drawing/2014/main" id="{716337E0-55E3-49D1-836C-8B84C5D9A2F0}"/>
              </a:ext>
            </a:extLst>
          </p:cNvPr>
          <p:cNvSpPr>
            <a:spLocks noGrp="1"/>
          </p:cNvSpPr>
          <p:nvPr/>
        </p:nvSpPr>
        <p:spPr>
          <a:xfrm>
            <a:off x="4191000" y="323850"/>
            <a:ext cx="3810000" cy="247650"/>
          </a:xfrm>
          <a:prstGeom prst="rect">
            <a:avLst/>
          </a:prstGeom>
          <a:noFill/>
          <a:ln w="0">
            <a:noFill/>
            <a:prstDash val="solid"/>
          </a:ln>
        </p:spPr>
        <p:txBody>
          <a:bodyPr wrap="square" lIns="0" tIns="0" rIns="0" bIns="0" anchor="t">
            <a:normAutofit/>
          </a:bodyPr>
          <a:lstStyle/>
          <a:p>
            <a:pPr algn="ctr">
              <a:lnSpc>
                <a:spcPct val="112000"/>
              </a:lnSpc>
              <a:buNone/>
              <a:defRPr sz="1200" b="1">
                <a:solidFill>
                  <a:srgbClr val="7C5CFC"/>
                </a:solidFill>
                <a:latin typeface="Inter"/>
                <a:ea typeface="Inter"/>
                <a:cs typeface="Inter"/>
              </a:defRPr>
            </a:pPr>
            <a:r>
              <a:rPr sz="1200" b="1">
                <a:solidFill>
                  <a:srgbClr val="7C5CFC"/>
                </a:solidFill>
                <a:latin typeface="Inter"/>
                <a:ea typeface="Inter"/>
                <a:cs typeface="Inter"/>
              </a:rPr>
              <a:t>SOLUTION 01 · HOW IT WORKS</a:t>
            </a:r>
          </a:p>
        </p:txBody>
      </p:sp>
      <p:sp>
        <p:nvSpPr>
          <p:cNvPr id="53" name="slide-title">
            <a:extLst>
              <a:ext uri="{FF2B5EF4-FFF2-40B4-BE49-F238E27FC236}">
                <a16:creationId xmlns:a16="http://schemas.microsoft.com/office/drawing/2014/main" id="{443C716D-0DBA-482E-A0D3-2DE8551C6119}"/>
              </a:ext>
            </a:extLst>
          </p:cNvPr>
          <p:cNvSpPr>
            <a:spLocks noGrp="1"/>
          </p:cNvSpPr>
          <p:nvPr/>
        </p:nvSpPr>
        <p:spPr>
          <a:xfrm>
            <a:off x="952500" y="685800"/>
            <a:ext cx="10287000" cy="685800"/>
          </a:xfrm>
          <a:prstGeom prst="rect">
            <a:avLst/>
          </a:prstGeom>
          <a:noFill/>
          <a:ln w="0">
            <a:noFill/>
            <a:prstDash val="solid"/>
          </a:ln>
        </p:spPr>
        <p:txBody>
          <a:bodyPr wrap="square" lIns="0" tIns="0" rIns="0" bIns="0" anchor="ctr">
            <a:normAutofit/>
          </a:bodyPr>
          <a:lstStyle/>
          <a:p>
            <a:pPr algn="ctr">
              <a:lnSpc>
                <a:spcPct val="102000"/>
              </a:lnSpc>
              <a:buNone/>
              <a:defRPr sz="3300" b="0">
                <a:solidFill>
                  <a:srgbClr val="0F172A"/>
                </a:solidFill>
                <a:latin typeface="Inter"/>
                <a:ea typeface="Inter"/>
                <a:cs typeface="Inter"/>
              </a:defRPr>
            </a:pPr>
            <a:r>
              <a:rPr sz="3300" b="0">
                <a:solidFill>
                  <a:srgbClr val="0F172A"/>
                </a:solidFill>
                <a:latin typeface="Inter"/>
                <a:ea typeface="Inter"/>
                <a:cs typeface="Inter"/>
              </a:rPr>
              <a:t>One loop, from cold company to real conversation.</a:t>
            </a:r>
          </a:p>
        </p:txBody>
      </p:sp>
      <p:sp>
        <p:nvSpPr>
          <p:cNvPr id="54" name="slide-subtitle">
            <a:extLst>
              <a:ext uri="{FF2B5EF4-FFF2-40B4-BE49-F238E27FC236}">
                <a16:creationId xmlns:a16="http://schemas.microsoft.com/office/drawing/2014/main" id="{284E353E-78B4-4307-8544-B23BAD387111}"/>
              </a:ext>
            </a:extLst>
          </p:cNvPr>
          <p:cNvSpPr>
            <a:spLocks noGrp="1"/>
          </p:cNvSpPr>
          <p:nvPr/>
        </p:nvSpPr>
        <p:spPr>
          <a:xfrm>
            <a:off x="1333500" y="1333500"/>
            <a:ext cx="9525000" cy="590550"/>
          </a:xfrm>
          <a:prstGeom prst="rect">
            <a:avLst/>
          </a:prstGeom>
          <a:noFill/>
          <a:ln w="0">
            <a:noFill/>
            <a:prstDash val="solid"/>
          </a:ln>
        </p:spPr>
        <p:txBody>
          <a:bodyPr wrap="square" lIns="0" tIns="0" rIns="0" bIns="0" anchor="ctr">
            <a:normAutofit/>
          </a:bodyPr>
          <a:lstStyle/>
          <a:p>
            <a:pPr algn="ctr">
              <a:lnSpc>
                <a:spcPct val="122000"/>
              </a:lnSpc>
              <a:buNone/>
              <a:defRPr sz="1575" b="0">
                <a:solidFill>
                  <a:srgbClr val="64748B"/>
                </a:solidFill>
                <a:latin typeface="Inter"/>
                <a:ea typeface="Inter"/>
                <a:cs typeface="Inter"/>
              </a:defRPr>
            </a:pPr>
            <a:r>
              <a:rPr sz="1575" b="0">
                <a:solidFill>
                  <a:srgbClr val="64748B"/>
                </a:solidFill>
                <a:latin typeface="Inter"/>
                <a:ea typeface="Inter"/>
                <a:cs typeface="Inter"/>
              </a:rPr>
              <a:t>Every step is visible, evidence-bound and controllable.</a:t>
            </a:r>
          </a:p>
        </p:txBody>
      </p:sp>
      <p:sp>
        <p:nvSpPr>
          <p:cNvPr id="55" name="step-card-1">
            <a:extLst>
              <a:ext uri="{FF2B5EF4-FFF2-40B4-BE49-F238E27FC236}">
                <a16:creationId xmlns:a16="http://schemas.microsoft.com/office/drawing/2014/main" id="{AB9C042A-E2E3-47EE-8DA3-26E6631E775F}"/>
              </a:ext>
            </a:extLst>
          </p:cNvPr>
          <p:cNvSpPr>
            <a:spLocks noGrp="1"/>
          </p:cNvSpPr>
          <p:nvPr/>
        </p:nvSpPr>
        <p:spPr>
          <a:xfrm>
            <a:off x="523875" y="2305050"/>
            <a:ext cx="1485900" cy="2209800"/>
          </a:xfrm>
          <a:prstGeom prst="roundRect">
            <a:avLst>
              <a:gd name="adj" fmla="val 12821"/>
            </a:avLst>
          </a:prstGeom>
          <a:solidFill>
            <a:srgbClr val="FFF7E6"/>
          </a:solidFill>
          <a:ln w="9525">
            <a:solidFill>
              <a:srgbClr val="FFFFFF">
                <a:alpha val="60000"/>
              </a:srgbClr>
            </a:solidFill>
            <a:prstDash val="solid"/>
          </a:ln>
        </p:spPr>
        <p:style>
          <a:lnRef idx="0">
            <a:scrgbClr r="0" g="0" b="0"/>
          </a:lnRef>
          <a:fillRef idx="0">
            <a:scrgbClr r="0" g="0" b="0"/>
          </a:fillRef>
          <a:effectRef idx="4">
            <a:scrgbClr r="0" g="0" b="0"/>
          </a:effectRef>
          <a:fontRef idx="major"/>
        </p:style>
        <p:txBody>
          <a:bodyPr/>
          <a:lstStyle/>
          <a:p>
            <a:endParaRPr lang="en-SG"/>
          </a:p>
        </p:txBody>
      </p:sp>
      <p:sp>
        <p:nvSpPr>
          <p:cNvPr id="56" name="number-1">
            <a:extLst>
              <a:ext uri="{FF2B5EF4-FFF2-40B4-BE49-F238E27FC236}">
                <a16:creationId xmlns:a16="http://schemas.microsoft.com/office/drawing/2014/main" id="{F4B98DC8-1BBB-4470-A393-341C57490DE3}"/>
              </a:ext>
            </a:extLst>
          </p:cNvPr>
          <p:cNvSpPr>
            <a:spLocks noGrp="1"/>
          </p:cNvSpPr>
          <p:nvPr/>
        </p:nvSpPr>
        <p:spPr>
          <a:xfrm>
            <a:off x="695325" y="2495550"/>
            <a:ext cx="361950" cy="361950"/>
          </a:xfrm>
          <a:prstGeom prst="ellipse">
            <a:avLst/>
          </a:prstGeom>
          <a:solidFill>
            <a:srgbClr val="0F172A"/>
          </a:solidFill>
          <a:ln w="0">
            <a:noFill/>
            <a:prstDash val="solid"/>
          </a:ln>
        </p:spPr>
        <p:txBody>
          <a:bodyPr lIns="0" tIns="0" rIns="0" bIns="0" anchor="ctr"/>
          <a:lstStyle/>
          <a:p>
            <a:pPr algn="ctr">
              <a:defRPr sz="1350" b="1">
                <a:solidFill>
                  <a:srgbClr val="FFFFFF"/>
                </a:solidFill>
                <a:latin typeface="Inter"/>
                <a:ea typeface="Inter"/>
                <a:cs typeface="Inter"/>
              </a:defRPr>
            </a:pPr>
            <a:r>
              <a:rPr sz="1350" b="1">
                <a:solidFill>
                  <a:srgbClr val="FFFFFF"/>
                </a:solidFill>
                <a:latin typeface="Inter"/>
                <a:ea typeface="Inter"/>
                <a:cs typeface="Inter"/>
              </a:rPr>
              <a:t>1</a:t>
            </a:r>
          </a:p>
        </p:txBody>
      </p:sp>
      <p:sp>
        <p:nvSpPr>
          <p:cNvPr id="57" name="step-title-1">
            <a:extLst>
              <a:ext uri="{FF2B5EF4-FFF2-40B4-BE49-F238E27FC236}">
                <a16:creationId xmlns:a16="http://schemas.microsoft.com/office/drawing/2014/main" id="{B01543AD-AA51-439E-9E6E-B06212223F1F}"/>
              </a:ext>
            </a:extLst>
          </p:cNvPr>
          <p:cNvSpPr>
            <a:spLocks noGrp="1"/>
          </p:cNvSpPr>
          <p:nvPr/>
        </p:nvSpPr>
        <p:spPr>
          <a:xfrm>
            <a:off x="695325" y="3048000"/>
            <a:ext cx="1143000" cy="361950"/>
          </a:xfrm>
          <a:prstGeom prst="rect">
            <a:avLst/>
          </a:prstGeom>
          <a:noFill/>
          <a:ln w="0">
            <a:noFill/>
            <a:prstDash val="solid"/>
          </a:ln>
        </p:spPr>
        <p:txBody>
          <a:bodyPr wrap="square" lIns="0" tIns="0" rIns="0" bIns="0" anchor="ctr">
            <a:normAutofit/>
          </a:bodyPr>
          <a:lstStyle/>
          <a:p>
            <a:pPr algn="l">
              <a:lnSpc>
                <a:spcPct val="112000"/>
              </a:lnSpc>
              <a:buNone/>
              <a:defRPr sz="1650" b="1">
                <a:solidFill>
                  <a:srgbClr val="0F172A"/>
                </a:solidFill>
                <a:latin typeface="Inter"/>
                <a:ea typeface="Inter"/>
                <a:cs typeface="Inter"/>
              </a:defRPr>
            </a:pPr>
            <a:r>
              <a:rPr sz="1650" b="1">
                <a:solidFill>
                  <a:srgbClr val="0F172A"/>
                </a:solidFill>
                <a:latin typeface="Inter"/>
                <a:ea typeface="Inter"/>
                <a:cs typeface="Inter"/>
              </a:rPr>
              <a:t>Discover</a:t>
            </a:r>
          </a:p>
        </p:txBody>
      </p:sp>
      <p:sp>
        <p:nvSpPr>
          <p:cNvPr id="58" name="step-body-1">
            <a:extLst>
              <a:ext uri="{FF2B5EF4-FFF2-40B4-BE49-F238E27FC236}">
                <a16:creationId xmlns:a16="http://schemas.microsoft.com/office/drawing/2014/main" id="{AE843F6F-387B-4149-9367-4CA4AD41AE5C}"/>
              </a:ext>
            </a:extLst>
          </p:cNvPr>
          <p:cNvSpPr>
            <a:spLocks noGrp="1"/>
          </p:cNvSpPr>
          <p:nvPr/>
        </p:nvSpPr>
        <p:spPr>
          <a:xfrm>
            <a:off x="695325" y="3524250"/>
            <a:ext cx="1143000" cy="781050"/>
          </a:xfrm>
          <a:prstGeom prst="rect">
            <a:avLst/>
          </a:prstGeom>
          <a:noFill/>
          <a:ln w="0">
            <a:noFill/>
            <a:prstDash val="solid"/>
          </a:ln>
        </p:spPr>
        <p:txBody>
          <a:bodyPr wrap="square" lIns="0" tIns="0" rIns="0" bIns="0" anchor="ctr">
            <a:normAutofit/>
          </a:bodyPr>
          <a:lstStyle/>
          <a:p>
            <a:pPr algn="l">
              <a:lnSpc>
                <a:spcPct val="118000"/>
              </a:lnSpc>
              <a:buNone/>
              <a:defRPr sz="1275" b="0">
                <a:solidFill>
                  <a:srgbClr val="64748B"/>
                </a:solidFill>
                <a:latin typeface="Inter"/>
                <a:ea typeface="Inter"/>
                <a:cs typeface="Inter"/>
              </a:defRPr>
            </a:pPr>
            <a:r>
              <a:rPr sz="1275" b="0">
                <a:solidFill>
                  <a:srgbClr val="64748B"/>
                </a:solidFill>
                <a:latin typeface="Inter"/>
                <a:ea typeface="Inter"/>
                <a:cs typeface="Inter"/>
              </a:rPr>
              <a:t>Find SG companies that fit the ICP</a:t>
            </a:r>
          </a:p>
        </p:txBody>
      </p:sp>
      <p:sp>
        <p:nvSpPr>
          <p:cNvPr id="59" name="step-card-2">
            <a:extLst>
              <a:ext uri="{FF2B5EF4-FFF2-40B4-BE49-F238E27FC236}">
                <a16:creationId xmlns:a16="http://schemas.microsoft.com/office/drawing/2014/main" id="{CE510E3E-CDEC-433B-8C03-65CF7EF6D4B0}"/>
              </a:ext>
            </a:extLst>
          </p:cNvPr>
          <p:cNvSpPr>
            <a:spLocks noGrp="1"/>
          </p:cNvSpPr>
          <p:nvPr/>
        </p:nvSpPr>
        <p:spPr>
          <a:xfrm>
            <a:off x="2181225" y="2305050"/>
            <a:ext cx="1485900" cy="2209800"/>
          </a:xfrm>
          <a:prstGeom prst="roundRect">
            <a:avLst>
              <a:gd name="adj" fmla="val 12821"/>
            </a:avLst>
          </a:prstGeom>
          <a:solidFill>
            <a:srgbClr val="F7EEFB"/>
          </a:solidFill>
          <a:ln w="9525">
            <a:solidFill>
              <a:srgbClr val="FFFFFF">
                <a:alpha val="60000"/>
              </a:srgbClr>
            </a:solidFill>
            <a:prstDash val="solid"/>
          </a:ln>
        </p:spPr>
        <p:style>
          <a:lnRef idx="0">
            <a:scrgbClr r="0" g="0" b="0"/>
          </a:lnRef>
          <a:fillRef idx="0">
            <a:scrgbClr r="0" g="0" b="0"/>
          </a:fillRef>
          <a:effectRef idx="4">
            <a:scrgbClr r="0" g="0" b="0"/>
          </a:effectRef>
          <a:fontRef idx="major"/>
        </p:style>
        <p:txBody>
          <a:bodyPr/>
          <a:lstStyle/>
          <a:p>
            <a:endParaRPr lang="en-SG"/>
          </a:p>
        </p:txBody>
      </p:sp>
      <p:sp>
        <p:nvSpPr>
          <p:cNvPr id="60" name="number-2">
            <a:extLst>
              <a:ext uri="{FF2B5EF4-FFF2-40B4-BE49-F238E27FC236}">
                <a16:creationId xmlns:a16="http://schemas.microsoft.com/office/drawing/2014/main" id="{57A34E41-AA5D-4A93-9908-76CFAD747C4E}"/>
              </a:ext>
            </a:extLst>
          </p:cNvPr>
          <p:cNvSpPr>
            <a:spLocks noGrp="1"/>
          </p:cNvSpPr>
          <p:nvPr/>
        </p:nvSpPr>
        <p:spPr>
          <a:xfrm>
            <a:off x="2352675" y="2495550"/>
            <a:ext cx="361950" cy="361950"/>
          </a:xfrm>
          <a:prstGeom prst="ellipse">
            <a:avLst/>
          </a:prstGeom>
          <a:solidFill>
            <a:srgbClr val="0F172A"/>
          </a:solidFill>
          <a:ln w="0">
            <a:noFill/>
            <a:prstDash val="solid"/>
          </a:ln>
        </p:spPr>
        <p:txBody>
          <a:bodyPr lIns="0" tIns="0" rIns="0" bIns="0" anchor="ctr"/>
          <a:lstStyle/>
          <a:p>
            <a:pPr algn="ctr">
              <a:defRPr sz="1350" b="1">
                <a:solidFill>
                  <a:srgbClr val="FFFFFF"/>
                </a:solidFill>
                <a:latin typeface="Inter"/>
                <a:ea typeface="Inter"/>
                <a:cs typeface="Inter"/>
              </a:defRPr>
            </a:pPr>
            <a:r>
              <a:rPr sz="1350" b="1">
                <a:solidFill>
                  <a:srgbClr val="FFFFFF"/>
                </a:solidFill>
                <a:latin typeface="Inter"/>
                <a:ea typeface="Inter"/>
                <a:cs typeface="Inter"/>
              </a:rPr>
              <a:t>2</a:t>
            </a:r>
          </a:p>
        </p:txBody>
      </p:sp>
      <p:sp>
        <p:nvSpPr>
          <p:cNvPr id="61" name="step-title-2">
            <a:extLst>
              <a:ext uri="{FF2B5EF4-FFF2-40B4-BE49-F238E27FC236}">
                <a16:creationId xmlns:a16="http://schemas.microsoft.com/office/drawing/2014/main" id="{4444D6FF-C522-424F-87F4-4CE376CE62E5}"/>
              </a:ext>
            </a:extLst>
          </p:cNvPr>
          <p:cNvSpPr>
            <a:spLocks noGrp="1"/>
          </p:cNvSpPr>
          <p:nvPr/>
        </p:nvSpPr>
        <p:spPr>
          <a:xfrm>
            <a:off x="2352675" y="3048000"/>
            <a:ext cx="1143000" cy="361950"/>
          </a:xfrm>
          <a:prstGeom prst="rect">
            <a:avLst/>
          </a:prstGeom>
          <a:noFill/>
          <a:ln w="0">
            <a:noFill/>
            <a:prstDash val="solid"/>
          </a:ln>
        </p:spPr>
        <p:txBody>
          <a:bodyPr wrap="square" lIns="0" tIns="0" rIns="0" bIns="0" anchor="ctr">
            <a:normAutofit/>
          </a:bodyPr>
          <a:lstStyle/>
          <a:p>
            <a:pPr algn="l">
              <a:lnSpc>
                <a:spcPct val="112000"/>
              </a:lnSpc>
              <a:buNone/>
              <a:defRPr sz="1650" b="1">
                <a:solidFill>
                  <a:srgbClr val="0F172A"/>
                </a:solidFill>
                <a:latin typeface="Inter"/>
                <a:ea typeface="Inter"/>
                <a:cs typeface="Inter"/>
              </a:defRPr>
            </a:pPr>
            <a:r>
              <a:rPr sz="1650" b="1">
                <a:solidFill>
                  <a:srgbClr val="0F172A"/>
                </a:solidFill>
                <a:latin typeface="Inter"/>
                <a:ea typeface="Inter"/>
                <a:cs typeface="Inter"/>
              </a:rPr>
              <a:t>Research</a:t>
            </a:r>
          </a:p>
        </p:txBody>
      </p:sp>
      <p:sp>
        <p:nvSpPr>
          <p:cNvPr id="62" name="step-body-2">
            <a:extLst>
              <a:ext uri="{FF2B5EF4-FFF2-40B4-BE49-F238E27FC236}">
                <a16:creationId xmlns:a16="http://schemas.microsoft.com/office/drawing/2014/main" id="{EA003043-FE6A-424B-8FEF-48CD9AA76C6B}"/>
              </a:ext>
            </a:extLst>
          </p:cNvPr>
          <p:cNvSpPr>
            <a:spLocks noGrp="1"/>
          </p:cNvSpPr>
          <p:nvPr/>
        </p:nvSpPr>
        <p:spPr>
          <a:xfrm>
            <a:off x="2352675" y="3524250"/>
            <a:ext cx="1143000" cy="781050"/>
          </a:xfrm>
          <a:prstGeom prst="rect">
            <a:avLst/>
          </a:prstGeom>
          <a:noFill/>
          <a:ln w="0">
            <a:noFill/>
            <a:prstDash val="solid"/>
          </a:ln>
        </p:spPr>
        <p:txBody>
          <a:bodyPr wrap="square" lIns="0" tIns="0" rIns="0" bIns="0" anchor="ctr">
            <a:normAutofit/>
          </a:bodyPr>
          <a:lstStyle/>
          <a:p>
            <a:pPr algn="l">
              <a:lnSpc>
                <a:spcPct val="118000"/>
              </a:lnSpc>
              <a:buNone/>
              <a:defRPr sz="1275" b="0">
                <a:solidFill>
                  <a:srgbClr val="64748B"/>
                </a:solidFill>
                <a:latin typeface="Inter"/>
                <a:ea typeface="Inter"/>
                <a:cs typeface="Inter"/>
              </a:defRPr>
            </a:pPr>
            <a:r>
              <a:rPr sz="1275" b="0">
                <a:solidFill>
                  <a:srgbClr val="64748B"/>
                </a:solidFill>
                <a:latin typeface="Inter"/>
                <a:ea typeface="Inter"/>
                <a:cs typeface="Inter"/>
              </a:rPr>
              <a:t>Pull recent public activity and evidence</a:t>
            </a:r>
          </a:p>
        </p:txBody>
      </p:sp>
      <p:sp>
        <p:nvSpPr>
          <p:cNvPr id="63" name="step-card-3">
            <a:extLst>
              <a:ext uri="{FF2B5EF4-FFF2-40B4-BE49-F238E27FC236}">
                <a16:creationId xmlns:a16="http://schemas.microsoft.com/office/drawing/2014/main" id="{EAE27D79-0506-4A37-8119-ED367A0FBE45}"/>
              </a:ext>
            </a:extLst>
          </p:cNvPr>
          <p:cNvSpPr>
            <a:spLocks noGrp="1"/>
          </p:cNvSpPr>
          <p:nvPr/>
        </p:nvSpPr>
        <p:spPr>
          <a:xfrm>
            <a:off x="3838575" y="2305050"/>
            <a:ext cx="1485900" cy="2209800"/>
          </a:xfrm>
          <a:prstGeom prst="roundRect">
            <a:avLst>
              <a:gd name="adj" fmla="val 12821"/>
            </a:avLst>
          </a:prstGeom>
          <a:solidFill>
            <a:srgbClr val="EEF3FF"/>
          </a:solidFill>
          <a:ln w="9525">
            <a:solidFill>
              <a:srgbClr val="FFFFFF">
                <a:alpha val="60000"/>
              </a:srgbClr>
            </a:solidFill>
            <a:prstDash val="solid"/>
          </a:ln>
        </p:spPr>
        <p:style>
          <a:lnRef idx="0">
            <a:scrgbClr r="0" g="0" b="0"/>
          </a:lnRef>
          <a:fillRef idx="0">
            <a:scrgbClr r="0" g="0" b="0"/>
          </a:fillRef>
          <a:effectRef idx="4">
            <a:scrgbClr r="0" g="0" b="0"/>
          </a:effectRef>
          <a:fontRef idx="major"/>
        </p:style>
        <p:txBody>
          <a:bodyPr/>
          <a:lstStyle/>
          <a:p>
            <a:endParaRPr lang="en-SG"/>
          </a:p>
        </p:txBody>
      </p:sp>
      <p:sp>
        <p:nvSpPr>
          <p:cNvPr id="64" name="number-3">
            <a:extLst>
              <a:ext uri="{FF2B5EF4-FFF2-40B4-BE49-F238E27FC236}">
                <a16:creationId xmlns:a16="http://schemas.microsoft.com/office/drawing/2014/main" id="{5F537505-6662-468D-BD87-D7873B057447}"/>
              </a:ext>
            </a:extLst>
          </p:cNvPr>
          <p:cNvSpPr>
            <a:spLocks noGrp="1"/>
          </p:cNvSpPr>
          <p:nvPr/>
        </p:nvSpPr>
        <p:spPr>
          <a:xfrm>
            <a:off x="4010025" y="2495550"/>
            <a:ext cx="361950" cy="361950"/>
          </a:xfrm>
          <a:prstGeom prst="ellipse">
            <a:avLst/>
          </a:prstGeom>
          <a:solidFill>
            <a:srgbClr val="0F172A"/>
          </a:solidFill>
          <a:ln w="0">
            <a:noFill/>
            <a:prstDash val="solid"/>
          </a:ln>
        </p:spPr>
        <p:txBody>
          <a:bodyPr lIns="0" tIns="0" rIns="0" bIns="0" anchor="ctr"/>
          <a:lstStyle/>
          <a:p>
            <a:pPr algn="ctr">
              <a:defRPr sz="1350" b="1">
                <a:solidFill>
                  <a:srgbClr val="FFFFFF"/>
                </a:solidFill>
                <a:latin typeface="Inter"/>
                <a:ea typeface="Inter"/>
                <a:cs typeface="Inter"/>
              </a:defRPr>
            </a:pPr>
            <a:r>
              <a:rPr sz="1350" b="1">
                <a:solidFill>
                  <a:srgbClr val="FFFFFF"/>
                </a:solidFill>
                <a:latin typeface="Inter"/>
                <a:ea typeface="Inter"/>
                <a:cs typeface="Inter"/>
              </a:rPr>
              <a:t>3</a:t>
            </a:r>
          </a:p>
        </p:txBody>
      </p:sp>
      <p:sp>
        <p:nvSpPr>
          <p:cNvPr id="65" name="step-title-3">
            <a:extLst>
              <a:ext uri="{FF2B5EF4-FFF2-40B4-BE49-F238E27FC236}">
                <a16:creationId xmlns:a16="http://schemas.microsoft.com/office/drawing/2014/main" id="{D42C06D2-5665-443E-A145-FC11388E9811}"/>
              </a:ext>
            </a:extLst>
          </p:cNvPr>
          <p:cNvSpPr>
            <a:spLocks noGrp="1"/>
          </p:cNvSpPr>
          <p:nvPr/>
        </p:nvSpPr>
        <p:spPr>
          <a:xfrm>
            <a:off x="4010025" y="3048000"/>
            <a:ext cx="1143000" cy="361950"/>
          </a:xfrm>
          <a:prstGeom prst="rect">
            <a:avLst/>
          </a:prstGeom>
          <a:noFill/>
          <a:ln w="0">
            <a:noFill/>
            <a:prstDash val="solid"/>
          </a:ln>
        </p:spPr>
        <p:txBody>
          <a:bodyPr wrap="square" lIns="0" tIns="0" rIns="0" bIns="0" anchor="ctr">
            <a:normAutofit/>
          </a:bodyPr>
          <a:lstStyle/>
          <a:p>
            <a:pPr algn="l">
              <a:lnSpc>
                <a:spcPct val="112000"/>
              </a:lnSpc>
              <a:buNone/>
              <a:defRPr sz="1650" b="1">
                <a:solidFill>
                  <a:srgbClr val="0F172A"/>
                </a:solidFill>
                <a:latin typeface="Inter"/>
                <a:ea typeface="Inter"/>
                <a:cs typeface="Inter"/>
              </a:defRPr>
            </a:pPr>
            <a:r>
              <a:rPr sz="1650" b="1">
                <a:solidFill>
                  <a:srgbClr val="0F172A"/>
                </a:solidFill>
                <a:latin typeface="Inter"/>
                <a:ea typeface="Inter"/>
                <a:cs typeface="Inter"/>
              </a:rPr>
              <a:t>Score</a:t>
            </a:r>
          </a:p>
        </p:txBody>
      </p:sp>
      <p:sp>
        <p:nvSpPr>
          <p:cNvPr id="66" name="step-body-3">
            <a:extLst>
              <a:ext uri="{FF2B5EF4-FFF2-40B4-BE49-F238E27FC236}">
                <a16:creationId xmlns:a16="http://schemas.microsoft.com/office/drawing/2014/main" id="{266795B5-94DB-4CAB-9069-94DEA6D8729B}"/>
              </a:ext>
            </a:extLst>
          </p:cNvPr>
          <p:cNvSpPr>
            <a:spLocks noGrp="1"/>
          </p:cNvSpPr>
          <p:nvPr/>
        </p:nvSpPr>
        <p:spPr>
          <a:xfrm>
            <a:off x="4010025" y="3524250"/>
            <a:ext cx="1143000" cy="781050"/>
          </a:xfrm>
          <a:prstGeom prst="rect">
            <a:avLst/>
          </a:prstGeom>
          <a:noFill/>
          <a:ln w="0">
            <a:noFill/>
            <a:prstDash val="solid"/>
          </a:ln>
        </p:spPr>
        <p:txBody>
          <a:bodyPr wrap="square" lIns="0" tIns="0" rIns="0" bIns="0" anchor="ctr">
            <a:normAutofit fontScale="94203"/>
          </a:bodyPr>
          <a:lstStyle/>
          <a:p>
            <a:pPr algn="l">
              <a:lnSpc>
                <a:spcPct val="118000"/>
              </a:lnSpc>
              <a:buNone/>
              <a:defRPr sz="1275" b="0">
                <a:solidFill>
                  <a:srgbClr val="64748B"/>
                </a:solidFill>
                <a:latin typeface="Inter"/>
                <a:ea typeface="Inter"/>
                <a:cs typeface="Inter"/>
              </a:defRPr>
            </a:pPr>
            <a:r>
              <a:rPr sz="1275" b="0">
                <a:solidFill>
                  <a:srgbClr val="64748B"/>
                </a:solidFill>
                <a:latin typeface="Inter"/>
                <a:ea typeface="Inter"/>
                <a:cs typeface="Inter"/>
              </a:rPr>
              <a:t>Explain the fit with a transparent reason</a:t>
            </a:r>
          </a:p>
        </p:txBody>
      </p:sp>
      <p:sp>
        <p:nvSpPr>
          <p:cNvPr id="67" name="step-card-4">
            <a:extLst>
              <a:ext uri="{FF2B5EF4-FFF2-40B4-BE49-F238E27FC236}">
                <a16:creationId xmlns:a16="http://schemas.microsoft.com/office/drawing/2014/main" id="{AF4F94B0-7563-42E3-B2AA-7BD0B49CDD0C}"/>
              </a:ext>
            </a:extLst>
          </p:cNvPr>
          <p:cNvSpPr>
            <a:spLocks noGrp="1"/>
          </p:cNvSpPr>
          <p:nvPr/>
        </p:nvSpPr>
        <p:spPr>
          <a:xfrm>
            <a:off x="5495925" y="2305050"/>
            <a:ext cx="1485900" cy="2209800"/>
          </a:xfrm>
          <a:prstGeom prst="roundRect">
            <a:avLst>
              <a:gd name="adj" fmla="val 12821"/>
            </a:avLst>
          </a:prstGeom>
          <a:solidFill>
            <a:srgbClr val="FFF7E6"/>
          </a:solidFill>
          <a:ln w="9525">
            <a:solidFill>
              <a:srgbClr val="FFFFFF">
                <a:alpha val="60000"/>
              </a:srgbClr>
            </a:solidFill>
            <a:prstDash val="solid"/>
          </a:ln>
        </p:spPr>
        <p:style>
          <a:lnRef idx="0">
            <a:scrgbClr r="0" g="0" b="0"/>
          </a:lnRef>
          <a:fillRef idx="0">
            <a:scrgbClr r="0" g="0" b="0"/>
          </a:fillRef>
          <a:effectRef idx="4">
            <a:scrgbClr r="0" g="0" b="0"/>
          </a:effectRef>
          <a:fontRef idx="major"/>
        </p:style>
        <p:txBody>
          <a:bodyPr/>
          <a:lstStyle/>
          <a:p>
            <a:endParaRPr lang="en-SG"/>
          </a:p>
        </p:txBody>
      </p:sp>
      <p:sp>
        <p:nvSpPr>
          <p:cNvPr id="68" name="number-4">
            <a:extLst>
              <a:ext uri="{FF2B5EF4-FFF2-40B4-BE49-F238E27FC236}">
                <a16:creationId xmlns:a16="http://schemas.microsoft.com/office/drawing/2014/main" id="{7E8EF4E7-035F-4E57-8532-7EC159932EF2}"/>
              </a:ext>
            </a:extLst>
          </p:cNvPr>
          <p:cNvSpPr>
            <a:spLocks noGrp="1"/>
          </p:cNvSpPr>
          <p:nvPr/>
        </p:nvSpPr>
        <p:spPr>
          <a:xfrm>
            <a:off x="5667375" y="2495550"/>
            <a:ext cx="361950" cy="361950"/>
          </a:xfrm>
          <a:prstGeom prst="ellipse">
            <a:avLst/>
          </a:prstGeom>
          <a:solidFill>
            <a:srgbClr val="0F172A"/>
          </a:solidFill>
          <a:ln w="0">
            <a:noFill/>
            <a:prstDash val="solid"/>
          </a:ln>
        </p:spPr>
        <p:txBody>
          <a:bodyPr lIns="0" tIns="0" rIns="0" bIns="0" anchor="ctr"/>
          <a:lstStyle/>
          <a:p>
            <a:pPr algn="ctr">
              <a:defRPr sz="1350" b="1">
                <a:solidFill>
                  <a:srgbClr val="FFFFFF"/>
                </a:solidFill>
                <a:latin typeface="Inter"/>
                <a:ea typeface="Inter"/>
                <a:cs typeface="Inter"/>
              </a:defRPr>
            </a:pPr>
            <a:r>
              <a:rPr sz="1350" b="1">
                <a:solidFill>
                  <a:srgbClr val="FFFFFF"/>
                </a:solidFill>
                <a:latin typeface="Inter"/>
                <a:ea typeface="Inter"/>
                <a:cs typeface="Inter"/>
              </a:rPr>
              <a:t>4</a:t>
            </a:r>
          </a:p>
        </p:txBody>
      </p:sp>
      <p:sp>
        <p:nvSpPr>
          <p:cNvPr id="69" name="step-title-4">
            <a:extLst>
              <a:ext uri="{FF2B5EF4-FFF2-40B4-BE49-F238E27FC236}">
                <a16:creationId xmlns:a16="http://schemas.microsoft.com/office/drawing/2014/main" id="{BD0472C1-ABDA-4421-8783-407F92026621}"/>
              </a:ext>
            </a:extLst>
          </p:cNvPr>
          <p:cNvSpPr>
            <a:spLocks noGrp="1"/>
          </p:cNvSpPr>
          <p:nvPr/>
        </p:nvSpPr>
        <p:spPr>
          <a:xfrm>
            <a:off x="5667375" y="3048000"/>
            <a:ext cx="1143000" cy="361950"/>
          </a:xfrm>
          <a:prstGeom prst="rect">
            <a:avLst/>
          </a:prstGeom>
          <a:noFill/>
          <a:ln w="0">
            <a:noFill/>
            <a:prstDash val="solid"/>
          </a:ln>
        </p:spPr>
        <p:txBody>
          <a:bodyPr wrap="square" lIns="0" tIns="0" rIns="0" bIns="0" anchor="ctr">
            <a:normAutofit/>
          </a:bodyPr>
          <a:lstStyle/>
          <a:p>
            <a:pPr algn="l">
              <a:lnSpc>
                <a:spcPct val="112000"/>
              </a:lnSpc>
              <a:buNone/>
              <a:defRPr sz="1650" b="1">
                <a:solidFill>
                  <a:srgbClr val="0F172A"/>
                </a:solidFill>
                <a:latin typeface="Inter"/>
                <a:ea typeface="Inter"/>
                <a:cs typeface="Inter"/>
              </a:defRPr>
            </a:pPr>
            <a:r>
              <a:rPr sz="1650" b="1">
                <a:solidFill>
                  <a:srgbClr val="0F172A"/>
                </a:solidFill>
                <a:latin typeface="Inter"/>
                <a:ea typeface="Inter"/>
                <a:cs typeface="Inter"/>
              </a:rPr>
              <a:t>Draft</a:t>
            </a:r>
          </a:p>
        </p:txBody>
      </p:sp>
      <p:sp>
        <p:nvSpPr>
          <p:cNvPr id="70" name="step-body-4">
            <a:extLst>
              <a:ext uri="{FF2B5EF4-FFF2-40B4-BE49-F238E27FC236}">
                <a16:creationId xmlns:a16="http://schemas.microsoft.com/office/drawing/2014/main" id="{38F4AD8D-185C-4AAA-8FCA-A962B67D44D0}"/>
              </a:ext>
            </a:extLst>
          </p:cNvPr>
          <p:cNvSpPr>
            <a:spLocks noGrp="1"/>
          </p:cNvSpPr>
          <p:nvPr/>
        </p:nvSpPr>
        <p:spPr>
          <a:xfrm>
            <a:off x="5667375" y="3524250"/>
            <a:ext cx="1143000" cy="781050"/>
          </a:xfrm>
          <a:prstGeom prst="rect">
            <a:avLst/>
          </a:prstGeom>
          <a:noFill/>
          <a:ln w="0">
            <a:noFill/>
            <a:prstDash val="solid"/>
          </a:ln>
        </p:spPr>
        <p:txBody>
          <a:bodyPr wrap="square" lIns="0" tIns="0" rIns="0" bIns="0" anchor="ctr">
            <a:normAutofit/>
          </a:bodyPr>
          <a:lstStyle/>
          <a:p>
            <a:pPr algn="l">
              <a:lnSpc>
                <a:spcPct val="118000"/>
              </a:lnSpc>
              <a:buNone/>
              <a:defRPr sz="1275" b="0">
                <a:solidFill>
                  <a:srgbClr val="64748B"/>
                </a:solidFill>
                <a:latin typeface="Inter"/>
                <a:ea typeface="Inter"/>
                <a:cs typeface="Inter"/>
              </a:defRPr>
            </a:pPr>
            <a:r>
              <a:rPr sz="1275" b="0">
                <a:solidFill>
                  <a:srgbClr val="64748B"/>
                </a:solidFill>
                <a:latin typeface="Inter"/>
                <a:ea typeface="Inter"/>
                <a:cs typeface="Inter"/>
              </a:rPr>
              <a:t>Use one sourced observation and one ask</a:t>
            </a:r>
          </a:p>
        </p:txBody>
      </p:sp>
      <p:sp>
        <p:nvSpPr>
          <p:cNvPr id="71" name="step-card-5">
            <a:extLst>
              <a:ext uri="{FF2B5EF4-FFF2-40B4-BE49-F238E27FC236}">
                <a16:creationId xmlns:a16="http://schemas.microsoft.com/office/drawing/2014/main" id="{F32DB2A2-8DA7-4C92-AF72-D996FBBBDC56}"/>
              </a:ext>
            </a:extLst>
          </p:cNvPr>
          <p:cNvSpPr>
            <a:spLocks noGrp="1"/>
          </p:cNvSpPr>
          <p:nvPr/>
        </p:nvSpPr>
        <p:spPr>
          <a:xfrm>
            <a:off x="7153275" y="2305050"/>
            <a:ext cx="1485900" cy="2209800"/>
          </a:xfrm>
          <a:prstGeom prst="roundRect">
            <a:avLst>
              <a:gd name="adj" fmla="val 12821"/>
            </a:avLst>
          </a:prstGeom>
          <a:solidFill>
            <a:srgbClr val="F7EEFB"/>
          </a:solidFill>
          <a:ln w="9525">
            <a:solidFill>
              <a:srgbClr val="FFFFFF">
                <a:alpha val="60000"/>
              </a:srgbClr>
            </a:solidFill>
            <a:prstDash val="solid"/>
          </a:ln>
        </p:spPr>
        <p:style>
          <a:lnRef idx="0">
            <a:scrgbClr r="0" g="0" b="0"/>
          </a:lnRef>
          <a:fillRef idx="0">
            <a:scrgbClr r="0" g="0" b="0"/>
          </a:fillRef>
          <a:effectRef idx="4">
            <a:scrgbClr r="0" g="0" b="0"/>
          </a:effectRef>
          <a:fontRef idx="major"/>
        </p:style>
        <p:txBody>
          <a:bodyPr/>
          <a:lstStyle/>
          <a:p>
            <a:endParaRPr lang="en-SG"/>
          </a:p>
        </p:txBody>
      </p:sp>
      <p:sp>
        <p:nvSpPr>
          <p:cNvPr id="72" name="number-5">
            <a:extLst>
              <a:ext uri="{FF2B5EF4-FFF2-40B4-BE49-F238E27FC236}">
                <a16:creationId xmlns:a16="http://schemas.microsoft.com/office/drawing/2014/main" id="{2C6F0817-54A8-42F5-A43A-08672615BA25}"/>
              </a:ext>
            </a:extLst>
          </p:cNvPr>
          <p:cNvSpPr>
            <a:spLocks noGrp="1"/>
          </p:cNvSpPr>
          <p:nvPr/>
        </p:nvSpPr>
        <p:spPr>
          <a:xfrm>
            <a:off x="7324725" y="2495550"/>
            <a:ext cx="361950" cy="361950"/>
          </a:xfrm>
          <a:prstGeom prst="ellipse">
            <a:avLst/>
          </a:prstGeom>
          <a:solidFill>
            <a:srgbClr val="7C5CFC"/>
          </a:solidFill>
          <a:ln w="0">
            <a:noFill/>
            <a:prstDash val="solid"/>
          </a:ln>
        </p:spPr>
        <p:txBody>
          <a:bodyPr lIns="0" tIns="0" rIns="0" bIns="0" anchor="ctr"/>
          <a:lstStyle/>
          <a:p>
            <a:pPr algn="ctr">
              <a:defRPr sz="1350" b="1">
                <a:solidFill>
                  <a:srgbClr val="FFFFFF"/>
                </a:solidFill>
                <a:latin typeface="Inter"/>
                <a:ea typeface="Inter"/>
                <a:cs typeface="Inter"/>
              </a:defRPr>
            </a:pPr>
            <a:r>
              <a:rPr sz="1350" b="1">
                <a:solidFill>
                  <a:srgbClr val="FFFFFF"/>
                </a:solidFill>
                <a:latin typeface="Inter"/>
                <a:ea typeface="Inter"/>
                <a:cs typeface="Inter"/>
              </a:rPr>
              <a:t>5</a:t>
            </a:r>
          </a:p>
        </p:txBody>
      </p:sp>
      <p:sp>
        <p:nvSpPr>
          <p:cNvPr id="73" name="step-title-5">
            <a:extLst>
              <a:ext uri="{FF2B5EF4-FFF2-40B4-BE49-F238E27FC236}">
                <a16:creationId xmlns:a16="http://schemas.microsoft.com/office/drawing/2014/main" id="{F060EA59-D6C5-46E3-B030-3DA5E53E64A2}"/>
              </a:ext>
            </a:extLst>
          </p:cNvPr>
          <p:cNvSpPr>
            <a:spLocks noGrp="1"/>
          </p:cNvSpPr>
          <p:nvPr/>
        </p:nvSpPr>
        <p:spPr>
          <a:xfrm>
            <a:off x="7324725" y="3048000"/>
            <a:ext cx="1143000" cy="361950"/>
          </a:xfrm>
          <a:prstGeom prst="rect">
            <a:avLst/>
          </a:prstGeom>
          <a:noFill/>
          <a:ln w="0">
            <a:noFill/>
            <a:prstDash val="solid"/>
          </a:ln>
        </p:spPr>
        <p:txBody>
          <a:bodyPr wrap="square" lIns="0" tIns="0" rIns="0" bIns="0" anchor="ctr">
            <a:normAutofit/>
          </a:bodyPr>
          <a:lstStyle/>
          <a:p>
            <a:pPr algn="l">
              <a:lnSpc>
                <a:spcPct val="112000"/>
              </a:lnSpc>
              <a:buNone/>
              <a:defRPr sz="1650" b="1">
                <a:solidFill>
                  <a:srgbClr val="0F172A"/>
                </a:solidFill>
                <a:latin typeface="Inter"/>
                <a:ea typeface="Inter"/>
                <a:cs typeface="Inter"/>
              </a:defRPr>
            </a:pPr>
            <a:r>
              <a:rPr sz="1650" b="1">
                <a:solidFill>
                  <a:srgbClr val="0F172A"/>
                </a:solidFill>
                <a:latin typeface="Inter"/>
                <a:ea typeface="Inter"/>
                <a:cs typeface="Inter"/>
              </a:rPr>
              <a:t>Send</a:t>
            </a:r>
          </a:p>
        </p:txBody>
      </p:sp>
      <p:sp>
        <p:nvSpPr>
          <p:cNvPr id="74" name="step-body-5">
            <a:extLst>
              <a:ext uri="{FF2B5EF4-FFF2-40B4-BE49-F238E27FC236}">
                <a16:creationId xmlns:a16="http://schemas.microsoft.com/office/drawing/2014/main" id="{BD6015A6-9ACE-476E-AA65-8899D431396E}"/>
              </a:ext>
            </a:extLst>
          </p:cNvPr>
          <p:cNvSpPr>
            <a:spLocks noGrp="1"/>
          </p:cNvSpPr>
          <p:nvPr/>
        </p:nvSpPr>
        <p:spPr>
          <a:xfrm>
            <a:off x="7324725" y="3524250"/>
            <a:ext cx="1143000" cy="781050"/>
          </a:xfrm>
          <a:prstGeom prst="rect">
            <a:avLst/>
          </a:prstGeom>
          <a:noFill/>
          <a:ln w="0">
            <a:noFill/>
            <a:prstDash val="solid"/>
          </a:ln>
        </p:spPr>
        <p:txBody>
          <a:bodyPr wrap="square" lIns="0" tIns="0" rIns="0" bIns="0" anchor="ctr">
            <a:normAutofit/>
          </a:bodyPr>
          <a:lstStyle/>
          <a:p>
            <a:pPr algn="l">
              <a:lnSpc>
                <a:spcPct val="118000"/>
              </a:lnSpc>
              <a:buNone/>
              <a:defRPr sz="1275" b="0">
                <a:solidFill>
                  <a:srgbClr val="64748B"/>
                </a:solidFill>
                <a:latin typeface="Inter"/>
                <a:ea typeface="Inter"/>
                <a:cs typeface="Inter"/>
              </a:defRPr>
            </a:pPr>
            <a:r>
              <a:rPr sz="1275" b="0">
                <a:solidFill>
                  <a:srgbClr val="64748B"/>
                </a:solidFill>
                <a:latin typeface="Inter"/>
                <a:ea typeface="Inter"/>
                <a:cs typeface="Inter"/>
              </a:rPr>
              <a:t>Approve it—or let the agent send</a:t>
            </a:r>
          </a:p>
        </p:txBody>
      </p:sp>
      <p:sp>
        <p:nvSpPr>
          <p:cNvPr id="75" name="step-card-6">
            <a:extLst>
              <a:ext uri="{FF2B5EF4-FFF2-40B4-BE49-F238E27FC236}">
                <a16:creationId xmlns:a16="http://schemas.microsoft.com/office/drawing/2014/main" id="{E70D79A5-FD85-4551-9378-F0D740913588}"/>
              </a:ext>
            </a:extLst>
          </p:cNvPr>
          <p:cNvSpPr>
            <a:spLocks noGrp="1"/>
          </p:cNvSpPr>
          <p:nvPr/>
        </p:nvSpPr>
        <p:spPr>
          <a:xfrm>
            <a:off x="8810625" y="2305050"/>
            <a:ext cx="1485900" cy="2209800"/>
          </a:xfrm>
          <a:prstGeom prst="roundRect">
            <a:avLst>
              <a:gd name="adj" fmla="val 12821"/>
            </a:avLst>
          </a:prstGeom>
          <a:solidFill>
            <a:srgbClr val="EEF3FF"/>
          </a:solidFill>
          <a:ln w="9525">
            <a:solidFill>
              <a:srgbClr val="FFFFFF">
                <a:alpha val="60000"/>
              </a:srgbClr>
            </a:solidFill>
            <a:prstDash val="solid"/>
          </a:ln>
        </p:spPr>
        <p:style>
          <a:lnRef idx="0">
            <a:scrgbClr r="0" g="0" b="0"/>
          </a:lnRef>
          <a:fillRef idx="0">
            <a:scrgbClr r="0" g="0" b="0"/>
          </a:fillRef>
          <a:effectRef idx="4">
            <a:scrgbClr r="0" g="0" b="0"/>
          </a:effectRef>
          <a:fontRef idx="major"/>
        </p:style>
        <p:txBody>
          <a:bodyPr/>
          <a:lstStyle/>
          <a:p>
            <a:endParaRPr lang="en-SG"/>
          </a:p>
        </p:txBody>
      </p:sp>
      <p:sp>
        <p:nvSpPr>
          <p:cNvPr id="76" name="number-6">
            <a:extLst>
              <a:ext uri="{FF2B5EF4-FFF2-40B4-BE49-F238E27FC236}">
                <a16:creationId xmlns:a16="http://schemas.microsoft.com/office/drawing/2014/main" id="{CED35202-4CE6-40B3-8B2F-C1C71D763D54}"/>
              </a:ext>
            </a:extLst>
          </p:cNvPr>
          <p:cNvSpPr>
            <a:spLocks noGrp="1"/>
          </p:cNvSpPr>
          <p:nvPr/>
        </p:nvSpPr>
        <p:spPr>
          <a:xfrm>
            <a:off x="8982075" y="2495550"/>
            <a:ext cx="361950" cy="361950"/>
          </a:xfrm>
          <a:prstGeom prst="ellipse">
            <a:avLst/>
          </a:prstGeom>
          <a:solidFill>
            <a:srgbClr val="0F172A"/>
          </a:solidFill>
          <a:ln w="0">
            <a:noFill/>
            <a:prstDash val="solid"/>
          </a:ln>
        </p:spPr>
        <p:txBody>
          <a:bodyPr lIns="0" tIns="0" rIns="0" bIns="0" anchor="ctr"/>
          <a:lstStyle/>
          <a:p>
            <a:pPr algn="ctr">
              <a:defRPr sz="1350" b="1">
                <a:solidFill>
                  <a:srgbClr val="FFFFFF"/>
                </a:solidFill>
                <a:latin typeface="Inter"/>
                <a:ea typeface="Inter"/>
                <a:cs typeface="Inter"/>
              </a:defRPr>
            </a:pPr>
            <a:r>
              <a:rPr sz="1350" b="1">
                <a:solidFill>
                  <a:srgbClr val="FFFFFF"/>
                </a:solidFill>
                <a:latin typeface="Inter"/>
                <a:ea typeface="Inter"/>
                <a:cs typeface="Inter"/>
              </a:rPr>
              <a:t>6</a:t>
            </a:r>
          </a:p>
        </p:txBody>
      </p:sp>
      <p:sp>
        <p:nvSpPr>
          <p:cNvPr id="77" name="step-title-6">
            <a:extLst>
              <a:ext uri="{FF2B5EF4-FFF2-40B4-BE49-F238E27FC236}">
                <a16:creationId xmlns:a16="http://schemas.microsoft.com/office/drawing/2014/main" id="{9095BBD2-D607-4BB3-AEEB-5FCF48996094}"/>
              </a:ext>
            </a:extLst>
          </p:cNvPr>
          <p:cNvSpPr>
            <a:spLocks noGrp="1"/>
          </p:cNvSpPr>
          <p:nvPr/>
        </p:nvSpPr>
        <p:spPr>
          <a:xfrm>
            <a:off x="8982075" y="3048000"/>
            <a:ext cx="1143000" cy="361950"/>
          </a:xfrm>
          <a:prstGeom prst="rect">
            <a:avLst/>
          </a:prstGeom>
          <a:noFill/>
          <a:ln w="0">
            <a:noFill/>
            <a:prstDash val="solid"/>
          </a:ln>
        </p:spPr>
        <p:txBody>
          <a:bodyPr wrap="square" lIns="0" tIns="0" rIns="0" bIns="0" anchor="ctr">
            <a:normAutofit/>
          </a:bodyPr>
          <a:lstStyle/>
          <a:p>
            <a:pPr algn="l">
              <a:lnSpc>
                <a:spcPct val="112000"/>
              </a:lnSpc>
              <a:buNone/>
              <a:defRPr sz="1650" b="1">
                <a:solidFill>
                  <a:srgbClr val="0F172A"/>
                </a:solidFill>
                <a:latin typeface="Inter"/>
                <a:ea typeface="Inter"/>
                <a:cs typeface="Inter"/>
              </a:defRPr>
            </a:pPr>
            <a:r>
              <a:rPr sz="1650" b="1">
                <a:solidFill>
                  <a:srgbClr val="0F172A"/>
                </a:solidFill>
                <a:latin typeface="Inter"/>
                <a:ea typeface="Inter"/>
                <a:cs typeface="Inter"/>
              </a:rPr>
              <a:t>Read reply</a:t>
            </a:r>
          </a:p>
        </p:txBody>
      </p:sp>
      <p:sp>
        <p:nvSpPr>
          <p:cNvPr id="78" name="step-body-6">
            <a:extLst>
              <a:ext uri="{FF2B5EF4-FFF2-40B4-BE49-F238E27FC236}">
                <a16:creationId xmlns:a16="http://schemas.microsoft.com/office/drawing/2014/main" id="{740B5730-8124-4476-8795-0F0008BFDBA3}"/>
              </a:ext>
            </a:extLst>
          </p:cNvPr>
          <p:cNvSpPr>
            <a:spLocks noGrp="1"/>
          </p:cNvSpPr>
          <p:nvPr/>
        </p:nvSpPr>
        <p:spPr>
          <a:xfrm>
            <a:off x="8982075" y="3524250"/>
            <a:ext cx="1143000" cy="781050"/>
          </a:xfrm>
          <a:prstGeom prst="rect">
            <a:avLst/>
          </a:prstGeom>
          <a:noFill/>
          <a:ln w="0">
            <a:noFill/>
            <a:prstDash val="solid"/>
          </a:ln>
        </p:spPr>
        <p:txBody>
          <a:bodyPr wrap="square" lIns="0" tIns="0" rIns="0" bIns="0" anchor="ctr">
            <a:normAutofit/>
          </a:bodyPr>
          <a:lstStyle/>
          <a:p>
            <a:pPr algn="l">
              <a:lnSpc>
                <a:spcPct val="118000"/>
              </a:lnSpc>
              <a:buNone/>
              <a:defRPr sz="1275" b="0">
                <a:solidFill>
                  <a:srgbClr val="64748B"/>
                </a:solidFill>
                <a:latin typeface="Inter"/>
                <a:ea typeface="Inter"/>
                <a:cs typeface="Inter"/>
              </a:defRPr>
            </a:pPr>
            <a:r>
              <a:rPr sz="1275" b="0">
                <a:solidFill>
                  <a:srgbClr val="64748B"/>
                </a:solidFill>
                <a:latin typeface="Inter"/>
                <a:ea typeface="Inter"/>
                <a:cs typeface="Inter"/>
              </a:rPr>
              <a:t>Classify intent and update the thread</a:t>
            </a:r>
          </a:p>
        </p:txBody>
      </p:sp>
      <p:sp>
        <p:nvSpPr>
          <p:cNvPr id="79" name="step-card-7">
            <a:extLst>
              <a:ext uri="{FF2B5EF4-FFF2-40B4-BE49-F238E27FC236}">
                <a16:creationId xmlns:a16="http://schemas.microsoft.com/office/drawing/2014/main" id="{7AAA88DC-1C8E-4811-A1C4-D87FA69CDE4B}"/>
              </a:ext>
            </a:extLst>
          </p:cNvPr>
          <p:cNvSpPr>
            <a:spLocks noGrp="1"/>
          </p:cNvSpPr>
          <p:nvPr/>
        </p:nvSpPr>
        <p:spPr>
          <a:xfrm>
            <a:off x="10467975" y="2305050"/>
            <a:ext cx="1485900" cy="2209800"/>
          </a:xfrm>
          <a:prstGeom prst="roundRect">
            <a:avLst>
              <a:gd name="adj" fmla="val 12821"/>
            </a:avLst>
          </a:prstGeom>
          <a:solidFill>
            <a:srgbClr val="FFF7E6"/>
          </a:solidFill>
          <a:ln w="9525">
            <a:solidFill>
              <a:srgbClr val="FFFFFF">
                <a:alpha val="60000"/>
              </a:srgbClr>
            </a:solidFill>
            <a:prstDash val="solid"/>
          </a:ln>
        </p:spPr>
        <p:style>
          <a:lnRef idx="0">
            <a:scrgbClr r="0" g="0" b="0"/>
          </a:lnRef>
          <a:fillRef idx="0">
            <a:scrgbClr r="0" g="0" b="0"/>
          </a:fillRef>
          <a:effectRef idx="4">
            <a:scrgbClr r="0" g="0" b="0"/>
          </a:effectRef>
          <a:fontRef idx="major"/>
        </p:style>
        <p:txBody>
          <a:bodyPr/>
          <a:lstStyle/>
          <a:p>
            <a:endParaRPr lang="en-SG"/>
          </a:p>
        </p:txBody>
      </p:sp>
      <p:sp>
        <p:nvSpPr>
          <p:cNvPr id="80" name="number-7">
            <a:extLst>
              <a:ext uri="{FF2B5EF4-FFF2-40B4-BE49-F238E27FC236}">
                <a16:creationId xmlns:a16="http://schemas.microsoft.com/office/drawing/2014/main" id="{7B14A7DD-D2E0-4EDD-879D-81E0C4FAED63}"/>
              </a:ext>
            </a:extLst>
          </p:cNvPr>
          <p:cNvSpPr>
            <a:spLocks noGrp="1"/>
          </p:cNvSpPr>
          <p:nvPr/>
        </p:nvSpPr>
        <p:spPr>
          <a:xfrm>
            <a:off x="10639425" y="2495550"/>
            <a:ext cx="361950" cy="361950"/>
          </a:xfrm>
          <a:prstGeom prst="ellipse">
            <a:avLst/>
          </a:prstGeom>
          <a:solidFill>
            <a:srgbClr val="0F172A"/>
          </a:solidFill>
          <a:ln w="0">
            <a:noFill/>
            <a:prstDash val="solid"/>
          </a:ln>
        </p:spPr>
        <p:txBody>
          <a:bodyPr lIns="0" tIns="0" rIns="0" bIns="0" anchor="ctr"/>
          <a:lstStyle/>
          <a:p>
            <a:pPr algn="ctr">
              <a:defRPr sz="1350" b="1">
                <a:solidFill>
                  <a:srgbClr val="FFFFFF"/>
                </a:solidFill>
                <a:latin typeface="Inter"/>
                <a:ea typeface="Inter"/>
                <a:cs typeface="Inter"/>
              </a:defRPr>
            </a:pPr>
            <a:r>
              <a:rPr sz="1350" b="1">
                <a:solidFill>
                  <a:srgbClr val="FFFFFF"/>
                </a:solidFill>
                <a:latin typeface="Inter"/>
                <a:ea typeface="Inter"/>
                <a:cs typeface="Inter"/>
              </a:rPr>
              <a:t>7</a:t>
            </a:r>
          </a:p>
        </p:txBody>
      </p:sp>
      <p:sp>
        <p:nvSpPr>
          <p:cNvPr id="81" name="step-title-7">
            <a:extLst>
              <a:ext uri="{FF2B5EF4-FFF2-40B4-BE49-F238E27FC236}">
                <a16:creationId xmlns:a16="http://schemas.microsoft.com/office/drawing/2014/main" id="{86DE8B71-1DE0-405C-959A-599F1C6CA64B}"/>
              </a:ext>
            </a:extLst>
          </p:cNvPr>
          <p:cNvSpPr>
            <a:spLocks noGrp="1"/>
          </p:cNvSpPr>
          <p:nvPr/>
        </p:nvSpPr>
        <p:spPr>
          <a:xfrm>
            <a:off x="10639425" y="3048000"/>
            <a:ext cx="1143000" cy="361950"/>
          </a:xfrm>
          <a:prstGeom prst="rect">
            <a:avLst/>
          </a:prstGeom>
          <a:noFill/>
          <a:ln w="0">
            <a:noFill/>
            <a:prstDash val="solid"/>
          </a:ln>
        </p:spPr>
        <p:txBody>
          <a:bodyPr wrap="square" lIns="0" tIns="0" rIns="0" bIns="0" anchor="ctr">
            <a:normAutofit/>
          </a:bodyPr>
          <a:lstStyle/>
          <a:p>
            <a:pPr algn="l">
              <a:lnSpc>
                <a:spcPct val="112000"/>
              </a:lnSpc>
              <a:buNone/>
              <a:defRPr sz="1650" b="1">
                <a:solidFill>
                  <a:srgbClr val="0F172A"/>
                </a:solidFill>
                <a:latin typeface="Inter"/>
                <a:ea typeface="Inter"/>
                <a:cs typeface="Inter"/>
              </a:defRPr>
            </a:pPr>
            <a:r>
              <a:rPr sz="1650" b="1">
                <a:solidFill>
                  <a:srgbClr val="0F172A"/>
                </a:solidFill>
                <a:latin typeface="Inter"/>
                <a:ea typeface="Inter"/>
                <a:cs typeface="Inter"/>
              </a:rPr>
              <a:t>Follow up</a:t>
            </a:r>
          </a:p>
        </p:txBody>
      </p:sp>
      <p:sp>
        <p:nvSpPr>
          <p:cNvPr id="82" name="step-body-7">
            <a:extLst>
              <a:ext uri="{FF2B5EF4-FFF2-40B4-BE49-F238E27FC236}">
                <a16:creationId xmlns:a16="http://schemas.microsoft.com/office/drawing/2014/main" id="{F09D330F-8B3B-43FD-ABC1-61A0328BDAD2}"/>
              </a:ext>
            </a:extLst>
          </p:cNvPr>
          <p:cNvSpPr>
            <a:spLocks noGrp="1"/>
          </p:cNvSpPr>
          <p:nvPr/>
        </p:nvSpPr>
        <p:spPr>
          <a:xfrm>
            <a:off x="10639425" y="3524250"/>
            <a:ext cx="1143000" cy="781050"/>
          </a:xfrm>
          <a:prstGeom prst="rect">
            <a:avLst/>
          </a:prstGeom>
          <a:noFill/>
          <a:ln w="0">
            <a:noFill/>
            <a:prstDash val="solid"/>
          </a:ln>
        </p:spPr>
        <p:txBody>
          <a:bodyPr wrap="square" lIns="0" tIns="0" rIns="0" bIns="0" anchor="ctr">
            <a:normAutofit/>
          </a:bodyPr>
          <a:lstStyle/>
          <a:p>
            <a:pPr algn="l">
              <a:lnSpc>
                <a:spcPct val="118000"/>
              </a:lnSpc>
              <a:buNone/>
              <a:defRPr sz="1275" b="0">
                <a:solidFill>
                  <a:srgbClr val="64748B"/>
                </a:solidFill>
                <a:latin typeface="Inter"/>
                <a:ea typeface="Inter"/>
                <a:cs typeface="Inter"/>
              </a:defRPr>
            </a:pPr>
            <a:r>
              <a:rPr sz="1275" b="0">
                <a:solidFill>
                  <a:srgbClr val="64748B"/>
                </a:solidFill>
                <a:latin typeface="Inter"/>
                <a:ea typeface="Inter"/>
                <a:cs typeface="Inter"/>
              </a:rPr>
              <a:t>Stay useful, capped and opt-out aware</a:t>
            </a:r>
          </a:p>
        </p:txBody>
      </p:sp>
      <p:sp>
        <p:nvSpPr>
          <p:cNvPr id="83" name="sample-message-card">
            <a:extLst>
              <a:ext uri="{FF2B5EF4-FFF2-40B4-BE49-F238E27FC236}">
                <a16:creationId xmlns:a16="http://schemas.microsoft.com/office/drawing/2014/main" id="{5C97F992-6F9A-427C-9D22-04F739F48B50}"/>
              </a:ext>
            </a:extLst>
          </p:cNvPr>
          <p:cNvSpPr>
            <a:spLocks noGrp="1"/>
          </p:cNvSpPr>
          <p:nvPr/>
        </p:nvSpPr>
        <p:spPr>
          <a:xfrm>
            <a:off x="933450" y="4914900"/>
            <a:ext cx="10325100" cy="1143000"/>
          </a:xfrm>
          <a:prstGeom prst="roundRect">
            <a:avLst>
              <a:gd name="adj" fmla="val 15000"/>
            </a:avLst>
          </a:prstGeom>
          <a:solidFill>
            <a:srgbClr val="FFFFFF"/>
          </a:solidFill>
          <a:ln w="9525">
            <a:solidFill>
              <a:srgbClr val="E2E8F0"/>
            </a:solidFill>
            <a:prstDash val="solid"/>
          </a:ln>
        </p:spPr>
        <p:style>
          <a:lnRef idx="0">
            <a:scrgbClr r="0" g="0" b="0"/>
          </a:lnRef>
          <a:fillRef idx="0">
            <a:scrgbClr r="0" g="0" b="0"/>
          </a:fillRef>
          <a:effectRef idx="10">
            <a:scrgbClr r="0" g="0" b="0"/>
          </a:effectRef>
          <a:fontRef idx="major"/>
        </p:style>
        <p:txBody>
          <a:bodyPr/>
          <a:lstStyle/>
          <a:p>
            <a:endParaRPr lang="en-SG"/>
          </a:p>
        </p:txBody>
      </p:sp>
      <p:sp>
        <p:nvSpPr>
          <p:cNvPr id="84" name="sample-label">
            <a:extLst>
              <a:ext uri="{FF2B5EF4-FFF2-40B4-BE49-F238E27FC236}">
                <a16:creationId xmlns:a16="http://schemas.microsoft.com/office/drawing/2014/main" id="{7522DB1F-2EF9-4F66-92C2-87C4C0EE4874}"/>
              </a:ext>
            </a:extLst>
          </p:cNvPr>
          <p:cNvSpPr>
            <a:spLocks noGrp="1"/>
          </p:cNvSpPr>
          <p:nvPr/>
        </p:nvSpPr>
        <p:spPr>
          <a:xfrm>
            <a:off x="1162050" y="5105400"/>
            <a:ext cx="2190750" cy="228600"/>
          </a:xfrm>
          <a:prstGeom prst="rect">
            <a:avLst/>
          </a:prstGeom>
          <a:noFill/>
          <a:ln w="0">
            <a:noFill/>
            <a:prstDash val="solid"/>
          </a:ln>
        </p:spPr>
        <p:txBody>
          <a:bodyPr wrap="square" lIns="0" tIns="0" rIns="0" bIns="0" anchor="t">
            <a:normAutofit/>
          </a:bodyPr>
          <a:lstStyle/>
          <a:p>
            <a:pPr algn="l">
              <a:lnSpc>
                <a:spcPct val="112000"/>
              </a:lnSpc>
              <a:buNone/>
              <a:defRPr sz="1050" b="1">
                <a:solidFill>
                  <a:srgbClr val="7C5CFC"/>
                </a:solidFill>
                <a:latin typeface="Inter"/>
                <a:ea typeface="Inter"/>
                <a:cs typeface="Inter"/>
              </a:defRPr>
            </a:pPr>
            <a:r>
              <a:rPr sz="1050" b="1">
                <a:solidFill>
                  <a:srgbClr val="7C5CFC"/>
                </a:solidFill>
                <a:latin typeface="Inter"/>
                <a:ea typeface="Inter"/>
                <a:cs typeface="Inter"/>
              </a:rPr>
              <a:t>SAMPLE FIRST TOUCH</a:t>
            </a:r>
          </a:p>
        </p:txBody>
      </p:sp>
      <p:sp>
        <p:nvSpPr>
          <p:cNvPr id="85" name="evidence-pill">
            <a:extLst>
              <a:ext uri="{FF2B5EF4-FFF2-40B4-BE49-F238E27FC236}">
                <a16:creationId xmlns:a16="http://schemas.microsoft.com/office/drawing/2014/main" id="{38874FA6-988D-4D13-A77D-6077663414FE}"/>
              </a:ext>
            </a:extLst>
          </p:cNvPr>
          <p:cNvSpPr>
            <a:spLocks noGrp="1"/>
          </p:cNvSpPr>
          <p:nvPr/>
        </p:nvSpPr>
        <p:spPr>
          <a:xfrm>
            <a:off x="9353550" y="5067300"/>
            <a:ext cx="1619250" cy="304800"/>
          </a:xfrm>
          <a:prstGeom prst="roundRect">
            <a:avLst>
              <a:gd name="adj" fmla="val 50000"/>
            </a:avLst>
          </a:prstGeom>
          <a:solidFill>
            <a:srgbClr val="FBF7FF"/>
          </a:solidFill>
          <a:ln w="9525">
            <a:solidFill>
              <a:srgbClr val="E9D5FF"/>
            </a:solidFill>
            <a:prstDash val="solid"/>
          </a:ln>
        </p:spPr>
        <p:txBody>
          <a:bodyPr lIns="0" tIns="0" rIns="0" bIns="0" anchor="ctr"/>
          <a:lstStyle/>
          <a:p>
            <a:pPr algn="ctr">
              <a:defRPr sz="1050" b="1">
                <a:solidFill>
                  <a:srgbClr val="B567C2"/>
                </a:solidFill>
                <a:latin typeface="Inter"/>
                <a:ea typeface="Inter"/>
                <a:cs typeface="Inter"/>
              </a:defRPr>
            </a:pPr>
            <a:r>
              <a:rPr sz="1050" b="1">
                <a:solidFill>
                  <a:srgbClr val="B567C2"/>
                </a:solidFill>
                <a:latin typeface="Inter"/>
                <a:ea typeface="Inter"/>
                <a:cs typeface="Inter"/>
              </a:rPr>
              <a:t>EVIDENCE-BOUND</a:t>
            </a:r>
          </a:p>
        </p:txBody>
      </p:sp>
      <p:sp>
        <p:nvSpPr>
          <p:cNvPr id="86" name="sample-message">
            <a:extLst>
              <a:ext uri="{FF2B5EF4-FFF2-40B4-BE49-F238E27FC236}">
                <a16:creationId xmlns:a16="http://schemas.microsoft.com/office/drawing/2014/main" id="{D6184B56-6E16-4BC2-BA11-D778B82F2285}"/>
              </a:ext>
            </a:extLst>
          </p:cNvPr>
          <p:cNvSpPr>
            <a:spLocks noGrp="1"/>
          </p:cNvSpPr>
          <p:nvPr/>
        </p:nvSpPr>
        <p:spPr>
          <a:xfrm>
            <a:off x="1162050" y="5467350"/>
            <a:ext cx="9667875" cy="438150"/>
          </a:xfrm>
          <a:prstGeom prst="rect">
            <a:avLst/>
          </a:prstGeom>
          <a:noFill/>
          <a:ln w="0">
            <a:noFill/>
            <a:prstDash val="solid"/>
          </a:ln>
        </p:spPr>
        <p:txBody>
          <a:bodyPr wrap="square" lIns="0" tIns="0" rIns="0" bIns="0" anchor="ctr">
            <a:normAutofit fontScale="97738" lnSpcReduction="10000"/>
          </a:bodyPr>
          <a:lstStyle/>
          <a:p>
            <a:pPr algn="l">
              <a:lnSpc>
                <a:spcPct val="118000"/>
              </a:lnSpc>
              <a:buNone/>
              <a:defRPr sz="1350" b="0">
                <a:solidFill>
                  <a:srgbClr val="1E293B"/>
                </a:solidFill>
                <a:latin typeface="Inter"/>
                <a:ea typeface="Inter"/>
                <a:cs typeface="Inter"/>
              </a:defRPr>
            </a:pPr>
            <a:r>
              <a:rPr sz="1350" b="0">
                <a:solidFill>
                  <a:srgbClr val="1E293B"/>
                </a:solidFill>
                <a:latin typeface="Inter"/>
                <a:ea typeface="Inter"/>
                <a:cs typeface="Inter"/>
              </a:rPr>
              <a:t>Hi Wei Ling—saw Kōri put the Uji matcha line on its TikTok menu drop. If you’re lining up creators, Influencees can shortlist SG F&amp;B micro-creators by real engagement and match them against the launch. Worth a 15-minute look?</a:t>
            </a:r>
          </a:p>
        </p:txBody>
      </p:sp>
      <p:sp>
        <p:nvSpPr>
          <p:cNvPr id="87" name="footer-brand">
            <a:extLst>
              <a:ext uri="{FF2B5EF4-FFF2-40B4-BE49-F238E27FC236}">
                <a16:creationId xmlns:a16="http://schemas.microsoft.com/office/drawing/2014/main" id="{C9FFA6EB-F672-4B36-82CD-1BC8CF0FA074}"/>
              </a:ext>
            </a:extLst>
          </p:cNvPr>
          <p:cNvSpPr>
            <a:spLocks noGrp="1"/>
          </p:cNvSpPr>
          <p:nvPr/>
        </p:nvSpPr>
        <p:spPr>
          <a:xfrm>
            <a:off x="533400" y="6457950"/>
            <a:ext cx="1714500" cy="190500"/>
          </a:xfrm>
          <a:prstGeom prst="rect">
            <a:avLst/>
          </a:prstGeom>
          <a:noFill/>
          <a:ln w="0">
            <a:noFill/>
            <a:prstDash val="solid"/>
          </a:ln>
        </p:spPr>
        <p:txBody>
          <a:bodyPr wrap="square" lIns="0" tIns="0" rIns="0" bIns="0" anchor="ctr">
            <a:normAutofit/>
          </a:bodyPr>
          <a:lstStyle/>
          <a:p>
            <a:pPr algn="l">
              <a:lnSpc>
                <a:spcPct val="112000"/>
              </a:lnSpc>
              <a:buNone/>
              <a:defRPr sz="975" b="1">
                <a:solidFill>
                  <a:srgbClr val="94A3B8"/>
                </a:solidFill>
                <a:latin typeface="Inter"/>
                <a:ea typeface="Inter"/>
                <a:cs typeface="Inter"/>
              </a:defRPr>
            </a:pPr>
            <a:r>
              <a:rPr sz="975" b="1">
                <a:solidFill>
                  <a:srgbClr val="94A3B8"/>
                </a:solidFill>
                <a:latin typeface="Inter"/>
                <a:ea typeface="Inter"/>
                <a:cs typeface="Inter"/>
              </a:rPr>
              <a:t>INFLUENCEES</a:t>
            </a:r>
          </a:p>
        </p:txBody>
      </p:sp>
      <p:sp>
        <p:nvSpPr>
          <p:cNvPr id="88" name="footer-page">
            <a:extLst>
              <a:ext uri="{FF2B5EF4-FFF2-40B4-BE49-F238E27FC236}">
                <a16:creationId xmlns:a16="http://schemas.microsoft.com/office/drawing/2014/main" id="{D4785D3A-F8CA-40ED-9AB5-28CD5ACE5555}"/>
              </a:ext>
            </a:extLst>
          </p:cNvPr>
          <p:cNvSpPr>
            <a:spLocks noGrp="1"/>
          </p:cNvSpPr>
          <p:nvPr/>
        </p:nvSpPr>
        <p:spPr>
          <a:xfrm>
            <a:off x="10572750" y="6457950"/>
            <a:ext cx="1085850" cy="190500"/>
          </a:xfrm>
          <a:prstGeom prst="rect">
            <a:avLst/>
          </a:prstGeom>
          <a:noFill/>
          <a:ln w="0">
            <a:noFill/>
            <a:prstDash val="solid"/>
          </a:ln>
        </p:spPr>
        <p:txBody>
          <a:bodyPr wrap="square" lIns="0" tIns="0" rIns="0" bIns="0" anchor="ctr">
            <a:normAutofit/>
          </a:bodyPr>
          <a:lstStyle/>
          <a:p>
            <a:pPr algn="r">
              <a:lnSpc>
                <a:spcPct val="112000"/>
              </a:lnSpc>
              <a:buNone/>
              <a:defRPr sz="975" b="1">
                <a:solidFill>
                  <a:srgbClr val="94A3B8"/>
                </a:solidFill>
                <a:latin typeface="Inter"/>
                <a:ea typeface="Inter"/>
                <a:cs typeface="Inter"/>
              </a:defRPr>
            </a:pPr>
            <a:r>
              <a:rPr sz="975" b="1">
                <a:solidFill>
                  <a:srgbClr val="94A3B8"/>
                </a:solidFill>
                <a:latin typeface="Inter"/>
                <a:ea typeface="Inter"/>
                <a:cs typeface="Inter"/>
              </a:rPr>
              <a:t>04 / 10</a:t>
            </a:r>
          </a:p>
        </p:txBody>
      </p:sp>
    </p:spTree>
    <p:extLst>
      <p:ext uri="{BB962C8B-B14F-4D97-AF65-F5344CB8AC3E}">
        <p14:creationId xmlns:p14="http://schemas.microsoft.com/office/powerpoint/2010/main" val="20205039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806C64C0-E7E2-4392-B879-C908C54389B3}"/>
              </a:ext>
            </a:extLst>
          </p:cNvPr>
          <p:cNvSpPr>
            <a:spLocks noGrp="1"/>
          </p:cNvSpPr>
          <p:nvPr/>
        </p:nvSpPr>
        <p:spPr>
          <a:xfrm>
            <a:off x="566928" y="457200"/>
            <a:ext cx="8229600" cy="274320"/>
          </a:xfrm>
          <a:prstGeom prst="rect">
            <a:avLst/>
          </a:prstGeom>
          <a:noFill/>
        </p:spPr>
        <p:txBody>
          <a:bodyPr wrap="square" lIns="0" tIns="0" rIns="0" bIns="0" anchor="ctr"/>
          <a:lstStyle/>
          <a:p>
            <a:pPr marL="0" indent="0" algn="l">
              <a:buNone/>
            </a:pPr>
            <a:r>
              <a:rPr sz="1150" b="1">
                <a:solidFill>
                  <a:srgbClr val="5A3EE0"/>
                </a:solidFill>
                <a:latin typeface="Arial"/>
                <a:ea typeface="Arial"/>
                <a:cs typeface="Arial"/>
              </a:rPr>
              <a:t>SOLUTION 01  ·  THE DASHBOARD</a:t>
            </a:r>
          </a:p>
        </p:txBody>
      </p:sp>
      <p:sp>
        <p:nvSpPr>
          <p:cNvPr id="3" name="Text 1">
            <a:extLst>
              <a:ext uri="{FF2B5EF4-FFF2-40B4-BE49-F238E27FC236}">
                <a16:creationId xmlns:a16="http://schemas.microsoft.com/office/drawing/2014/main" id="{DA1465E3-A28A-4285-BC64-90D507D78001}"/>
              </a:ext>
            </a:extLst>
          </p:cNvPr>
          <p:cNvSpPr>
            <a:spLocks noGrp="1"/>
          </p:cNvSpPr>
          <p:nvPr/>
        </p:nvSpPr>
        <p:spPr>
          <a:xfrm>
            <a:off x="566928" y="822960"/>
            <a:ext cx="10607040" cy="822960"/>
          </a:xfrm>
          <a:prstGeom prst="rect">
            <a:avLst/>
          </a:prstGeom>
          <a:noFill/>
        </p:spPr>
        <p:txBody>
          <a:bodyPr wrap="square" lIns="0" tIns="0" rIns="0" bIns="0" anchor="t"/>
          <a:lstStyle/>
          <a:p>
            <a:pPr marL="0" indent="0" algn="l">
              <a:lnSpc>
                <a:spcPct val="102000"/>
              </a:lnSpc>
              <a:buNone/>
            </a:pPr>
            <a:r>
              <a:rPr sz="2700" b="1">
                <a:solidFill>
                  <a:srgbClr val="0D0C0A"/>
                </a:solidFill>
                <a:latin typeface="Arial"/>
                <a:ea typeface="Arial"/>
                <a:cs typeface="Arial"/>
              </a:rPr>
              <a:t>Everything the operator does is visible in one place.</a:t>
            </a:r>
          </a:p>
        </p:txBody>
      </p:sp>
      <p:sp>
        <p:nvSpPr>
          <p:cNvPr id="4" name="Shape 2">
            <a:extLst>
              <a:ext uri="{FF2B5EF4-FFF2-40B4-BE49-F238E27FC236}">
                <a16:creationId xmlns:a16="http://schemas.microsoft.com/office/drawing/2014/main" id="{55660B2D-CCB4-41DC-8BAB-CE4C00FFFDB2}"/>
              </a:ext>
            </a:extLst>
          </p:cNvPr>
          <p:cNvSpPr>
            <a:spLocks noGrp="1"/>
          </p:cNvSpPr>
          <p:nvPr/>
        </p:nvSpPr>
        <p:spPr>
          <a:xfrm>
            <a:off x="566928" y="1965960"/>
            <a:ext cx="6720840" cy="4160520"/>
          </a:xfrm>
          <a:prstGeom prst="roundRect">
            <a:avLst>
              <a:gd name="adj" fmla="val 1099"/>
            </a:avLst>
          </a:prstGeom>
          <a:solidFill>
            <a:srgbClr val="FBF9F5"/>
          </a:solidFill>
          <a:ln w="15875">
            <a:solidFill>
              <a:srgbClr val="CBC5B9"/>
            </a:solidFill>
            <a:prstDash val="dash"/>
          </a:ln>
        </p:spPr>
        <p:txBody>
          <a:bodyPr/>
          <a:lstStyle/>
          <a:p>
            <a:endParaRPr lang="en-SG"/>
          </a:p>
        </p:txBody>
      </p:sp>
      <p:sp>
        <p:nvSpPr>
          <p:cNvPr id="5" name="Text 3">
            <a:extLst>
              <a:ext uri="{FF2B5EF4-FFF2-40B4-BE49-F238E27FC236}">
                <a16:creationId xmlns:a16="http://schemas.microsoft.com/office/drawing/2014/main" id="{B19C037A-1F7A-47C7-BF34-03DCF113A2C7}"/>
              </a:ext>
            </a:extLst>
          </p:cNvPr>
          <p:cNvSpPr>
            <a:spLocks noGrp="1"/>
          </p:cNvSpPr>
          <p:nvPr/>
        </p:nvSpPr>
        <p:spPr>
          <a:xfrm>
            <a:off x="566928" y="3543300"/>
            <a:ext cx="6720840" cy="457200"/>
          </a:xfrm>
          <a:prstGeom prst="rect">
            <a:avLst/>
          </a:prstGeom>
          <a:noFill/>
        </p:spPr>
        <p:txBody>
          <a:bodyPr wrap="square" lIns="0" tIns="0" rIns="0" bIns="0" anchor="ctr"/>
          <a:lstStyle/>
          <a:p>
            <a:pPr marL="0" indent="0" algn="ctr">
              <a:buNone/>
            </a:pPr>
            <a:r>
              <a:rPr sz="2000">
                <a:solidFill>
                  <a:srgbClr val="E2DED6"/>
                </a:solidFill>
                <a:latin typeface="Arial"/>
                <a:ea typeface="Arial"/>
                <a:cs typeface="Arial"/>
              </a:rPr>
              <a:t>◻</a:t>
            </a:r>
          </a:p>
        </p:txBody>
      </p:sp>
      <p:sp>
        <p:nvSpPr>
          <p:cNvPr id="6" name="Text 4">
            <a:extLst>
              <a:ext uri="{FF2B5EF4-FFF2-40B4-BE49-F238E27FC236}">
                <a16:creationId xmlns:a16="http://schemas.microsoft.com/office/drawing/2014/main" id="{6C14982A-7492-4354-8992-1AC89577EABC}"/>
              </a:ext>
            </a:extLst>
          </p:cNvPr>
          <p:cNvSpPr>
            <a:spLocks noGrp="1"/>
          </p:cNvSpPr>
          <p:nvPr/>
        </p:nvSpPr>
        <p:spPr>
          <a:xfrm>
            <a:off x="658368" y="3973068"/>
            <a:ext cx="6537960" cy="274320"/>
          </a:xfrm>
          <a:prstGeom prst="rect">
            <a:avLst/>
          </a:prstGeom>
          <a:noFill/>
        </p:spPr>
        <p:txBody>
          <a:bodyPr wrap="square" lIns="0" tIns="0" rIns="0" bIns="0" anchor="ctr"/>
          <a:lstStyle/>
          <a:p>
            <a:pPr marL="0" indent="0" algn="ctr">
              <a:buNone/>
            </a:pPr>
            <a:r>
              <a:rPr sz="1050" b="1">
                <a:solidFill>
                  <a:srgbClr val="5A3EE0"/>
                </a:solidFill>
                <a:latin typeface="Arial"/>
                <a:ea typeface="Arial"/>
                <a:cs typeface="Arial"/>
              </a:rPr>
              <a:t>SHARED INBOX</a:t>
            </a:r>
          </a:p>
        </p:txBody>
      </p:sp>
      <p:sp>
        <p:nvSpPr>
          <p:cNvPr id="7" name="Text 5">
            <a:extLst>
              <a:ext uri="{FF2B5EF4-FFF2-40B4-BE49-F238E27FC236}">
                <a16:creationId xmlns:a16="http://schemas.microsoft.com/office/drawing/2014/main" id="{BCAE966D-2CBB-4D62-AD49-D32DC9051F49}"/>
              </a:ext>
            </a:extLst>
          </p:cNvPr>
          <p:cNvSpPr>
            <a:spLocks noGrp="1"/>
          </p:cNvSpPr>
          <p:nvPr/>
        </p:nvSpPr>
        <p:spPr>
          <a:xfrm>
            <a:off x="676656" y="4265676"/>
            <a:ext cx="6501384" cy="502920"/>
          </a:xfrm>
          <a:prstGeom prst="rect">
            <a:avLst/>
          </a:prstGeom>
          <a:noFill/>
        </p:spPr>
        <p:txBody>
          <a:bodyPr wrap="square" lIns="0" tIns="0" rIns="0" bIns="0" anchor="t"/>
          <a:lstStyle/>
          <a:p>
            <a:pPr marL="0" indent="0" algn="ctr">
              <a:lnSpc>
                <a:spcPct val="105000"/>
              </a:lnSpc>
              <a:buNone/>
            </a:pPr>
            <a:r>
              <a:rPr sz="950">
                <a:solidFill>
                  <a:srgbClr val="9A968C"/>
                </a:solidFill>
                <a:latin typeface="Arial"/>
                <a:ea typeface="Arial"/>
                <a:cs typeface="Arial"/>
              </a:rPr>
              <a:t>Conversation list · full thread · company context and agent controls. Drop your inbox screenshot here.</a:t>
            </a:r>
          </a:p>
        </p:txBody>
      </p:sp>
      <p:sp>
        <p:nvSpPr>
          <p:cNvPr id="8" name="Shape 6">
            <a:extLst>
              <a:ext uri="{FF2B5EF4-FFF2-40B4-BE49-F238E27FC236}">
                <a16:creationId xmlns:a16="http://schemas.microsoft.com/office/drawing/2014/main" id="{784CABFD-6A5E-4726-9D72-281D606A6F7B}"/>
              </a:ext>
            </a:extLst>
          </p:cNvPr>
          <p:cNvSpPr>
            <a:spLocks noGrp="1"/>
          </p:cNvSpPr>
          <p:nvPr/>
        </p:nvSpPr>
        <p:spPr>
          <a:xfrm>
            <a:off x="7543800" y="1965960"/>
            <a:ext cx="4069080" cy="1874520"/>
          </a:xfrm>
          <a:prstGeom prst="roundRect">
            <a:avLst>
              <a:gd name="adj" fmla="val 2439"/>
            </a:avLst>
          </a:prstGeom>
          <a:solidFill>
            <a:srgbClr val="FBF9F5"/>
          </a:solidFill>
          <a:ln w="15875">
            <a:solidFill>
              <a:srgbClr val="CBC5B9"/>
            </a:solidFill>
            <a:prstDash val="dash"/>
          </a:ln>
        </p:spPr>
        <p:txBody>
          <a:bodyPr/>
          <a:lstStyle/>
          <a:p>
            <a:endParaRPr lang="en-SG"/>
          </a:p>
        </p:txBody>
      </p:sp>
      <p:sp>
        <p:nvSpPr>
          <p:cNvPr id="9" name="Text 7">
            <a:extLst>
              <a:ext uri="{FF2B5EF4-FFF2-40B4-BE49-F238E27FC236}">
                <a16:creationId xmlns:a16="http://schemas.microsoft.com/office/drawing/2014/main" id="{B3D747D5-7FB3-4926-96FE-B1B82240819A}"/>
              </a:ext>
            </a:extLst>
          </p:cNvPr>
          <p:cNvSpPr>
            <a:spLocks noGrp="1"/>
          </p:cNvSpPr>
          <p:nvPr/>
        </p:nvSpPr>
        <p:spPr>
          <a:xfrm>
            <a:off x="7543800" y="2400300"/>
            <a:ext cx="4069080" cy="457200"/>
          </a:xfrm>
          <a:prstGeom prst="rect">
            <a:avLst/>
          </a:prstGeom>
          <a:noFill/>
        </p:spPr>
        <p:txBody>
          <a:bodyPr wrap="square" lIns="0" tIns="0" rIns="0" bIns="0" anchor="ctr"/>
          <a:lstStyle/>
          <a:p>
            <a:pPr marL="0" indent="0" algn="ctr">
              <a:buNone/>
            </a:pPr>
            <a:r>
              <a:rPr sz="2000">
                <a:solidFill>
                  <a:srgbClr val="E2DED6"/>
                </a:solidFill>
                <a:latin typeface="Arial"/>
                <a:ea typeface="Arial"/>
                <a:cs typeface="Arial"/>
              </a:rPr>
              <a:t>◻</a:t>
            </a:r>
          </a:p>
        </p:txBody>
      </p:sp>
      <p:sp>
        <p:nvSpPr>
          <p:cNvPr id="10" name="Text 8">
            <a:extLst>
              <a:ext uri="{FF2B5EF4-FFF2-40B4-BE49-F238E27FC236}">
                <a16:creationId xmlns:a16="http://schemas.microsoft.com/office/drawing/2014/main" id="{7C386596-BEE8-46B6-8F86-059B34EA480B}"/>
              </a:ext>
            </a:extLst>
          </p:cNvPr>
          <p:cNvSpPr>
            <a:spLocks noGrp="1"/>
          </p:cNvSpPr>
          <p:nvPr/>
        </p:nvSpPr>
        <p:spPr>
          <a:xfrm>
            <a:off x="7635240" y="2830068"/>
            <a:ext cx="3886200" cy="274320"/>
          </a:xfrm>
          <a:prstGeom prst="rect">
            <a:avLst/>
          </a:prstGeom>
          <a:noFill/>
        </p:spPr>
        <p:txBody>
          <a:bodyPr wrap="square" lIns="0" tIns="0" rIns="0" bIns="0" anchor="ctr"/>
          <a:lstStyle/>
          <a:p>
            <a:pPr marL="0" indent="0" algn="ctr">
              <a:buNone/>
            </a:pPr>
            <a:r>
              <a:rPr sz="1050" b="1">
                <a:solidFill>
                  <a:srgbClr val="5A3EE0"/>
                </a:solidFill>
                <a:latin typeface="Arial"/>
                <a:ea typeface="Arial"/>
                <a:cs typeface="Arial"/>
              </a:rPr>
              <a:t>OVERVIEW</a:t>
            </a:r>
          </a:p>
        </p:txBody>
      </p:sp>
      <p:sp>
        <p:nvSpPr>
          <p:cNvPr id="11" name="Text 9">
            <a:extLst>
              <a:ext uri="{FF2B5EF4-FFF2-40B4-BE49-F238E27FC236}">
                <a16:creationId xmlns:a16="http://schemas.microsoft.com/office/drawing/2014/main" id="{8B01085A-FD9A-4007-8164-E6CCB7474CDA}"/>
              </a:ext>
            </a:extLst>
          </p:cNvPr>
          <p:cNvSpPr>
            <a:spLocks noGrp="1"/>
          </p:cNvSpPr>
          <p:nvPr/>
        </p:nvSpPr>
        <p:spPr>
          <a:xfrm>
            <a:off x="7653528" y="3122676"/>
            <a:ext cx="3849624" cy="502920"/>
          </a:xfrm>
          <a:prstGeom prst="rect">
            <a:avLst/>
          </a:prstGeom>
          <a:noFill/>
        </p:spPr>
        <p:txBody>
          <a:bodyPr wrap="square" lIns="0" tIns="0" rIns="0" bIns="0" anchor="t"/>
          <a:lstStyle/>
          <a:p>
            <a:pPr marL="0" indent="0" algn="ctr">
              <a:lnSpc>
                <a:spcPct val="105000"/>
              </a:lnSpc>
              <a:buNone/>
            </a:pPr>
            <a:r>
              <a:rPr sz="950">
                <a:solidFill>
                  <a:srgbClr val="9A968C"/>
                </a:solidFill>
                <a:latin typeface="Arial"/>
                <a:ea typeface="Arial"/>
                <a:cs typeface="Arial"/>
              </a:rPr>
              <a:t>Leads, reply rate, awaiting approval, activity feed.</a:t>
            </a:r>
          </a:p>
        </p:txBody>
      </p:sp>
      <p:sp>
        <p:nvSpPr>
          <p:cNvPr id="12" name="Shape 10">
            <a:extLst>
              <a:ext uri="{FF2B5EF4-FFF2-40B4-BE49-F238E27FC236}">
                <a16:creationId xmlns:a16="http://schemas.microsoft.com/office/drawing/2014/main" id="{35454609-200B-4BCD-9D69-74D667E65B6C}"/>
              </a:ext>
            </a:extLst>
          </p:cNvPr>
          <p:cNvSpPr>
            <a:spLocks noGrp="1"/>
          </p:cNvSpPr>
          <p:nvPr/>
        </p:nvSpPr>
        <p:spPr>
          <a:xfrm>
            <a:off x="7543800" y="3977640"/>
            <a:ext cx="4069080" cy="2148840"/>
          </a:xfrm>
          <a:prstGeom prst="roundRect">
            <a:avLst>
              <a:gd name="adj" fmla="val 2128"/>
            </a:avLst>
          </a:prstGeom>
          <a:solidFill>
            <a:srgbClr val="FBF9F5"/>
          </a:solidFill>
          <a:ln w="15875">
            <a:solidFill>
              <a:srgbClr val="CBC5B9"/>
            </a:solidFill>
            <a:prstDash val="dash"/>
          </a:ln>
        </p:spPr>
        <p:txBody>
          <a:bodyPr/>
          <a:lstStyle/>
          <a:p>
            <a:endParaRPr lang="en-SG"/>
          </a:p>
        </p:txBody>
      </p:sp>
      <p:sp>
        <p:nvSpPr>
          <p:cNvPr id="13" name="Text 11">
            <a:extLst>
              <a:ext uri="{FF2B5EF4-FFF2-40B4-BE49-F238E27FC236}">
                <a16:creationId xmlns:a16="http://schemas.microsoft.com/office/drawing/2014/main" id="{31752263-FE4B-4F56-9680-8234D29C8669}"/>
              </a:ext>
            </a:extLst>
          </p:cNvPr>
          <p:cNvSpPr>
            <a:spLocks noGrp="1"/>
          </p:cNvSpPr>
          <p:nvPr/>
        </p:nvSpPr>
        <p:spPr>
          <a:xfrm>
            <a:off x="7543800" y="4549140"/>
            <a:ext cx="4069080" cy="457200"/>
          </a:xfrm>
          <a:prstGeom prst="rect">
            <a:avLst/>
          </a:prstGeom>
          <a:noFill/>
        </p:spPr>
        <p:txBody>
          <a:bodyPr wrap="square" lIns="0" tIns="0" rIns="0" bIns="0" anchor="ctr"/>
          <a:lstStyle/>
          <a:p>
            <a:pPr marL="0" indent="0" algn="ctr">
              <a:buNone/>
            </a:pPr>
            <a:r>
              <a:rPr sz="2000">
                <a:solidFill>
                  <a:srgbClr val="E2DED6"/>
                </a:solidFill>
                <a:latin typeface="Arial"/>
                <a:ea typeface="Arial"/>
                <a:cs typeface="Arial"/>
              </a:rPr>
              <a:t>◻</a:t>
            </a:r>
          </a:p>
        </p:txBody>
      </p:sp>
      <p:sp>
        <p:nvSpPr>
          <p:cNvPr id="14" name="Text 12">
            <a:extLst>
              <a:ext uri="{FF2B5EF4-FFF2-40B4-BE49-F238E27FC236}">
                <a16:creationId xmlns:a16="http://schemas.microsoft.com/office/drawing/2014/main" id="{FAA72404-E4C1-4FA1-89EB-55C341E69099}"/>
              </a:ext>
            </a:extLst>
          </p:cNvPr>
          <p:cNvSpPr>
            <a:spLocks noGrp="1"/>
          </p:cNvSpPr>
          <p:nvPr/>
        </p:nvSpPr>
        <p:spPr>
          <a:xfrm>
            <a:off x="7635240" y="4978908"/>
            <a:ext cx="3886200" cy="274320"/>
          </a:xfrm>
          <a:prstGeom prst="rect">
            <a:avLst/>
          </a:prstGeom>
          <a:noFill/>
        </p:spPr>
        <p:txBody>
          <a:bodyPr wrap="square" lIns="0" tIns="0" rIns="0" bIns="0" anchor="ctr"/>
          <a:lstStyle/>
          <a:p>
            <a:pPr marL="0" indent="0" algn="ctr">
              <a:buNone/>
            </a:pPr>
            <a:r>
              <a:rPr sz="1050" b="1">
                <a:solidFill>
                  <a:srgbClr val="5A3EE0"/>
                </a:solidFill>
                <a:latin typeface="Arial"/>
                <a:ea typeface="Arial"/>
                <a:cs typeface="Arial"/>
              </a:rPr>
              <a:t>LEAD DETAIL</a:t>
            </a:r>
          </a:p>
        </p:txBody>
      </p:sp>
      <p:sp>
        <p:nvSpPr>
          <p:cNvPr id="15" name="Text 13">
            <a:extLst>
              <a:ext uri="{FF2B5EF4-FFF2-40B4-BE49-F238E27FC236}">
                <a16:creationId xmlns:a16="http://schemas.microsoft.com/office/drawing/2014/main" id="{27DFF59F-B060-4745-81AA-AD3A44066B43}"/>
              </a:ext>
            </a:extLst>
          </p:cNvPr>
          <p:cNvSpPr>
            <a:spLocks noGrp="1"/>
          </p:cNvSpPr>
          <p:nvPr/>
        </p:nvSpPr>
        <p:spPr>
          <a:xfrm>
            <a:off x="7653528" y="5271516"/>
            <a:ext cx="3849624" cy="502920"/>
          </a:xfrm>
          <a:prstGeom prst="rect">
            <a:avLst/>
          </a:prstGeom>
          <a:noFill/>
        </p:spPr>
        <p:txBody>
          <a:bodyPr wrap="square" lIns="0" tIns="0" rIns="0" bIns="0" anchor="t"/>
          <a:lstStyle/>
          <a:p>
            <a:pPr marL="0" indent="0" algn="ctr">
              <a:lnSpc>
                <a:spcPct val="105000"/>
              </a:lnSpc>
              <a:buNone/>
            </a:pPr>
            <a:r>
              <a:rPr sz="950">
                <a:solidFill>
                  <a:srgbClr val="9A968C"/>
                </a:solidFill>
                <a:latin typeface="Arial"/>
                <a:ea typeface="Arial"/>
                <a:cs typeface="Arial"/>
              </a:rPr>
              <a:t>Fit score breakdown + evidence with source and date.</a:t>
            </a:r>
          </a:p>
        </p:txBody>
      </p:sp>
      <p:sp>
        <p:nvSpPr>
          <p:cNvPr id="16" name="Text 14">
            <a:extLst>
              <a:ext uri="{FF2B5EF4-FFF2-40B4-BE49-F238E27FC236}">
                <a16:creationId xmlns:a16="http://schemas.microsoft.com/office/drawing/2014/main" id="{FE0B93AE-8A85-425E-9551-FDA0B00522BE}"/>
              </a:ext>
            </a:extLst>
          </p:cNvPr>
          <p:cNvSpPr>
            <a:spLocks noGrp="1"/>
          </p:cNvSpPr>
          <p:nvPr/>
        </p:nvSpPr>
        <p:spPr>
          <a:xfrm>
            <a:off x="566928" y="6263640"/>
            <a:ext cx="868680" cy="256032"/>
          </a:xfrm>
          <a:prstGeom prst="rect">
            <a:avLst/>
          </a:prstGeom>
          <a:noFill/>
        </p:spPr>
        <p:txBody>
          <a:bodyPr wrap="square" lIns="0" tIns="0" rIns="0" bIns="0" anchor="ctr"/>
          <a:lstStyle/>
          <a:p>
            <a:pPr marL="0" indent="0">
              <a:buNone/>
            </a:pPr>
            <a:r>
              <a:rPr sz="950" b="1">
                <a:solidFill>
                  <a:srgbClr val="6B675F"/>
                </a:solidFill>
                <a:latin typeface="Arial"/>
                <a:ea typeface="Arial"/>
                <a:cs typeface="Arial"/>
              </a:rPr>
              <a:t>Controls:</a:t>
            </a:r>
          </a:p>
        </p:txBody>
      </p:sp>
      <p:sp>
        <p:nvSpPr>
          <p:cNvPr id="17" name="Shape 15">
            <a:extLst>
              <a:ext uri="{FF2B5EF4-FFF2-40B4-BE49-F238E27FC236}">
                <a16:creationId xmlns:a16="http://schemas.microsoft.com/office/drawing/2014/main" id="{BB39181D-91D0-43C2-89C4-18BBB82E67F7}"/>
              </a:ext>
            </a:extLst>
          </p:cNvPr>
          <p:cNvSpPr>
            <a:spLocks noGrp="1"/>
          </p:cNvSpPr>
          <p:nvPr/>
        </p:nvSpPr>
        <p:spPr>
          <a:xfrm>
            <a:off x="1435608" y="6245352"/>
            <a:ext cx="1040587" cy="274320"/>
          </a:xfrm>
          <a:prstGeom prst="roundRect">
            <a:avLst>
              <a:gd name="adj" fmla="val 20000"/>
            </a:avLst>
          </a:prstGeom>
          <a:solidFill>
            <a:srgbClr val="FFFFFF"/>
          </a:solidFill>
          <a:ln w="12700">
            <a:solidFill>
              <a:srgbClr val="E2DED6"/>
            </a:solidFill>
            <a:prstDash val="solid"/>
          </a:ln>
        </p:spPr>
        <p:txBody>
          <a:bodyPr/>
          <a:lstStyle/>
          <a:p>
            <a:endParaRPr lang="en-SG"/>
          </a:p>
        </p:txBody>
      </p:sp>
      <p:sp>
        <p:nvSpPr>
          <p:cNvPr id="18" name="Text 16">
            <a:extLst>
              <a:ext uri="{FF2B5EF4-FFF2-40B4-BE49-F238E27FC236}">
                <a16:creationId xmlns:a16="http://schemas.microsoft.com/office/drawing/2014/main" id="{CF3BB2BC-4A5B-460B-A021-81D2B342AB66}"/>
              </a:ext>
            </a:extLst>
          </p:cNvPr>
          <p:cNvSpPr>
            <a:spLocks noGrp="1"/>
          </p:cNvSpPr>
          <p:nvPr/>
        </p:nvSpPr>
        <p:spPr>
          <a:xfrm>
            <a:off x="1435608" y="6245352"/>
            <a:ext cx="1040587" cy="274320"/>
          </a:xfrm>
          <a:prstGeom prst="rect">
            <a:avLst/>
          </a:prstGeom>
          <a:noFill/>
        </p:spPr>
        <p:txBody>
          <a:bodyPr wrap="square" lIns="0" tIns="0" rIns="0" bIns="0" anchor="ctr"/>
          <a:lstStyle/>
          <a:p>
            <a:pPr marL="0" indent="0" algn="ctr">
              <a:buNone/>
            </a:pPr>
            <a:r>
              <a:rPr sz="950">
                <a:solidFill>
                  <a:srgbClr val="35322D"/>
                </a:solidFill>
                <a:latin typeface="Arial"/>
                <a:ea typeface="Arial"/>
                <a:cs typeface="Arial"/>
              </a:rPr>
              <a:t>Global mode</a:t>
            </a:r>
          </a:p>
        </p:txBody>
      </p:sp>
      <p:sp>
        <p:nvSpPr>
          <p:cNvPr id="19" name="Shape 17">
            <a:extLst>
              <a:ext uri="{FF2B5EF4-FFF2-40B4-BE49-F238E27FC236}">
                <a16:creationId xmlns:a16="http://schemas.microsoft.com/office/drawing/2014/main" id="{B2883C0A-FFC7-4063-AC88-5D2B4163832C}"/>
              </a:ext>
            </a:extLst>
          </p:cNvPr>
          <p:cNvSpPr>
            <a:spLocks noGrp="1"/>
          </p:cNvSpPr>
          <p:nvPr/>
        </p:nvSpPr>
        <p:spPr>
          <a:xfrm>
            <a:off x="2604211" y="6245352"/>
            <a:ext cx="1611173" cy="274320"/>
          </a:xfrm>
          <a:prstGeom prst="roundRect">
            <a:avLst>
              <a:gd name="adj" fmla="val 20000"/>
            </a:avLst>
          </a:prstGeom>
          <a:solidFill>
            <a:srgbClr val="FFFFFF"/>
          </a:solidFill>
          <a:ln w="12700">
            <a:solidFill>
              <a:srgbClr val="E2DED6"/>
            </a:solidFill>
            <a:prstDash val="solid"/>
          </a:ln>
        </p:spPr>
        <p:txBody>
          <a:bodyPr/>
          <a:lstStyle/>
          <a:p>
            <a:endParaRPr lang="en-SG"/>
          </a:p>
        </p:txBody>
      </p:sp>
      <p:sp>
        <p:nvSpPr>
          <p:cNvPr id="20" name="Text 18">
            <a:extLst>
              <a:ext uri="{FF2B5EF4-FFF2-40B4-BE49-F238E27FC236}">
                <a16:creationId xmlns:a16="http://schemas.microsoft.com/office/drawing/2014/main" id="{F1C192D4-9EE3-4F91-A3A5-69A4B2EF5844}"/>
              </a:ext>
            </a:extLst>
          </p:cNvPr>
          <p:cNvSpPr>
            <a:spLocks noGrp="1"/>
          </p:cNvSpPr>
          <p:nvPr/>
        </p:nvSpPr>
        <p:spPr>
          <a:xfrm>
            <a:off x="2604211" y="6245352"/>
            <a:ext cx="1611173" cy="274320"/>
          </a:xfrm>
          <a:prstGeom prst="rect">
            <a:avLst/>
          </a:prstGeom>
          <a:noFill/>
        </p:spPr>
        <p:txBody>
          <a:bodyPr wrap="square" lIns="0" tIns="0" rIns="0" bIns="0" anchor="ctr"/>
          <a:lstStyle/>
          <a:p>
            <a:pPr marL="0" indent="0" algn="ctr">
              <a:buNone/>
            </a:pPr>
            <a:r>
              <a:rPr sz="950">
                <a:solidFill>
                  <a:srgbClr val="35322D"/>
                </a:solidFill>
                <a:latin typeface="Arial"/>
                <a:ea typeface="Arial"/>
                <a:cs typeface="Arial"/>
              </a:rPr>
              <a:t>Per-thread override</a:t>
            </a:r>
          </a:p>
        </p:txBody>
      </p:sp>
      <p:sp>
        <p:nvSpPr>
          <p:cNvPr id="21" name="Shape 19">
            <a:extLst>
              <a:ext uri="{FF2B5EF4-FFF2-40B4-BE49-F238E27FC236}">
                <a16:creationId xmlns:a16="http://schemas.microsoft.com/office/drawing/2014/main" id="{C226EE26-B4D5-46C3-A2C5-CE6AAE996852}"/>
              </a:ext>
            </a:extLst>
          </p:cNvPr>
          <p:cNvSpPr>
            <a:spLocks noGrp="1"/>
          </p:cNvSpPr>
          <p:nvPr/>
        </p:nvSpPr>
        <p:spPr>
          <a:xfrm>
            <a:off x="4343400" y="6245352"/>
            <a:ext cx="1254557" cy="274320"/>
          </a:xfrm>
          <a:prstGeom prst="roundRect">
            <a:avLst>
              <a:gd name="adj" fmla="val 20000"/>
            </a:avLst>
          </a:prstGeom>
          <a:solidFill>
            <a:srgbClr val="FFFFFF"/>
          </a:solidFill>
          <a:ln w="12700">
            <a:solidFill>
              <a:srgbClr val="E2DED6"/>
            </a:solidFill>
            <a:prstDash val="solid"/>
          </a:ln>
        </p:spPr>
        <p:txBody>
          <a:bodyPr/>
          <a:lstStyle/>
          <a:p>
            <a:endParaRPr lang="en-SG"/>
          </a:p>
        </p:txBody>
      </p:sp>
      <p:sp>
        <p:nvSpPr>
          <p:cNvPr id="22" name="Text 20">
            <a:extLst>
              <a:ext uri="{FF2B5EF4-FFF2-40B4-BE49-F238E27FC236}">
                <a16:creationId xmlns:a16="http://schemas.microsoft.com/office/drawing/2014/main" id="{991C4BF5-8918-4E93-AB8D-5CB20111A638}"/>
              </a:ext>
            </a:extLst>
          </p:cNvPr>
          <p:cNvSpPr>
            <a:spLocks noGrp="1"/>
          </p:cNvSpPr>
          <p:nvPr/>
        </p:nvSpPr>
        <p:spPr>
          <a:xfrm>
            <a:off x="4343400" y="6245352"/>
            <a:ext cx="1254557" cy="274320"/>
          </a:xfrm>
          <a:prstGeom prst="rect">
            <a:avLst/>
          </a:prstGeom>
          <a:noFill/>
        </p:spPr>
        <p:txBody>
          <a:bodyPr wrap="square" lIns="0" tIns="0" rIns="0" bIns="0" anchor="ctr"/>
          <a:lstStyle/>
          <a:p>
            <a:pPr marL="0" indent="0" algn="ctr">
              <a:buNone/>
            </a:pPr>
            <a:r>
              <a:rPr sz="950">
                <a:solidFill>
                  <a:srgbClr val="35322D"/>
                </a:solidFill>
                <a:latin typeface="Arial"/>
                <a:ea typeface="Arial"/>
                <a:cs typeface="Arial"/>
              </a:rPr>
              <a:t>Approval queue</a:t>
            </a:r>
          </a:p>
        </p:txBody>
      </p:sp>
      <p:sp>
        <p:nvSpPr>
          <p:cNvPr id="23" name="Shape 21">
            <a:extLst>
              <a:ext uri="{FF2B5EF4-FFF2-40B4-BE49-F238E27FC236}">
                <a16:creationId xmlns:a16="http://schemas.microsoft.com/office/drawing/2014/main" id="{692390FA-8F51-45C5-95F9-160AB0C6220C}"/>
              </a:ext>
            </a:extLst>
          </p:cNvPr>
          <p:cNvSpPr>
            <a:spLocks noGrp="1"/>
          </p:cNvSpPr>
          <p:nvPr/>
        </p:nvSpPr>
        <p:spPr>
          <a:xfrm>
            <a:off x="5725973" y="6245352"/>
            <a:ext cx="1539850" cy="274320"/>
          </a:xfrm>
          <a:prstGeom prst="roundRect">
            <a:avLst>
              <a:gd name="adj" fmla="val 20000"/>
            </a:avLst>
          </a:prstGeom>
          <a:solidFill>
            <a:srgbClr val="FFFFFF"/>
          </a:solidFill>
          <a:ln w="12700">
            <a:solidFill>
              <a:srgbClr val="E2DED6"/>
            </a:solidFill>
            <a:prstDash val="solid"/>
          </a:ln>
        </p:spPr>
        <p:txBody>
          <a:bodyPr/>
          <a:lstStyle/>
          <a:p>
            <a:endParaRPr lang="en-SG"/>
          </a:p>
        </p:txBody>
      </p:sp>
      <p:sp>
        <p:nvSpPr>
          <p:cNvPr id="24" name="Text 22">
            <a:extLst>
              <a:ext uri="{FF2B5EF4-FFF2-40B4-BE49-F238E27FC236}">
                <a16:creationId xmlns:a16="http://schemas.microsoft.com/office/drawing/2014/main" id="{55FDC4C2-6719-4657-9254-9AC9ED5D0C04}"/>
              </a:ext>
            </a:extLst>
          </p:cNvPr>
          <p:cNvSpPr>
            <a:spLocks noGrp="1"/>
          </p:cNvSpPr>
          <p:nvPr/>
        </p:nvSpPr>
        <p:spPr>
          <a:xfrm>
            <a:off x="5725973" y="6245352"/>
            <a:ext cx="1539850" cy="274320"/>
          </a:xfrm>
          <a:prstGeom prst="rect">
            <a:avLst/>
          </a:prstGeom>
          <a:noFill/>
        </p:spPr>
        <p:txBody>
          <a:bodyPr wrap="square" lIns="0" tIns="0" rIns="0" bIns="0" anchor="ctr"/>
          <a:lstStyle/>
          <a:p>
            <a:pPr marL="0" indent="0" algn="ctr">
              <a:buNone/>
            </a:pPr>
            <a:r>
              <a:rPr sz="950">
                <a:solidFill>
                  <a:srgbClr val="35322D"/>
                </a:solidFill>
                <a:latin typeface="Arial"/>
                <a:ea typeface="Arial"/>
                <a:cs typeface="Arial"/>
              </a:rPr>
              <a:t>Take over / return</a:t>
            </a:r>
          </a:p>
        </p:txBody>
      </p:sp>
      <p:sp>
        <p:nvSpPr>
          <p:cNvPr id="25" name="Shape 23">
            <a:extLst>
              <a:ext uri="{FF2B5EF4-FFF2-40B4-BE49-F238E27FC236}">
                <a16:creationId xmlns:a16="http://schemas.microsoft.com/office/drawing/2014/main" id="{4F0DEFA1-6AA4-4452-B01D-134D1D48A931}"/>
              </a:ext>
            </a:extLst>
          </p:cNvPr>
          <p:cNvSpPr>
            <a:spLocks noGrp="1"/>
          </p:cNvSpPr>
          <p:nvPr/>
        </p:nvSpPr>
        <p:spPr>
          <a:xfrm>
            <a:off x="7393838" y="6245352"/>
            <a:ext cx="1397203" cy="274320"/>
          </a:xfrm>
          <a:prstGeom prst="roundRect">
            <a:avLst>
              <a:gd name="adj" fmla="val 20000"/>
            </a:avLst>
          </a:prstGeom>
          <a:solidFill>
            <a:srgbClr val="FFFFFF"/>
          </a:solidFill>
          <a:ln w="12700">
            <a:solidFill>
              <a:srgbClr val="E2DED6"/>
            </a:solidFill>
            <a:prstDash val="solid"/>
          </a:ln>
        </p:spPr>
        <p:txBody>
          <a:bodyPr/>
          <a:lstStyle/>
          <a:p>
            <a:endParaRPr lang="en-SG"/>
          </a:p>
        </p:txBody>
      </p:sp>
      <p:sp>
        <p:nvSpPr>
          <p:cNvPr id="26" name="Text 24">
            <a:extLst>
              <a:ext uri="{FF2B5EF4-FFF2-40B4-BE49-F238E27FC236}">
                <a16:creationId xmlns:a16="http://schemas.microsoft.com/office/drawing/2014/main" id="{D5B7AC14-83EA-46E2-8D0B-72150A53934E}"/>
              </a:ext>
            </a:extLst>
          </p:cNvPr>
          <p:cNvSpPr>
            <a:spLocks noGrp="1"/>
          </p:cNvSpPr>
          <p:nvPr/>
        </p:nvSpPr>
        <p:spPr>
          <a:xfrm>
            <a:off x="7393838" y="6245352"/>
            <a:ext cx="1397203" cy="274320"/>
          </a:xfrm>
          <a:prstGeom prst="rect">
            <a:avLst/>
          </a:prstGeom>
          <a:noFill/>
        </p:spPr>
        <p:txBody>
          <a:bodyPr wrap="square" lIns="0" tIns="0" rIns="0" bIns="0" anchor="ctr"/>
          <a:lstStyle/>
          <a:p>
            <a:pPr marL="0" indent="0" algn="ctr">
              <a:buNone/>
            </a:pPr>
            <a:r>
              <a:rPr sz="950">
                <a:solidFill>
                  <a:srgbClr val="35322D"/>
                </a:solidFill>
                <a:latin typeface="Arial"/>
                <a:ea typeface="Arial"/>
                <a:cs typeface="Arial"/>
              </a:rPr>
              <a:t>Activity history</a:t>
            </a:r>
          </a:p>
        </p:txBody>
      </p:sp>
      <p:sp>
        <p:nvSpPr>
          <p:cNvPr id="27" name="Text 25">
            <a:extLst>
              <a:ext uri="{FF2B5EF4-FFF2-40B4-BE49-F238E27FC236}">
                <a16:creationId xmlns:a16="http://schemas.microsoft.com/office/drawing/2014/main" id="{45DD96B7-14C1-4CCC-BA69-BDFA6770876D}"/>
              </a:ext>
            </a:extLst>
          </p:cNvPr>
          <p:cNvSpPr>
            <a:spLocks noGrp="1"/>
          </p:cNvSpPr>
          <p:nvPr/>
        </p:nvSpPr>
        <p:spPr>
          <a:xfrm>
            <a:off x="8351215" y="6382512"/>
            <a:ext cx="3273552" cy="274320"/>
          </a:xfrm>
          <a:prstGeom prst="rect">
            <a:avLst/>
          </a:prstGeom>
          <a:noFill/>
        </p:spPr>
        <p:txBody>
          <a:bodyPr wrap="square" lIns="0" tIns="0" rIns="0" bIns="0" anchor="ctr"/>
          <a:lstStyle/>
          <a:p>
            <a:pPr marL="0" indent="0" algn="r">
              <a:buNone/>
            </a:pPr>
            <a:r>
              <a:rPr sz="950" b="1">
                <a:solidFill>
                  <a:srgbClr val="9A968C"/>
                </a:solidFill>
                <a:latin typeface="Arial"/>
                <a:ea typeface="Arial"/>
                <a:cs typeface="Arial"/>
              </a:rPr>
              <a:t>INFLUENCEES</a:t>
            </a:r>
            <a:r>
              <a:rPr sz="950" b="1">
                <a:solidFill>
                  <a:srgbClr val="6B675F"/>
                </a:solidFill>
                <a:latin typeface="Arial"/>
                <a:ea typeface="Arial"/>
                <a:cs typeface="Arial"/>
              </a:rPr>
              <a:t>   05 / 10</a:t>
            </a:r>
          </a:p>
        </p:txBody>
      </p:sp>
      <p:sp>
        <p:nvSpPr>
          <p:cNvPr id="28" name="white-canvas-5">
            <a:extLst>
              <a:ext uri="{FF2B5EF4-FFF2-40B4-BE49-F238E27FC236}">
                <a16:creationId xmlns:a16="http://schemas.microsoft.com/office/drawing/2014/main" id="{1F9EF0D0-6648-441E-85FB-A976EBC4AB08}"/>
              </a:ext>
            </a:extLst>
          </p:cNvPr>
          <p:cNvSpPr>
            <a:spLocks noGrp="1"/>
          </p:cNvSpPr>
          <p:nvPr/>
        </p:nvSpPr>
        <p:spPr>
          <a:xfrm>
            <a:off x="0" y="0"/>
            <a:ext cx="12192000" cy="6858000"/>
          </a:xfrm>
          <a:prstGeom prst="rect">
            <a:avLst/>
          </a:prstGeom>
          <a:solidFill>
            <a:srgbClr val="FFFFFF"/>
          </a:solidFill>
          <a:ln w="0">
            <a:noFill/>
            <a:prstDash val="solid"/>
          </a:ln>
        </p:spPr>
        <p:txBody>
          <a:bodyPr/>
          <a:lstStyle/>
          <a:p>
            <a:endParaRPr lang="en-SG"/>
          </a:p>
        </p:txBody>
      </p:sp>
      <p:sp>
        <p:nvSpPr>
          <p:cNvPr id="29" name="section-badge">
            <a:extLst>
              <a:ext uri="{FF2B5EF4-FFF2-40B4-BE49-F238E27FC236}">
                <a16:creationId xmlns:a16="http://schemas.microsoft.com/office/drawing/2014/main" id="{54E21C1D-08E4-4A66-90A6-7C27EE0D0B8A}"/>
              </a:ext>
            </a:extLst>
          </p:cNvPr>
          <p:cNvSpPr>
            <a:spLocks noGrp="1"/>
          </p:cNvSpPr>
          <p:nvPr/>
        </p:nvSpPr>
        <p:spPr>
          <a:xfrm>
            <a:off x="4191000" y="323850"/>
            <a:ext cx="3810000" cy="247650"/>
          </a:xfrm>
          <a:prstGeom prst="rect">
            <a:avLst/>
          </a:prstGeom>
          <a:noFill/>
          <a:ln w="0">
            <a:noFill/>
            <a:prstDash val="solid"/>
          </a:ln>
        </p:spPr>
        <p:txBody>
          <a:bodyPr wrap="square" lIns="0" tIns="0" rIns="0" bIns="0" anchor="t">
            <a:normAutofit/>
          </a:bodyPr>
          <a:lstStyle/>
          <a:p>
            <a:pPr algn="ctr">
              <a:lnSpc>
                <a:spcPct val="112000"/>
              </a:lnSpc>
              <a:buNone/>
              <a:defRPr sz="1200" b="1">
                <a:solidFill>
                  <a:srgbClr val="7C5CFC"/>
                </a:solidFill>
                <a:latin typeface="Inter"/>
                <a:ea typeface="Inter"/>
                <a:cs typeface="Inter"/>
              </a:defRPr>
            </a:pPr>
            <a:r>
              <a:rPr sz="1200" b="1">
                <a:solidFill>
                  <a:srgbClr val="7C5CFC"/>
                </a:solidFill>
                <a:latin typeface="Inter"/>
                <a:ea typeface="Inter"/>
                <a:cs typeface="Inter"/>
              </a:rPr>
              <a:t>SOLUTION 01 · THE DASHBOARD</a:t>
            </a:r>
          </a:p>
        </p:txBody>
      </p:sp>
      <p:sp>
        <p:nvSpPr>
          <p:cNvPr id="30" name="slide-title">
            <a:extLst>
              <a:ext uri="{FF2B5EF4-FFF2-40B4-BE49-F238E27FC236}">
                <a16:creationId xmlns:a16="http://schemas.microsoft.com/office/drawing/2014/main" id="{905474D2-9916-41DC-AAC7-B7309CAB318F}"/>
              </a:ext>
            </a:extLst>
          </p:cNvPr>
          <p:cNvSpPr>
            <a:spLocks noGrp="1"/>
          </p:cNvSpPr>
          <p:nvPr/>
        </p:nvSpPr>
        <p:spPr>
          <a:xfrm>
            <a:off x="952500" y="685800"/>
            <a:ext cx="10287000" cy="685800"/>
          </a:xfrm>
          <a:prstGeom prst="rect">
            <a:avLst/>
          </a:prstGeom>
          <a:noFill/>
          <a:ln w="0">
            <a:noFill/>
            <a:prstDash val="solid"/>
          </a:ln>
        </p:spPr>
        <p:txBody>
          <a:bodyPr wrap="square" lIns="0" tIns="0" rIns="0" bIns="0" anchor="ctr">
            <a:normAutofit/>
          </a:bodyPr>
          <a:lstStyle/>
          <a:p>
            <a:pPr algn="ctr">
              <a:lnSpc>
                <a:spcPct val="102000"/>
              </a:lnSpc>
              <a:buNone/>
              <a:defRPr sz="3300" b="0">
                <a:solidFill>
                  <a:srgbClr val="0F172A"/>
                </a:solidFill>
                <a:latin typeface="Inter"/>
                <a:ea typeface="Inter"/>
                <a:cs typeface="Inter"/>
              </a:defRPr>
            </a:pPr>
            <a:r>
              <a:rPr sz="3300" b="0">
                <a:solidFill>
                  <a:srgbClr val="0F172A"/>
                </a:solidFill>
                <a:latin typeface="Inter"/>
                <a:ea typeface="Inter"/>
                <a:cs typeface="Inter"/>
              </a:rPr>
              <a:t>Everything the operator does is visible in one place.</a:t>
            </a:r>
          </a:p>
        </p:txBody>
      </p:sp>
      <p:sp>
        <p:nvSpPr>
          <p:cNvPr id="31" name="slide-subtitle">
            <a:extLst>
              <a:ext uri="{FF2B5EF4-FFF2-40B4-BE49-F238E27FC236}">
                <a16:creationId xmlns:a16="http://schemas.microsoft.com/office/drawing/2014/main" id="{305A9C3C-1D5D-47F4-8E7C-791DB1BA4DCD}"/>
              </a:ext>
            </a:extLst>
          </p:cNvPr>
          <p:cNvSpPr>
            <a:spLocks noGrp="1"/>
          </p:cNvSpPr>
          <p:nvPr/>
        </p:nvSpPr>
        <p:spPr>
          <a:xfrm>
            <a:off x="1333500" y="1333500"/>
            <a:ext cx="9525000" cy="590550"/>
          </a:xfrm>
          <a:prstGeom prst="rect">
            <a:avLst/>
          </a:prstGeom>
          <a:noFill/>
          <a:ln w="0">
            <a:noFill/>
            <a:prstDash val="solid"/>
          </a:ln>
        </p:spPr>
        <p:txBody>
          <a:bodyPr wrap="square" lIns="0" tIns="0" rIns="0" bIns="0" anchor="ctr">
            <a:normAutofit/>
          </a:bodyPr>
          <a:lstStyle/>
          <a:p>
            <a:pPr algn="ctr">
              <a:lnSpc>
                <a:spcPct val="122000"/>
              </a:lnSpc>
              <a:buNone/>
              <a:defRPr sz="1575" b="0">
                <a:solidFill>
                  <a:srgbClr val="64748B"/>
                </a:solidFill>
                <a:latin typeface="Inter"/>
                <a:ea typeface="Inter"/>
                <a:cs typeface="Inter"/>
              </a:defRPr>
            </a:pPr>
            <a:r>
              <a:rPr sz="1575" b="0">
                <a:solidFill>
                  <a:srgbClr val="64748B"/>
                </a:solidFill>
                <a:latin typeface="Inter"/>
                <a:ea typeface="Inter"/>
                <a:cs typeface="Inter"/>
              </a:rPr>
              <a:t>One control centre for leads, messages, evidence and agent ownership.</a:t>
            </a:r>
          </a:p>
        </p:txBody>
      </p:sp>
      <p:sp>
        <p:nvSpPr>
          <p:cNvPr id="32" name="dashboard-shell">
            <a:extLst>
              <a:ext uri="{FF2B5EF4-FFF2-40B4-BE49-F238E27FC236}">
                <a16:creationId xmlns:a16="http://schemas.microsoft.com/office/drawing/2014/main" id="{E8B80FFA-309A-469D-B400-2A630C1F0930}"/>
              </a:ext>
            </a:extLst>
          </p:cNvPr>
          <p:cNvSpPr>
            <a:spLocks noGrp="1"/>
          </p:cNvSpPr>
          <p:nvPr/>
        </p:nvSpPr>
        <p:spPr>
          <a:xfrm>
            <a:off x="590550" y="2209800"/>
            <a:ext cx="11010900" cy="3810000"/>
          </a:xfrm>
          <a:prstGeom prst="roundRect">
            <a:avLst>
              <a:gd name="adj" fmla="val 5000"/>
            </a:avLst>
          </a:prstGeom>
          <a:solidFill>
            <a:srgbClr val="F4F8F9"/>
          </a:solidFill>
          <a:ln w="9525">
            <a:solidFill>
              <a:srgbClr val="FFFFFF">
                <a:alpha val="60000"/>
              </a:srgbClr>
            </a:solidFill>
            <a:prstDash val="solid"/>
          </a:ln>
        </p:spPr>
        <p:style>
          <a:lnRef idx="0">
            <a:scrgbClr r="0" g="0" b="0"/>
          </a:lnRef>
          <a:fillRef idx="0">
            <a:scrgbClr r="0" g="0" b="0"/>
          </a:fillRef>
          <a:effectRef idx="4">
            <a:scrgbClr r="0" g="0" b="0"/>
          </a:effectRef>
          <a:fontRef idx="major"/>
        </p:style>
        <p:txBody>
          <a:bodyPr/>
          <a:lstStyle/>
          <a:p>
            <a:endParaRPr lang="en-SG"/>
          </a:p>
        </p:txBody>
      </p:sp>
      <p:sp>
        <p:nvSpPr>
          <p:cNvPr id="33" name="dash-panel-0">
            <a:extLst>
              <a:ext uri="{FF2B5EF4-FFF2-40B4-BE49-F238E27FC236}">
                <a16:creationId xmlns:a16="http://schemas.microsoft.com/office/drawing/2014/main" id="{A50B6E69-6D79-4C30-8DD8-2A60B693C99E}"/>
              </a:ext>
            </a:extLst>
          </p:cNvPr>
          <p:cNvSpPr>
            <a:spLocks noGrp="1"/>
          </p:cNvSpPr>
          <p:nvPr/>
        </p:nvSpPr>
        <p:spPr>
          <a:xfrm>
            <a:off x="819150" y="2571750"/>
            <a:ext cx="2362200" cy="3086100"/>
          </a:xfrm>
          <a:prstGeom prst="roundRect">
            <a:avLst>
              <a:gd name="adj" fmla="val 6452"/>
            </a:avLst>
          </a:prstGeom>
          <a:solidFill>
            <a:srgbClr val="FFFFFF">
              <a:alpha val="92000"/>
            </a:srgbClr>
          </a:solidFill>
          <a:ln w="9525">
            <a:solidFill>
              <a:srgbClr val="FFFFFF"/>
            </a:solidFill>
            <a:prstDash val="solid"/>
          </a:ln>
        </p:spPr>
        <p:style>
          <a:lnRef idx="0">
            <a:scrgbClr r="0" g="0" b="0"/>
          </a:lnRef>
          <a:fillRef idx="0">
            <a:scrgbClr r="0" g="0" b="0"/>
          </a:fillRef>
          <a:effectRef idx="11">
            <a:scrgbClr r="0" g="0" b="0"/>
          </a:effectRef>
          <a:fontRef idx="major"/>
        </p:style>
        <p:txBody>
          <a:bodyPr/>
          <a:lstStyle/>
          <a:p>
            <a:endParaRPr lang="en-SG"/>
          </a:p>
        </p:txBody>
      </p:sp>
      <p:sp>
        <p:nvSpPr>
          <p:cNvPr id="34" name="dash-panel-title-0">
            <a:extLst>
              <a:ext uri="{FF2B5EF4-FFF2-40B4-BE49-F238E27FC236}">
                <a16:creationId xmlns:a16="http://schemas.microsoft.com/office/drawing/2014/main" id="{B94A935A-1AD1-4BB6-9731-5C454DC71D39}"/>
              </a:ext>
            </a:extLst>
          </p:cNvPr>
          <p:cNvSpPr>
            <a:spLocks noGrp="1"/>
          </p:cNvSpPr>
          <p:nvPr/>
        </p:nvSpPr>
        <p:spPr>
          <a:xfrm>
            <a:off x="990600" y="2724150"/>
            <a:ext cx="2019300" cy="285750"/>
          </a:xfrm>
          <a:prstGeom prst="rect">
            <a:avLst/>
          </a:prstGeom>
          <a:noFill/>
          <a:ln w="0">
            <a:noFill/>
            <a:prstDash val="solid"/>
          </a:ln>
        </p:spPr>
        <p:txBody>
          <a:bodyPr wrap="square" lIns="0" tIns="0" rIns="0" bIns="0" anchor="ctr">
            <a:normAutofit/>
          </a:bodyPr>
          <a:lstStyle/>
          <a:p>
            <a:pPr algn="l">
              <a:lnSpc>
                <a:spcPct val="112000"/>
              </a:lnSpc>
              <a:buNone/>
              <a:defRPr sz="1350" b="1">
                <a:solidFill>
                  <a:srgbClr val="1E293B"/>
                </a:solidFill>
                <a:latin typeface="Inter"/>
                <a:ea typeface="Inter"/>
                <a:cs typeface="Inter"/>
              </a:defRPr>
            </a:pPr>
            <a:r>
              <a:rPr sz="1350" b="1">
                <a:solidFill>
                  <a:srgbClr val="1E293B"/>
                </a:solidFill>
                <a:latin typeface="Inter"/>
                <a:ea typeface="Inter"/>
                <a:cs typeface="Inter"/>
              </a:rPr>
              <a:t>Shared inbox</a:t>
            </a:r>
          </a:p>
        </p:txBody>
      </p:sp>
      <p:sp>
        <p:nvSpPr>
          <p:cNvPr id="35" name="dash-panel-1">
            <a:extLst>
              <a:ext uri="{FF2B5EF4-FFF2-40B4-BE49-F238E27FC236}">
                <a16:creationId xmlns:a16="http://schemas.microsoft.com/office/drawing/2014/main" id="{4D3C919D-1207-4522-B75E-6D3B297CA9A8}"/>
              </a:ext>
            </a:extLst>
          </p:cNvPr>
          <p:cNvSpPr>
            <a:spLocks noGrp="1"/>
          </p:cNvSpPr>
          <p:nvPr/>
        </p:nvSpPr>
        <p:spPr>
          <a:xfrm>
            <a:off x="3333750" y="2571750"/>
            <a:ext cx="4762500" cy="3086100"/>
          </a:xfrm>
          <a:prstGeom prst="roundRect">
            <a:avLst>
              <a:gd name="adj" fmla="val 4938"/>
            </a:avLst>
          </a:prstGeom>
          <a:solidFill>
            <a:srgbClr val="FFFFFF">
              <a:alpha val="92000"/>
            </a:srgbClr>
          </a:solidFill>
          <a:ln w="9525">
            <a:solidFill>
              <a:srgbClr val="FFFFFF"/>
            </a:solidFill>
            <a:prstDash val="solid"/>
          </a:ln>
        </p:spPr>
        <p:style>
          <a:lnRef idx="0">
            <a:scrgbClr r="0" g="0" b="0"/>
          </a:lnRef>
          <a:fillRef idx="0">
            <a:scrgbClr r="0" g="0" b="0"/>
          </a:fillRef>
          <a:effectRef idx="11">
            <a:scrgbClr r="0" g="0" b="0"/>
          </a:effectRef>
          <a:fontRef idx="major"/>
        </p:style>
        <p:txBody>
          <a:bodyPr/>
          <a:lstStyle/>
          <a:p>
            <a:endParaRPr lang="en-SG"/>
          </a:p>
        </p:txBody>
      </p:sp>
      <p:sp>
        <p:nvSpPr>
          <p:cNvPr id="36" name="dash-panel-title-1">
            <a:extLst>
              <a:ext uri="{FF2B5EF4-FFF2-40B4-BE49-F238E27FC236}">
                <a16:creationId xmlns:a16="http://schemas.microsoft.com/office/drawing/2014/main" id="{2012A9FE-2C0D-4DE3-9146-F1765526FD6B}"/>
              </a:ext>
            </a:extLst>
          </p:cNvPr>
          <p:cNvSpPr>
            <a:spLocks noGrp="1"/>
          </p:cNvSpPr>
          <p:nvPr/>
        </p:nvSpPr>
        <p:spPr>
          <a:xfrm>
            <a:off x="3505200" y="2724150"/>
            <a:ext cx="4419600" cy="285750"/>
          </a:xfrm>
          <a:prstGeom prst="rect">
            <a:avLst/>
          </a:prstGeom>
          <a:noFill/>
          <a:ln w="0">
            <a:noFill/>
            <a:prstDash val="solid"/>
          </a:ln>
        </p:spPr>
        <p:txBody>
          <a:bodyPr wrap="square" lIns="0" tIns="0" rIns="0" bIns="0" anchor="ctr">
            <a:normAutofit/>
          </a:bodyPr>
          <a:lstStyle/>
          <a:p>
            <a:pPr algn="l">
              <a:lnSpc>
                <a:spcPct val="112000"/>
              </a:lnSpc>
              <a:buNone/>
              <a:defRPr sz="1350" b="1">
                <a:solidFill>
                  <a:srgbClr val="1E293B"/>
                </a:solidFill>
                <a:latin typeface="Inter"/>
                <a:ea typeface="Inter"/>
                <a:cs typeface="Inter"/>
              </a:defRPr>
            </a:pPr>
            <a:r>
              <a:rPr sz="1350" b="1">
                <a:solidFill>
                  <a:srgbClr val="1E293B"/>
                </a:solidFill>
                <a:latin typeface="Inter"/>
                <a:ea typeface="Inter"/>
                <a:cs typeface="Inter"/>
              </a:rPr>
              <a:t>Conversation</a:t>
            </a:r>
          </a:p>
        </p:txBody>
      </p:sp>
      <p:sp>
        <p:nvSpPr>
          <p:cNvPr id="37" name="dash-panel-2">
            <a:extLst>
              <a:ext uri="{FF2B5EF4-FFF2-40B4-BE49-F238E27FC236}">
                <a16:creationId xmlns:a16="http://schemas.microsoft.com/office/drawing/2014/main" id="{9064623F-3168-4007-B850-662EEB2664B3}"/>
              </a:ext>
            </a:extLst>
          </p:cNvPr>
          <p:cNvSpPr>
            <a:spLocks noGrp="1"/>
          </p:cNvSpPr>
          <p:nvPr/>
        </p:nvSpPr>
        <p:spPr>
          <a:xfrm>
            <a:off x="8248650" y="2571750"/>
            <a:ext cx="3124200" cy="3086100"/>
          </a:xfrm>
          <a:prstGeom prst="roundRect">
            <a:avLst>
              <a:gd name="adj" fmla="val 4938"/>
            </a:avLst>
          </a:prstGeom>
          <a:solidFill>
            <a:srgbClr val="FFFFFF">
              <a:alpha val="92000"/>
            </a:srgbClr>
          </a:solidFill>
          <a:ln w="9525">
            <a:solidFill>
              <a:srgbClr val="FFFFFF"/>
            </a:solidFill>
            <a:prstDash val="solid"/>
          </a:ln>
        </p:spPr>
        <p:style>
          <a:lnRef idx="0">
            <a:scrgbClr r="0" g="0" b="0"/>
          </a:lnRef>
          <a:fillRef idx="0">
            <a:scrgbClr r="0" g="0" b="0"/>
          </a:fillRef>
          <a:effectRef idx="11">
            <a:scrgbClr r="0" g="0" b="0"/>
          </a:effectRef>
          <a:fontRef idx="major"/>
        </p:style>
        <p:txBody>
          <a:bodyPr/>
          <a:lstStyle/>
          <a:p>
            <a:endParaRPr lang="en-SG"/>
          </a:p>
        </p:txBody>
      </p:sp>
      <p:sp>
        <p:nvSpPr>
          <p:cNvPr id="38" name="dash-panel-title-2">
            <a:extLst>
              <a:ext uri="{FF2B5EF4-FFF2-40B4-BE49-F238E27FC236}">
                <a16:creationId xmlns:a16="http://schemas.microsoft.com/office/drawing/2014/main" id="{8049F977-8901-4922-828B-225ABCB5ED1D}"/>
              </a:ext>
            </a:extLst>
          </p:cNvPr>
          <p:cNvSpPr>
            <a:spLocks noGrp="1"/>
          </p:cNvSpPr>
          <p:nvPr/>
        </p:nvSpPr>
        <p:spPr>
          <a:xfrm>
            <a:off x="8420100" y="2724150"/>
            <a:ext cx="2781300" cy="285750"/>
          </a:xfrm>
          <a:prstGeom prst="rect">
            <a:avLst/>
          </a:prstGeom>
          <a:noFill/>
          <a:ln w="0">
            <a:noFill/>
            <a:prstDash val="solid"/>
          </a:ln>
        </p:spPr>
        <p:txBody>
          <a:bodyPr wrap="square" lIns="0" tIns="0" rIns="0" bIns="0" anchor="ctr">
            <a:normAutofit/>
          </a:bodyPr>
          <a:lstStyle/>
          <a:p>
            <a:pPr algn="l">
              <a:lnSpc>
                <a:spcPct val="112000"/>
              </a:lnSpc>
              <a:buNone/>
              <a:defRPr sz="1350" b="1">
                <a:solidFill>
                  <a:srgbClr val="1E293B"/>
                </a:solidFill>
                <a:latin typeface="Inter"/>
                <a:ea typeface="Inter"/>
                <a:cs typeface="Inter"/>
              </a:defRPr>
            </a:pPr>
            <a:r>
              <a:rPr sz="1350" b="1">
                <a:solidFill>
                  <a:srgbClr val="1E293B"/>
                </a:solidFill>
                <a:latin typeface="Inter"/>
                <a:ea typeface="Inter"/>
                <a:cs typeface="Inter"/>
              </a:rPr>
              <a:t>Agent context</a:t>
            </a:r>
          </a:p>
        </p:txBody>
      </p:sp>
      <p:sp>
        <p:nvSpPr>
          <p:cNvPr id="39" name="company-row-0">
            <a:extLst>
              <a:ext uri="{FF2B5EF4-FFF2-40B4-BE49-F238E27FC236}">
                <a16:creationId xmlns:a16="http://schemas.microsoft.com/office/drawing/2014/main" id="{CAAD7708-58D5-45EF-B100-E68E76FA8BA4}"/>
              </a:ext>
            </a:extLst>
          </p:cNvPr>
          <p:cNvSpPr>
            <a:spLocks noGrp="1"/>
          </p:cNvSpPr>
          <p:nvPr/>
        </p:nvSpPr>
        <p:spPr>
          <a:xfrm>
            <a:off x="962025" y="3105150"/>
            <a:ext cx="2076450" cy="438150"/>
          </a:xfrm>
          <a:prstGeom prst="roundRect">
            <a:avLst>
              <a:gd name="adj" fmla="val 21739"/>
            </a:avLst>
          </a:prstGeom>
          <a:solidFill>
            <a:srgbClr val="FBF7FF"/>
          </a:solidFill>
          <a:ln w="9525">
            <a:solidFill>
              <a:srgbClr val="E9D5FF"/>
            </a:solidFill>
            <a:prstDash val="solid"/>
          </a:ln>
        </p:spPr>
        <p:txBody>
          <a:bodyPr/>
          <a:lstStyle/>
          <a:p>
            <a:endParaRPr lang="en-SG"/>
          </a:p>
        </p:txBody>
      </p:sp>
      <p:sp>
        <p:nvSpPr>
          <p:cNvPr id="40" name="company-avatar-0">
            <a:extLst>
              <a:ext uri="{FF2B5EF4-FFF2-40B4-BE49-F238E27FC236}">
                <a16:creationId xmlns:a16="http://schemas.microsoft.com/office/drawing/2014/main" id="{A8597448-AEC3-465B-9783-A71A9D227338}"/>
              </a:ext>
            </a:extLst>
          </p:cNvPr>
          <p:cNvSpPr>
            <a:spLocks noGrp="1"/>
          </p:cNvSpPr>
          <p:nvPr/>
        </p:nvSpPr>
        <p:spPr>
          <a:xfrm>
            <a:off x="1066800" y="3190875"/>
            <a:ext cx="266700" cy="266700"/>
          </a:xfrm>
          <a:prstGeom prst="ellipse">
            <a:avLst/>
          </a:prstGeom>
          <a:solidFill>
            <a:srgbClr val="B567C2"/>
          </a:solidFill>
          <a:ln w="0">
            <a:noFill/>
            <a:prstDash val="solid"/>
          </a:ln>
        </p:spPr>
        <p:txBody>
          <a:bodyPr/>
          <a:lstStyle/>
          <a:p>
            <a:endParaRPr lang="en-SG"/>
          </a:p>
        </p:txBody>
      </p:sp>
      <p:sp>
        <p:nvSpPr>
          <p:cNvPr id="41" name="company-name-0">
            <a:extLst>
              <a:ext uri="{FF2B5EF4-FFF2-40B4-BE49-F238E27FC236}">
                <a16:creationId xmlns:a16="http://schemas.microsoft.com/office/drawing/2014/main" id="{1C0CBEA8-A34A-42A4-94B0-30758B628258}"/>
              </a:ext>
            </a:extLst>
          </p:cNvPr>
          <p:cNvSpPr>
            <a:spLocks noGrp="1"/>
          </p:cNvSpPr>
          <p:nvPr/>
        </p:nvSpPr>
        <p:spPr>
          <a:xfrm>
            <a:off x="1428750" y="3162300"/>
            <a:ext cx="1409700" cy="323850"/>
          </a:xfrm>
          <a:prstGeom prst="rect">
            <a:avLst/>
          </a:prstGeom>
          <a:noFill/>
          <a:ln w="0">
            <a:noFill/>
            <a:prstDash val="solid"/>
          </a:ln>
        </p:spPr>
        <p:txBody>
          <a:bodyPr wrap="square" lIns="0" tIns="0" rIns="0" bIns="0" anchor="ctr">
            <a:normAutofit/>
          </a:bodyPr>
          <a:lstStyle/>
          <a:p>
            <a:pPr algn="l">
              <a:lnSpc>
                <a:spcPct val="112000"/>
              </a:lnSpc>
              <a:buNone/>
              <a:defRPr sz="1200" b="1">
                <a:solidFill>
                  <a:srgbClr val="1E293B"/>
                </a:solidFill>
                <a:latin typeface="Inter"/>
                <a:ea typeface="Inter"/>
                <a:cs typeface="Inter"/>
              </a:defRPr>
            </a:pPr>
            <a:r>
              <a:rPr sz="1200" b="1">
                <a:solidFill>
                  <a:srgbClr val="1E293B"/>
                </a:solidFill>
                <a:latin typeface="Inter"/>
                <a:ea typeface="Inter"/>
                <a:cs typeface="Inter"/>
              </a:rPr>
              <a:t>Kōri</a:t>
            </a:r>
          </a:p>
        </p:txBody>
      </p:sp>
      <p:sp>
        <p:nvSpPr>
          <p:cNvPr id="42" name="company-row-1">
            <a:extLst>
              <a:ext uri="{FF2B5EF4-FFF2-40B4-BE49-F238E27FC236}">
                <a16:creationId xmlns:a16="http://schemas.microsoft.com/office/drawing/2014/main" id="{106DFD80-70F8-42FF-9238-A011AFA2C0CD}"/>
              </a:ext>
            </a:extLst>
          </p:cNvPr>
          <p:cNvSpPr>
            <a:spLocks noGrp="1"/>
          </p:cNvSpPr>
          <p:nvPr/>
        </p:nvSpPr>
        <p:spPr>
          <a:xfrm>
            <a:off x="962025" y="3657600"/>
            <a:ext cx="2076450" cy="438150"/>
          </a:xfrm>
          <a:prstGeom prst="roundRect">
            <a:avLst>
              <a:gd name="adj" fmla="val 21739"/>
            </a:avLst>
          </a:prstGeom>
          <a:solidFill>
            <a:srgbClr val="F8FAFC"/>
          </a:solidFill>
          <a:ln w="9525">
            <a:solidFill>
              <a:srgbClr val="F1F5F9"/>
            </a:solidFill>
            <a:prstDash val="solid"/>
          </a:ln>
        </p:spPr>
        <p:txBody>
          <a:bodyPr/>
          <a:lstStyle/>
          <a:p>
            <a:endParaRPr lang="en-SG"/>
          </a:p>
        </p:txBody>
      </p:sp>
      <p:sp>
        <p:nvSpPr>
          <p:cNvPr id="43" name="company-avatar-1">
            <a:extLst>
              <a:ext uri="{FF2B5EF4-FFF2-40B4-BE49-F238E27FC236}">
                <a16:creationId xmlns:a16="http://schemas.microsoft.com/office/drawing/2014/main" id="{8C772E9E-4BD3-45F9-B060-4759CFBB5F27}"/>
              </a:ext>
            </a:extLst>
          </p:cNvPr>
          <p:cNvSpPr>
            <a:spLocks noGrp="1"/>
          </p:cNvSpPr>
          <p:nvPr/>
        </p:nvSpPr>
        <p:spPr>
          <a:xfrm>
            <a:off x="1066800" y="3743325"/>
            <a:ext cx="266700" cy="266700"/>
          </a:xfrm>
          <a:prstGeom prst="ellipse">
            <a:avLst/>
          </a:prstGeom>
          <a:solidFill>
            <a:srgbClr val="F28482"/>
          </a:solidFill>
          <a:ln w="0">
            <a:noFill/>
            <a:prstDash val="solid"/>
          </a:ln>
        </p:spPr>
        <p:txBody>
          <a:bodyPr/>
          <a:lstStyle/>
          <a:p>
            <a:endParaRPr lang="en-SG"/>
          </a:p>
        </p:txBody>
      </p:sp>
      <p:sp>
        <p:nvSpPr>
          <p:cNvPr id="44" name="company-name-1">
            <a:extLst>
              <a:ext uri="{FF2B5EF4-FFF2-40B4-BE49-F238E27FC236}">
                <a16:creationId xmlns:a16="http://schemas.microsoft.com/office/drawing/2014/main" id="{A90104DC-40A6-4743-B55E-2F36C89A07F0}"/>
              </a:ext>
            </a:extLst>
          </p:cNvPr>
          <p:cNvSpPr>
            <a:spLocks noGrp="1"/>
          </p:cNvSpPr>
          <p:nvPr/>
        </p:nvSpPr>
        <p:spPr>
          <a:xfrm>
            <a:off x="1428750" y="3714750"/>
            <a:ext cx="1409700" cy="323850"/>
          </a:xfrm>
          <a:prstGeom prst="rect">
            <a:avLst/>
          </a:prstGeom>
          <a:noFill/>
          <a:ln w="0">
            <a:noFill/>
            <a:prstDash val="solid"/>
          </a:ln>
        </p:spPr>
        <p:txBody>
          <a:bodyPr wrap="square" lIns="0" tIns="0" rIns="0" bIns="0" anchor="ctr">
            <a:normAutofit/>
          </a:bodyPr>
          <a:lstStyle/>
          <a:p>
            <a:pPr algn="l">
              <a:lnSpc>
                <a:spcPct val="112000"/>
              </a:lnSpc>
              <a:buNone/>
              <a:defRPr sz="1200" b="0">
                <a:solidFill>
                  <a:srgbClr val="1E293B"/>
                </a:solidFill>
                <a:latin typeface="Inter"/>
                <a:ea typeface="Inter"/>
                <a:cs typeface="Inter"/>
              </a:defRPr>
            </a:pPr>
            <a:r>
              <a:rPr sz="1200" b="0">
                <a:solidFill>
                  <a:srgbClr val="1E293B"/>
                </a:solidFill>
                <a:latin typeface="Inter"/>
                <a:ea typeface="Inter"/>
                <a:cs typeface="Inter"/>
              </a:rPr>
              <a:t>Luma Beauty</a:t>
            </a:r>
          </a:p>
        </p:txBody>
      </p:sp>
      <p:sp>
        <p:nvSpPr>
          <p:cNvPr id="45" name="company-row-2">
            <a:extLst>
              <a:ext uri="{FF2B5EF4-FFF2-40B4-BE49-F238E27FC236}">
                <a16:creationId xmlns:a16="http://schemas.microsoft.com/office/drawing/2014/main" id="{13037A9B-0C5B-4EAA-B87B-F55DA6F74120}"/>
              </a:ext>
            </a:extLst>
          </p:cNvPr>
          <p:cNvSpPr>
            <a:spLocks noGrp="1"/>
          </p:cNvSpPr>
          <p:nvPr/>
        </p:nvSpPr>
        <p:spPr>
          <a:xfrm>
            <a:off x="962025" y="4210050"/>
            <a:ext cx="2076450" cy="438150"/>
          </a:xfrm>
          <a:prstGeom prst="roundRect">
            <a:avLst>
              <a:gd name="adj" fmla="val 21739"/>
            </a:avLst>
          </a:prstGeom>
          <a:solidFill>
            <a:srgbClr val="F8FAFC"/>
          </a:solidFill>
          <a:ln w="9525">
            <a:solidFill>
              <a:srgbClr val="F1F5F9"/>
            </a:solidFill>
            <a:prstDash val="solid"/>
          </a:ln>
        </p:spPr>
        <p:txBody>
          <a:bodyPr/>
          <a:lstStyle/>
          <a:p>
            <a:endParaRPr lang="en-SG"/>
          </a:p>
        </p:txBody>
      </p:sp>
      <p:sp>
        <p:nvSpPr>
          <p:cNvPr id="46" name="company-avatar-2">
            <a:extLst>
              <a:ext uri="{FF2B5EF4-FFF2-40B4-BE49-F238E27FC236}">
                <a16:creationId xmlns:a16="http://schemas.microsoft.com/office/drawing/2014/main" id="{C1C7997E-2A11-4510-9D30-AA75624FEB92}"/>
              </a:ext>
            </a:extLst>
          </p:cNvPr>
          <p:cNvSpPr>
            <a:spLocks noGrp="1"/>
          </p:cNvSpPr>
          <p:nvPr/>
        </p:nvSpPr>
        <p:spPr>
          <a:xfrm>
            <a:off x="1066800" y="4295775"/>
            <a:ext cx="266700" cy="266700"/>
          </a:xfrm>
          <a:prstGeom prst="ellipse">
            <a:avLst/>
          </a:prstGeom>
          <a:solidFill>
            <a:srgbClr val="F5C344"/>
          </a:solidFill>
          <a:ln w="0">
            <a:noFill/>
            <a:prstDash val="solid"/>
          </a:ln>
        </p:spPr>
        <p:txBody>
          <a:bodyPr/>
          <a:lstStyle/>
          <a:p>
            <a:endParaRPr lang="en-SG"/>
          </a:p>
        </p:txBody>
      </p:sp>
      <p:sp>
        <p:nvSpPr>
          <p:cNvPr id="47" name="company-name-2">
            <a:extLst>
              <a:ext uri="{FF2B5EF4-FFF2-40B4-BE49-F238E27FC236}">
                <a16:creationId xmlns:a16="http://schemas.microsoft.com/office/drawing/2014/main" id="{9032E843-111D-4D49-B71C-09D7DA555D7C}"/>
              </a:ext>
            </a:extLst>
          </p:cNvPr>
          <p:cNvSpPr>
            <a:spLocks noGrp="1"/>
          </p:cNvSpPr>
          <p:nvPr/>
        </p:nvSpPr>
        <p:spPr>
          <a:xfrm>
            <a:off x="1428750" y="4267200"/>
            <a:ext cx="1409700" cy="323850"/>
          </a:xfrm>
          <a:prstGeom prst="rect">
            <a:avLst/>
          </a:prstGeom>
          <a:noFill/>
          <a:ln w="0">
            <a:noFill/>
            <a:prstDash val="solid"/>
          </a:ln>
        </p:spPr>
        <p:txBody>
          <a:bodyPr wrap="square" lIns="0" tIns="0" rIns="0" bIns="0" anchor="ctr">
            <a:normAutofit/>
          </a:bodyPr>
          <a:lstStyle/>
          <a:p>
            <a:pPr algn="l">
              <a:lnSpc>
                <a:spcPct val="112000"/>
              </a:lnSpc>
              <a:buNone/>
              <a:defRPr sz="1200" b="0">
                <a:solidFill>
                  <a:srgbClr val="1E293B"/>
                </a:solidFill>
                <a:latin typeface="Inter"/>
                <a:ea typeface="Inter"/>
                <a:cs typeface="Inter"/>
              </a:defRPr>
            </a:pPr>
            <a:r>
              <a:rPr sz="1200" b="0">
                <a:solidFill>
                  <a:srgbClr val="1E293B"/>
                </a:solidFill>
                <a:latin typeface="Inter"/>
                <a:ea typeface="Inter"/>
                <a:cs typeface="Inter"/>
              </a:rPr>
              <a:t>Pulse SG</a:t>
            </a:r>
          </a:p>
        </p:txBody>
      </p:sp>
      <p:sp>
        <p:nvSpPr>
          <p:cNvPr id="48" name="company-row-3">
            <a:extLst>
              <a:ext uri="{FF2B5EF4-FFF2-40B4-BE49-F238E27FC236}">
                <a16:creationId xmlns:a16="http://schemas.microsoft.com/office/drawing/2014/main" id="{A36F959D-7F00-482F-9352-D1F72530B65C}"/>
              </a:ext>
            </a:extLst>
          </p:cNvPr>
          <p:cNvSpPr>
            <a:spLocks noGrp="1"/>
          </p:cNvSpPr>
          <p:nvPr/>
        </p:nvSpPr>
        <p:spPr>
          <a:xfrm>
            <a:off x="962025" y="4762500"/>
            <a:ext cx="2076450" cy="438150"/>
          </a:xfrm>
          <a:prstGeom prst="roundRect">
            <a:avLst>
              <a:gd name="adj" fmla="val 21739"/>
            </a:avLst>
          </a:prstGeom>
          <a:solidFill>
            <a:srgbClr val="F8FAFC"/>
          </a:solidFill>
          <a:ln w="9525">
            <a:solidFill>
              <a:srgbClr val="F1F5F9"/>
            </a:solidFill>
            <a:prstDash val="solid"/>
          </a:ln>
        </p:spPr>
        <p:txBody>
          <a:bodyPr/>
          <a:lstStyle/>
          <a:p>
            <a:endParaRPr lang="en-SG"/>
          </a:p>
        </p:txBody>
      </p:sp>
      <p:sp>
        <p:nvSpPr>
          <p:cNvPr id="49" name="company-avatar-3">
            <a:extLst>
              <a:ext uri="{FF2B5EF4-FFF2-40B4-BE49-F238E27FC236}">
                <a16:creationId xmlns:a16="http://schemas.microsoft.com/office/drawing/2014/main" id="{0B4A7C14-2267-489D-B6BB-FC672B7A44B3}"/>
              </a:ext>
            </a:extLst>
          </p:cNvPr>
          <p:cNvSpPr>
            <a:spLocks noGrp="1"/>
          </p:cNvSpPr>
          <p:nvPr/>
        </p:nvSpPr>
        <p:spPr>
          <a:xfrm>
            <a:off x="1066800" y="4848225"/>
            <a:ext cx="266700" cy="266700"/>
          </a:xfrm>
          <a:prstGeom prst="ellipse">
            <a:avLst/>
          </a:prstGeom>
          <a:solidFill>
            <a:srgbClr val="7C5CFC"/>
          </a:solidFill>
          <a:ln w="0">
            <a:noFill/>
            <a:prstDash val="solid"/>
          </a:ln>
        </p:spPr>
        <p:txBody>
          <a:bodyPr/>
          <a:lstStyle/>
          <a:p>
            <a:endParaRPr lang="en-SG"/>
          </a:p>
        </p:txBody>
      </p:sp>
      <p:sp>
        <p:nvSpPr>
          <p:cNvPr id="50" name="company-name-3">
            <a:extLst>
              <a:ext uri="{FF2B5EF4-FFF2-40B4-BE49-F238E27FC236}">
                <a16:creationId xmlns:a16="http://schemas.microsoft.com/office/drawing/2014/main" id="{54390ADB-4E53-4455-9585-5B9071FC5853}"/>
              </a:ext>
            </a:extLst>
          </p:cNvPr>
          <p:cNvSpPr>
            <a:spLocks noGrp="1"/>
          </p:cNvSpPr>
          <p:nvPr/>
        </p:nvSpPr>
        <p:spPr>
          <a:xfrm>
            <a:off x="1428750" y="4819650"/>
            <a:ext cx="1409700" cy="323850"/>
          </a:xfrm>
          <a:prstGeom prst="rect">
            <a:avLst/>
          </a:prstGeom>
          <a:noFill/>
          <a:ln w="0">
            <a:noFill/>
            <a:prstDash val="solid"/>
          </a:ln>
        </p:spPr>
        <p:txBody>
          <a:bodyPr wrap="square" lIns="0" tIns="0" rIns="0" bIns="0" anchor="ctr">
            <a:normAutofit/>
          </a:bodyPr>
          <a:lstStyle/>
          <a:p>
            <a:pPr algn="l">
              <a:lnSpc>
                <a:spcPct val="112000"/>
              </a:lnSpc>
              <a:buNone/>
              <a:defRPr sz="1200" b="0">
                <a:solidFill>
                  <a:srgbClr val="1E293B"/>
                </a:solidFill>
                <a:latin typeface="Inter"/>
                <a:ea typeface="Inter"/>
                <a:cs typeface="Inter"/>
              </a:defRPr>
            </a:pPr>
            <a:r>
              <a:rPr sz="1200" b="0">
                <a:solidFill>
                  <a:srgbClr val="1E293B"/>
                </a:solidFill>
                <a:latin typeface="Inter"/>
                <a:ea typeface="Inter"/>
                <a:cs typeface="Inter"/>
              </a:rPr>
              <a:t>Nori Finance</a:t>
            </a:r>
          </a:p>
        </p:txBody>
      </p:sp>
      <p:sp>
        <p:nvSpPr>
          <p:cNvPr id="51" name="message-bubble-0">
            <a:extLst>
              <a:ext uri="{FF2B5EF4-FFF2-40B4-BE49-F238E27FC236}">
                <a16:creationId xmlns:a16="http://schemas.microsoft.com/office/drawing/2014/main" id="{A18A4A64-DEBF-44A5-85C2-1E32A1C40594}"/>
              </a:ext>
            </a:extLst>
          </p:cNvPr>
          <p:cNvSpPr>
            <a:spLocks noGrp="1"/>
          </p:cNvSpPr>
          <p:nvPr/>
        </p:nvSpPr>
        <p:spPr>
          <a:xfrm>
            <a:off x="3562350" y="3162300"/>
            <a:ext cx="3028950" cy="590550"/>
          </a:xfrm>
          <a:prstGeom prst="roundRect">
            <a:avLst>
              <a:gd name="adj" fmla="val 22581"/>
            </a:avLst>
          </a:prstGeom>
          <a:solidFill>
            <a:srgbClr val="F8FAFC"/>
          </a:solidFill>
          <a:ln w="9525">
            <a:solidFill>
              <a:srgbClr val="FFFFFF"/>
            </a:solidFill>
            <a:prstDash val="solid"/>
          </a:ln>
        </p:spPr>
        <p:style>
          <a:lnRef idx="0">
            <a:scrgbClr r="0" g="0" b="0"/>
          </a:lnRef>
          <a:fillRef idx="0">
            <a:scrgbClr r="0" g="0" b="0"/>
          </a:fillRef>
          <a:effectRef idx="12">
            <a:scrgbClr r="0" g="0" b="0"/>
          </a:effectRef>
          <a:fontRef idx="major"/>
        </p:style>
        <p:txBody>
          <a:bodyPr/>
          <a:lstStyle/>
          <a:p>
            <a:endParaRPr lang="en-SG"/>
          </a:p>
        </p:txBody>
      </p:sp>
      <p:sp>
        <p:nvSpPr>
          <p:cNvPr id="52" name="message-text-0">
            <a:extLst>
              <a:ext uri="{FF2B5EF4-FFF2-40B4-BE49-F238E27FC236}">
                <a16:creationId xmlns:a16="http://schemas.microsoft.com/office/drawing/2014/main" id="{B5B649A1-460E-4BBA-BB77-5F7899753590}"/>
              </a:ext>
            </a:extLst>
          </p:cNvPr>
          <p:cNvSpPr>
            <a:spLocks noGrp="1"/>
          </p:cNvSpPr>
          <p:nvPr/>
        </p:nvSpPr>
        <p:spPr>
          <a:xfrm>
            <a:off x="3695700" y="3248025"/>
            <a:ext cx="2762250" cy="419100"/>
          </a:xfrm>
          <a:prstGeom prst="rect">
            <a:avLst/>
          </a:prstGeom>
          <a:noFill/>
          <a:ln w="0">
            <a:noFill/>
            <a:prstDash val="solid"/>
          </a:ln>
        </p:spPr>
        <p:txBody>
          <a:bodyPr wrap="square" lIns="0" tIns="0" rIns="0" bIns="0" anchor="ctr">
            <a:normAutofit fontScale="98779"/>
          </a:bodyPr>
          <a:lstStyle/>
          <a:p>
            <a:pPr algn="l">
              <a:lnSpc>
                <a:spcPct val="116000"/>
              </a:lnSpc>
              <a:buNone/>
              <a:defRPr sz="1200" b="0">
                <a:solidFill>
                  <a:srgbClr val="1E293B"/>
                </a:solidFill>
                <a:latin typeface="Inter"/>
                <a:ea typeface="Inter"/>
                <a:cs typeface="Inter"/>
              </a:defRPr>
            </a:pPr>
            <a:r>
              <a:rPr sz="1200" b="0">
                <a:solidFill>
                  <a:srgbClr val="1E293B"/>
                </a:solidFill>
                <a:latin typeface="Inter"/>
                <a:ea typeface="Inter"/>
                <a:cs typeface="Inter"/>
              </a:rPr>
              <a:t>Saw your Uji matcha launch—there’s a strong SG creator angle here.</a:t>
            </a:r>
          </a:p>
        </p:txBody>
      </p:sp>
      <p:sp>
        <p:nvSpPr>
          <p:cNvPr id="53" name="message-bubble-1">
            <a:extLst>
              <a:ext uri="{FF2B5EF4-FFF2-40B4-BE49-F238E27FC236}">
                <a16:creationId xmlns:a16="http://schemas.microsoft.com/office/drawing/2014/main" id="{FF363830-2873-4A3A-B06D-2FBC8307D470}"/>
              </a:ext>
            </a:extLst>
          </p:cNvPr>
          <p:cNvSpPr>
            <a:spLocks noGrp="1"/>
          </p:cNvSpPr>
          <p:nvPr/>
        </p:nvSpPr>
        <p:spPr>
          <a:xfrm>
            <a:off x="4991100" y="3924300"/>
            <a:ext cx="2838450" cy="590550"/>
          </a:xfrm>
          <a:prstGeom prst="roundRect">
            <a:avLst>
              <a:gd name="adj" fmla="val 22581"/>
            </a:avLst>
          </a:prstGeom>
          <a:solidFill>
            <a:srgbClr val="FBF7FF"/>
          </a:solidFill>
          <a:ln w="9525">
            <a:solidFill>
              <a:srgbClr val="FFFFFF"/>
            </a:solidFill>
            <a:prstDash val="solid"/>
          </a:ln>
        </p:spPr>
        <p:style>
          <a:lnRef idx="0">
            <a:scrgbClr r="0" g="0" b="0"/>
          </a:lnRef>
          <a:fillRef idx="0">
            <a:scrgbClr r="0" g="0" b="0"/>
          </a:fillRef>
          <a:effectRef idx="12">
            <a:scrgbClr r="0" g="0" b="0"/>
          </a:effectRef>
          <a:fontRef idx="major"/>
        </p:style>
        <p:txBody>
          <a:bodyPr/>
          <a:lstStyle/>
          <a:p>
            <a:endParaRPr lang="en-SG"/>
          </a:p>
        </p:txBody>
      </p:sp>
      <p:sp>
        <p:nvSpPr>
          <p:cNvPr id="54" name="message-text-1">
            <a:extLst>
              <a:ext uri="{FF2B5EF4-FFF2-40B4-BE49-F238E27FC236}">
                <a16:creationId xmlns:a16="http://schemas.microsoft.com/office/drawing/2014/main" id="{773D486B-A35A-4E2E-9842-C81BD5273860}"/>
              </a:ext>
            </a:extLst>
          </p:cNvPr>
          <p:cNvSpPr>
            <a:spLocks noGrp="1"/>
          </p:cNvSpPr>
          <p:nvPr/>
        </p:nvSpPr>
        <p:spPr>
          <a:xfrm>
            <a:off x="5124450" y="4010025"/>
            <a:ext cx="2571750" cy="419100"/>
          </a:xfrm>
          <a:prstGeom prst="rect">
            <a:avLst/>
          </a:prstGeom>
          <a:noFill/>
          <a:ln w="0">
            <a:noFill/>
            <a:prstDash val="solid"/>
          </a:ln>
        </p:spPr>
        <p:txBody>
          <a:bodyPr wrap="square" lIns="0" tIns="0" rIns="0" bIns="0" anchor="ctr">
            <a:normAutofit fontScale="98779"/>
          </a:bodyPr>
          <a:lstStyle/>
          <a:p>
            <a:pPr algn="l">
              <a:lnSpc>
                <a:spcPct val="116000"/>
              </a:lnSpc>
              <a:buNone/>
              <a:defRPr sz="1200" b="0">
                <a:solidFill>
                  <a:srgbClr val="1E293B"/>
                </a:solidFill>
                <a:latin typeface="Inter"/>
                <a:ea typeface="Inter"/>
                <a:cs typeface="Inter"/>
              </a:defRPr>
            </a:pPr>
            <a:r>
              <a:rPr sz="1200" b="0">
                <a:solidFill>
                  <a:srgbClr val="1E293B"/>
                </a:solidFill>
                <a:latin typeface="Inter"/>
                <a:ea typeface="Inter"/>
                <a:cs typeface="Inter"/>
              </a:rPr>
              <a:t>Interesting. How would you shortlist creators for the launch?</a:t>
            </a:r>
          </a:p>
        </p:txBody>
      </p:sp>
      <p:sp>
        <p:nvSpPr>
          <p:cNvPr id="55" name="message-bubble-2">
            <a:extLst>
              <a:ext uri="{FF2B5EF4-FFF2-40B4-BE49-F238E27FC236}">
                <a16:creationId xmlns:a16="http://schemas.microsoft.com/office/drawing/2014/main" id="{985AE901-D30C-4F78-8CA0-7EA37D374317}"/>
              </a:ext>
            </a:extLst>
          </p:cNvPr>
          <p:cNvSpPr>
            <a:spLocks noGrp="1"/>
          </p:cNvSpPr>
          <p:nvPr/>
        </p:nvSpPr>
        <p:spPr>
          <a:xfrm>
            <a:off x="3562350" y="4686300"/>
            <a:ext cx="3352800" cy="590550"/>
          </a:xfrm>
          <a:prstGeom prst="roundRect">
            <a:avLst>
              <a:gd name="adj" fmla="val 22581"/>
            </a:avLst>
          </a:prstGeom>
          <a:solidFill>
            <a:srgbClr val="FFF7F5"/>
          </a:solidFill>
          <a:ln w="9525">
            <a:solidFill>
              <a:srgbClr val="FFFFFF"/>
            </a:solidFill>
            <a:prstDash val="solid"/>
          </a:ln>
        </p:spPr>
        <p:style>
          <a:lnRef idx="0">
            <a:scrgbClr r="0" g="0" b="0"/>
          </a:lnRef>
          <a:fillRef idx="0">
            <a:scrgbClr r="0" g="0" b="0"/>
          </a:fillRef>
          <a:effectRef idx="12">
            <a:scrgbClr r="0" g="0" b="0"/>
          </a:effectRef>
          <a:fontRef idx="major"/>
        </p:style>
        <p:txBody>
          <a:bodyPr/>
          <a:lstStyle/>
          <a:p>
            <a:endParaRPr lang="en-SG"/>
          </a:p>
        </p:txBody>
      </p:sp>
      <p:sp>
        <p:nvSpPr>
          <p:cNvPr id="56" name="message-text-2">
            <a:extLst>
              <a:ext uri="{FF2B5EF4-FFF2-40B4-BE49-F238E27FC236}">
                <a16:creationId xmlns:a16="http://schemas.microsoft.com/office/drawing/2014/main" id="{CA9DDE45-2B48-4174-BA4B-C5BBF8AC706B}"/>
              </a:ext>
            </a:extLst>
          </p:cNvPr>
          <p:cNvSpPr>
            <a:spLocks noGrp="1"/>
          </p:cNvSpPr>
          <p:nvPr/>
        </p:nvSpPr>
        <p:spPr>
          <a:xfrm>
            <a:off x="3695700" y="4772025"/>
            <a:ext cx="3086100" cy="419100"/>
          </a:xfrm>
          <a:prstGeom prst="rect">
            <a:avLst/>
          </a:prstGeom>
          <a:noFill/>
          <a:ln w="0">
            <a:noFill/>
            <a:prstDash val="solid"/>
          </a:ln>
        </p:spPr>
        <p:txBody>
          <a:bodyPr wrap="square" lIns="0" tIns="0" rIns="0" bIns="0" anchor="ctr">
            <a:normAutofit fontScale="86184"/>
          </a:bodyPr>
          <a:lstStyle/>
          <a:p>
            <a:pPr algn="l">
              <a:lnSpc>
                <a:spcPct val="116000"/>
              </a:lnSpc>
              <a:buNone/>
              <a:defRPr sz="1200" b="0">
                <a:solidFill>
                  <a:srgbClr val="1E293B"/>
                </a:solidFill>
                <a:latin typeface="Inter"/>
                <a:ea typeface="Inter"/>
                <a:cs typeface="Inter"/>
              </a:defRPr>
            </a:pPr>
            <a:r>
              <a:rPr sz="1200" b="0">
                <a:solidFill>
                  <a:srgbClr val="1E293B"/>
                </a:solidFill>
                <a:latin typeface="Inter"/>
                <a:ea typeface="Inter"/>
                <a:cs typeface="Inter"/>
              </a:rPr>
              <a:t>We’d score local relevance, real engagement and campaign fit, then show the evidence behind each match.</a:t>
            </a:r>
          </a:p>
        </p:txBody>
      </p:sp>
      <p:sp>
        <p:nvSpPr>
          <p:cNvPr id="57" name="context-label-0">
            <a:extLst>
              <a:ext uri="{FF2B5EF4-FFF2-40B4-BE49-F238E27FC236}">
                <a16:creationId xmlns:a16="http://schemas.microsoft.com/office/drawing/2014/main" id="{D5F3339C-912D-41E7-BB00-0CA990302E60}"/>
              </a:ext>
            </a:extLst>
          </p:cNvPr>
          <p:cNvSpPr>
            <a:spLocks noGrp="1"/>
          </p:cNvSpPr>
          <p:nvPr/>
        </p:nvSpPr>
        <p:spPr>
          <a:xfrm>
            <a:off x="8439150" y="3105150"/>
            <a:ext cx="1162050" cy="190500"/>
          </a:xfrm>
          <a:prstGeom prst="rect">
            <a:avLst/>
          </a:prstGeom>
          <a:noFill/>
          <a:ln w="0">
            <a:noFill/>
            <a:prstDash val="solid"/>
          </a:ln>
        </p:spPr>
        <p:txBody>
          <a:bodyPr wrap="square" lIns="0" tIns="0" rIns="0" bIns="0" anchor="t">
            <a:normAutofit/>
          </a:bodyPr>
          <a:lstStyle/>
          <a:p>
            <a:pPr algn="l">
              <a:lnSpc>
                <a:spcPct val="112000"/>
              </a:lnSpc>
              <a:buNone/>
              <a:defRPr sz="975" b="1">
                <a:solidFill>
                  <a:srgbClr val="7C5CFC"/>
                </a:solidFill>
                <a:latin typeface="Inter"/>
                <a:ea typeface="Inter"/>
                <a:cs typeface="Inter"/>
              </a:defRPr>
            </a:pPr>
            <a:r>
              <a:rPr sz="975" b="1">
                <a:solidFill>
                  <a:srgbClr val="7C5CFC"/>
                </a:solidFill>
                <a:latin typeface="Inter"/>
                <a:ea typeface="Inter"/>
                <a:cs typeface="Inter"/>
              </a:rPr>
              <a:t>FIT SCORE</a:t>
            </a:r>
          </a:p>
        </p:txBody>
      </p:sp>
      <p:sp>
        <p:nvSpPr>
          <p:cNvPr id="58" name="context-value-0">
            <a:extLst>
              <a:ext uri="{FF2B5EF4-FFF2-40B4-BE49-F238E27FC236}">
                <a16:creationId xmlns:a16="http://schemas.microsoft.com/office/drawing/2014/main" id="{F1968F49-0C96-4062-9A35-B3F7A2450DA9}"/>
              </a:ext>
            </a:extLst>
          </p:cNvPr>
          <p:cNvSpPr>
            <a:spLocks noGrp="1"/>
          </p:cNvSpPr>
          <p:nvPr/>
        </p:nvSpPr>
        <p:spPr>
          <a:xfrm>
            <a:off x="8439150" y="3314700"/>
            <a:ext cx="2667000" cy="285750"/>
          </a:xfrm>
          <a:prstGeom prst="rect">
            <a:avLst/>
          </a:prstGeom>
          <a:noFill/>
          <a:ln w="0">
            <a:noFill/>
            <a:prstDash val="solid"/>
          </a:ln>
        </p:spPr>
        <p:txBody>
          <a:bodyPr wrap="square" lIns="0" tIns="0" rIns="0" bIns="0" anchor="ctr">
            <a:normAutofit/>
          </a:bodyPr>
          <a:lstStyle/>
          <a:p>
            <a:pPr algn="l">
              <a:lnSpc>
                <a:spcPct val="112000"/>
              </a:lnSpc>
              <a:buNone/>
              <a:defRPr sz="1350" b="1">
                <a:solidFill>
                  <a:srgbClr val="1E293B"/>
                </a:solidFill>
                <a:latin typeface="Inter"/>
                <a:ea typeface="Inter"/>
                <a:cs typeface="Inter"/>
              </a:defRPr>
            </a:pPr>
            <a:r>
              <a:rPr sz="1350" b="1">
                <a:solidFill>
                  <a:srgbClr val="1E293B"/>
                </a:solidFill>
                <a:latin typeface="Inter"/>
                <a:ea typeface="Inter"/>
                <a:cs typeface="Inter"/>
              </a:rPr>
              <a:t>89%</a:t>
            </a:r>
          </a:p>
        </p:txBody>
      </p:sp>
      <p:sp>
        <p:nvSpPr>
          <p:cNvPr id="59" name="context-label-1">
            <a:extLst>
              <a:ext uri="{FF2B5EF4-FFF2-40B4-BE49-F238E27FC236}">
                <a16:creationId xmlns:a16="http://schemas.microsoft.com/office/drawing/2014/main" id="{E2B772F7-EF85-40BE-9B61-C75F4E2A7C26}"/>
              </a:ext>
            </a:extLst>
          </p:cNvPr>
          <p:cNvSpPr>
            <a:spLocks noGrp="1"/>
          </p:cNvSpPr>
          <p:nvPr/>
        </p:nvSpPr>
        <p:spPr>
          <a:xfrm>
            <a:off x="8439150" y="3695700"/>
            <a:ext cx="1162050" cy="190500"/>
          </a:xfrm>
          <a:prstGeom prst="rect">
            <a:avLst/>
          </a:prstGeom>
          <a:noFill/>
          <a:ln w="0">
            <a:noFill/>
            <a:prstDash val="solid"/>
          </a:ln>
        </p:spPr>
        <p:txBody>
          <a:bodyPr wrap="square" lIns="0" tIns="0" rIns="0" bIns="0" anchor="t">
            <a:normAutofit/>
          </a:bodyPr>
          <a:lstStyle/>
          <a:p>
            <a:pPr algn="l">
              <a:lnSpc>
                <a:spcPct val="112000"/>
              </a:lnSpc>
              <a:buNone/>
              <a:defRPr sz="975" b="1">
                <a:solidFill>
                  <a:srgbClr val="7C5CFC"/>
                </a:solidFill>
                <a:latin typeface="Inter"/>
                <a:ea typeface="Inter"/>
                <a:cs typeface="Inter"/>
              </a:defRPr>
            </a:pPr>
            <a:r>
              <a:rPr sz="975" b="1">
                <a:solidFill>
                  <a:srgbClr val="7C5CFC"/>
                </a:solidFill>
                <a:latin typeface="Inter"/>
                <a:ea typeface="Inter"/>
                <a:cs typeface="Inter"/>
              </a:rPr>
              <a:t>MODE</a:t>
            </a:r>
          </a:p>
        </p:txBody>
      </p:sp>
      <p:sp>
        <p:nvSpPr>
          <p:cNvPr id="60" name="context-value-1">
            <a:extLst>
              <a:ext uri="{FF2B5EF4-FFF2-40B4-BE49-F238E27FC236}">
                <a16:creationId xmlns:a16="http://schemas.microsoft.com/office/drawing/2014/main" id="{ED193321-B473-4B54-9486-FA03F029C5E5}"/>
              </a:ext>
            </a:extLst>
          </p:cNvPr>
          <p:cNvSpPr>
            <a:spLocks noGrp="1"/>
          </p:cNvSpPr>
          <p:nvPr/>
        </p:nvSpPr>
        <p:spPr>
          <a:xfrm>
            <a:off x="8439150" y="3905250"/>
            <a:ext cx="2667000" cy="285750"/>
          </a:xfrm>
          <a:prstGeom prst="rect">
            <a:avLst/>
          </a:prstGeom>
          <a:noFill/>
          <a:ln w="0">
            <a:noFill/>
            <a:prstDash val="solid"/>
          </a:ln>
        </p:spPr>
        <p:txBody>
          <a:bodyPr wrap="square" lIns="0" tIns="0" rIns="0" bIns="0" anchor="ctr">
            <a:normAutofit/>
          </a:bodyPr>
          <a:lstStyle/>
          <a:p>
            <a:pPr algn="l">
              <a:lnSpc>
                <a:spcPct val="112000"/>
              </a:lnSpc>
              <a:buNone/>
              <a:defRPr sz="1350" b="1">
                <a:solidFill>
                  <a:srgbClr val="1E293B"/>
                </a:solidFill>
                <a:latin typeface="Inter"/>
                <a:ea typeface="Inter"/>
                <a:cs typeface="Inter"/>
              </a:defRPr>
            </a:pPr>
            <a:r>
              <a:rPr sz="1350" b="1">
                <a:solidFill>
                  <a:srgbClr val="1E293B"/>
                </a:solidFill>
                <a:latin typeface="Inter"/>
                <a:ea typeface="Inter"/>
                <a:cs typeface="Inter"/>
              </a:rPr>
              <a:t>Human approval</a:t>
            </a:r>
          </a:p>
        </p:txBody>
      </p:sp>
      <p:sp>
        <p:nvSpPr>
          <p:cNvPr id="61" name="context-label-2">
            <a:extLst>
              <a:ext uri="{FF2B5EF4-FFF2-40B4-BE49-F238E27FC236}">
                <a16:creationId xmlns:a16="http://schemas.microsoft.com/office/drawing/2014/main" id="{64CB242E-71C6-48F6-9B3D-00AFA7520D92}"/>
              </a:ext>
            </a:extLst>
          </p:cNvPr>
          <p:cNvSpPr>
            <a:spLocks noGrp="1"/>
          </p:cNvSpPr>
          <p:nvPr/>
        </p:nvSpPr>
        <p:spPr>
          <a:xfrm>
            <a:off x="8439150" y="4286250"/>
            <a:ext cx="1162050" cy="190500"/>
          </a:xfrm>
          <a:prstGeom prst="rect">
            <a:avLst/>
          </a:prstGeom>
          <a:noFill/>
          <a:ln w="0">
            <a:noFill/>
            <a:prstDash val="solid"/>
          </a:ln>
        </p:spPr>
        <p:txBody>
          <a:bodyPr wrap="square" lIns="0" tIns="0" rIns="0" bIns="0" anchor="t">
            <a:normAutofit/>
          </a:bodyPr>
          <a:lstStyle/>
          <a:p>
            <a:pPr algn="l">
              <a:lnSpc>
                <a:spcPct val="112000"/>
              </a:lnSpc>
              <a:buNone/>
              <a:defRPr sz="975" b="1">
                <a:solidFill>
                  <a:srgbClr val="7C5CFC"/>
                </a:solidFill>
                <a:latin typeface="Inter"/>
                <a:ea typeface="Inter"/>
                <a:cs typeface="Inter"/>
              </a:defRPr>
            </a:pPr>
            <a:r>
              <a:rPr sz="975" b="1">
                <a:solidFill>
                  <a:srgbClr val="7C5CFC"/>
                </a:solidFill>
                <a:latin typeface="Inter"/>
                <a:ea typeface="Inter"/>
                <a:cs typeface="Inter"/>
              </a:rPr>
              <a:t>NEXT STEP</a:t>
            </a:r>
          </a:p>
        </p:txBody>
      </p:sp>
      <p:sp>
        <p:nvSpPr>
          <p:cNvPr id="62" name="context-value-2">
            <a:extLst>
              <a:ext uri="{FF2B5EF4-FFF2-40B4-BE49-F238E27FC236}">
                <a16:creationId xmlns:a16="http://schemas.microsoft.com/office/drawing/2014/main" id="{63F721F3-1478-4191-AC3F-EB1F4E3F8526}"/>
              </a:ext>
            </a:extLst>
          </p:cNvPr>
          <p:cNvSpPr>
            <a:spLocks noGrp="1"/>
          </p:cNvSpPr>
          <p:nvPr/>
        </p:nvSpPr>
        <p:spPr>
          <a:xfrm>
            <a:off x="8439150" y="4495800"/>
            <a:ext cx="2667000" cy="285750"/>
          </a:xfrm>
          <a:prstGeom prst="rect">
            <a:avLst/>
          </a:prstGeom>
          <a:noFill/>
          <a:ln w="0">
            <a:noFill/>
            <a:prstDash val="solid"/>
          </a:ln>
        </p:spPr>
        <p:txBody>
          <a:bodyPr wrap="square" lIns="0" tIns="0" rIns="0" bIns="0" anchor="ctr">
            <a:normAutofit/>
          </a:bodyPr>
          <a:lstStyle/>
          <a:p>
            <a:pPr algn="l">
              <a:lnSpc>
                <a:spcPct val="112000"/>
              </a:lnSpc>
              <a:buNone/>
              <a:defRPr sz="1350" b="1">
                <a:solidFill>
                  <a:srgbClr val="1E293B"/>
                </a:solidFill>
                <a:latin typeface="Inter"/>
                <a:ea typeface="Inter"/>
                <a:cs typeface="Inter"/>
              </a:defRPr>
            </a:pPr>
            <a:r>
              <a:rPr sz="1350" b="1">
                <a:solidFill>
                  <a:srgbClr val="1E293B"/>
                </a:solidFill>
                <a:latin typeface="Inter"/>
                <a:ea typeface="Inter"/>
                <a:cs typeface="Inter"/>
              </a:rPr>
              <a:t>Answer product question</a:t>
            </a:r>
          </a:p>
        </p:txBody>
      </p:sp>
      <p:sp>
        <p:nvSpPr>
          <p:cNvPr id="63" name="takeover-button">
            <a:extLst>
              <a:ext uri="{FF2B5EF4-FFF2-40B4-BE49-F238E27FC236}">
                <a16:creationId xmlns:a16="http://schemas.microsoft.com/office/drawing/2014/main" id="{27A879F4-F47A-4882-810C-D0835CFC2B47}"/>
              </a:ext>
            </a:extLst>
          </p:cNvPr>
          <p:cNvSpPr>
            <a:spLocks noGrp="1"/>
          </p:cNvSpPr>
          <p:nvPr/>
        </p:nvSpPr>
        <p:spPr>
          <a:xfrm>
            <a:off x="8439150" y="5048250"/>
            <a:ext cx="1333500" cy="323850"/>
          </a:xfrm>
          <a:prstGeom prst="roundRect">
            <a:avLst>
              <a:gd name="adj" fmla="val 50000"/>
            </a:avLst>
          </a:prstGeom>
          <a:solidFill>
            <a:srgbClr val="FFFFFF"/>
          </a:solidFill>
          <a:ln w="9525">
            <a:solidFill>
              <a:srgbClr val="0F172A"/>
            </a:solidFill>
            <a:prstDash val="solid"/>
          </a:ln>
        </p:spPr>
        <p:style>
          <a:lnRef idx="0">
            <a:scrgbClr r="0" g="0" b="0"/>
          </a:lnRef>
          <a:fillRef idx="0">
            <a:scrgbClr r="0" g="0" b="0"/>
          </a:fillRef>
          <a:effectRef idx="13">
            <a:scrgbClr r="0" g="0" b="0"/>
          </a:effectRef>
          <a:fontRef idx="major"/>
        </p:style>
        <p:txBody>
          <a:bodyPr lIns="0" tIns="0" rIns="0" bIns="0" anchor="ctr"/>
          <a:lstStyle/>
          <a:p>
            <a:pPr algn="ctr">
              <a:defRPr sz="1125" b="1">
                <a:solidFill>
                  <a:srgbClr val="1E293B"/>
                </a:solidFill>
                <a:latin typeface="Inter"/>
                <a:ea typeface="Inter"/>
                <a:cs typeface="Inter"/>
              </a:defRPr>
            </a:pPr>
            <a:r>
              <a:rPr sz="1125" b="1">
                <a:solidFill>
                  <a:srgbClr val="1E293B"/>
                </a:solidFill>
                <a:latin typeface="Inter"/>
                <a:ea typeface="Inter"/>
                <a:cs typeface="Inter"/>
              </a:rPr>
              <a:t>Take over</a:t>
            </a:r>
          </a:p>
        </p:txBody>
      </p:sp>
      <p:sp>
        <p:nvSpPr>
          <p:cNvPr id="64" name="footer-brand">
            <a:extLst>
              <a:ext uri="{FF2B5EF4-FFF2-40B4-BE49-F238E27FC236}">
                <a16:creationId xmlns:a16="http://schemas.microsoft.com/office/drawing/2014/main" id="{F54A3C75-B4A7-4448-BF7C-26C0FC0F4D68}"/>
              </a:ext>
            </a:extLst>
          </p:cNvPr>
          <p:cNvSpPr>
            <a:spLocks noGrp="1"/>
          </p:cNvSpPr>
          <p:nvPr/>
        </p:nvSpPr>
        <p:spPr>
          <a:xfrm>
            <a:off x="533400" y="6457950"/>
            <a:ext cx="1714500" cy="190500"/>
          </a:xfrm>
          <a:prstGeom prst="rect">
            <a:avLst/>
          </a:prstGeom>
          <a:noFill/>
          <a:ln w="0">
            <a:noFill/>
            <a:prstDash val="solid"/>
          </a:ln>
        </p:spPr>
        <p:txBody>
          <a:bodyPr wrap="square" lIns="0" tIns="0" rIns="0" bIns="0" anchor="ctr">
            <a:normAutofit/>
          </a:bodyPr>
          <a:lstStyle/>
          <a:p>
            <a:pPr algn="l">
              <a:lnSpc>
                <a:spcPct val="112000"/>
              </a:lnSpc>
              <a:buNone/>
              <a:defRPr sz="975" b="1">
                <a:solidFill>
                  <a:srgbClr val="94A3B8"/>
                </a:solidFill>
                <a:latin typeface="Inter"/>
                <a:ea typeface="Inter"/>
                <a:cs typeface="Inter"/>
              </a:defRPr>
            </a:pPr>
            <a:r>
              <a:rPr sz="975" b="1">
                <a:solidFill>
                  <a:srgbClr val="94A3B8"/>
                </a:solidFill>
                <a:latin typeface="Inter"/>
                <a:ea typeface="Inter"/>
                <a:cs typeface="Inter"/>
              </a:rPr>
              <a:t>INFLUENCEES</a:t>
            </a:r>
          </a:p>
        </p:txBody>
      </p:sp>
      <p:sp>
        <p:nvSpPr>
          <p:cNvPr id="65" name="footer-page">
            <a:extLst>
              <a:ext uri="{FF2B5EF4-FFF2-40B4-BE49-F238E27FC236}">
                <a16:creationId xmlns:a16="http://schemas.microsoft.com/office/drawing/2014/main" id="{F176D4F0-833B-49D4-A757-FB9D30FBF4F0}"/>
              </a:ext>
            </a:extLst>
          </p:cNvPr>
          <p:cNvSpPr>
            <a:spLocks noGrp="1"/>
          </p:cNvSpPr>
          <p:nvPr/>
        </p:nvSpPr>
        <p:spPr>
          <a:xfrm>
            <a:off x="10572750" y="6457950"/>
            <a:ext cx="1085850" cy="190500"/>
          </a:xfrm>
          <a:prstGeom prst="rect">
            <a:avLst/>
          </a:prstGeom>
          <a:noFill/>
          <a:ln w="0">
            <a:noFill/>
            <a:prstDash val="solid"/>
          </a:ln>
        </p:spPr>
        <p:txBody>
          <a:bodyPr wrap="square" lIns="0" tIns="0" rIns="0" bIns="0" anchor="ctr">
            <a:normAutofit/>
          </a:bodyPr>
          <a:lstStyle/>
          <a:p>
            <a:pPr algn="r">
              <a:lnSpc>
                <a:spcPct val="112000"/>
              </a:lnSpc>
              <a:buNone/>
              <a:defRPr sz="975" b="1">
                <a:solidFill>
                  <a:srgbClr val="94A3B8"/>
                </a:solidFill>
                <a:latin typeface="Inter"/>
                <a:ea typeface="Inter"/>
                <a:cs typeface="Inter"/>
              </a:defRPr>
            </a:pPr>
            <a:r>
              <a:rPr sz="975" b="1">
                <a:solidFill>
                  <a:srgbClr val="94A3B8"/>
                </a:solidFill>
                <a:latin typeface="Inter"/>
                <a:ea typeface="Inter"/>
                <a:cs typeface="Inter"/>
              </a:rPr>
              <a:t>05 / 10</a:t>
            </a:r>
          </a:p>
        </p:txBody>
      </p:sp>
    </p:spTree>
    <p:extLst>
      <p:ext uri="{BB962C8B-B14F-4D97-AF65-F5344CB8AC3E}">
        <p14:creationId xmlns:p14="http://schemas.microsoft.com/office/powerpoint/2010/main" val="20023886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57F4DC5-E2C3-4F79-86BA-7D0C10744A48}"/>
              </a:ext>
            </a:extLst>
          </p:cNvPr>
          <p:cNvSpPr>
            <a:spLocks noGrp="1"/>
          </p:cNvSpPr>
          <p:nvPr/>
        </p:nvSpPr>
        <p:spPr>
          <a:xfrm>
            <a:off x="566928" y="457200"/>
            <a:ext cx="8229600" cy="274320"/>
          </a:xfrm>
          <a:prstGeom prst="rect">
            <a:avLst/>
          </a:prstGeom>
          <a:noFill/>
        </p:spPr>
        <p:txBody>
          <a:bodyPr wrap="square" lIns="0" tIns="0" rIns="0" bIns="0" anchor="ctr"/>
          <a:lstStyle/>
          <a:p>
            <a:pPr marL="0" indent="0" algn="l">
              <a:buNone/>
            </a:pPr>
            <a:r>
              <a:rPr sz="1150" b="1">
                <a:solidFill>
                  <a:srgbClr val="5A3EE0"/>
                </a:solidFill>
                <a:latin typeface="Arial"/>
                <a:ea typeface="Arial"/>
                <a:cs typeface="Arial"/>
              </a:rPr>
              <a:t>SOLUTION 01  ·  FROM DEMO TO LIVE</a:t>
            </a:r>
          </a:p>
        </p:txBody>
      </p:sp>
      <p:sp>
        <p:nvSpPr>
          <p:cNvPr id="3" name="Text 1">
            <a:extLst>
              <a:ext uri="{FF2B5EF4-FFF2-40B4-BE49-F238E27FC236}">
                <a16:creationId xmlns:a16="http://schemas.microsoft.com/office/drawing/2014/main" id="{A164A758-FC9C-477A-9B71-3A9CA4603F97}"/>
              </a:ext>
            </a:extLst>
          </p:cNvPr>
          <p:cNvSpPr>
            <a:spLocks noGrp="1"/>
          </p:cNvSpPr>
          <p:nvPr/>
        </p:nvSpPr>
        <p:spPr>
          <a:xfrm>
            <a:off x="566928" y="822960"/>
            <a:ext cx="10607040" cy="822960"/>
          </a:xfrm>
          <a:prstGeom prst="rect">
            <a:avLst/>
          </a:prstGeom>
          <a:noFill/>
        </p:spPr>
        <p:txBody>
          <a:bodyPr wrap="square" lIns="0" tIns="0" rIns="0" bIns="0" anchor="t"/>
          <a:lstStyle/>
          <a:p>
            <a:pPr marL="0" indent="0" algn="l">
              <a:lnSpc>
                <a:spcPct val="102000"/>
              </a:lnSpc>
              <a:buNone/>
            </a:pPr>
            <a:r>
              <a:rPr sz="2700" b="1">
                <a:solidFill>
                  <a:srgbClr val="0D0C0A"/>
                </a:solidFill>
                <a:latin typeface="Arial"/>
                <a:ea typeface="Arial"/>
                <a:cs typeface="Arial"/>
              </a:rPr>
              <a:t>It runs today on seeded data. Here's what makes it live.</a:t>
            </a:r>
          </a:p>
        </p:txBody>
      </p:sp>
      <p:sp>
        <p:nvSpPr>
          <p:cNvPr id="4" name="Text 2">
            <a:extLst>
              <a:ext uri="{FF2B5EF4-FFF2-40B4-BE49-F238E27FC236}">
                <a16:creationId xmlns:a16="http://schemas.microsoft.com/office/drawing/2014/main" id="{53D5D6C6-1013-4A9C-B4B7-E680DA464799}"/>
              </a:ext>
            </a:extLst>
          </p:cNvPr>
          <p:cNvSpPr>
            <a:spLocks noGrp="1"/>
          </p:cNvSpPr>
          <p:nvPr/>
        </p:nvSpPr>
        <p:spPr>
          <a:xfrm>
            <a:off x="566928" y="1828800"/>
            <a:ext cx="10881360" cy="685800"/>
          </a:xfrm>
          <a:prstGeom prst="rect">
            <a:avLst/>
          </a:prstGeom>
          <a:noFill/>
        </p:spPr>
        <p:txBody>
          <a:bodyPr wrap="square" lIns="0" tIns="0" rIns="0" bIns="0" anchor="ctr"/>
          <a:lstStyle/>
          <a:p>
            <a:pPr marL="0" indent="0" algn="l">
              <a:lnSpc>
                <a:spcPct val="125000"/>
              </a:lnSpc>
              <a:buNone/>
            </a:pPr>
            <a:r>
              <a:rPr sz="1300">
                <a:solidFill>
                  <a:srgbClr val="6B675F"/>
                </a:solidFill>
                <a:latin typeface="Arial"/>
                <a:ea typeface="Arial"/>
                <a:cs typeface="Arial"/>
              </a:rPr>
              <a:t>The demo simulates the full experience, companies, messages, replies, state changes, with no external calls, so it never breaks mid-pitch. Each layer swaps to a real integration behind a clean boundary.</a:t>
            </a:r>
          </a:p>
        </p:txBody>
      </p:sp>
      <p:sp>
        <p:nvSpPr>
          <p:cNvPr id="5" name="Shape 3">
            <a:extLst>
              <a:ext uri="{FF2B5EF4-FFF2-40B4-BE49-F238E27FC236}">
                <a16:creationId xmlns:a16="http://schemas.microsoft.com/office/drawing/2014/main" id="{1C7AC36A-CF76-4F83-A0C4-5EC5C5A94ABD}"/>
              </a:ext>
            </a:extLst>
          </p:cNvPr>
          <p:cNvSpPr>
            <a:spLocks noGrp="1"/>
          </p:cNvSpPr>
          <p:nvPr/>
        </p:nvSpPr>
        <p:spPr>
          <a:xfrm>
            <a:off x="566928" y="2697480"/>
            <a:ext cx="11057839" cy="658368"/>
          </a:xfrm>
          <a:prstGeom prst="roundRect">
            <a:avLst>
              <a:gd name="adj" fmla="val 6250"/>
            </a:avLst>
          </a:prstGeom>
          <a:solidFill>
            <a:srgbClr val="FFFFFF"/>
          </a:solidFill>
          <a:ln w="12700">
            <a:solidFill>
              <a:srgbClr val="E2DED6"/>
            </a:solidFill>
            <a:prstDash val="solid"/>
          </a:ln>
          <a:effectLst>
            <a:outerShdw blurRad="76200" dist="25400" dir="5400000" algn="bl" rotWithShape="0">
              <a:srgbClr val="C9C4BA">
                <a:alpha val="55000"/>
              </a:srgbClr>
            </a:outerShdw>
          </a:effectLst>
        </p:spPr>
        <p:txBody>
          <a:bodyPr/>
          <a:lstStyle/>
          <a:p>
            <a:endParaRPr lang="en-SG"/>
          </a:p>
        </p:txBody>
      </p:sp>
      <p:sp>
        <p:nvSpPr>
          <p:cNvPr id="6" name="Text 4">
            <a:extLst>
              <a:ext uri="{FF2B5EF4-FFF2-40B4-BE49-F238E27FC236}">
                <a16:creationId xmlns:a16="http://schemas.microsoft.com/office/drawing/2014/main" id="{B76DEA8D-3668-455F-A29D-92971D17F815}"/>
              </a:ext>
            </a:extLst>
          </p:cNvPr>
          <p:cNvSpPr>
            <a:spLocks noGrp="1"/>
          </p:cNvSpPr>
          <p:nvPr/>
        </p:nvSpPr>
        <p:spPr>
          <a:xfrm>
            <a:off x="859536" y="2697480"/>
            <a:ext cx="2651760" cy="658368"/>
          </a:xfrm>
          <a:prstGeom prst="rect">
            <a:avLst/>
          </a:prstGeom>
          <a:noFill/>
        </p:spPr>
        <p:txBody>
          <a:bodyPr wrap="square" lIns="0" tIns="0" rIns="0" bIns="0" anchor="ctr"/>
          <a:lstStyle/>
          <a:p>
            <a:pPr marL="0" indent="0">
              <a:buNone/>
            </a:pPr>
            <a:r>
              <a:rPr sz="1350" b="1">
                <a:solidFill>
                  <a:srgbClr val="0D0C0A"/>
                </a:solidFill>
                <a:latin typeface="Arial"/>
                <a:ea typeface="Arial"/>
                <a:cs typeface="Arial"/>
              </a:rPr>
              <a:t>Discovery + research</a:t>
            </a:r>
          </a:p>
        </p:txBody>
      </p:sp>
      <p:sp>
        <p:nvSpPr>
          <p:cNvPr id="7" name="Shape 5">
            <a:extLst>
              <a:ext uri="{FF2B5EF4-FFF2-40B4-BE49-F238E27FC236}">
                <a16:creationId xmlns:a16="http://schemas.microsoft.com/office/drawing/2014/main" id="{36614734-0E9C-46A7-BB0A-53ACD3BA85A3}"/>
              </a:ext>
            </a:extLst>
          </p:cNvPr>
          <p:cNvSpPr>
            <a:spLocks noGrp="1"/>
          </p:cNvSpPr>
          <p:nvPr/>
        </p:nvSpPr>
        <p:spPr>
          <a:xfrm>
            <a:off x="3630168" y="2825496"/>
            <a:ext cx="0" cy="402336"/>
          </a:xfrm>
          <a:prstGeom prst="line">
            <a:avLst/>
          </a:prstGeom>
          <a:noFill/>
          <a:ln w="12700">
            <a:solidFill>
              <a:srgbClr val="E2DED6"/>
            </a:solidFill>
            <a:prstDash val="solid"/>
          </a:ln>
        </p:spPr>
        <p:txBody>
          <a:bodyPr/>
          <a:lstStyle/>
          <a:p>
            <a:endParaRPr lang="en-SG"/>
          </a:p>
        </p:txBody>
      </p:sp>
      <p:sp>
        <p:nvSpPr>
          <p:cNvPr id="8" name="Text 6">
            <a:extLst>
              <a:ext uri="{FF2B5EF4-FFF2-40B4-BE49-F238E27FC236}">
                <a16:creationId xmlns:a16="http://schemas.microsoft.com/office/drawing/2014/main" id="{28415D1B-0242-4CBA-9696-F26A06C226A3}"/>
              </a:ext>
            </a:extLst>
          </p:cNvPr>
          <p:cNvSpPr>
            <a:spLocks noGrp="1"/>
          </p:cNvSpPr>
          <p:nvPr/>
        </p:nvSpPr>
        <p:spPr>
          <a:xfrm>
            <a:off x="3858768" y="2697480"/>
            <a:ext cx="6394399" cy="658368"/>
          </a:xfrm>
          <a:prstGeom prst="rect">
            <a:avLst/>
          </a:prstGeom>
          <a:noFill/>
        </p:spPr>
        <p:txBody>
          <a:bodyPr wrap="square" lIns="0" tIns="0" rIns="0" bIns="0" anchor="ctr"/>
          <a:lstStyle/>
          <a:p>
            <a:pPr marL="0" indent="0">
              <a:lnSpc>
                <a:spcPct val="112000"/>
              </a:lnSpc>
              <a:buNone/>
            </a:pPr>
            <a:r>
              <a:rPr sz="1150">
                <a:solidFill>
                  <a:srgbClr val="6B675F"/>
                </a:solidFill>
                <a:latin typeface="Arial"/>
                <a:ea typeface="Arial"/>
                <a:cs typeface="Arial"/>
              </a:rPr>
              <a:t>Bright Data for LinkedIn company, profile and post data; company sites; public news; job posts</a:t>
            </a:r>
          </a:p>
        </p:txBody>
      </p:sp>
      <p:sp>
        <p:nvSpPr>
          <p:cNvPr id="9" name="Text 7">
            <a:extLst>
              <a:ext uri="{FF2B5EF4-FFF2-40B4-BE49-F238E27FC236}">
                <a16:creationId xmlns:a16="http://schemas.microsoft.com/office/drawing/2014/main" id="{7289C4F8-C5D3-4B0F-88AC-307B0AF6E0A4}"/>
              </a:ext>
            </a:extLst>
          </p:cNvPr>
          <p:cNvSpPr>
            <a:spLocks noGrp="1"/>
          </p:cNvSpPr>
          <p:nvPr/>
        </p:nvSpPr>
        <p:spPr>
          <a:xfrm>
            <a:off x="10207447" y="2697480"/>
            <a:ext cx="1280160" cy="658368"/>
          </a:xfrm>
          <a:prstGeom prst="rect">
            <a:avLst/>
          </a:prstGeom>
          <a:noFill/>
        </p:spPr>
        <p:txBody>
          <a:bodyPr wrap="square" lIns="0" tIns="0" rIns="0" bIns="0" anchor="ctr"/>
          <a:lstStyle/>
          <a:p>
            <a:pPr marL="0" indent="0" algn="r">
              <a:buNone/>
            </a:pPr>
            <a:r>
              <a:rPr sz="900" b="1">
                <a:solidFill>
                  <a:srgbClr val="5A3EE0"/>
                </a:solidFill>
                <a:latin typeface="Arial"/>
                <a:ea typeface="Arial"/>
                <a:cs typeface="Arial"/>
              </a:rPr>
              <a:t>SWAPPABLE</a:t>
            </a:r>
          </a:p>
        </p:txBody>
      </p:sp>
      <p:sp>
        <p:nvSpPr>
          <p:cNvPr id="10" name="Shape 8">
            <a:extLst>
              <a:ext uri="{FF2B5EF4-FFF2-40B4-BE49-F238E27FC236}">
                <a16:creationId xmlns:a16="http://schemas.microsoft.com/office/drawing/2014/main" id="{81944CA6-7251-4699-BEDA-EE04CEC6DF9A}"/>
              </a:ext>
            </a:extLst>
          </p:cNvPr>
          <p:cNvSpPr>
            <a:spLocks noGrp="1"/>
          </p:cNvSpPr>
          <p:nvPr/>
        </p:nvSpPr>
        <p:spPr>
          <a:xfrm>
            <a:off x="566928" y="3429000"/>
            <a:ext cx="11057839" cy="658368"/>
          </a:xfrm>
          <a:prstGeom prst="roundRect">
            <a:avLst>
              <a:gd name="adj" fmla="val 6250"/>
            </a:avLst>
          </a:prstGeom>
          <a:solidFill>
            <a:srgbClr val="FFFFFF"/>
          </a:solidFill>
          <a:ln w="12700">
            <a:solidFill>
              <a:srgbClr val="E2DED6"/>
            </a:solidFill>
            <a:prstDash val="solid"/>
          </a:ln>
          <a:effectLst>
            <a:outerShdw blurRad="76200" dist="25400" dir="5400000" algn="bl" rotWithShape="0">
              <a:srgbClr val="C9C4BA">
                <a:alpha val="55000"/>
              </a:srgbClr>
            </a:outerShdw>
          </a:effectLst>
        </p:spPr>
        <p:txBody>
          <a:bodyPr/>
          <a:lstStyle/>
          <a:p>
            <a:endParaRPr lang="en-SG"/>
          </a:p>
        </p:txBody>
      </p:sp>
      <p:sp>
        <p:nvSpPr>
          <p:cNvPr id="11" name="Text 9">
            <a:extLst>
              <a:ext uri="{FF2B5EF4-FFF2-40B4-BE49-F238E27FC236}">
                <a16:creationId xmlns:a16="http://schemas.microsoft.com/office/drawing/2014/main" id="{82E579DF-04B5-4417-A997-29C31E52AE4C}"/>
              </a:ext>
            </a:extLst>
          </p:cNvPr>
          <p:cNvSpPr>
            <a:spLocks noGrp="1"/>
          </p:cNvSpPr>
          <p:nvPr/>
        </p:nvSpPr>
        <p:spPr>
          <a:xfrm>
            <a:off x="859536" y="3429000"/>
            <a:ext cx="2651760" cy="658368"/>
          </a:xfrm>
          <a:prstGeom prst="rect">
            <a:avLst/>
          </a:prstGeom>
          <a:noFill/>
        </p:spPr>
        <p:txBody>
          <a:bodyPr wrap="square" lIns="0" tIns="0" rIns="0" bIns="0" anchor="ctr"/>
          <a:lstStyle/>
          <a:p>
            <a:pPr marL="0" indent="0">
              <a:buNone/>
            </a:pPr>
            <a:r>
              <a:rPr sz="1350" b="1">
                <a:solidFill>
                  <a:srgbClr val="0D0C0A"/>
                </a:solidFill>
                <a:latin typeface="Arial"/>
                <a:ea typeface="Arial"/>
                <a:cs typeface="Arial"/>
              </a:rPr>
              <a:t>Orchestration</a:t>
            </a:r>
          </a:p>
        </p:txBody>
      </p:sp>
      <p:sp>
        <p:nvSpPr>
          <p:cNvPr id="12" name="Shape 10">
            <a:extLst>
              <a:ext uri="{FF2B5EF4-FFF2-40B4-BE49-F238E27FC236}">
                <a16:creationId xmlns:a16="http://schemas.microsoft.com/office/drawing/2014/main" id="{F506DD35-F49C-4C21-BB1F-0FDCCB9E53BF}"/>
              </a:ext>
            </a:extLst>
          </p:cNvPr>
          <p:cNvSpPr>
            <a:spLocks noGrp="1"/>
          </p:cNvSpPr>
          <p:nvPr/>
        </p:nvSpPr>
        <p:spPr>
          <a:xfrm>
            <a:off x="3630168" y="3557016"/>
            <a:ext cx="0" cy="402336"/>
          </a:xfrm>
          <a:prstGeom prst="line">
            <a:avLst/>
          </a:prstGeom>
          <a:noFill/>
          <a:ln w="12700">
            <a:solidFill>
              <a:srgbClr val="E2DED6"/>
            </a:solidFill>
            <a:prstDash val="solid"/>
          </a:ln>
        </p:spPr>
        <p:txBody>
          <a:bodyPr/>
          <a:lstStyle/>
          <a:p>
            <a:endParaRPr lang="en-SG"/>
          </a:p>
        </p:txBody>
      </p:sp>
      <p:sp>
        <p:nvSpPr>
          <p:cNvPr id="13" name="Text 11">
            <a:extLst>
              <a:ext uri="{FF2B5EF4-FFF2-40B4-BE49-F238E27FC236}">
                <a16:creationId xmlns:a16="http://schemas.microsoft.com/office/drawing/2014/main" id="{DF0B6B49-5F1B-4133-A67C-BC233C300BE2}"/>
              </a:ext>
            </a:extLst>
          </p:cNvPr>
          <p:cNvSpPr>
            <a:spLocks noGrp="1"/>
          </p:cNvSpPr>
          <p:nvPr/>
        </p:nvSpPr>
        <p:spPr>
          <a:xfrm>
            <a:off x="3858768" y="3429000"/>
            <a:ext cx="6394399" cy="658368"/>
          </a:xfrm>
          <a:prstGeom prst="rect">
            <a:avLst/>
          </a:prstGeom>
          <a:noFill/>
        </p:spPr>
        <p:txBody>
          <a:bodyPr wrap="square" lIns="0" tIns="0" rIns="0" bIns="0" anchor="ctr"/>
          <a:lstStyle/>
          <a:p>
            <a:pPr marL="0" indent="0">
              <a:lnSpc>
                <a:spcPct val="112000"/>
              </a:lnSpc>
              <a:buNone/>
            </a:pPr>
            <a:r>
              <a:rPr sz="1150">
                <a:solidFill>
                  <a:srgbClr val="6B675F"/>
                </a:solidFill>
                <a:latin typeface="Arial"/>
                <a:ea typeface="Arial"/>
                <a:cs typeface="Arial"/>
              </a:rPr>
              <a:t>n8n, a custom agent service, or a hybrid: dashboard owns state, agent owns decisions</a:t>
            </a:r>
          </a:p>
        </p:txBody>
      </p:sp>
      <p:sp>
        <p:nvSpPr>
          <p:cNvPr id="14" name="Text 12">
            <a:extLst>
              <a:ext uri="{FF2B5EF4-FFF2-40B4-BE49-F238E27FC236}">
                <a16:creationId xmlns:a16="http://schemas.microsoft.com/office/drawing/2014/main" id="{100D0D54-ADD5-461F-BE86-9D14E0E97ECF}"/>
              </a:ext>
            </a:extLst>
          </p:cNvPr>
          <p:cNvSpPr>
            <a:spLocks noGrp="1"/>
          </p:cNvSpPr>
          <p:nvPr/>
        </p:nvSpPr>
        <p:spPr>
          <a:xfrm>
            <a:off x="10207447" y="3429000"/>
            <a:ext cx="1280160" cy="658368"/>
          </a:xfrm>
          <a:prstGeom prst="rect">
            <a:avLst/>
          </a:prstGeom>
          <a:noFill/>
        </p:spPr>
        <p:txBody>
          <a:bodyPr wrap="square" lIns="0" tIns="0" rIns="0" bIns="0" anchor="ctr"/>
          <a:lstStyle/>
          <a:p>
            <a:pPr marL="0" indent="0" algn="r">
              <a:buNone/>
            </a:pPr>
            <a:r>
              <a:rPr sz="900" b="1">
                <a:solidFill>
                  <a:srgbClr val="5A3EE0"/>
                </a:solidFill>
                <a:latin typeface="Arial"/>
                <a:ea typeface="Arial"/>
                <a:cs typeface="Arial"/>
              </a:rPr>
              <a:t>YOUR CALL</a:t>
            </a:r>
          </a:p>
        </p:txBody>
      </p:sp>
      <p:sp>
        <p:nvSpPr>
          <p:cNvPr id="15" name="Shape 13">
            <a:extLst>
              <a:ext uri="{FF2B5EF4-FFF2-40B4-BE49-F238E27FC236}">
                <a16:creationId xmlns:a16="http://schemas.microsoft.com/office/drawing/2014/main" id="{3E5320B9-2DD4-42B2-B3AD-B54F1F8CDA69}"/>
              </a:ext>
            </a:extLst>
          </p:cNvPr>
          <p:cNvSpPr>
            <a:spLocks noGrp="1"/>
          </p:cNvSpPr>
          <p:nvPr/>
        </p:nvSpPr>
        <p:spPr>
          <a:xfrm>
            <a:off x="566928" y="4160520"/>
            <a:ext cx="11057839" cy="658368"/>
          </a:xfrm>
          <a:prstGeom prst="roundRect">
            <a:avLst>
              <a:gd name="adj" fmla="val 6250"/>
            </a:avLst>
          </a:prstGeom>
          <a:solidFill>
            <a:srgbClr val="FFFFFF"/>
          </a:solidFill>
          <a:ln w="12700">
            <a:solidFill>
              <a:srgbClr val="E2DED6"/>
            </a:solidFill>
            <a:prstDash val="solid"/>
          </a:ln>
          <a:effectLst>
            <a:outerShdw blurRad="76200" dist="25400" dir="5400000" algn="bl" rotWithShape="0">
              <a:srgbClr val="C9C4BA">
                <a:alpha val="55000"/>
              </a:srgbClr>
            </a:outerShdw>
          </a:effectLst>
        </p:spPr>
        <p:txBody>
          <a:bodyPr/>
          <a:lstStyle/>
          <a:p>
            <a:endParaRPr lang="en-SG"/>
          </a:p>
        </p:txBody>
      </p:sp>
      <p:sp>
        <p:nvSpPr>
          <p:cNvPr id="16" name="Text 14">
            <a:extLst>
              <a:ext uri="{FF2B5EF4-FFF2-40B4-BE49-F238E27FC236}">
                <a16:creationId xmlns:a16="http://schemas.microsoft.com/office/drawing/2014/main" id="{FAEA1899-8CA6-4579-8D85-9BDDFA3C8EB2}"/>
              </a:ext>
            </a:extLst>
          </p:cNvPr>
          <p:cNvSpPr>
            <a:spLocks noGrp="1"/>
          </p:cNvSpPr>
          <p:nvPr/>
        </p:nvSpPr>
        <p:spPr>
          <a:xfrm>
            <a:off x="859536" y="4160520"/>
            <a:ext cx="2651760" cy="658368"/>
          </a:xfrm>
          <a:prstGeom prst="rect">
            <a:avLst/>
          </a:prstGeom>
          <a:noFill/>
        </p:spPr>
        <p:txBody>
          <a:bodyPr wrap="square" lIns="0" tIns="0" rIns="0" bIns="0" anchor="ctr"/>
          <a:lstStyle/>
          <a:p>
            <a:pPr marL="0" indent="0">
              <a:buNone/>
            </a:pPr>
            <a:r>
              <a:rPr sz="1350" b="1">
                <a:solidFill>
                  <a:srgbClr val="0D0C0A"/>
                </a:solidFill>
                <a:latin typeface="Arial"/>
                <a:ea typeface="Arial"/>
                <a:cs typeface="Arial"/>
              </a:rPr>
              <a:t>Messaging channel</a:t>
            </a:r>
          </a:p>
        </p:txBody>
      </p:sp>
      <p:sp>
        <p:nvSpPr>
          <p:cNvPr id="17" name="Shape 15">
            <a:extLst>
              <a:ext uri="{FF2B5EF4-FFF2-40B4-BE49-F238E27FC236}">
                <a16:creationId xmlns:a16="http://schemas.microsoft.com/office/drawing/2014/main" id="{3A33FE3C-C5D1-4C11-8456-9B5805CA3854}"/>
              </a:ext>
            </a:extLst>
          </p:cNvPr>
          <p:cNvSpPr>
            <a:spLocks noGrp="1"/>
          </p:cNvSpPr>
          <p:nvPr/>
        </p:nvSpPr>
        <p:spPr>
          <a:xfrm>
            <a:off x="3630168" y="4288536"/>
            <a:ext cx="0" cy="402336"/>
          </a:xfrm>
          <a:prstGeom prst="line">
            <a:avLst/>
          </a:prstGeom>
          <a:noFill/>
          <a:ln w="12700">
            <a:solidFill>
              <a:srgbClr val="E2DED6"/>
            </a:solidFill>
            <a:prstDash val="solid"/>
          </a:ln>
        </p:spPr>
        <p:txBody>
          <a:bodyPr/>
          <a:lstStyle/>
          <a:p>
            <a:endParaRPr lang="en-SG"/>
          </a:p>
        </p:txBody>
      </p:sp>
      <p:sp>
        <p:nvSpPr>
          <p:cNvPr id="18" name="Text 16">
            <a:extLst>
              <a:ext uri="{FF2B5EF4-FFF2-40B4-BE49-F238E27FC236}">
                <a16:creationId xmlns:a16="http://schemas.microsoft.com/office/drawing/2014/main" id="{88B5947D-1657-4414-9EDA-49AB8DB6D027}"/>
              </a:ext>
            </a:extLst>
          </p:cNvPr>
          <p:cNvSpPr>
            <a:spLocks noGrp="1"/>
          </p:cNvSpPr>
          <p:nvPr/>
        </p:nvSpPr>
        <p:spPr>
          <a:xfrm>
            <a:off x="3858768" y="4160520"/>
            <a:ext cx="6394399" cy="658368"/>
          </a:xfrm>
          <a:prstGeom prst="rect">
            <a:avLst/>
          </a:prstGeom>
          <a:noFill/>
        </p:spPr>
        <p:txBody>
          <a:bodyPr wrap="square" lIns="0" tIns="0" rIns="0" bIns="0" anchor="ctr"/>
          <a:lstStyle/>
          <a:p>
            <a:pPr marL="0" indent="0">
              <a:lnSpc>
                <a:spcPct val="112000"/>
              </a:lnSpc>
              <a:buNone/>
            </a:pPr>
            <a:r>
              <a:rPr sz="1150">
                <a:solidFill>
                  <a:srgbClr val="6B675F"/>
                </a:solidFill>
                <a:latin typeface="Arial"/>
                <a:ea typeface="Arial"/>
                <a:cs typeface="Arial"/>
              </a:rPr>
              <a:t>Adapter interface: Mock/demo today; Email or LinkedIn assisted / connected next</a:t>
            </a:r>
          </a:p>
        </p:txBody>
      </p:sp>
      <p:sp>
        <p:nvSpPr>
          <p:cNvPr id="19" name="Text 17">
            <a:extLst>
              <a:ext uri="{FF2B5EF4-FFF2-40B4-BE49-F238E27FC236}">
                <a16:creationId xmlns:a16="http://schemas.microsoft.com/office/drawing/2014/main" id="{82EB0453-5D9A-4934-944F-543B57EBE0EB}"/>
              </a:ext>
            </a:extLst>
          </p:cNvPr>
          <p:cNvSpPr>
            <a:spLocks noGrp="1"/>
          </p:cNvSpPr>
          <p:nvPr/>
        </p:nvSpPr>
        <p:spPr>
          <a:xfrm>
            <a:off x="10207447" y="4160520"/>
            <a:ext cx="1280160" cy="658368"/>
          </a:xfrm>
          <a:prstGeom prst="rect">
            <a:avLst/>
          </a:prstGeom>
          <a:noFill/>
        </p:spPr>
        <p:txBody>
          <a:bodyPr wrap="square" lIns="0" tIns="0" rIns="0" bIns="0" anchor="ctr"/>
          <a:lstStyle/>
          <a:p>
            <a:pPr marL="0" indent="0" algn="r">
              <a:buNone/>
            </a:pPr>
            <a:r>
              <a:rPr sz="900" b="1">
                <a:solidFill>
                  <a:srgbClr val="5A3EE0"/>
                </a:solidFill>
                <a:latin typeface="Arial"/>
                <a:ea typeface="Arial"/>
                <a:cs typeface="Arial"/>
              </a:rPr>
              <a:t>ADAPTER</a:t>
            </a:r>
          </a:p>
        </p:txBody>
      </p:sp>
      <p:sp>
        <p:nvSpPr>
          <p:cNvPr id="20" name="Shape 18">
            <a:extLst>
              <a:ext uri="{FF2B5EF4-FFF2-40B4-BE49-F238E27FC236}">
                <a16:creationId xmlns:a16="http://schemas.microsoft.com/office/drawing/2014/main" id="{D7AEB3FF-54DF-4A69-87E9-DA954CF976A6}"/>
              </a:ext>
            </a:extLst>
          </p:cNvPr>
          <p:cNvSpPr>
            <a:spLocks noGrp="1"/>
          </p:cNvSpPr>
          <p:nvPr/>
        </p:nvSpPr>
        <p:spPr>
          <a:xfrm>
            <a:off x="566928" y="4892040"/>
            <a:ext cx="11057839" cy="658368"/>
          </a:xfrm>
          <a:prstGeom prst="roundRect">
            <a:avLst>
              <a:gd name="adj" fmla="val 6250"/>
            </a:avLst>
          </a:prstGeom>
          <a:solidFill>
            <a:srgbClr val="FFFFFF"/>
          </a:solidFill>
          <a:ln w="12700">
            <a:solidFill>
              <a:srgbClr val="E2DED6"/>
            </a:solidFill>
            <a:prstDash val="solid"/>
          </a:ln>
          <a:effectLst>
            <a:outerShdw blurRad="76200" dist="25400" dir="5400000" algn="bl" rotWithShape="0">
              <a:srgbClr val="C9C4BA">
                <a:alpha val="55000"/>
              </a:srgbClr>
            </a:outerShdw>
          </a:effectLst>
        </p:spPr>
        <p:txBody>
          <a:bodyPr/>
          <a:lstStyle/>
          <a:p>
            <a:endParaRPr lang="en-SG"/>
          </a:p>
        </p:txBody>
      </p:sp>
      <p:sp>
        <p:nvSpPr>
          <p:cNvPr id="21" name="Text 19">
            <a:extLst>
              <a:ext uri="{FF2B5EF4-FFF2-40B4-BE49-F238E27FC236}">
                <a16:creationId xmlns:a16="http://schemas.microsoft.com/office/drawing/2014/main" id="{B7500E21-7E8D-4E08-9E5F-F417E5713029}"/>
              </a:ext>
            </a:extLst>
          </p:cNvPr>
          <p:cNvSpPr>
            <a:spLocks noGrp="1"/>
          </p:cNvSpPr>
          <p:nvPr/>
        </p:nvSpPr>
        <p:spPr>
          <a:xfrm>
            <a:off x="859536" y="4892040"/>
            <a:ext cx="2651760" cy="658368"/>
          </a:xfrm>
          <a:prstGeom prst="rect">
            <a:avLst/>
          </a:prstGeom>
          <a:noFill/>
        </p:spPr>
        <p:txBody>
          <a:bodyPr wrap="square" lIns="0" tIns="0" rIns="0" bIns="0" anchor="ctr"/>
          <a:lstStyle/>
          <a:p>
            <a:pPr marL="0" indent="0">
              <a:buNone/>
            </a:pPr>
            <a:r>
              <a:rPr sz="1350" b="1">
                <a:solidFill>
                  <a:srgbClr val="0D0C0A"/>
                </a:solidFill>
                <a:latin typeface="Arial"/>
                <a:ea typeface="Arial"/>
                <a:cs typeface="Arial"/>
              </a:rPr>
              <a:t>Reasoning</a:t>
            </a:r>
          </a:p>
        </p:txBody>
      </p:sp>
      <p:sp>
        <p:nvSpPr>
          <p:cNvPr id="22" name="Shape 20">
            <a:extLst>
              <a:ext uri="{FF2B5EF4-FFF2-40B4-BE49-F238E27FC236}">
                <a16:creationId xmlns:a16="http://schemas.microsoft.com/office/drawing/2014/main" id="{F32B553F-7A6F-4E8B-87FA-D960898AE9B9}"/>
              </a:ext>
            </a:extLst>
          </p:cNvPr>
          <p:cNvSpPr>
            <a:spLocks noGrp="1"/>
          </p:cNvSpPr>
          <p:nvPr/>
        </p:nvSpPr>
        <p:spPr>
          <a:xfrm>
            <a:off x="3630168" y="5020056"/>
            <a:ext cx="0" cy="402336"/>
          </a:xfrm>
          <a:prstGeom prst="line">
            <a:avLst/>
          </a:prstGeom>
          <a:noFill/>
          <a:ln w="12700">
            <a:solidFill>
              <a:srgbClr val="E2DED6"/>
            </a:solidFill>
            <a:prstDash val="solid"/>
          </a:ln>
        </p:spPr>
        <p:txBody>
          <a:bodyPr/>
          <a:lstStyle/>
          <a:p>
            <a:endParaRPr lang="en-SG"/>
          </a:p>
        </p:txBody>
      </p:sp>
      <p:sp>
        <p:nvSpPr>
          <p:cNvPr id="23" name="Text 21">
            <a:extLst>
              <a:ext uri="{FF2B5EF4-FFF2-40B4-BE49-F238E27FC236}">
                <a16:creationId xmlns:a16="http://schemas.microsoft.com/office/drawing/2014/main" id="{4B3DAD34-3329-42E5-B3EC-EA664A0B0B81}"/>
              </a:ext>
            </a:extLst>
          </p:cNvPr>
          <p:cNvSpPr>
            <a:spLocks noGrp="1"/>
          </p:cNvSpPr>
          <p:nvPr/>
        </p:nvSpPr>
        <p:spPr>
          <a:xfrm>
            <a:off x="3858768" y="4892040"/>
            <a:ext cx="6394399" cy="658368"/>
          </a:xfrm>
          <a:prstGeom prst="rect">
            <a:avLst/>
          </a:prstGeom>
          <a:noFill/>
        </p:spPr>
        <p:txBody>
          <a:bodyPr wrap="square" lIns="0" tIns="0" rIns="0" bIns="0" anchor="ctr"/>
          <a:lstStyle/>
          <a:p>
            <a:pPr marL="0" indent="0">
              <a:lnSpc>
                <a:spcPct val="112000"/>
              </a:lnSpc>
              <a:buNone/>
            </a:pPr>
            <a:r>
              <a:rPr sz="1150">
                <a:solidFill>
                  <a:srgbClr val="6B675F"/>
                </a:solidFill>
                <a:latin typeface="Arial"/>
                <a:ea typeface="Arial"/>
                <a:cs typeface="Arial"/>
              </a:rPr>
              <a:t>Business-brain rules plus LLM drafting, gated by claim, tone and duplicate checks</a:t>
            </a:r>
          </a:p>
        </p:txBody>
      </p:sp>
      <p:sp>
        <p:nvSpPr>
          <p:cNvPr id="24" name="Text 22">
            <a:extLst>
              <a:ext uri="{FF2B5EF4-FFF2-40B4-BE49-F238E27FC236}">
                <a16:creationId xmlns:a16="http://schemas.microsoft.com/office/drawing/2014/main" id="{E9BC0618-2892-4146-B611-6B3BE68F5467}"/>
              </a:ext>
            </a:extLst>
          </p:cNvPr>
          <p:cNvSpPr>
            <a:spLocks noGrp="1"/>
          </p:cNvSpPr>
          <p:nvPr/>
        </p:nvSpPr>
        <p:spPr>
          <a:xfrm>
            <a:off x="10207447" y="4892040"/>
            <a:ext cx="1280160" cy="658368"/>
          </a:xfrm>
          <a:prstGeom prst="rect">
            <a:avLst/>
          </a:prstGeom>
          <a:noFill/>
        </p:spPr>
        <p:txBody>
          <a:bodyPr wrap="square" lIns="0" tIns="0" rIns="0" bIns="0" anchor="ctr"/>
          <a:lstStyle/>
          <a:p>
            <a:pPr marL="0" indent="0" algn="r">
              <a:buNone/>
            </a:pPr>
            <a:r>
              <a:rPr sz="900" b="1">
                <a:solidFill>
                  <a:srgbClr val="5A3EE0"/>
                </a:solidFill>
                <a:latin typeface="Arial"/>
                <a:ea typeface="Arial"/>
                <a:cs typeface="Arial"/>
              </a:rPr>
              <a:t>GUARDED</a:t>
            </a:r>
          </a:p>
        </p:txBody>
      </p:sp>
      <p:sp>
        <p:nvSpPr>
          <p:cNvPr id="25" name="Shape 23">
            <a:extLst>
              <a:ext uri="{FF2B5EF4-FFF2-40B4-BE49-F238E27FC236}">
                <a16:creationId xmlns:a16="http://schemas.microsoft.com/office/drawing/2014/main" id="{1BDCFF5E-E12D-46A4-BED2-8A719DF84E19}"/>
              </a:ext>
            </a:extLst>
          </p:cNvPr>
          <p:cNvSpPr>
            <a:spLocks noGrp="1"/>
          </p:cNvSpPr>
          <p:nvPr/>
        </p:nvSpPr>
        <p:spPr>
          <a:xfrm>
            <a:off x="566928" y="5623560"/>
            <a:ext cx="11057839" cy="658368"/>
          </a:xfrm>
          <a:prstGeom prst="roundRect">
            <a:avLst>
              <a:gd name="adj" fmla="val 6250"/>
            </a:avLst>
          </a:prstGeom>
          <a:solidFill>
            <a:srgbClr val="FFFFFF"/>
          </a:solidFill>
          <a:ln w="12700">
            <a:solidFill>
              <a:srgbClr val="E2DED6"/>
            </a:solidFill>
            <a:prstDash val="solid"/>
          </a:ln>
          <a:effectLst>
            <a:outerShdw blurRad="76200" dist="25400" dir="5400000" algn="bl" rotWithShape="0">
              <a:srgbClr val="C9C4BA">
                <a:alpha val="55000"/>
              </a:srgbClr>
            </a:outerShdw>
          </a:effectLst>
        </p:spPr>
        <p:txBody>
          <a:bodyPr/>
          <a:lstStyle/>
          <a:p>
            <a:endParaRPr lang="en-SG"/>
          </a:p>
        </p:txBody>
      </p:sp>
      <p:sp>
        <p:nvSpPr>
          <p:cNvPr id="26" name="Text 24">
            <a:extLst>
              <a:ext uri="{FF2B5EF4-FFF2-40B4-BE49-F238E27FC236}">
                <a16:creationId xmlns:a16="http://schemas.microsoft.com/office/drawing/2014/main" id="{5CD273BC-F2B3-4738-A988-86910DE3A34D}"/>
              </a:ext>
            </a:extLst>
          </p:cNvPr>
          <p:cNvSpPr>
            <a:spLocks noGrp="1"/>
          </p:cNvSpPr>
          <p:nvPr/>
        </p:nvSpPr>
        <p:spPr>
          <a:xfrm>
            <a:off x="859536" y="5623560"/>
            <a:ext cx="2651760" cy="658368"/>
          </a:xfrm>
          <a:prstGeom prst="rect">
            <a:avLst/>
          </a:prstGeom>
          <a:noFill/>
        </p:spPr>
        <p:txBody>
          <a:bodyPr wrap="square" lIns="0" tIns="0" rIns="0" bIns="0" anchor="ctr"/>
          <a:lstStyle/>
          <a:p>
            <a:pPr marL="0" indent="0">
              <a:buNone/>
            </a:pPr>
            <a:r>
              <a:rPr sz="1350" b="1">
                <a:solidFill>
                  <a:srgbClr val="0D0C0A"/>
                </a:solidFill>
                <a:latin typeface="Arial"/>
                <a:ea typeface="Arial"/>
                <a:cs typeface="Arial"/>
              </a:rPr>
              <a:t>State + memory</a:t>
            </a:r>
          </a:p>
        </p:txBody>
      </p:sp>
      <p:sp>
        <p:nvSpPr>
          <p:cNvPr id="27" name="Shape 25">
            <a:extLst>
              <a:ext uri="{FF2B5EF4-FFF2-40B4-BE49-F238E27FC236}">
                <a16:creationId xmlns:a16="http://schemas.microsoft.com/office/drawing/2014/main" id="{3192F814-B57D-4F1A-9DBF-527AE14F21B2}"/>
              </a:ext>
            </a:extLst>
          </p:cNvPr>
          <p:cNvSpPr>
            <a:spLocks noGrp="1"/>
          </p:cNvSpPr>
          <p:nvPr/>
        </p:nvSpPr>
        <p:spPr>
          <a:xfrm>
            <a:off x="3630168" y="5751576"/>
            <a:ext cx="0" cy="402336"/>
          </a:xfrm>
          <a:prstGeom prst="line">
            <a:avLst/>
          </a:prstGeom>
          <a:noFill/>
          <a:ln w="12700">
            <a:solidFill>
              <a:srgbClr val="E2DED6"/>
            </a:solidFill>
            <a:prstDash val="solid"/>
          </a:ln>
        </p:spPr>
        <p:txBody>
          <a:bodyPr/>
          <a:lstStyle/>
          <a:p>
            <a:endParaRPr lang="en-SG"/>
          </a:p>
        </p:txBody>
      </p:sp>
      <p:sp>
        <p:nvSpPr>
          <p:cNvPr id="28" name="Text 26">
            <a:extLst>
              <a:ext uri="{FF2B5EF4-FFF2-40B4-BE49-F238E27FC236}">
                <a16:creationId xmlns:a16="http://schemas.microsoft.com/office/drawing/2014/main" id="{885BAC4F-3692-4A44-8916-E3138BA323B3}"/>
              </a:ext>
            </a:extLst>
          </p:cNvPr>
          <p:cNvSpPr>
            <a:spLocks noGrp="1"/>
          </p:cNvSpPr>
          <p:nvPr/>
        </p:nvSpPr>
        <p:spPr>
          <a:xfrm>
            <a:off x="3858768" y="5623560"/>
            <a:ext cx="6394399" cy="658368"/>
          </a:xfrm>
          <a:prstGeom prst="rect">
            <a:avLst/>
          </a:prstGeom>
          <a:noFill/>
        </p:spPr>
        <p:txBody>
          <a:bodyPr wrap="square" lIns="0" tIns="0" rIns="0" bIns="0" anchor="ctr"/>
          <a:lstStyle/>
          <a:p>
            <a:pPr marL="0" indent="0">
              <a:lnSpc>
                <a:spcPct val="112000"/>
              </a:lnSpc>
              <a:buNone/>
            </a:pPr>
            <a:r>
              <a:rPr sz="1150">
                <a:solidFill>
                  <a:srgbClr val="6B675F"/>
                </a:solidFill>
                <a:latin typeface="Arial"/>
                <a:ea typeface="Arial"/>
                <a:cs typeface="Arial"/>
              </a:rPr>
              <a:t>Pipeline stage and thread-ownership tracked separately, with a full activity log</a:t>
            </a:r>
          </a:p>
        </p:txBody>
      </p:sp>
      <p:sp>
        <p:nvSpPr>
          <p:cNvPr id="29" name="Text 27">
            <a:extLst>
              <a:ext uri="{FF2B5EF4-FFF2-40B4-BE49-F238E27FC236}">
                <a16:creationId xmlns:a16="http://schemas.microsoft.com/office/drawing/2014/main" id="{75AC9D56-DE44-4B7E-AEEE-12C37EBE9ECF}"/>
              </a:ext>
            </a:extLst>
          </p:cNvPr>
          <p:cNvSpPr>
            <a:spLocks noGrp="1"/>
          </p:cNvSpPr>
          <p:nvPr/>
        </p:nvSpPr>
        <p:spPr>
          <a:xfrm>
            <a:off x="10207447" y="5623560"/>
            <a:ext cx="1280160" cy="658368"/>
          </a:xfrm>
          <a:prstGeom prst="rect">
            <a:avLst/>
          </a:prstGeom>
          <a:noFill/>
        </p:spPr>
        <p:txBody>
          <a:bodyPr wrap="square" lIns="0" tIns="0" rIns="0" bIns="0" anchor="ctr"/>
          <a:lstStyle/>
          <a:p>
            <a:pPr marL="0" indent="0" algn="r">
              <a:buNone/>
            </a:pPr>
            <a:r>
              <a:rPr sz="900" b="1">
                <a:solidFill>
                  <a:srgbClr val="5A3EE0"/>
                </a:solidFill>
                <a:latin typeface="Arial"/>
                <a:ea typeface="Arial"/>
                <a:cs typeface="Arial"/>
              </a:rPr>
              <a:t>AUDITED</a:t>
            </a:r>
          </a:p>
        </p:txBody>
      </p:sp>
      <p:sp>
        <p:nvSpPr>
          <p:cNvPr id="30" name="Text 28">
            <a:extLst>
              <a:ext uri="{FF2B5EF4-FFF2-40B4-BE49-F238E27FC236}">
                <a16:creationId xmlns:a16="http://schemas.microsoft.com/office/drawing/2014/main" id="{78E2B468-42AB-417F-9C42-E609C3CAE3C3}"/>
              </a:ext>
            </a:extLst>
          </p:cNvPr>
          <p:cNvSpPr>
            <a:spLocks noGrp="1"/>
          </p:cNvSpPr>
          <p:nvPr/>
        </p:nvSpPr>
        <p:spPr>
          <a:xfrm>
            <a:off x="8351215" y="6382512"/>
            <a:ext cx="3273552" cy="274320"/>
          </a:xfrm>
          <a:prstGeom prst="rect">
            <a:avLst/>
          </a:prstGeom>
          <a:noFill/>
        </p:spPr>
        <p:txBody>
          <a:bodyPr wrap="square" lIns="0" tIns="0" rIns="0" bIns="0" anchor="ctr"/>
          <a:lstStyle/>
          <a:p>
            <a:pPr marL="0" indent="0" algn="r">
              <a:buNone/>
            </a:pPr>
            <a:r>
              <a:rPr sz="950" b="1">
                <a:solidFill>
                  <a:srgbClr val="9A968C"/>
                </a:solidFill>
                <a:latin typeface="Arial"/>
                <a:ea typeface="Arial"/>
                <a:cs typeface="Arial"/>
              </a:rPr>
              <a:t>INFLUENCEES</a:t>
            </a:r>
            <a:r>
              <a:rPr sz="950" b="1">
                <a:solidFill>
                  <a:srgbClr val="6B675F"/>
                </a:solidFill>
                <a:latin typeface="Arial"/>
                <a:ea typeface="Arial"/>
                <a:cs typeface="Arial"/>
              </a:rPr>
              <a:t>   06 / 10</a:t>
            </a:r>
          </a:p>
        </p:txBody>
      </p:sp>
      <p:sp>
        <p:nvSpPr>
          <p:cNvPr id="31" name="white-canvas-6">
            <a:extLst>
              <a:ext uri="{FF2B5EF4-FFF2-40B4-BE49-F238E27FC236}">
                <a16:creationId xmlns:a16="http://schemas.microsoft.com/office/drawing/2014/main" id="{88035C8E-85A8-4F58-8CE7-D36D34A03D98}"/>
              </a:ext>
            </a:extLst>
          </p:cNvPr>
          <p:cNvSpPr>
            <a:spLocks noGrp="1"/>
          </p:cNvSpPr>
          <p:nvPr/>
        </p:nvSpPr>
        <p:spPr>
          <a:xfrm>
            <a:off x="0" y="53975"/>
            <a:ext cx="12192000" cy="6858000"/>
          </a:xfrm>
          <a:prstGeom prst="rect">
            <a:avLst/>
          </a:prstGeom>
          <a:solidFill>
            <a:srgbClr val="FFFFFF"/>
          </a:solidFill>
          <a:ln w="0">
            <a:noFill/>
            <a:prstDash val="solid"/>
          </a:ln>
        </p:spPr>
        <p:txBody>
          <a:bodyPr/>
          <a:lstStyle/>
          <a:p>
            <a:endParaRPr lang="en-SG"/>
          </a:p>
        </p:txBody>
      </p:sp>
      <p:sp>
        <p:nvSpPr>
          <p:cNvPr id="32" name="section-badge">
            <a:extLst>
              <a:ext uri="{FF2B5EF4-FFF2-40B4-BE49-F238E27FC236}">
                <a16:creationId xmlns:a16="http://schemas.microsoft.com/office/drawing/2014/main" id="{9ED8247F-ACE1-47B4-9E95-7D335C16F1E2}"/>
              </a:ext>
            </a:extLst>
          </p:cNvPr>
          <p:cNvSpPr>
            <a:spLocks noGrp="1"/>
          </p:cNvSpPr>
          <p:nvPr/>
        </p:nvSpPr>
        <p:spPr>
          <a:xfrm>
            <a:off x="4191000" y="323850"/>
            <a:ext cx="3810000" cy="247650"/>
          </a:xfrm>
          <a:prstGeom prst="rect">
            <a:avLst/>
          </a:prstGeom>
          <a:noFill/>
          <a:ln w="0">
            <a:noFill/>
            <a:prstDash val="solid"/>
          </a:ln>
        </p:spPr>
        <p:txBody>
          <a:bodyPr wrap="square" lIns="0" tIns="0" rIns="0" bIns="0" anchor="t">
            <a:normAutofit/>
          </a:bodyPr>
          <a:lstStyle/>
          <a:p>
            <a:pPr algn="ctr">
              <a:lnSpc>
                <a:spcPct val="112000"/>
              </a:lnSpc>
              <a:buNone/>
              <a:defRPr sz="1200" b="1">
                <a:solidFill>
                  <a:srgbClr val="7C5CFC"/>
                </a:solidFill>
                <a:latin typeface="Inter"/>
                <a:ea typeface="Inter"/>
                <a:cs typeface="Inter"/>
              </a:defRPr>
            </a:pPr>
            <a:r>
              <a:rPr sz="1200" b="1">
                <a:solidFill>
                  <a:srgbClr val="7C5CFC"/>
                </a:solidFill>
                <a:latin typeface="Inter"/>
                <a:ea typeface="Inter"/>
                <a:cs typeface="Inter"/>
              </a:rPr>
              <a:t>SOLUTION 01 · FROM DEMO TO LIVE</a:t>
            </a:r>
          </a:p>
        </p:txBody>
      </p:sp>
      <p:sp>
        <p:nvSpPr>
          <p:cNvPr id="33" name="slide-title">
            <a:extLst>
              <a:ext uri="{FF2B5EF4-FFF2-40B4-BE49-F238E27FC236}">
                <a16:creationId xmlns:a16="http://schemas.microsoft.com/office/drawing/2014/main" id="{4F1A4FDD-B742-4AB0-901A-9AE36DD4311A}"/>
              </a:ext>
            </a:extLst>
          </p:cNvPr>
          <p:cNvSpPr>
            <a:spLocks noGrp="1"/>
          </p:cNvSpPr>
          <p:nvPr/>
        </p:nvSpPr>
        <p:spPr>
          <a:xfrm>
            <a:off x="952500" y="685800"/>
            <a:ext cx="10287000" cy="685800"/>
          </a:xfrm>
          <a:prstGeom prst="rect">
            <a:avLst/>
          </a:prstGeom>
          <a:noFill/>
          <a:ln w="0">
            <a:noFill/>
            <a:prstDash val="solid"/>
          </a:ln>
        </p:spPr>
        <p:txBody>
          <a:bodyPr wrap="square" lIns="0" tIns="0" rIns="0" bIns="0" anchor="ctr">
            <a:normAutofit/>
          </a:bodyPr>
          <a:lstStyle/>
          <a:p>
            <a:pPr algn="ctr">
              <a:lnSpc>
                <a:spcPct val="102000"/>
              </a:lnSpc>
              <a:buNone/>
              <a:defRPr sz="3450" b="0">
                <a:solidFill>
                  <a:srgbClr val="0F172A"/>
                </a:solidFill>
                <a:latin typeface="Inter"/>
                <a:ea typeface="Inter"/>
                <a:cs typeface="Inter"/>
              </a:defRPr>
            </a:pPr>
            <a:r>
              <a:rPr sz="3450" b="0" dirty="0">
                <a:solidFill>
                  <a:srgbClr val="0F172A"/>
                </a:solidFill>
                <a:latin typeface="Inter"/>
                <a:ea typeface="Inter"/>
                <a:cs typeface="Inter"/>
              </a:rPr>
              <a:t>Seeded today. Swappable tomorrow.</a:t>
            </a:r>
          </a:p>
        </p:txBody>
      </p:sp>
      <p:sp>
        <p:nvSpPr>
          <p:cNvPr id="34" name="slide-subtitle">
            <a:extLst>
              <a:ext uri="{FF2B5EF4-FFF2-40B4-BE49-F238E27FC236}">
                <a16:creationId xmlns:a16="http://schemas.microsoft.com/office/drawing/2014/main" id="{A7AA307A-E7C6-42A9-91DC-4FB01C785E61}"/>
              </a:ext>
            </a:extLst>
          </p:cNvPr>
          <p:cNvSpPr>
            <a:spLocks noGrp="1"/>
          </p:cNvSpPr>
          <p:nvPr/>
        </p:nvSpPr>
        <p:spPr>
          <a:xfrm>
            <a:off x="1333500" y="1333500"/>
            <a:ext cx="9525000" cy="590550"/>
          </a:xfrm>
          <a:prstGeom prst="rect">
            <a:avLst/>
          </a:prstGeom>
          <a:noFill/>
          <a:ln w="0">
            <a:noFill/>
            <a:prstDash val="solid"/>
          </a:ln>
        </p:spPr>
        <p:txBody>
          <a:bodyPr wrap="square" lIns="0" tIns="0" rIns="0" bIns="0" anchor="ctr">
            <a:normAutofit/>
          </a:bodyPr>
          <a:lstStyle/>
          <a:p>
            <a:pPr algn="ctr">
              <a:lnSpc>
                <a:spcPct val="122000"/>
              </a:lnSpc>
              <a:buNone/>
              <a:defRPr sz="1575" b="0">
                <a:solidFill>
                  <a:srgbClr val="64748B"/>
                </a:solidFill>
                <a:latin typeface="Inter"/>
                <a:ea typeface="Inter"/>
                <a:cs typeface="Inter"/>
              </a:defRPr>
            </a:pPr>
            <a:r>
              <a:rPr sz="1575" b="0" dirty="0">
                <a:solidFill>
                  <a:srgbClr val="64748B"/>
                </a:solidFill>
                <a:latin typeface="Inter"/>
                <a:ea typeface="Inter"/>
                <a:cs typeface="Inter"/>
              </a:rPr>
              <a:t>The demo remains reliable while each layer can connect to a real service behind a clean boundary.</a:t>
            </a:r>
          </a:p>
        </p:txBody>
      </p:sp>
      <p:sp>
        <p:nvSpPr>
          <p:cNvPr id="35" name="layer-row-0">
            <a:extLst>
              <a:ext uri="{FF2B5EF4-FFF2-40B4-BE49-F238E27FC236}">
                <a16:creationId xmlns:a16="http://schemas.microsoft.com/office/drawing/2014/main" id="{017F25C5-08EB-4BD7-BC49-24B0249CB7DB}"/>
              </a:ext>
            </a:extLst>
          </p:cNvPr>
          <p:cNvSpPr>
            <a:spLocks noGrp="1"/>
          </p:cNvSpPr>
          <p:nvPr/>
        </p:nvSpPr>
        <p:spPr>
          <a:xfrm>
            <a:off x="800100" y="2286000"/>
            <a:ext cx="10591800" cy="609600"/>
          </a:xfrm>
          <a:prstGeom prst="roundRect">
            <a:avLst>
              <a:gd name="adj" fmla="val 21875"/>
            </a:avLst>
          </a:prstGeom>
          <a:solidFill>
            <a:srgbClr val="FFF9F0"/>
          </a:solidFill>
          <a:ln w="9525">
            <a:solidFill>
              <a:srgbClr val="FFFFFF"/>
            </a:solidFill>
            <a:prstDash val="solid"/>
          </a:ln>
        </p:spPr>
        <p:style>
          <a:lnRef idx="0">
            <a:scrgbClr r="0" g="0" b="0"/>
          </a:lnRef>
          <a:fillRef idx="0">
            <a:scrgbClr r="0" g="0" b="0"/>
          </a:fillRef>
          <a:effectRef idx="14">
            <a:scrgbClr r="0" g="0" b="0"/>
          </a:effectRef>
          <a:fontRef idx="major"/>
        </p:style>
        <p:txBody>
          <a:bodyPr/>
          <a:lstStyle/>
          <a:p>
            <a:endParaRPr lang="en-SG"/>
          </a:p>
        </p:txBody>
      </p:sp>
      <p:sp>
        <p:nvSpPr>
          <p:cNvPr id="36" name="layer-title-0">
            <a:extLst>
              <a:ext uri="{FF2B5EF4-FFF2-40B4-BE49-F238E27FC236}">
                <a16:creationId xmlns:a16="http://schemas.microsoft.com/office/drawing/2014/main" id="{BF50E543-A547-4D11-9919-7D1F0D7CE276}"/>
              </a:ext>
            </a:extLst>
          </p:cNvPr>
          <p:cNvSpPr>
            <a:spLocks noGrp="1"/>
          </p:cNvSpPr>
          <p:nvPr/>
        </p:nvSpPr>
        <p:spPr>
          <a:xfrm>
            <a:off x="1028700" y="2400300"/>
            <a:ext cx="2190750" cy="381000"/>
          </a:xfrm>
          <a:prstGeom prst="rect">
            <a:avLst/>
          </a:prstGeom>
          <a:noFill/>
          <a:ln w="0">
            <a:noFill/>
            <a:prstDash val="solid"/>
          </a:ln>
        </p:spPr>
        <p:txBody>
          <a:bodyPr wrap="square" lIns="0" tIns="0" rIns="0" bIns="0" anchor="ctr">
            <a:normAutofit/>
          </a:bodyPr>
          <a:lstStyle/>
          <a:p>
            <a:pPr algn="l">
              <a:lnSpc>
                <a:spcPct val="112000"/>
              </a:lnSpc>
              <a:buNone/>
              <a:defRPr sz="1425" b="1">
                <a:solidFill>
                  <a:srgbClr val="1E293B"/>
                </a:solidFill>
                <a:latin typeface="Inter"/>
                <a:ea typeface="Inter"/>
                <a:cs typeface="Inter"/>
              </a:defRPr>
            </a:pPr>
            <a:r>
              <a:rPr sz="1425" b="1">
                <a:solidFill>
                  <a:srgbClr val="1E293B"/>
                </a:solidFill>
                <a:latin typeface="Inter"/>
                <a:ea typeface="Inter"/>
                <a:cs typeface="Inter"/>
              </a:rPr>
              <a:t>Discovery + research</a:t>
            </a:r>
          </a:p>
        </p:txBody>
      </p:sp>
      <p:sp>
        <p:nvSpPr>
          <p:cNvPr id="37" name="layer-body-0">
            <a:extLst>
              <a:ext uri="{FF2B5EF4-FFF2-40B4-BE49-F238E27FC236}">
                <a16:creationId xmlns:a16="http://schemas.microsoft.com/office/drawing/2014/main" id="{E16340E1-29C7-480C-9388-0D495B5EF84C}"/>
              </a:ext>
            </a:extLst>
          </p:cNvPr>
          <p:cNvSpPr>
            <a:spLocks noGrp="1"/>
          </p:cNvSpPr>
          <p:nvPr/>
        </p:nvSpPr>
        <p:spPr>
          <a:xfrm>
            <a:off x="3381375" y="2381250"/>
            <a:ext cx="6286500" cy="419100"/>
          </a:xfrm>
          <a:prstGeom prst="rect">
            <a:avLst/>
          </a:prstGeom>
          <a:noFill/>
          <a:ln w="0">
            <a:noFill/>
            <a:prstDash val="solid"/>
          </a:ln>
        </p:spPr>
        <p:txBody>
          <a:bodyPr wrap="square" lIns="0" tIns="0" rIns="0" bIns="0" anchor="ctr">
            <a:normAutofit fontScale="96815"/>
          </a:bodyPr>
          <a:lstStyle/>
          <a:p>
            <a:pPr algn="l">
              <a:lnSpc>
                <a:spcPct val="114000"/>
              </a:lnSpc>
              <a:buNone/>
              <a:defRPr sz="1275" b="0">
                <a:solidFill>
                  <a:srgbClr val="64748B"/>
                </a:solidFill>
                <a:latin typeface="Inter"/>
                <a:ea typeface="Inter"/>
                <a:cs typeface="Inter"/>
              </a:defRPr>
            </a:pPr>
            <a:r>
              <a:rPr sz="1275" b="1" dirty="0">
                <a:solidFill>
                  <a:srgbClr val="64748B"/>
                </a:solidFill>
                <a:latin typeface="Inter"/>
                <a:ea typeface="Inter"/>
                <a:cs typeface="Inter"/>
              </a:rPr>
              <a:t>Bright Data </a:t>
            </a:r>
            <a:r>
              <a:rPr lang="en-SG" sz="1275" b="1" dirty="0">
                <a:solidFill>
                  <a:srgbClr val="64748B"/>
                </a:solidFill>
                <a:latin typeface="Inter"/>
                <a:ea typeface="Inter"/>
                <a:cs typeface="Inter"/>
              </a:rPr>
              <a:t>API </a:t>
            </a:r>
            <a:r>
              <a:rPr sz="1275" b="0" dirty="0">
                <a:solidFill>
                  <a:srgbClr val="64748B"/>
                </a:solidFill>
                <a:latin typeface="Inter"/>
                <a:ea typeface="Inter"/>
                <a:cs typeface="Inter"/>
              </a:rPr>
              <a:t>for LinkedIn company, profile and post data—plus company sites, public news and jobs.</a:t>
            </a:r>
          </a:p>
        </p:txBody>
      </p:sp>
      <p:sp>
        <p:nvSpPr>
          <p:cNvPr id="38" name="layer-pill-0">
            <a:extLst>
              <a:ext uri="{FF2B5EF4-FFF2-40B4-BE49-F238E27FC236}">
                <a16:creationId xmlns:a16="http://schemas.microsoft.com/office/drawing/2014/main" id="{E8AE060C-1FF5-44FB-980D-B89982C4D369}"/>
              </a:ext>
            </a:extLst>
          </p:cNvPr>
          <p:cNvSpPr>
            <a:spLocks noGrp="1"/>
          </p:cNvSpPr>
          <p:nvPr/>
        </p:nvSpPr>
        <p:spPr>
          <a:xfrm>
            <a:off x="9867900" y="2438400"/>
            <a:ext cx="1257300" cy="304800"/>
          </a:xfrm>
          <a:prstGeom prst="roundRect">
            <a:avLst>
              <a:gd name="adj" fmla="val 50000"/>
            </a:avLst>
          </a:prstGeom>
          <a:solidFill>
            <a:srgbClr val="FFFFFF"/>
          </a:solidFill>
          <a:ln w="9525">
            <a:solidFill>
              <a:srgbClr val="FDE68A"/>
            </a:solidFill>
            <a:prstDash val="solid"/>
          </a:ln>
        </p:spPr>
        <p:txBody>
          <a:bodyPr lIns="0" tIns="0" rIns="0" bIns="0" anchor="ctr"/>
          <a:lstStyle/>
          <a:p>
            <a:pPr algn="ctr">
              <a:defRPr sz="975" b="1">
                <a:solidFill>
                  <a:srgbClr val="A16207"/>
                </a:solidFill>
                <a:latin typeface="Inter"/>
                <a:ea typeface="Inter"/>
                <a:cs typeface="Inter"/>
              </a:defRPr>
            </a:pPr>
            <a:r>
              <a:rPr sz="975" b="1">
                <a:solidFill>
                  <a:srgbClr val="A16207"/>
                </a:solidFill>
                <a:latin typeface="Inter"/>
                <a:ea typeface="Inter"/>
                <a:cs typeface="Inter"/>
              </a:rPr>
              <a:t>SWAPPABLE</a:t>
            </a:r>
          </a:p>
        </p:txBody>
      </p:sp>
      <p:sp>
        <p:nvSpPr>
          <p:cNvPr id="39" name="layer-row-1">
            <a:extLst>
              <a:ext uri="{FF2B5EF4-FFF2-40B4-BE49-F238E27FC236}">
                <a16:creationId xmlns:a16="http://schemas.microsoft.com/office/drawing/2014/main" id="{03BEB74A-C5A0-4D00-981F-67C281620D6B}"/>
              </a:ext>
            </a:extLst>
          </p:cNvPr>
          <p:cNvSpPr>
            <a:spLocks noGrp="1"/>
          </p:cNvSpPr>
          <p:nvPr/>
        </p:nvSpPr>
        <p:spPr>
          <a:xfrm>
            <a:off x="800100" y="3019425"/>
            <a:ext cx="10591800" cy="609600"/>
          </a:xfrm>
          <a:prstGeom prst="roundRect">
            <a:avLst>
              <a:gd name="adj" fmla="val 21875"/>
            </a:avLst>
          </a:prstGeom>
          <a:solidFill>
            <a:srgbClr val="FBF7FF"/>
          </a:solidFill>
          <a:ln w="9525">
            <a:solidFill>
              <a:srgbClr val="FFFFFF"/>
            </a:solidFill>
            <a:prstDash val="solid"/>
          </a:ln>
        </p:spPr>
        <p:style>
          <a:lnRef idx="0">
            <a:scrgbClr r="0" g="0" b="0"/>
          </a:lnRef>
          <a:fillRef idx="0">
            <a:scrgbClr r="0" g="0" b="0"/>
          </a:fillRef>
          <a:effectRef idx="14">
            <a:scrgbClr r="0" g="0" b="0"/>
          </a:effectRef>
          <a:fontRef idx="major"/>
        </p:style>
        <p:txBody>
          <a:bodyPr/>
          <a:lstStyle/>
          <a:p>
            <a:endParaRPr lang="en-SG"/>
          </a:p>
        </p:txBody>
      </p:sp>
      <p:sp>
        <p:nvSpPr>
          <p:cNvPr id="40" name="layer-title-1">
            <a:extLst>
              <a:ext uri="{FF2B5EF4-FFF2-40B4-BE49-F238E27FC236}">
                <a16:creationId xmlns:a16="http://schemas.microsoft.com/office/drawing/2014/main" id="{227D0C95-C3F2-46A7-9CF0-2B8DAB6DA061}"/>
              </a:ext>
            </a:extLst>
          </p:cNvPr>
          <p:cNvSpPr>
            <a:spLocks noGrp="1"/>
          </p:cNvSpPr>
          <p:nvPr/>
        </p:nvSpPr>
        <p:spPr>
          <a:xfrm>
            <a:off x="1028700" y="3133725"/>
            <a:ext cx="2190750" cy="381000"/>
          </a:xfrm>
          <a:prstGeom prst="rect">
            <a:avLst/>
          </a:prstGeom>
          <a:noFill/>
          <a:ln w="0">
            <a:noFill/>
            <a:prstDash val="solid"/>
          </a:ln>
        </p:spPr>
        <p:txBody>
          <a:bodyPr wrap="square" lIns="0" tIns="0" rIns="0" bIns="0" anchor="ctr">
            <a:normAutofit/>
          </a:bodyPr>
          <a:lstStyle/>
          <a:p>
            <a:pPr algn="l">
              <a:lnSpc>
                <a:spcPct val="112000"/>
              </a:lnSpc>
              <a:buNone/>
              <a:defRPr sz="1425" b="1">
                <a:solidFill>
                  <a:srgbClr val="1E293B"/>
                </a:solidFill>
                <a:latin typeface="Inter"/>
                <a:ea typeface="Inter"/>
                <a:cs typeface="Inter"/>
              </a:defRPr>
            </a:pPr>
            <a:r>
              <a:rPr sz="1425" b="1">
                <a:solidFill>
                  <a:srgbClr val="1E293B"/>
                </a:solidFill>
                <a:latin typeface="Inter"/>
                <a:ea typeface="Inter"/>
                <a:cs typeface="Inter"/>
              </a:rPr>
              <a:t>Orchestration</a:t>
            </a:r>
          </a:p>
        </p:txBody>
      </p:sp>
      <p:sp>
        <p:nvSpPr>
          <p:cNvPr id="41" name="layer-body-1">
            <a:extLst>
              <a:ext uri="{FF2B5EF4-FFF2-40B4-BE49-F238E27FC236}">
                <a16:creationId xmlns:a16="http://schemas.microsoft.com/office/drawing/2014/main" id="{DCAD4F1B-6BE2-4BBC-8DDB-532979AAF4AB}"/>
              </a:ext>
            </a:extLst>
          </p:cNvPr>
          <p:cNvSpPr>
            <a:spLocks noGrp="1"/>
          </p:cNvSpPr>
          <p:nvPr/>
        </p:nvSpPr>
        <p:spPr>
          <a:xfrm>
            <a:off x="3381375" y="3114675"/>
            <a:ext cx="6286500" cy="419100"/>
          </a:xfrm>
          <a:prstGeom prst="rect">
            <a:avLst/>
          </a:prstGeom>
          <a:noFill/>
          <a:ln w="0">
            <a:noFill/>
            <a:prstDash val="solid"/>
          </a:ln>
        </p:spPr>
        <p:txBody>
          <a:bodyPr wrap="square" lIns="0" tIns="0" rIns="0" bIns="0" anchor="ctr">
            <a:normAutofit/>
          </a:bodyPr>
          <a:lstStyle/>
          <a:p>
            <a:pPr algn="l">
              <a:lnSpc>
                <a:spcPct val="114000"/>
              </a:lnSpc>
              <a:buNone/>
              <a:defRPr sz="1275" b="0">
                <a:solidFill>
                  <a:srgbClr val="64748B"/>
                </a:solidFill>
                <a:latin typeface="Inter"/>
                <a:ea typeface="Inter"/>
                <a:cs typeface="Inter"/>
              </a:defRPr>
            </a:pPr>
            <a:r>
              <a:rPr sz="1275" b="0">
                <a:solidFill>
                  <a:srgbClr val="64748B"/>
                </a:solidFill>
                <a:latin typeface="Inter"/>
                <a:ea typeface="Inter"/>
                <a:cs typeface="Inter"/>
              </a:rPr>
              <a:t>n8n, a custom agent service or a hybrid. The dashboard owns state; the agent owns decisions.</a:t>
            </a:r>
          </a:p>
        </p:txBody>
      </p:sp>
      <p:sp>
        <p:nvSpPr>
          <p:cNvPr id="42" name="layer-pill-1">
            <a:extLst>
              <a:ext uri="{FF2B5EF4-FFF2-40B4-BE49-F238E27FC236}">
                <a16:creationId xmlns:a16="http://schemas.microsoft.com/office/drawing/2014/main" id="{BAEE1981-6FE2-4929-9777-2CCE8700B93B}"/>
              </a:ext>
            </a:extLst>
          </p:cNvPr>
          <p:cNvSpPr>
            <a:spLocks noGrp="1"/>
          </p:cNvSpPr>
          <p:nvPr/>
        </p:nvSpPr>
        <p:spPr>
          <a:xfrm>
            <a:off x="9867900" y="3171825"/>
            <a:ext cx="1257300" cy="304800"/>
          </a:xfrm>
          <a:prstGeom prst="roundRect">
            <a:avLst>
              <a:gd name="adj" fmla="val 50000"/>
            </a:avLst>
          </a:prstGeom>
          <a:solidFill>
            <a:srgbClr val="FFFFFF"/>
          </a:solidFill>
          <a:ln w="9525">
            <a:solidFill>
              <a:srgbClr val="E9D5FF"/>
            </a:solidFill>
            <a:prstDash val="solid"/>
          </a:ln>
        </p:spPr>
        <p:txBody>
          <a:bodyPr lIns="0" tIns="0" rIns="0" bIns="0" anchor="ctr"/>
          <a:lstStyle/>
          <a:p>
            <a:pPr algn="ctr">
              <a:defRPr sz="975" b="1">
                <a:solidFill>
                  <a:srgbClr val="B567C2"/>
                </a:solidFill>
                <a:latin typeface="Inter"/>
                <a:ea typeface="Inter"/>
                <a:cs typeface="Inter"/>
              </a:defRPr>
            </a:pPr>
            <a:r>
              <a:rPr sz="975" b="1">
                <a:solidFill>
                  <a:srgbClr val="B567C2"/>
                </a:solidFill>
                <a:latin typeface="Inter"/>
                <a:ea typeface="Inter"/>
                <a:cs typeface="Inter"/>
              </a:rPr>
              <a:t>YOUR CALL</a:t>
            </a:r>
          </a:p>
        </p:txBody>
      </p:sp>
      <p:sp>
        <p:nvSpPr>
          <p:cNvPr id="43" name="layer-row-2">
            <a:extLst>
              <a:ext uri="{FF2B5EF4-FFF2-40B4-BE49-F238E27FC236}">
                <a16:creationId xmlns:a16="http://schemas.microsoft.com/office/drawing/2014/main" id="{73936DB3-3FB4-4865-85D2-86686D13F552}"/>
              </a:ext>
            </a:extLst>
          </p:cNvPr>
          <p:cNvSpPr>
            <a:spLocks noGrp="1"/>
          </p:cNvSpPr>
          <p:nvPr/>
        </p:nvSpPr>
        <p:spPr>
          <a:xfrm>
            <a:off x="800100" y="3752850"/>
            <a:ext cx="10591800" cy="609600"/>
          </a:xfrm>
          <a:prstGeom prst="roundRect">
            <a:avLst>
              <a:gd name="adj" fmla="val 21875"/>
            </a:avLst>
          </a:prstGeom>
          <a:solidFill>
            <a:srgbClr val="FFF9F0"/>
          </a:solidFill>
          <a:ln w="9525">
            <a:solidFill>
              <a:srgbClr val="FFFFFF"/>
            </a:solidFill>
            <a:prstDash val="solid"/>
          </a:ln>
        </p:spPr>
        <p:style>
          <a:lnRef idx="0">
            <a:scrgbClr r="0" g="0" b="0"/>
          </a:lnRef>
          <a:fillRef idx="0">
            <a:scrgbClr r="0" g="0" b="0"/>
          </a:fillRef>
          <a:effectRef idx="14">
            <a:scrgbClr r="0" g="0" b="0"/>
          </a:effectRef>
          <a:fontRef idx="major"/>
        </p:style>
        <p:txBody>
          <a:bodyPr/>
          <a:lstStyle/>
          <a:p>
            <a:endParaRPr lang="en-SG"/>
          </a:p>
        </p:txBody>
      </p:sp>
      <p:sp>
        <p:nvSpPr>
          <p:cNvPr id="44" name="layer-title-2">
            <a:extLst>
              <a:ext uri="{FF2B5EF4-FFF2-40B4-BE49-F238E27FC236}">
                <a16:creationId xmlns:a16="http://schemas.microsoft.com/office/drawing/2014/main" id="{634FEB9C-E42D-434D-94B8-3A0A34D51BEB}"/>
              </a:ext>
            </a:extLst>
          </p:cNvPr>
          <p:cNvSpPr>
            <a:spLocks noGrp="1"/>
          </p:cNvSpPr>
          <p:nvPr/>
        </p:nvSpPr>
        <p:spPr>
          <a:xfrm>
            <a:off x="1028700" y="3867150"/>
            <a:ext cx="2190750" cy="381000"/>
          </a:xfrm>
          <a:prstGeom prst="rect">
            <a:avLst/>
          </a:prstGeom>
          <a:noFill/>
          <a:ln w="0">
            <a:noFill/>
            <a:prstDash val="solid"/>
          </a:ln>
        </p:spPr>
        <p:txBody>
          <a:bodyPr wrap="square" lIns="0" tIns="0" rIns="0" bIns="0" anchor="ctr">
            <a:normAutofit/>
          </a:bodyPr>
          <a:lstStyle/>
          <a:p>
            <a:pPr algn="l">
              <a:lnSpc>
                <a:spcPct val="112000"/>
              </a:lnSpc>
              <a:buNone/>
              <a:defRPr sz="1425" b="1">
                <a:solidFill>
                  <a:srgbClr val="1E293B"/>
                </a:solidFill>
                <a:latin typeface="Inter"/>
                <a:ea typeface="Inter"/>
                <a:cs typeface="Inter"/>
              </a:defRPr>
            </a:pPr>
            <a:r>
              <a:rPr sz="1425" b="1">
                <a:solidFill>
                  <a:srgbClr val="1E293B"/>
                </a:solidFill>
                <a:latin typeface="Inter"/>
                <a:ea typeface="Inter"/>
                <a:cs typeface="Inter"/>
              </a:rPr>
              <a:t>Messaging channel</a:t>
            </a:r>
          </a:p>
        </p:txBody>
      </p:sp>
      <p:sp>
        <p:nvSpPr>
          <p:cNvPr id="45" name="layer-body-2">
            <a:extLst>
              <a:ext uri="{FF2B5EF4-FFF2-40B4-BE49-F238E27FC236}">
                <a16:creationId xmlns:a16="http://schemas.microsoft.com/office/drawing/2014/main" id="{CCBEE156-C4F7-484D-8E74-D2BBE71C7344}"/>
              </a:ext>
            </a:extLst>
          </p:cNvPr>
          <p:cNvSpPr>
            <a:spLocks noGrp="1"/>
          </p:cNvSpPr>
          <p:nvPr/>
        </p:nvSpPr>
        <p:spPr>
          <a:xfrm>
            <a:off x="3381375" y="3848100"/>
            <a:ext cx="6286500" cy="419100"/>
          </a:xfrm>
          <a:prstGeom prst="rect">
            <a:avLst/>
          </a:prstGeom>
          <a:noFill/>
          <a:ln w="0">
            <a:noFill/>
            <a:prstDash val="solid"/>
          </a:ln>
        </p:spPr>
        <p:txBody>
          <a:bodyPr wrap="square" lIns="0" tIns="0" rIns="0" bIns="0" anchor="ctr">
            <a:normAutofit/>
          </a:bodyPr>
          <a:lstStyle/>
          <a:p>
            <a:pPr algn="l">
              <a:lnSpc>
                <a:spcPct val="114000"/>
              </a:lnSpc>
              <a:buNone/>
              <a:defRPr sz="1275" b="0">
                <a:solidFill>
                  <a:srgbClr val="64748B"/>
                </a:solidFill>
                <a:latin typeface="Inter"/>
                <a:ea typeface="Inter"/>
                <a:cs typeface="Inter"/>
              </a:defRPr>
            </a:pPr>
            <a:r>
              <a:rPr sz="1275" b="0" dirty="0">
                <a:solidFill>
                  <a:srgbClr val="64748B"/>
                </a:solidFill>
                <a:latin typeface="Inter"/>
                <a:ea typeface="Inter"/>
                <a:cs typeface="Inter"/>
              </a:rPr>
              <a:t>Mock/demo now; email, assisted LinkedIn or</a:t>
            </a:r>
            <a:r>
              <a:rPr lang="en-SG" sz="1275" b="0" dirty="0">
                <a:solidFill>
                  <a:srgbClr val="64748B"/>
                </a:solidFill>
                <a:latin typeface="Inter"/>
                <a:ea typeface="Inter"/>
                <a:cs typeface="Inter"/>
              </a:rPr>
              <a:t> web automation after.</a:t>
            </a:r>
            <a:endParaRPr sz="1275" b="0" dirty="0">
              <a:solidFill>
                <a:srgbClr val="64748B"/>
              </a:solidFill>
              <a:latin typeface="Inter"/>
              <a:ea typeface="Inter"/>
              <a:cs typeface="Inter"/>
            </a:endParaRPr>
          </a:p>
        </p:txBody>
      </p:sp>
      <p:sp>
        <p:nvSpPr>
          <p:cNvPr id="46" name="layer-pill-2">
            <a:extLst>
              <a:ext uri="{FF2B5EF4-FFF2-40B4-BE49-F238E27FC236}">
                <a16:creationId xmlns:a16="http://schemas.microsoft.com/office/drawing/2014/main" id="{4B635D50-3AAD-4439-9E87-20AA6B9E4292}"/>
              </a:ext>
            </a:extLst>
          </p:cNvPr>
          <p:cNvSpPr>
            <a:spLocks noGrp="1"/>
          </p:cNvSpPr>
          <p:nvPr/>
        </p:nvSpPr>
        <p:spPr>
          <a:xfrm>
            <a:off x="9867900" y="3905250"/>
            <a:ext cx="1257300" cy="304800"/>
          </a:xfrm>
          <a:prstGeom prst="roundRect">
            <a:avLst>
              <a:gd name="adj" fmla="val 50000"/>
            </a:avLst>
          </a:prstGeom>
          <a:solidFill>
            <a:srgbClr val="FFFFFF"/>
          </a:solidFill>
          <a:ln w="9525">
            <a:solidFill>
              <a:srgbClr val="FDE68A"/>
            </a:solidFill>
            <a:prstDash val="solid"/>
          </a:ln>
        </p:spPr>
        <p:txBody>
          <a:bodyPr lIns="0" tIns="0" rIns="0" bIns="0" anchor="ctr"/>
          <a:lstStyle/>
          <a:p>
            <a:pPr algn="ctr">
              <a:defRPr sz="975" b="1">
                <a:solidFill>
                  <a:srgbClr val="A16207"/>
                </a:solidFill>
                <a:latin typeface="Inter"/>
                <a:ea typeface="Inter"/>
                <a:cs typeface="Inter"/>
              </a:defRPr>
            </a:pPr>
            <a:r>
              <a:rPr sz="975" b="1">
                <a:solidFill>
                  <a:srgbClr val="A16207"/>
                </a:solidFill>
                <a:latin typeface="Inter"/>
                <a:ea typeface="Inter"/>
                <a:cs typeface="Inter"/>
              </a:rPr>
              <a:t>ADAPTER</a:t>
            </a:r>
          </a:p>
        </p:txBody>
      </p:sp>
      <p:sp>
        <p:nvSpPr>
          <p:cNvPr id="47" name="layer-row-3">
            <a:extLst>
              <a:ext uri="{FF2B5EF4-FFF2-40B4-BE49-F238E27FC236}">
                <a16:creationId xmlns:a16="http://schemas.microsoft.com/office/drawing/2014/main" id="{BFA459AF-F171-4A4F-BB1D-DAB374B4BA0A}"/>
              </a:ext>
            </a:extLst>
          </p:cNvPr>
          <p:cNvSpPr>
            <a:spLocks noGrp="1"/>
          </p:cNvSpPr>
          <p:nvPr/>
        </p:nvSpPr>
        <p:spPr>
          <a:xfrm>
            <a:off x="800100" y="4486275"/>
            <a:ext cx="10591800" cy="609600"/>
          </a:xfrm>
          <a:prstGeom prst="roundRect">
            <a:avLst>
              <a:gd name="adj" fmla="val 21875"/>
            </a:avLst>
          </a:prstGeom>
          <a:solidFill>
            <a:srgbClr val="FBF7FF"/>
          </a:solidFill>
          <a:ln w="9525">
            <a:solidFill>
              <a:srgbClr val="FFFFFF"/>
            </a:solidFill>
            <a:prstDash val="solid"/>
          </a:ln>
        </p:spPr>
        <p:style>
          <a:lnRef idx="0">
            <a:scrgbClr r="0" g="0" b="0"/>
          </a:lnRef>
          <a:fillRef idx="0">
            <a:scrgbClr r="0" g="0" b="0"/>
          </a:fillRef>
          <a:effectRef idx="14">
            <a:scrgbClr r="0" g="0" b="0"/>
          </a:effectRef>
          <a:fontRef idx="major"/>
        </p:style>
        <p:txBody>
          <a:bodyPr/>
          <a:lstStyle/>
          <a:p>
            <a:endParaRPr lang="en-SG"/>
          </a:p>
        </p:txBody>
      </p:sp>
      <p:sp>
        <p:nvSpPr>
          <p:cNvPr id="48" name="layer-title-3">
            <a:extLst>
              <a:ext uri="{FF2B5EF4-FFF2-40B4-BE49-F238E27FC236}">
                <a16:creationId xmlns:a16="http://schemas.microsoft.com/office/drawing/2014/main" id="{E769B56B-E38E-48E6-8370-DAE885F925BD}"/>
              </a:ext>
            </a:extLst>
          </p:cNvPr>
          <p:cNvSpPr>
            <a:spLocks noGrp="1"/>
          </p:cNvSpPr>
          <p:nvPr/>
        </p:nvSpPr>
        <p:spPr>
          <a:xfrm>
            <a:off x="1028700" y="4600575"/>
            <a:ext cx="2190750" cy="381000"/>
          </a:xfrm>
          <a:prstGeom prst="rect">
            <a:avLst/>
          </a:prstGeom>
          <a:noFill/>
          <a:ln w="0">
            <a:noFill/>
            <a:prstDash val="solid"/>
          </a:ln>
        </p:spPr>
        <p:txBody>
          <a:bodyPr wrap="square" lIns="0" tIns="0" rIns="0" bIns="0" anchor="ctr">
            <a:normAutofit/>
          </a:bodyPr>
          <a:lstStyle/>
          <a:p>
            <a:pPr algn="l">
              <a:lnSpc>
                <a:spcPct val="112000"/>
              </a:lnSpc>
              <a:buNone/>
              <a:defRPr sz="1425" b="1">
                <a:solidFill>
                  <a:srgbClr val="1E293B"/>
                </a:solidFill>
                <a:latin typeface="Inter"/>
                <a:ea typeface="Inter"/>
                <a:cs typeface="Inter"/>
              </a:defRPr>
            </a:pPr>
            <a:r>
              <a:rPr sz="1425" b="1">
                <a:solidFill>
                  <a:srgbClr val="1E293B"/>
                </a:solidFill>
                <a:latin typeface="Inter"/>
                <a:ea typeface="Inter"/>
                <a:cs typeface="Inter"/>
              </a:rPr>
              <a:t>Reasoning</a:t>
            </a:r>
          </a:p>
        </p:txBody>
      </p:sp>
      <p:sp>
        <p:nvSpPr>
          <p:cNvPr id="49" name="layer-body-3">
            <a:extLst>
              <a:ext uri="{FF2B5EF4-FFF2-40B4-BE49-F238E27FC236}">
                <a16:creationId xmlns:a16="http://schemas.microsoft.com/office/drawing/2014/main" id="{1E826DB0-DF9D-4E8B-9DD2-DFAF9E5F79E8}"/>
              </a:ext>
            </a:extLst>
          </p:cNvPr>
          <p:cNvSpPr>
            <a:spLocks noGrp="1"/>
          </p:cNvSpPr>
          <p:nvPr/>
        </p:nvSpPr>
        <p:spPr>
          <a:xfrm>
            <a:off x="3381375" y="4581525"/>
            <a:ext cx="6286500" cy="419100"/>
          </a:xfrm>
          <a:prstGeom prst="rect">
            <a:avLst/>
          </a:prstGeom>
          <a:noFill/>
          <a:ln w="0">
            <a:noFill/>
            <a:prstDash val="solid"/>
          </a:ln>
        </p:spPr>
        <p:txBody>
          <a:bodyPr wrap="square" lIns="0" tIns="0" rIns="0" bIns="0" anchor="ctr">
            <a:normAutofit/>
          </a:bodyPr>
          <a:lstStyle/>
          <a:p>
            <a:pPr algn="l">
              <a:lnSpc>
                <a:spcPct val="114000"/>
              </a:lnSpc>
              <a:buNone/>
              <a:defRPr sz="1275" b="0">
                <a:solidFill>
                  <a:srgbClr val="64748B"/>
                </a:solidFill>
                <a:latin typeface="Inter"/>
                <a:ea typeface="Inter"/>
                <a:cs typeface="Inter"/>
              </a:defRPr>
            </a:pPr>
            <a:r>
              <a:rPr sz="1275" b="0">
                <a:solidFill>
                  <a:srgbClr val="64748B"/>
                </a:solidFill>
                <a:latin typeface="Inter"/>
                <a:ea typeface="Inter"/>
                <a:cs typeface="Inter"/>
              </a:rPr>
              <a:t>Business-brain rules plus LLM drafting, gated by claim, tone and duplicate checks.</a:t>
            </a:r>
          </a:p>
        </p:txBody>
      </p:sp>
      <p:sp>
        <p:nvSpPr>
          <p:cNvPr id="50" name="layer-pill-3">
            <a:extLst>
              <a:ext uri="{FF2B5EF4-FFF2-40B4-BE49-F238E27FC236}">
                <a16:creationId xmlns:a16="http://schemas.microsoft.com/office/drawing/2014/main" id="{EFDC92EC-8826-4EDB-91AD-F747B93FB987}"/>
              </a:ext>
            </a:extLst>
          </p:cNvPr>
          <p:cNvSpPr>
            <a:spLocks noGrp="1"/>
          </p:cNvSpPr>
          <p:nvPr/>
        </p:nvSpPr>
        <p:spPr>
          <a:xfrm>
            <a:off x="9867900" y="4638675"/>
            <a:ext cx="1257300" cy="304800"/>
          </a:xfrm>
          <a:prstGeom prst="roundRect">
            <a:avLst>
              <a:gd name="adj" fmla="val 50000"/>
            </a:avLst>
          </a:prstGeom>
          <a:solidFill>
            <a:srgbClr val="FFFFFF"/>
          </a:solidFill>
          <a:ln w="9525">
            <a:solidFill>
              <a:srgbClr val="E9D5FF"/>
            </a:solidFill>
            <a:prstDash val="solid"/>
          </a:ln>
        </p:spPr>
        <p:txBody>
          <a:bodyPr lIns="0" tIns="0" rIns="0" bIns="0" anchor="ctr"/>
          <a:lstStyle/>
          <a:p>
            <a:pPr algn="ctr">
              <a:defRPr sz="975" b="1">
                <a:solidFill>
                  <a:srgbClr val="B567C2"/>
                </a:solidFill>
                <a:latin typeface="Inter"/>
                <a:ea typeface="Inter"/>
                <a:cs typeface="Inter"/>
              </a:defRPr>
            </a:pPr>
            <a:r>
              <a:rPr sz="975" b="1">
                <a:solidFill>
                  <a:srgbClr val="B567C2"/>
                </a:solidFill>
                <a:latin typeface="Inter"/>
                <a:ea typeface="Inter"/>
                <a:cs typeface="Inter"/>
              </a:rPr>
              <a:t>GUARDED</a:t>
            </a:r>
          </a:p>
        </p:txBody>
      </p:sp>
      <p:sp>
        <p:nvSpPr>
          <p:cNvPr id="51" name="layer-row-4">
            <a:extLst>
              <a:ext uri="{FF2B5EF4-FFF2-40B4-BE49-F238E27FC236}">
                <a16:creationId xmlns:a16="http://schemas.microsoft.com/office/drawing/2014/main" id="{823A81E8-0590-4CD2-A1C3-4F68F0290DE9}"/>
              </a:ext>
            </a:extLst>
          </p:cNvPr>
          <p:cNvSpPr>
            <a:spLocks noGrp="1"/>
          </p:cNvSpPr>
          <p:nvPr/>
        </p:nvSpPr>
        <p:spPr>
          <a:xfrm>
            <a:off x="800100" y="5219700"/>
            <a:ext cx="10591800" cy="609600"/>
          </a:xfrm>
          <a:prstGeom prst="roundRect">
            <a:avLst>
              <a:gd name="adj" fmla="val 21875"/>
            </a:avLst>
          </a:prstGeom>
          <a:solidFill>
            <a:srgbClr val="FFF9F0"/>
          </a:solidFill>
          <a:ln w="9525">
            <a:solidFill>
              <a:srgbClr val="FFFFFF"/>
            </a:solidFill>
            <a:prstDash val="solid"/>
          </a:ln>
        </p:spPr>
        <p:style>
          <a:lnRef idx="0">
            <a:scrgbClr r="0" g="0" b="0"/>
          </a:lnRef>
          <a:fillRef idx="0">
            <a:scrgbClr r="0" g="0" b="0"/>
          </a:fillRef>
          <a:effectRef idx="14">
            <a:scrgbClr r="0" g="0" b="0"/>
          </a:effectRef>
          <a:fontRef idx="major"/>
        </p:style>
        <p:txBody>
          <a:bodyPr/>
          <a:lstStyle/>
          <a:p>
            <a:endParaRPr lang="en-SG"/>
          </a:p>
        </p:txBody>
      </p:sp>
      <p:sp>
        <p:nvSpPr>
          <p:cNvPr id="52" name="layer-title-4">
            <a:extLst>
              <a:ext uri="{FF2B5EF4-FFF2-40B4-BE49-F238E27FC236}">
                <a16:creationId xmlns:a16="http://schemas.microsoft.com/office/drawing/2014/main" id="{0E6A53A1-02E0-46B0-BC48-0B35A697E46A}"/>
              </a:ext>
            </a:extLst>
          </p:cNvPr>
          <p:cNvSpPr>
            <a:spLocks noGrp="1"/>
          </p:cNvSpPr>
          <p:nvPr/>
        </p:nvSpPr>
        <p:spPr>
          <a:xfrm>
            <a:off x="1028700" y="5334000"/>
            <a:ext cx="2190750" cy="381000"/>
          </a:xfrm>
          <a:prstGeom prst="rect">
            <a:avLst/>
          </a:prstGeom>
          <a:noFill/>
          <a:ln w="0">
            <a:noFill/>
            <a:prstDash val="solid"/>
          </a:ln>
        </p:spPr>
        <p:txBody>
          <a:bodyPr wrap="square" lIns="0" tIns="0" rIns="0" bIns="0" anchor="ctr">
            <a:normAutofit/>
          </a:bodyPr>
          <a:lstStyle/>
          <a:p>
            <a:pPr algn="l">
              <a:lnSpc>
                <a:spcPct val="112000"/>
              </a:lnSpc>
              <a:buNone/>
              <a:defRPr sz="1425" b="1">
                <a:solidFill>
                  <a:srgbClr val="1E293B"/>
                </a:solidFill>
                <a:latin typeface="Inter"/>
                <a:ea typeface="Inter"/>
                <a:cs typeface="Inter"/>
              </a:defRPr>
            </a:pPr>
            <a:r>
              <a:rPr sz="1425" b="1">
                <a:solidFill>
                  <a:srgbClr val="1E293B"/>
                </a:solidFill>
                <a:latin typeface="Inter"/>
                <a:ea typeface="Inter"/>
                <a:cs typeface="Inter"/>
              </a:rPr>
              <a:t>State + memory</a:t>
            </a:r>
          </a:p>
        </p:txBody>
      </p:sp>
      <p:sp>
        <p:nvSpPr>
          <p:cNvPr id="53" name="layer-body-4">
            <a:extLst>
              <a:ext uri="{FF2B5EF4-FFF2-40B4-BE49-F238E27FC236}">
                <a16:creationId xmlns:a16="http://schemas.microsoft.com/office/drawing/2014/main" id="{8D575612-2DC9-42B1-BB37-1D59BC84890C}"/>
              </a:ext>
            </a:extLst>
          </p:cNvPr>
          <p:cNvSpPr>
            <a:spLocks noGrp="1"/>
          </p:cNvSpPr>
          <p:nvPr/>
        </p:nvSpPr>
        <p:spPr>
          <a:xfrm>
            <a:off x="3381375" y="5314950"/>
            <a:ext cx="6286500" cy="419100"/>
          </a:xfrm>
          <a:prstGeom prst="rect">
            <a:avLst/>
          </a:prstGeom>
          <a:noFill/>
          <a:ln w="0">
            <a:noFill/>
            <a:prstDash val="solid"/>
          </a:ln>
        </p:spPr>
        <p:txBody>
          <a:bodyPr wrap="square" lIns="0" tIns="0" rIns="0" bIns="0" anchor="ctr">
            <a:normAutofit/>
          </a:bodyPr>
          <a:lstStyle/>
          <a:p>
            <a:pPr algn="l">
              <a:lnSpc>
                <a:spcPct val="114000"/>
              </a:lnSpc>
              <a:buNone/>
              <a:defRPr sz="1275" b="0">
                <a:solidFill>
                  <a:srgbClr val="64748B"/>
                </a:solidFill>
                <a:latin typeface="Inter"/>
                <a:ea typeface="Inter"/>
                <a:cs typeface="Inter"/>
              </a:defRPr>
            </a:pPr>
            <a:r>
              <a:rPr sz="1275" b="0">
                <a:solidFill>
                  <a:srgbClr val="64748B"/>
                </a:solidFill>
                <a:latin typeface="Inter"/>
                <a:ea typeface="Inter"/>
                <a:cs typeface="Inter"/>
              </a:rPr>
              <a:t>Pipeline stage and thread ownership tracked separately, with a complete activity history.</a:t>
            </a:r>
          </a:p>
        </p:txBody>
      </p:sp>
      <p:sp>
        <p:nvSpPr>
          <p:cNvPr id="54" name="layer-pill-4">
            <a:extLst>
              <a:ext uri="{FF2B5EF4-FFF2-40B4-BE49-F238E27FC236}">
                <a16:creationId xmlns:a16="http://schemas.microsoft.com/office/drawing/2014/main" id="{B1B0164F-6823-456E-B80B-027CB4FDF97E}"/>
              </a:ext>
            </a:extLst>
          </p:cNvPr>
          <p:cNvSpPr>
            <a:spLocks noGrp="1"/>
          </p:cNvSpPr>
          <p:nvPr/>
        </p:nvSpPr>
        <p:spPr>
          <a:xfrm>
            <a:off x="9867900" y="5372100"/>
            <a:ext cx="1257300" cy="304800"/>
          </a:xfrm>
          <a:prstGeom prst="roundRect">
            <a:avLst>
              <a:gd name="adj" fmla="val 50000"/>
            </a:avLst>
          </a:prstGeom>
          <a:solidFill>
            <a:srgbClr val="FFFFFF"/>
          </a:solidFill>
          <a:ln w="9525">
            <a:solidFill>
              <a:srgbClr val="FDE68A"/>
            </a:solidFill>
            <a:prstDash val="solid"/>
          </a:ln>
        </p:spPr>
        <p:txBody>
          <a:bodyPr lIns="0" tIns="0" rIns="0" bIns="0" anchor="ctr"/>
          <a:lstStyle/>
          <a:p>
            <a:pPr algn="ctr">
              <a:defRPr sz="975" b="1">
                <a:solidFill>
                  <a:srgbClr val="A16207"/>
                </a:solidFill>
                <a:latin typeface="Inter"/>
                <a:ea typeface="Inter"/>
                <a:cs typeface="Inter"/>
              </a:defRPr>
            </a:pPr>
            <a:r>
              <a:rPr sz="975" b="1">
                <a:solidFill>
                  <a:srgbClr val="A16207"/>
                </a:solidFill>
                <a:latin typeface="Inter"/>
                <a:ea typeface="Inter"/>
                <a:cs typeface="Inter"/>
              </a:rPr>
              <a:t>AUDITED</a:t>
            </a:r>
          </a:p>
        </p:txBody>
      </p:sp>
      <p:sp>
        <p:nvSpPr>
          <p:cNvPr id="55" name="footer-brand">
            <a:extLst>
              <a:ext uri="{FF2B5EF4-FFF2-40B4-BE49-F238E27FC236}">
                <a16:creationId xmlns:a16="http://schemas.microsoft.com/office/drawing/2014/main" id="{E435D788-1FFD-46A5-97F1-349466293218}"/>
              </a:ext>
            </a:extLst>
          </p:cNvPr>
          <p:cNvSpPr>
            <a:spLocks noGrp="1"/>
          </p:cNvSpPr>
          <p:nvPr/>
        </p:nvSpPr>
        <p:spPr>
          <a:xfrm>
            <a:off x="533400" y="6457950"/>
            <a:ext cx="1714500" cy="190500"/>
          </a:xfrm>
          <a:prstGeom prst="rect">
            <a:avLst/>
          </a:prstGeom>
          <a:noFill/>
          <a:ln w="0">
            <a:noFill/>
            <a:prstDash val="solid"/>
          </a:ln>
        </p:spPr>
        <p:txBody>
          <a:bodyPr wrap="square" lIns="0" tIns="0" rIns="0" bIns="0" anchor="ctr">
            <a:normAutofit/>
          </a:bodyPr>
          <a:lstStyle/>
          <a:p>
            <a:pPr algn="l">
              <a:lnSpc>
                <a:spcPct val="112000"/>
              </a:lnSpc>
              <a:buNone/>
              <a:defRPr sz="975" b="1">
                <a:solidFill>
                  <a:srgbClr val="94A3B8"/>
                </a:solidFill>
                <a:latin typeface="Inter"/>
                <a:ea typeface="Inter"/>
                <a:cs typeface="Inter"/>
              </a:defRPr>
            </a:pPr>
            <a:r>
              <a:rPr sz="975" b="1">
                <a:solidFill>
                  <a:srgbClr val="94A3B8"/>
                </a:solidFill>
                <a:latin typeface="Inter"/>
                <a:ea typeface="Inter"/>
                <a:cs typeface="Inter"/>
              </a:rPr>
              <a:t>INFLUENCEES</a:t>
            </a:r>
          </a:p>
        </p:txBody>
      </p:sp>
      <p:sp>
        <p:nvSpPr>
          <p:cNvPr id="56" name="footer-page">
            <a:extLst>
              <a:ext uri="{FF2B5EF4-FFF2-40B4-BE49-F238E27FC236}">
                <a16:creationId xmlns:a16="http://schemas.microsoft.com/office/drawing/2014/main" id="{1E8B0686-7FBC-415C-91DD-5E33FCDA6FF3}"/>
              </a:ext>
            </a:extLst>
          </p:cNvPr>
          <p:cNvSpPr>
            <a:spLocks noGrp="1"/>
          </p:cNvSpPr>
          <p:nvPr/>
        </p:nvSpPr>
        <p:spPr>
          <a:xfrm>
            <a:off x="10572750" y="6457950"/>
            <a:ext cx="1085850" cy="190500"/>
          </a:xfrm>
          <a:prstGeom prst="rect">
            <a:avLst/>
          </a:prstGeom>
          <a:noFill/>
          <a:ln w="0">
            <a:noFill/>
            <a:prstDash val="solid"/>
          </a:ln>
        </p:spPr>
        <p:txBody>
          <a:bodyPr wrap="square" lIns="0" tIns="0" rIns="0" bIns="0" anchor="ctr">
            <a:normAutofit/>
          </a:bodyPr>
          <a:lstStyle/>
          <a:p>
            <a:pPr algn="r">
              <a:lnSpc>
                <a:spcPct val="112000"/>
              </a:lnSpc>
              <a:buNone/>
              <a:defRPr sz="975" b="1">
                <a:solidFill>
                  <a:srgbClr val="94A3B8"/>
                </a:solidFill>
                <a:latin typeface="Inter"/>
                <a:ea typeface="Inter"/>
                <a:cs typeface="Inter"/>
              </a:defRPr>
            </a:pPr>
            <a:r>
              <a:rPr sz="975" b="1">
                <a:solidFill>
                  <a:srgbClr val="94A3B8"/>
                </a:solidFill>
                <a:latin typeface="Inter"/>
                <a:ea typeface="Inter"/>
                <a:cs typeface="Inter"/>
              </a:rPr>
              <a:t>06 / 10</a:t>
            </a:r>
          </a:p>
        </p:txBody>
      </p:sp>
    </p:spTree>
    <p:extLst>
      <p:ext uri="{BB962C8B-B14F-4D97-AF65-F5344CB8AC3E}">
        <p14:creationId xmlns:p14="http://schemas.microsoft.com/office/powerpoint/2010/main" val="4208817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D65DB63D-4BDA-4D5C-8391-994075D80F7F}"/>
              </a:ext>
            </a:extLst>
          </p:cNvPr>
          <p:cNvSpPr>
            <a:spLocks noGrp="1"/>
          </p:cNvSpPr>
          <p:nvPr/>
        </p:nvSpPr>
        <p:spPr>
          <a:xfrm>
            <a:off x="566928" y="457200"/>
            <a:ext cx="8229600" cy="274320"/>
          </a:xfrm>
          <a:prstGeom prst="rect">
            <a:avLst/>
          </a:prstGeom>
          <a:noFill/>
        </p:spPr>
        <p:txBody>
          <a:bodyPr wrap="square" lIns="0" tIns="0" rIns="0" bIns="0" anchor="ctr"/>
          <a:lstStyle/>
          <a:p>
            <a:pPr marL="0" indent="0" algn="l">
              <a:buNone/>
            </a:pPr>
            <a:r>
              <a:rPr sz="1150" b="1">
                <a:solidFill>
                  <a:srgbClr val="5A3EE0"/>
                </a:solidFill>
                <a:latin typeface="Arial"/>
                <a:ea typeface="Arial"/>
                <a:cs typeface="Arial"/>
              </a:rPr>
              <a:t>SOLUTION 02  ·  WEBSITE REDESIGN</a:t>
            </a:r>
          </a:p>
        </p:txBody>
      </p:sp>
      <p:sp>
        <p:nvSpPr>
          <p:cNvPr id="3" name="Text 1">
            <a:extLst>
              <a:ext uri="{FF2B5EF4-FFF2-40B4-BE49-F238E27FC236}">
                <a16:creationId xmlns:a16="http://schemas.microsoft.com/office/drawing/2014/main" id="{556FCE3D-BAA3-45F7-87BC-BDDB979D667D}"/>
              </a:ext>
            </a:extLst>
          </p:cNvPr>
          <p:cNvSpPr>
            <a:spLocks noGrp="1"/>
          </p:cNvSpPr>
          <p:nvPr/>
        </p:nvSpPr>
        <p:spPr>
          <a:xfrm>
            <a:off x="566928" y="822960"/>
            <a:ext cx="10789920" cy="1188720"/>
          </a:xfrm>
          <a:prstGeom prst="rect">
            <a:avLst/>
          </a:prstGeom>
          <a:noFill/>
        </p:spPr>
        <p:txBody>
          <a:bodyPr wrap="square" lIns="0" tIns="0" rIns="0" bIns="0" anchor="t"/>
          <a:lstStyle/>
          <a:p>
            <a:pPr marL="0" indent="0" algn="l">
              <a:lnSpc>
                <a:spcPct val="102000"/>
              </a:lnSpc>
              <a:buNone/>
            </a:pPr>
            <a:r>
              <a:rPr sz="2600" b="1">
                <a:solidFill>
                  <a:srgbClr val="0D0C0A"/>
                </a:solidFill>
                <a:latin typeface="Arial"/>
                <a:ea typeface="Arial"/>
                <a:cs typeface="Arial"/>
              </a:rPr>
              <a:t>The current site has the substance. The presentation gets in the way.</a:t>
            </a:r>
          </a:p>
        </p:txBody>
      </p:sp>
      <p:sp>
        <p:nvSpPr>
          <p:cNvPr id="4" name="Text 2">
            <a:extLst>
              <a:ext uri="{FF2B5EF4-FFF2-40B4-BE49-F238E27FC236}">
                <a16:creationId xmlns:a16="http://schemas.microsoft.com/office/drawing/2014/main" id="{727C63DF-B323-4096-B837-96ED0DAE567B}"/>
              </a:ext>
            </a:extLst>
          </p:cNvPr>
          <p:cNvSpPr>
            <a:spLocks noGrp="1"/>
          </p:cNvSpPr>
          <p:nvPr/>
        </p:nvSpPr>
        <p:spPr>
          <a:xfrm>
            <a:off x="566928" y="1965960"/>
            <a:ext cx="10789920" cy="457200"/>
          </a:xfrm>
          <a:prstGeom prst="rect">
            <a:avLst/>
          </a:prstGeom>
          <a:noFill/>
        </p:spPr>
        <p:txBody>
          <a:bodyPr wrap="square" lIns="0" tIns="0" rIns="0" bIns="0" anchor="ctr"/>
          <a:lstStyle/>
          <a:p>
            <a:pPr marL="0" indent="0" algn="l">
              <a:lnSpc>
                <a:spcPct val="120000"/>
              </a:lnSpc>
              <a:buNone/>
            </a:pPr>
            <a:r>
              <a:rPr sz="1350" i="1">
                <a:solidFill>
                  <a:srgbClr val="6B675F"/>
                </a:solidFill>
                <a:latin typeface="Arial"/>
                <a:ea typeface="Arial"/>
                <a:cs typeface="Arial"/>
              </a:rPr>
              <a:t>None of this is a content problem. It's a system problem, the pages grew one at a time without one design to hold them together.</a:t>
            </a:r>
          </a:p>
        </p:txBody>
      </p:sp>
      <p:sp>
        <p:nvSpPr>
          <p:cNvPr id="5" name="Text 3">
            <a:extLst>
              <a:ext uri="{FF2B5EF4-FFF2-40B4-BE49-F238E27FC236}">
                <a16:creationId xmlns:a16="http://schemas.microsoft.com/office/drawing/2014/main" id="{69D76A68-9DEB-421C-A020-0279893F1255}"/>
              </a:ext>
            </a:extLst>
          </p:cNvPr>
          <p:cNvSpPr>
            <a:spLocks noGrp="1"/>
          </p:cNvSpPr>
          <p:nvPr/>
        </p:nvSpPr>
        <p:spPr>
          <a:xfrm>
            <a:off x="566928" y="2624328"/>
            <a:ext cx="310896" cy="310896"/>
          </a:xfrm>
          <a:prstGeom prst="roundRect">
            <a:avLst/>
          </a:prstGeom>
          <a:solidFill>
            <a:srgbClr val="B7791F"/>
          </a:solidFill>
        </p:spPr>
        <p:txBody>
          <a:bodyPr wrap="square" lIns="0" tIns="0" rIns="0" bIns="0" anchor="ctr"/>
          <a:lstStyle/>
          <a:p>
            <a:pPr marL="0" indent="0" algn="ctr">
              <a:buNone/>
            </a:pPr>
            <a:r>
              <a:rPr sz="1300" b="1">
                <a:solidFill>
                  <a:srgbClr val="FFFFFF"/>
                </a:solidFill>
                <a:latin typeface="Arial"/>
                <a:ea typeface="Arial"/>
                <a:cs typeface="Arial"/>
              </a:rPr>
              <a:t>!</a:t>
            </a:r>
          </a:p>
        </p:txBody>
      </p:sp>
      <p:sp>
        <p:nvSpPr>
          <p:cNvPr id="6" name="Text 4">
            <a:extLst>
              <a:ext uri="{FF2B5EF4-FFF2-40B4-BE49-F238E27FC236}">
                <a16:creationId xmlns:a16="http://schemas.microsoft.com/office/drawing/2014/main" id="{0A9F5887-60D8-4D33-874A-0D5EF5BFE3BB}"/>
              </a:ext>
            </a:extLst>
          </p:cNvPr>
          <p:cNvSpPr>
            <a:spLocks noGrp="1"/>
          </p:cNvSpPr>
          <p:nvPr/>
        </p:nvSpPr>
        <p:spPr>
          <a:xfrm>
            <a:off x="987552" y="2587752"/>
            <a:ext cx="4925416" cy="329184"/>
          </a:xfrm>
          <a:prstGeom prst="rect">
            <a:avLst/>
          </a:prstGeom>
          <a:noFill/>
        </p:spPr>
        <p:txBody>
          <a:bodyPr wrap="square" lIns="0" tIns="0" rIns="0" bIns="0" anchor="ctr"/>
          <a:lstStyle/>
          <a:p>
            <a:pPr marL="0" indent="0">
              <a:buNone/>
            </a:pPr>
            <a:r>
              <a:rPr sz="1400" b="1">
                <a:solidFill>
                  <a:srgbClr val="0D0C0A"/>
                </a:solidFill>
                <a:latin typeface="Arial"/>
                <a:ea typeface="Arial"/>
                <a:cs typeface="Arial"/>
              </a:rPr>
              <a:t>Pricing says three different things</a:t>
            </a:r>
          </a:p>
        </p:txBody>
      </p:sp>
      <p:sp>
        <p:nvSpPr>
          <p:cNvPr id="7" name="Text 5">
            <a:extLst>
              <a:ext uri="{FF2B5EF4-FFF2-40B4-BE49-F238E27FC236}">
                <a16:creationId xmlns:a16="http://schemas.microsoft.com/office/drawing/2014/main" id="{399D8F39-D270-4E4E-958A-02194B2419A3}"/>
              </a:ext>
            </a:extLst>
          </p:cNvPr>
          <p:cNvSpPr>
            <a:spLocks noGrp="1"/>
          </p:cNvSpPr>
          <p:nvPr/>
        </p:nvSpPr>
        <p:spPr>
          <a:xfrm>
            <a:off x="987552" y="2935224"/>
            <a:ext cx="4925416" cy="731520"/>
          </a:xfrm>
          <a:prstGeom prst="rect">
            <a:avLst/>
          </a:prstGeom>
          <a:noFill/>
        </p:spPr>
        <p:txBody>
          <a:bodyPr wrap="square" lIns="0" tIns="0" rIns="0" bIns="0" anchor="ctr"/>
          <a:lstStyle/>
          <a:p>
            <a:pPr marL="0" indent="0">
              <a:lnSpc>
                <a:spcPct val="118000"/>
              </a:lnSpc>
              <a:buNone/>
            </a:pPr>
            <a:r>
              <a:rPr sz="1100">
                <a:solidFill>
                  <a:srgbClr val="6B675F"/>
                </a:solidFill>
                <a:latin typeface="Arial"/>
                <a:ea typeface="Arial"/>
                <a:cs typeface="Arial"/>
              </a:rPr>
              <a:t>/brands shows 59/149/299, /pricing shows 49/119/249, the comparison table says Growth $149.</a:t>
            </a:r>
          </a:p>
        </p:txBody>
      </p:sp>
      <p:sp>
        <p:nvSpPr>
          <p:cNvPr id="8" name="Text 6">
            <a:extLst>
              <a:ext uri="{FF2B5EF4-FFF2-40B4-BE49-F238E27FC236}">
                <a16:creationId xmlns:a16="http://schemas.microsoft.com/office/drawing/2014/main" id="{39CE5BD4-1B6D-40AD-A77A-FBD513E0CDF3}"/>
              </a:ext>
            </a:extLst>
          </p:cNvPr>
          <p:cNvSpPr>
            <a:spLocks noGrp="1"/>
          </p:cNvSpPr>
          <p:nvPr/>
        </p:nvSpPr>
        <p:spPr>
          <a:xfrm>
            <a:off x="6278728" y="2624328"/>
            <a:ext cx="310896" cy="310896"/>
          </a:xfrm>
          <a:prstGeom prst="roundRect">
            <a:avLst/>
          </a:prstGeom>
          <a:solidFill>
            <a:srgbClr val="B7791F"/>
          </a:solidFill>
        </p:spPr>
        <p:txBody>
          <a:bodyPr wrap="square" lIns="0" tIns="0" rIns="0" bIns="0" anchor="ctr"/>
          <a:lstStyle/>
          <a:p>
            <a:pPr marL="0" indent="0" algn="ctr">
              <a:buNone/>
            </a:pPr>
            <a:r>
              <a:rPr sz="1300" b="1">
                <a:solidFill>
                  <a:srgbClr val="FFFFFF"/>
                </a:solidFill>
                <a:latin typeface="Arial"/>
                <a:ea typeface="Arial"/>
                <a:cs typeface="Arial"/>
              </a:rPr>
              <a:t>!</a:t>
            </a:r>
          </a:p>
        </p:txBody>
      </p:sp>
      <p:sp>
        <p:nvSpPr>
          <p:cNvPr id="9" name="Text 7">
            <a:extLst>
              <a:ext uri="{FF2B5EF4-FFF2-40B4-BE49-F238E27FC236}">
                <a16:creationId xmlns:a16="http://schemas.microsoft.com/office/drawing/2014/main" id="{43DAB21D-DE03-4E5C-88E0-A56541DE01C9}"/>
              </a:ext>
            </a:extLst>
          </p:cNvPr>
          <p:cNvSpPr>
            <a:spLocks noGrp="1"/>
          </p:cNvSpPr>
          <p:nvPr/>
        </p:nvSpPr>
        <p:spPr>
          <a:xfrm>
            <a:off x="6699352" y="2587752"/>
            <a:ext cx="4925416" cy="329184"/>
          </a:xfrm>
          <a:prstGeom prst="rect">
            <a:avLst/>
          </a:prstGeom>
          <a:noFill/>
        </p:spPr>
        <p:txBody>
          <a:bodyPr wrap="square" lIns="0" tIns="0" rIns="0" bIns="0" anchor="ctr"/>
          <a:lstStyle/>
          <a:p>
            <a:pPr marL="0" indent="0">
              <a:buNone/>
            </a:pPr>
            <a:r>
              <a:rPr sz="1400" b="1">
                <a:solidFill>
                  <a:srgbClr val="0D0C0A"/>
                </a:solidFill>
                <a:latin typeface="Arial"/>
                <a:ea typeface="Arial"/>
                <a:cs typeface="Arial"/>
              </a:rPr>
              <a:t>The value prop is buried</a:t>
            </a:r>
          </a:p>
        </p:txBody>
      </p:sp>
      <p:sp>
        <p:nvSpPr>
          <p:cNvPr id="10" name="Text 8">
            <a:extLst>
              <a:ext uri="{FF2B5EF4-FFF2-40B4-BE49-F238E27FC236}">
                <a16:creationId xmlns:a16="http://schemas.microsoft.com/office/drawing/2014/main" id="{48211993-2F8A-49DA-B1E5-E17A7916D89F}"/>
              </a:ext>
            </a:extLst>
          </p:cNvPr>
          <p:cNvSpPr>
            <a:spLocks noGrp="1"/>
          </p:cNvSpPr>
          <p:nvPr/>
        </p:nvSpPr>
        <p:spPr>
          <a:xfrm>
            <a:off x="6699352" y="2935224"/>
            <a:ext cx="4925416" cy="731520"/>
          </a:xfrm>
          <a:prstGeom prst="rect">
            <a:avLst/>
          </a:prstGeom>
          <a:noFill/>
        </p:spPr>
        <p:txBody>
          <a:bodyPr wrap="square" lIns="0" tIns="0" rIns="0" bIns="0" anchor="ctr"/>
          <a:lstStyle/>
          <a:p>
            <a:pPr marL="0" indent="0">
              <a:lnSpc>
                <a:spcPct val="118000"/>
              </a:lnSpc>
              <a:buNone/>
            </a:pPr>
            <a:r>
              <a:rPr sz="1100">
                <a:solidFill>
                  <a:srgbClr val="6B675F"/>
                </a:solidFill>
                <a:latin typeface="Arial"/>
                <a:ea typeface="Arial"/>
                <a:cs typeface="Arial"/>
              </a:rPr>
              <a:t>The homepage opens on the Ai-kyo box and a trending feed repeated three times; the pitch is hard to find.</a:t>
            </a:r>
          </a:p>
        </p:txBody>
      </p:sp>
      <p:sp>
        <p:nvSpPr>
          <p:cNvPr id="11" name="Text 9">
            <a:extLst>
              <a:ext uri="{FF2B5EF4-FFF2-40B4-BE49-F238E27FC236}">
                <a16:creationId xmlns:a16="http://schemas.microsoft.com/office/drawing/2014/main" id="{8DD38663-532D-43DC-84D7-2F325FE9EB81}"/>
              </a:ext>
            </a:extLst>
          </p:cNvPr>
          <p:cNvSpPr>
            <a:spLocks noGrp="1"/>
          </p:cNvSpPr>
          <p:nvPr/>
        </p:nvSpPr>
        <p:spPr>
          <a:xfrm>
            <a:off x="566928" y="3849624"/>
            <a:ext cx="310896" cy="310896"/>
          </a:xfrm>
          <a:prstGeom prst="roundRect">
            <a:avLst/>
          </a:prstGeom>
          <a:solidFill>
            <a:srgbClr val="B7791F"/>
          </a:solidFill>
        </p:spPr>
        <p:txBody>
          <a:bodyPr wrap="square" lIns="0" tIns="0" rIns="0" bIns="0" anchor="ctr"/>
          <a:lstStyle/>
          <a:p>
            <a:pPr marL="0" indent="0" algn="ctr">
              <a:buNone/>
            </a:pPr>
            <a:r>
              <a:rPr sz="1300" b="1">
                <a:solidFill>
                  <a:srgbClr val="FFFFFF"/>
                </a:solidFill>
                <a:latin typeface="Arial"/>
                <a:ea typeface="Arial"/>
                <a:cs typeface="Arial"/>
              </a:rPr>
              <a:t>!</a:t>
            </a:r>
          </a:p>
        </p:txBody>
      </p:sp>
      <p:sp>
        <p:nvSpPr>
          <p:cNvPr id="12" name="Text 10">
            <a:extLst>
              <a:ext uri="{FF2B5EF4-FFF2-40B4-BE49-F238E27FC236}">
                <a16:creationId xmlns:a16="http://schemas.microsoft.com/office/drawing/2014/main" id="{1B907009-F849-4D33-A580-DB74FB9EBF63}"/>
              </a:ext>
            </a:extLst>
          </p:cNvPr>
          <p:cNvSpPr>
            <a:spLocks noGrp="1"/>
          </p:cNvSpPr>
          <p:nvPr/>
        </p:nvSpPr>
        <p:spPr>
          <a:xfrm>
            <a:off x="987552" y="3813048"/>
            <a:ext cx="4925416" cy="329184"/>
          </a:xfrm>
          <a:prstGeom prst="rect">
            <a:avLst/>
          </a:prstGeom>
          <a:noFill/>
        </p:spPr>
        <p:txBody>
          <a:bodyPr wrap="square" lIns="0" tIns="0" rIns="0" bIns="0" anchor="ctr"/>
          <a:lstStyle/>
          <a:p>
            <a:pPr marL="0" indent="0">
              <a:buNone/>
            </a:pPr>
            <a:r>
              <a:rPr sz="1400" b="1">
                <a:solidFill>
                  <a:srgbClr val="0D0C0A"/>
                </a:solidFill>
                <a:latin typeface="Arial"/>
                <a:ea typeface="Arial"/>
                <a:cs typeface="Arial"/>
              </a:rPr>
              <a:t>Feature status is unclear</a:t>
            </a:r>
          </a:p>
        </p:txBody>
      </p:sp>
      <p:sp>
        <p:nvSpPr>
          <p:cNvPr id="13" name="Text 11">
            <a:extLst>
              <a:ext uri="{FF2B5EF4-FFF2-40B4-BE49-F238E27FC236}">
                <a16:creationId xmlns:a16="http://schemas.microsoft.com/office/drawing/2014/main" id="{BEB70392-E7DC-46D5-B694-27D78A7EA465}"/>
              </a:ext>
            </a:extLst>
          </p:cNvPr>
          <p:cNvSpPr>
            <a:spLocks noGrp="1"/>
          </p:cNvSpPr>
          <p:nvPr/>
        </p:nvSpPr>
        <p:spPr>
          <a:xfrm>
            <a:off x="987552" y="4160520"/>
            <a:ext cx="4925416" cy="731520"/>
          </a:xfrm>
          <a:prstGeom prst="rect">
            <a:avLst/>
          </a:prstGeom>
          <a:noFill/>
        </p:spPr>
        <p:txBody>
          <a:bodyPr wrap="square" lIns="0" tIns="0" rIns="0" bIns="0" anchor="ctr"/>
          <a:lstStyle/>
          <a:p>
            <a:pPr marL="0" indent="0">
              <a:lnSpc>
                <a:spcPct val="118000"/>
              </a:lnSpc>
              <a:buNone/>
            </a:pPr>
            <a:r>
              <a:rPr sz="1100">
                <a:solidFill>
                  <a:srgbClr val="6B675F"/>
                </a:solidFill>
                <a:latin typeface="Arial"/>
                <a:ea typeface="Arial"/>
                <a:cs typeface="Arial"/>
              </a:rPr>
              <a:t>LIVE / BETA / SOON labels exist only on Trust Check, so nothing else signals what's shipped.</a:t>
            </a:r>
          </a:p>
        </p:txBody>
      </p:sp>
      <p:sp>
        <p:nvSpPr>
          <p:cNvPr id="14" name="Text 12">
            <a:extLst>
              <a:ext uri="{FF2B5EF4-FFF2-40B4-BE49-F238E27FC236}">
                <a16:creationId xmlns:a16="http://schemas.microsoft.com/office/drawing/2014/main" id="{1A059EC4-FFE2-481C-B1EE-55CC9FD92B46}"/>
              </a:ext>
            </a:extLst>
          </p:cNvPr>
          <p:cNvSpPr>
            <a:spLocks noGrp="1"/>
          </p:cNvSpPr>
          <p:nvPr/>
        </p:nvSpPr>
        <p:spPr>
          <a:xfrm>
            <a:off x="6278728" y="3849624"/>
            <a:ext cx="310896" cy="310896"/>
          </a:xfrm>
          <a:prstGeom prst="roundRect">
            <a:avLst/>
          </a:prstGeom>
          <a:solidFill>
            <a:srgbClr val="B7791F"/>
          </a:solidFill>
        </p:spPr>
        <p:txBody>
          <a:bodyPr wrap="square" lIns="0" tIns="0" rIns="0" bIns="0" anchor="ctr"/>
          <a:lstStyle/>
          <a:p>
            <a:pPr marL="0" indent="0" algn="ctr">
              <a:buNone/>
            </a:pPr>
            <a:r>
              <a:rPr sz="1300" b="1">
                <a:solidFill>
                  <a:srgbClr val="FFFFFF"/>
                </a:solidFill>
                <a:latin typeface="Arial"/>
                <a:ea typeface="Arial"/>
                <a:cs typeface="Arial"/>
              </a:rPr>
              <a:t>!</a:t>
            </a:r>
          </a:p>
        </p:txBody>
      </p:sp>
      <p:sp>
        <p:nvSpPr>
          <p:cNvPr id="15" name="Text 13">
            <a:extLst>
              <a:ext uri="{FF2B5EF4-FFF2-40B4-BE49-F238E27FC236}">
                <a16:creationId xmlns:a16="http://schemas.microsoft.com/office/drawing/2014/main" id="{B40D2781-EEE4-4BBA-9286-A7EE62FE61E3}"/>
              </a:ext>
            </a:extLst>
          </p:cNvPr>
          <p:cNvSpPr>
            <a:spLocks noGrp="1"/>
          </p:cNvSpPr>
          <p:nvPr/>
        </p:nvSpPr>
        <p:spPr>
          <a:xfrm>
            <a:off x="6699352" y="3813048"/>
            <a:ext cx="4925416" cy="329184"/>
          </a:xfrm>
          <a:prstGeom prst="rect">
            <a:avLst/>
          </a:prstGeom>
          <a:noFill/>
        </p:spPr>
        <p:txBody>
          <a:bodyPr wrap="square" lIns="0" tIns="0" rIns="0" bIns="0" anchor="ctr"/>
          <a:lstStyle/>
          <a:p>
            <a:pPr marL="0" indent="0">
              <a:buNone/>
            </a:pPr>
            <a:r>
              <a:rPr sz="1400" b="1">
                <a:solidFill>
                  <a:srgbClr val="0D0C0A"/>
                </a:solidFill>
                <a:latin typeface="Arial"/>
                <a:ea typeface="Arial"/>
                <a:cs typeface="Arial"/>
              </a:rPr>
              <a:t>A headline feature has no home</a:t>
            </a:r>
          </a:p>
        </p:txBody>
      </p:sp>
      <p:sp>
        <p:nvSpPr>
          <p:cNvPr id="16" name="Text 14">
            <a:extLst>
              <a:ext uri="{FF2B5EF4-FFF2-40B4-BE49-F238E27FC236}">
                <a16:creationId xmlns:a16="http://schemas.microsoft.com/office/drawing/2014/main" id="{6543A251-0334-438F-A123-6C5A54289430}"/>
              </a:ext>
            </a:extLst>
          </p:cNvPr>
          <p:cNvSpPr>
            <a:spLocks noGrp="1"/>
          </p:cNvSpPr>
          <p:nvPr/>
        </p:nvSpPr>
        <p:spPr>
          <a:xfrm>
            <a:off x="6699352" y="4160520"/>
            <a:ext cx="4925416" cy="731520"/>
          </a:xfrm>
          <a:prstGeom prst="rect">
            <a:avLst/>
          </a:prstGeom>
          <a:noFill/>
        </p:spPr>
        <p:txBody>
          <a:bodyPr wrap="square" lIns="0" tIns="0" rIns="0" bIns="0" anchor="ctr"/>
          <a:lstStyle/>
          <a:p>
            <a:pPr marL="0" indent="0">
              <a:lnSpc>
                <a:spcPct val="118000"/>
              </a:lnSpc>
              <a:buNone/>
            </a:pPr>
            <a:r>
              <a:rPr sz="1100">
                <a:solidFill>
                  <a:srgbClr val="6B675F"/>
                </a:solidFill>
                <a:latin typeface="Arial"/>
                <a:ea typeface="Arial"/>
                <a:cs typeface="Arial"/>
              </a:rPr>
              <a:t>“Creator Index” is sold everywhere, but there's no directory or profile page in the nav.</a:t>
            </a:r>
          </a:p>
        </p:txBody>
      </p:sp>
      <p:sp>
        <p:nvSpPr>
          <p:cNvPr id="17" name="Text 15">
            <a:extLst>
              <a:ext uri="{FF2B5EF4-FFF2-40B4-BE49-F238E27FC236}">
                <a16:creationId xmlns:a16="http://schemas.microsoft.com/office/drawing/2014/main" id="{14363E65-E46F-4E35-BEC1-8D6105EDEE96}"/>
              </a:ext>
            </a:extLst>
          </p:cNvPr>
          <p:cNvSpPr>
            <a:spLocks noGrp="1"/>
          </p:cNvSpPr>
          <p:nvPr/>
        </p:nvSpPr>
        <p:spPr>
          <a:xfrm>
            <a:off x="566928" y="5074920"/>
            <a:ext cx="310896" cy="310896"/>
          </a:xfrm>
          <a:prstGeom prst="roundRect">
            <a:avLst/>
          </a:prstGeom>
          <a:solidFill>
            <a:srgbClr val="B7791F"/>
          </a:solidFill>
        </p:spPr>
        <p:txBody>
          <a:bodyPr wrap="square" lIns="0" tIns="0" rIns="0" bIns="0" anchor="ctr"/>
          <a:lstStyle/>
          <a:p>
            <a:pPr marL="0" indent="0" algn="ctr">
              <a:buNone/>
            </a:pPr>
            <a:r>
              <a:rPr sz="1300" b="1">
                <a:solidFill>
                  <a:srgbClr val="FFFFFF"/>
                </a:solidFill>
                <a:latin typeface="Arial"/>
                <a:ea typeface="Arial"/>
                <a:cs typeface="Arial"/>
              </a:rPr>
              <a:t>!</a:t>
            </a:r>
          </a:p>
        </p:txBody>
      </p:sp>
      <p:sp>
        <p:nvSpPr>
          <p:cNvPr id="18" name="Text 16">
            <a:extLst>
              <a:ext uri="{FF2B5EF4-FFF2-40B4-BE49-F238E27FC236}">
                <a16:creationId xmlns:a16="http://schemas.microsoft.com/office/drawing/2014/main" id="{D2D071A9-722B-43C1-97CB-3E73393FD3E1}"/>
              </a:ext>
            </a:extLst>
          </p:cNvPr>
          <p:cNvSpPr>
            <a:spLocks noGrp="1"/>
          </p:cNvSpPr>
          <p:nvPr/>
        </p:nvSpPr>
        <p:spPr>
          <a:xfrm>
            <a:off x="987552" y="5038344"/>
            <a:ext cx="4925416" cy="329184"/>
          </a:xfrm>
          <a:prstGeom prst="rect">
            <a:avLst/>
          </a:prstGeom>
          <a:noFill/>
        </p:spPr>
        <p:txBody>
          <a:bodyPr wrap="square" lIns="0" tIns="0" rIns="0" bIns="0" anchor="ctr"/>
          <a:lstStyle/>
          <a:p>
            <a:pPr marL="0" indent="0">
              <a:buNone/>
            </a:pPr>
            <a:r>
              <a:rPr sz="1400" b="1">
                <a:solidFill>
                  <a:srgbClr val="0D0C0A"/>
                </a:solidFill>
                <a:latin typeface="Arial"/>
                <a:ea typeface="Arial"/>
                <a:cs typeface="Arial"/>
              </a:rPr>
              <a:t>Broken and contradictory bits</a:t>
            </a:r>
          </a:p>
        </p:txBody>
      </p:sp>
      <p:sp>
        <p:nvSpPr>
          <p:cNvPr id="19" name="Text 17">
            <a:extLst>
              <a:ext uri="{FF2B5EF4-FFF2-40B4-BE49-F238E27FC236}">
                <a16:creationId xmlns:a16="http://schemas.microsoft.com/office/drawing/2014/main" id="{B8DE7C51-FC11-419C-AC28-6A0A8E9CA30E}"/>
              </a:ext>
            </a:extLst>
          </p:cNvPr>
          <p:cNvSpPr>
            <a:spLocks noGrp="1"/>
          </p:cNvSpPr>
          <p:nvPr/>
        </p:nvSpPr>
        <p:spPr>
          <a:xfrm>
            <a:off x="987552" y="5385816"/>
            <a:ext cx="4925416" cy="731520"/>
          </a:xfrm>
          <a:prstGeom prst="rect">
            <a:avLst/>
          </a:prstGeom>
          <a:noFill/>
        </p:spPr>
        <p:txBody>
          <a:bodyPr wrap="square" lIns="0" tIns="0" rIns="0" bIns="0" anchor="ctr"/>
          <a:lstStyle/>
          <a:p>
            <a:pPr marL="0" indent="0">
              <a:lnSpc>
                <a:spcPct val="118000"/>
              </a:lnSpc>
              <a:buNone/>
            </a:pPr>
            <a:r>
              <a:rPr sz="1100">
                <a:solidFill>
                  <a:srgbClr val="6B675F"/>
                </a:solidFill>
                <a:latin typeface="Arial"/>
                <a:ea typeface="Arial"/>
                <a:cs typeface="Arial"/>
              </a:rPr>
              <a:t>/ccs2026 renders empty without JS; data is called “live” in one place and “pulled manually” in another.</a:t>
            </a:r>
          </a:p>
        </p:txBody>
      </p:sp>
      <p:sp>
        <p:nvSpPr>
          <p:cNvPr id="20" name="Text 18">
            <a:extLst>
              <a:ext uri="{FF2B5EF4-FFF2-40B4-BE49-F238E27FC236}">
                <a16:creationId xmlns:a16="http://schemas.microsoft.com/office/drawing/2014/main" id="{AA41D82D-C554-4D8E-AA83-1E43411F4A7F}"/>
              </a:ext>
            </a:extLst>
          </p:cNvPr>
          <p:cNvSpPr>
            <a:spLocks noGrp="1"/>
          </p:cNvSpPr>
          <p:nvPr/>
        </p:nvSpPr>
        <p:spPr>
          <a:xfrm>
            <a:off x="6278728" y="5074920"/>
            <a:ext cx="310896" cy="310896"/>
          </a:xfrm>
          <a:prstGeom prst="roundRect">
            <a:avLst/>
          </a:prstGeom>
          <a:solidFill>
            <a:srgbClr val="B7791F"/>
          </a:solidFill>
        </p:spPr>
        <p:txBody>
          <a:bodyPr wrap="square" lIns="0" tIns="0" rIns="0" bIns="0" anchor="ctr"/>
          <a:lstStyle/>
          <a:p>
            <a:pPr marL="0" indent="0" algn="ctr">
              <a:buNone/>
            </a:pPr>
            <a:r>
              <a:rPr sz="1300" b="1">
                <a:solidFill>
                  <a:srgbClr val="FFFFFF"/>
                </a:solidFill>
                <a:latin typeface="Arial"/>
                <a:ea typeface="Arial"/>
                <a:cs typeface="Arial"/>
              </a:rPr>
              <a:t>!</a:t>
            </a:r>
          </a:p>
        </p:txBody>
      </p:sp>
      <p:sp>
        <p:nvSpPr>
          <p:cNvPr id="21" name="Text 19">
            <a:extLst>
              <a:ext uri="{FF2B5EF4-FFF2-40B4-BE49-F238E27FC236}">
                <a16:creationId xmlns:a16="http://schemas.microsoft.com/office/drawing/2014/main" id="{0D7BA930-34FD-4D38-B198-2DADDA0E3A5F}"/>
              </a:ext>
            </a:extLst>
          </p:cNvPr>
          <p:cNvSpPr>
            <a:spLocks noGrp="1"/>
          </p:cNvSpPr>
          <p:nvPr/>
        </p:nvSpPr>
        <p:spPr>
          <a:xfrm>
            <a:off x="6699352" y="5038344"/>
            <a:ext cx="4925416" cy="329184"/>
          </a:xfrm>
          <a:prstGeom prst="rect">
            <a:avLst/>
          </a:prstGeom>
          <a:noFill/>
        </p:spPr>
        <p:txBody>
          <a:bodyPr wrap="square" lIns="0" tIns="0" rIns="0" bIns="0" anchor="ctr"/>
          <a:lstStyle/>
          <a:p>
            <a:pPr marL="0" indent="0">
              <a:buNone/>
            </a:pPr>
            <a:r>
              <a:rPr sz="1400" b="1">
                <a:solidFill>
                  <a:srgbClr val="0D0C0A"/>
                </a:solidFill>
                <a:latin typeface="Arial"/>
                <a:ea typeface="Arial"/>
                <a:cs typeface="Arial"/>
              </a:rPr>
              <a:t>No single system</a:t>
            </a:r>
          </a:p>
        </p:txBody>
      </p:sp>
      <p:sp>
        <p:nvSpPr>
          <p:cNvPr id="22" name="Text 20">
            <a:extLst>
              <a:ext uri="{FF2B5EF4-FFF2-40B4-BE49-F238E27FC236}">
                <a16:creationId xmlns:a16="http://schemas.microsoft.com/office/drawing/2014/main" id="{44D8CF73-0573-4CBA-80E3-FA115AED3022}"/>
              </a:ext>
            </a:extLst>
          </p:cNvPr>
          <p:cNvSpPr>
            <a:spLocks noGrp="1"/>
          </p:cNvSpPr>
          <p:nvPr/>
        </p:nvSpPr>
        <p:spPr>
          <a:xfrm>
            <a:off x="6699352" y="5385816"/>
            <a:ext cx="4925416" cy="731520"/>
          </a:xfrm>
          <a:prstGeom prst="rect">
            <a:avLst/>
          </a:prstGeom>
          <a:noFill/>
        </p:spPr>
        <p:txBody>
          <a:bodyPr wrap="square" lIns="0" tIns="0" rIns="0" bIns="0" anchor="ctr"/>
          <a:lstStyle/>
          <a:p>
            <a:pPr marL="0" indent="0">
              <a:lnSpc>
                <a:spcPct val="118000"/>
              </a:lnSpc>
              <a:buNone/>
            </a:pPr>
            <a:r>
              <a:rPr sz="1100">
                <a:solidFill>
                  <a:srgbClr val="6B675F"/>
                </a:solidFill>
                <a:latin typeface="Arial"/>
                <a:ea typeface="Arial"/>
                <a:cs typeface="Arial"/>
              </a:rPr>
              <a:t>Type, spacing, cards and states shift page to page, so a real product reads as vibe-coded.</a:t>
            </a:r>
          </a:p>
        </p:txBody>
      </p:sp>
      <p:sp>
        <p:nvSpPr>
          <p:cNvPr id="23" name="Text 21">
            <a:extLst>
              <a:ext uri="{FF2B5EF4-FFF2-40B4-BE49-F238E27FC236}">
                <a16:creationId xmlns:a16="http://schemas.microsoft.com/office/drawing/2014/main" id="{77CD520F-DBDF-4AFA-8173-6608A9A605C2}"/>
              </a:ext>
            </a:extLst>
          </p:cNvPr>
          <p:cNvSpPr>
            <a:spLocks noGrp="1"/>
          </p:cNvSpPr>
          <p:nvPr/>
        </p:nvSpPr>
        <p:spPr>
          <a:xfrm>
            <a:off x="8351215" y="6382512"/>
            <a:ext cx="3273552" cy="274320"/>
          </a:xfrm>
          <a:prstGeom prst="rect">
            <a:avLst/>
          </a:prstGeom>
          <a:noFill/>
        </p:spPr>
        <p:txBody>
          <a:bodyPr wrap="square" lIns="0" tIns="0" rIns="0" bIns="0" anchor="ctr"/>
          <a:lstStyle/>
          <a:p>
            <a:pPr marL="0" indent="0" algn="r">
              <a:buNone/>
            </a:pPr>
            <a:r>
              <a:rPr sz="950" b="1">
                <a:solidFill>
                  <a:srgbClr val="9A968C"/>
                </a:solidFill>
                <a:latin typeface="Arial"/>
                <a:ea typeface="Arial"/>
                <a:cs typeface="Arial"/>
              </a:rPr>
              <a:t>INFLUENCEES</a:t>
            </a:r>
            <a:r>
              <a:rPr sz="950" b="1">
                <a:solidFill>
                  <a:srgbClr val="6B675F"/>
                </a:solidFill>
                <a:latin typeface="Arial"/>
                <a:ea typeface="Arial"/>
                <a:cs typeface="Arial"/>
              </a:rPr>
              <a:t>   07 / 10</a:t>
            </a:r>
          </a:p>
        </p:txBody>
      </p:sp>
      <p:sp>
        <p:nvSpPr>
          <p:cNvPr id="24" name="white-canvas-7">
            <a:extLst>
              <a:ext uri="{FF2B5EF4-FFF2-40B4-BE49-F238E27FC236}">
                <a16:creationId xmlns:a16="http://schemas.microsoft.com/office/drawing/2014/main" id="{76293DD1-6B6B-4087-A597-062AE1EC9396}"/>
              </a:ext>
            </a:extLst>
          </p:cNvPr>
          <p:cNvSpPr>
            <a:spLocks noGrp="1"/>
          </p:cNvSpPr>
          <p:nvPr/>
        </p:nvSpPr>
        <p:spPr>
          <a:xfrm>
            <a:off x="0" y="0"/>
            <a:ext cx="12192000" cy="6858000"/>
          </a:xfrm>
          <a:prstGeom prst="rect">
            <a:avLst/>
          </a:prstGeom>
          <a:solidFill>
            <a:srgbClr val="FFFFFF"/>
          </a:solidFill>
          <a:ln w="0">
            <a:noFill/>
            <a:prstDash val="solid"/>
          </a:ln>
        </p:spPr>
        <p:txBody>
          <a:bodyPr/>
          <a:lstStyle/>
          <a:p>
            <a:endParaRPr lang="en-SG"/>
          </a:p>
        </p:txBody>
      </p:sp>
      <p:sp>
        <p:nvSpPr>
          <p:cNvPr id="25" name="section-badge">
            <a:extLst>
              <a:ext uri="{FF2B5EF4-FFF2-40B4-BE49-F238E27FC236}">
                <a16:creationId xmlns:a16="http://schemas.microsoft.com/office/drawing/2014/main" id="{29F3DC3F-0B25-4F16-9EB6-9C2F53B5CEBB}"/>
              </a:ext>
            </a:extLst>
          </p:cNvPr>
          <p:cNvSpPr>
            <a:spLocks noGrp="1"/>
          </p:cNvSpPr>
          <p:nvPr/>
        </p:nvSpPr>
        <p:spPr>
          <a:xfrm>
            <a:off x="4191000" y="323850"/>
            <a:ext cx="3810000" cy="247650"/>
          </a:xfrm>
          <a:prstGeom prst="rect">
            <a:avLst/>
          </a:prstGeom>
          <a:noFill/>
          <a:ln w="0">
            <a:noFill/>
            <a:prstDash val="solid"/>
          </a:ln>
        </p:spPr>
        <p:txBody>
          <a:bodyPr wrap="square" lIns="0" tIns="0" rIns="0" bIns="0" anchor="t">
            <a:normAutofit/>
          </a:bodyPr>
          <a:lstStyle/>
          <a:p>
            <a:pPr algn="ctr">
              <a:lnSpc>
                <a:spcPct val="112000"/>
              </a:lnSpc>
              <a:buNone/>
              <a:defRPr sz="1200" b="1">
                <a:solidFill>
                  <a:srgbClr val="7C5CFC"/>
                </a:solidFill>
                <a:latin typeface="Inter"/>
                <a:ea typeface="Inter"/>
                <a:cs typeface="Inter"/>
              </a:defRPr>
            </a:pPr>
            <a:r>
              <a:rPr sz="1200" b="1">
                <a:solidFill>
                  <a:srgbClr val="7C5CFC"/>
                </a:solidFill>
                <a:latin typeface="Inter"/>
                <a:ea typeface="Inter"/>
                <a:cs typeface="Inter"/>
              </a:rPr>
              <a:t>SOLUTION 02 · WEBSITE REDESIGN</a:t>
            </a:r>
          </a:p>
        </p:txBody>
      </p:sp>
      <p:sp>
        <p:nvSpPr>
          <p:cNvPr id="26" name="slide-title">
            <a:extLst>
              <a:ext uri="{FF2B5EF4-FFF2-40B4-BE49-F238E27FC236}">
                <a16:creationId xmlns:a16="http://schemas.microsoft.com/office/drawing/2014/main" id="{E39798C0-62FB-4C13-AC96-5AC8AD17692F}"/>
              </a:ext>
            </a:extLst>
          </p:cNvPr>
          <p:cNvSpPr>
            <a:spLocks noGrp="1"/>
          </p:cNvSpPr>
          <p:nvPr/>
        </p:nvSpPr>
        <p:spPr>
          <a:xfrm>
            <a:off x="952500" y="685800"/>
            <a:ext cx="10287000" cy="685800"/>
          </a:xfrm>
          <a:prstGeom prst="rect">
            <a:avLst/>
          </a:prstGeom>
          <a:noFill/>
          <a:ln w="0">
            <a:noFill/>
            <a:prstDash val="solid"/>
          </a:ln>
        </p:spPr>
        <p:txBody>
          <a:bodyPr wrap="square" lIns="0" tIns="0" rIns="0" bIns="0" anchor="ctr">
            <a:normAutofit/>
          </a:bodyPr>
          <a:lstStyle/>
          <a:p>
            <a:pPr algn="ctr">
              <a:lnSpc>
                <a:spcPct val="102000"/>
              </a:lnSpc>
              <a:buNone/>
              <a:defRPr sz="3150" b="0">
                <a:solidFill>
                  <a:srgbClr val="0F172A"/>
                </a:solidFill>
                <a:latin typeface="Inter"/>
                <a:ea typeface="Inter"/>
                <a:cs typeface="Inter"/>
              </a:defRPr>
            </a:pPr>
            <a:r>
              <a:rPr sz="3150" b="0">
                <a:solidFill>
                  <a:srgbClr val="0F172A"/>
                </a:solidFill>
                <a:latin typeface="Inter"/>
                <a:ea typeface="Inter"/>
                <a:cs typeface="Inter"/>
              </a:rPr>
              <a:t>The product has substance. The presentation gets in the way.</a:t>
            </a:r>
          </a:p>
        </p:txBody>
      </p:sp>
      <p:sp>
        <p:nvSpPr>
          <p:cNvPr id="27" name="slide-subtitle">
            <a:extLst>
              <a:ext uri="{FF2B5EF4-FFF2-40B4-BE49-F238E27FC236}">
                <a16:creationId xmlns:a16="http://schemas.microsoft.com/office/drawing/2014/main" id="{3E5A1825-F7CE-4DD2-A2DA-146D3BCB25A3}"/>
              </a:ext>
            </a:extLst>
          </p:cNvPr>
          <p:cNvSpPr>
            <a:spLocks noGrp="1"/>
          </p:cNvSpPr>
          <p:nvPr/>
        </p:nvSpPr>
        <p:spPr>
          <a:xfrm>
            <a:off x="1333500" y="1352550"/>
            <a:ext cx="9525000" cy="590550"/>
          </a:xfrm>
          <a:prstGeom prst="rect">
            <a:avLst/>
          </a:prstGeom>
          <a:noFill/>
          <a:ln w="0">
            <a:noFill/>
            <a:prstDash val="solid"/>
          </a:ln>
        </p:spPr>
        <p:txBody>
          <a:bodyPr wrap="square" lIns="0" tIns="0" rIns="0" bIns="0" anchor="ctr">
            <a:normAutofit/>
          </a:bodyPr>
          <a:lstStyle/>
          <a:p>
            <a:pPr algn="ctr">
              <a:lnSpc>
                <a:spcPct val="122000"/>
              </a:lnSpc>
              <a:buNone/>
              <a:defRPr sz="1575" b="0">
                <a:solidFill>
                  <a:srgbClr val="64748B"/>
                </a:solidFill>
                <a:latin typeface="Inter"/>
                <a:ea typeface="Inter"/>
                <a:cs typeface="Inter"/>
              </a:defRPr>
            </a:pPr>
            <a:r>
              <a:rPr sz="1575" b="0">
                <a:solidFill>
                  <a:srgbClr val="64748B"/>
                </a:solidFill>
                <a:latin typeface="Inter"/>
                <a:ea typeface="Inter"/>
                <a:cs typeface="Inter"/>
              </a:rPr>
              <a:t>The issue is not missing content—it is the absence of one system holding every page together.</a:t>
            </a:r>
          </a:p>
        </p:txBody>
      </p:sp>
      <p:sp>
        <p:nvSpPr>
          <p:cNvPr id="28" name="issue-card-0">
            <a:extLst>
              <a:ext uri="{FF2B5EF4-FFF2-40B4-BE49-F238E27FC236}">
                <a16:creationId xmlns:a16="http://schemas.microsoft.com/office/drawing/2014/main" id="{3C262DA9-27A5-4DE3-BBC8-6F4A5B35628B}"/>
              </a:ext>
            </a:extLst>
          </p:cNvPr>
          <p:cNvSpPr>
            <a:spLocks noGrp="1"/>
          </p:cNvSpPr>
          <p:nvPr/>
        </p:nvSpPr>
        <p:spPr>
          <a:xfrm>
            <a:off x="647700" y="2381250"/>
            <a:ext cx="3543300" cy="1466850"/>
          </a:xfrm>
          <a:prstGeom prst="roundRect">
            <a:avLst>
              <a:gd name="adj" fmla="val 12987"/>
            </a:avLst>
          </a:prstGeom>
          <a:solidFill>
            <a:srgbClr val="FFF7E6"/>
          </a:solidFill>
          <a:ln w="9525">
            <a:solidFill>
              <a:srgbClr val="FFFFFF">
                <a:alpha val="60000"/>
              </a:srgbClr>
            </a:solidFill>
            <a:prstDash val="solid"/>
          </a:ln>
        </p:spPr>
        <p:style>
          <a:lnRef idx="0">
            <a:scrgbClr r="0" g="0" b="0"/>
          </a:lnRef>
          <a:fillRef idx="0">
            <a:scrgbClr r="0" g="0" b="0"/>
          </a:fillRef>
          <a:effectRef idx="4">
            <a:scrgbClr r="0" g="0" b="0"/>
          </a:effectRef>
          <a:fontRef idx="major"/>
        </p:style>
        <p:txBody>
          <a:bodyPr/>
          <a:lstStyle/>
          <a:p>
            <a:endParaRPr lang="en-SG"/>
          </a:p>
        </p:txBody>
      </p:sp>
      <p:sp>
        <p:nvSpPr>
          <p:cNvPr id="29" name="issue-warn-0">
            <a:extLst>
              <a:ext uri="{FF2B5EF4-FFF2-40B4-BE49-F238E27FC236}">
                <a16:creationId xmlns:a16="http://schemas.microsoft.com/office/drawing/2014/main" id="{CCE125C7-5FFB-4AAC-81EF-320F963F4D62}"/>
              </a:ext>
            </a:extLst>
          </p:cNvPr>
          <p:cNvSpPr>
            <a:spLocks noGrp="1"/>
          </p:cNvSpPr>
          <p:nvPr/>
        </p:nvSpPr>
        <p:spPr>
          <a:xfrm>
            <a:off x="857250" y="2571750"/>
            <a:ext cx="285750" cy="285750"/>
          </a:xfrm>
          <a:prstGeom prst="ellipse">
            <a:avLst/>
          </a:prstGeom>
          <a:solidFill>
            <a:srgbClr val="B567C2"/>
          </a:solidFill>
          <a:ln w="0">
            <a:noFill/>
            <a:prstDash val="solid"/>
          </a:ln>
        </p:spPr>
        <p:txBody>
          <a:bodyPr lIns="0" tIns="0" rIns="0" bIns="0" anchor="ctr"/>
          <a:lstStyle/>
          <a:p>
            <a:pPr algn="ctr">
              <a:defRPr sz="1350" b="1">
                <a:solidFill>
                  <a:srgbClr val="FFFFFF"/>
                </a:solidFill>
                <a:latin typeface="Inter"/>
                <a:ea typeface="Inter"/>
                <a:cs typeface="Inter"/>
              </a:defRPr>
            </a:pPr>
            <a:r>
              <a:rPr sz="1350" b="1">
                <a:solidFill>
                  <a:srgbClr val="FFFFFF"/>
                </a:solidFill>
                <a:latin typeface="Inter"/>
                <a:ea typeface="Inter"/>
                <a:cs typeface="Inter"/>
              </a:rPr>
              <a:t>!</a:t>
            </a:r>
          </a:p>
        </p:txBody>
      </p:sp>
      <p:sp>
        <p:nvSpPr>
          <p:cNvPr id="30" name="issue-title-0">
            <a:extLst>
              <a:ext uri="{FF2B5EF4-FFF2-40B4-BE49-F238E27FC236}">
                <a16:creationId xmlns:a16="http://schemas.microsoft.com/office/drawing/2014/main" id="{0472F332-4D78-499A-819E-9F75D058B079}"/>
              </a:ext>
            </a:extLst>
          </p:cNvPr>
          <p:cNvSpPr>
            <a:spLocks noGrp="1"/>
          </p:cNvSpPr>
          <p:nvPr/>
        </p:nvSpPr>
        <p:spPr>
          <a:xfrm>
            <a:off x="1276350" y="2552700"/>
            <a:ext cx="2667000" cy="342900"/>
          </a:xfrm>
          <a:prstGeom prst="rect">
            <a:avLst/>
          </a:prstGeom>
          <a:noFill/>
          <a:ln w="0">
            <a:noFill/>
            <a:prstDash val="solid"/>
          </a:ln>
        </p:spPr>
        <p:txBody>
          <a:bodyPr wrap="square" lIns="0" tIns="0" rIns="0" bIns="0" anchor="ctr">
            <a:normAutofit/>
          </a:bodyPr>
          <a:lstStyle/>
          <a:p>
            <a:pPr algn="l">
              <a:lnSpc>
                <a:spcPct val="112000"/>
              </a:lnSpc>
              <a:buNone/>
              <a:defRPr sz="1575" b="1">
                <a:solidFill>
                  <a:srgbClr val="1E293B"/>
                </a:solidFill>
                <a:latin typeface="Inter"/>
                <a:ea typeface="Inter"/>
                <a:cs typeface="Inter"/>
              </a:defRPr>
            </a:pPr>
            <a:r>
              <a:rPr sz="1575" b="1">
                <a:solidFill>
                  <a:srgbClr val="1E293B"/>
                </a:solidFill>
                <a:latin typeface="Inter"/>
                <a:ea typeface="Inter"/>
                <a:cs typeface="Inter"/>
              </a:rPr>
              <a:t>Pricing conflicts</a:t>
            </a:r>
          </a:p>
        </p:txBody>
      </p:sp>
      <p:sp>
        <p:nvSpPr>
          <p:cNvPr id="31" name="issue-body-0">
            <a:extLst>
              <a:ext uri="{FF2B5EF4-FFF2-40B4-BE49-F238E27FC236}">
                <a16:creationId xmlns:a16="http://schemas.microsoft.com/office/drawing/2014/main" id="{A60C15CB-A203-456D-B078-3859A11A83B8}"/>
              </a:ext>
            </a:extLst>
          </p:cNvPr>
          <p:cNvSpPr>
            <a:spLocks noGrp="1"/>
          </p:cNvSpPr>
          <p:nvPr/>
        </p:nvSpPr>
        <p:spPr>
          <a:xfrm>
            <a:off x="857250" y="3067050"/>
            <a:ext cx="3124200" cy="590550"/>
          </a:xfrm>
          <a:prstGeom prst="rect">
            <a:avLst/>
          </a:prstGeom>
          <a:noFill/>
          <a:ln w="0">
            <a:noFill/>
            <a:prstDash val="solid"/>
          </a:ln>
        </p:spPr>
        <p:txBody>
          <a:bodyPr wrap="square" lIns="0" tIns="0" rIns="0" bIns="0" anchor="ctr">
            <a:normAutofit/>
          </a:bodyPr>
          <a:lstStyle/>
          <a:p>
            <a:pPr algn="l">
              <a:lnSpc>
                <a:spcPct val="117000"/>
              </a:lnSpc>
              <a:buNone/>
              <a:defRPr sz="1275" b="0">
                <a:solidFill>
                  <a:srgbClr val="64748B"/>
                </a:solidFill>
                <a:latin typeface="Inter"/>
                <a:ea typeface="Inter"/>
                <a:cs typeface="Inter"/>
              </a:defRPr>
            </a:pPr>
            <a:r>
              <a:rPr sz="1275" b="0">
                <a:solidFill>
                  <a:srgbClr val="64748B"/>
                </a:solidFill>
                <a:latin typeface="Inter"/>
                <a:ea typeface="Inter"/>
                <a:cs typeface="Inter"/>
              </a:rPr>
              <a:t>Three different price sets appear across the current public site.</a:t>
            </a:r>
          </a:p>
        </p:txBody>
      </p:sp>
      <p:sp>
        <p:nvSpPr>
          <p:cNvPr id="32" name="issue-card-1">
            <a:extLst>
              <a:ext uri="{FF2B5EF4-FFF2-40B4-BE49-F238E27FC236}">
                <a16:creationId xmlns:a16="http://schemas.microsoft.com/office/drawing/2014/main" id="{5B130762-2CEE-427C-BE2B-FD2A4B4DF2BA}"/>
              </a:ext>
            </a:extLst>
          </p:cNvPr>
          <p:cNvSpPr>
            <a:spLocks noGrp="1"/>
          </p:cNvSpPr>
          <p:nvPr/>
        </p:nvSpPr>
        <p:spPr>
          <a:xfrm>
            <a:off x="4476750" y="2381250"/>
            <a:ext cx="3543300" cy="1466850"/>
          </a:xfrm>
          <a:prstGeom prst="roundRect">
            <a:avLst>
              <a:gd name="adj" fmla="val 12987"/>
            </a:avLst>
          </a:prstGeom>
          <a:solidFill>
            <a:srgbClr val="F7EEFB"/>
          </a:solidFill>
          <a:ln w="9525">
            <a:solidFill>
              <a:srgbClr val="FFFFFF">
                <a:alpha val="60000"/>
              </a:srgbClr>
            </a:solidFill>
            <a:prstDash val="solid"/>
          </a:ln>
        </p:spPr>
        <p:style>
          <a:lnRef idx="0">
            <a:scrgbClr r="0" g="0" b="0"/>
          </a:lnRef>
          <a:fillRef idx="0">
            <a:scrgbClr r="0" g="0" b="0"/>
          </a:fillRef>
          <a:effectRef idx="4">
            <a:scrgbClr r="0" g="0" b="0"/>
          </a:effectRef>
          <a:fontRef idx="major"/>
        </p:style>
        <p:txBody>
          <a:bodyPr/>
          <a:lstStyle/>
          <a:p>
            <a:endParaRPr lang="en-SG"/>
          </a:p>
        </p:txBody>
      </p:sp>
      <p:sp>
        <p:nvSpPr>
          <p:cNvPr id="33" name="issue-warn-1">
            <a:extLst>
              <a:ext uri="{FF2B5EF4-FFF2-40B4-BE49-F238E27FC236}">
                <a16:creationId xmlns:a16="http://schemas.microsoft.com/office/drawing/2014/main" id="{19D0841F-908B-4F00-876C-90112DF4F321}"/>
              </a:ext>
            </a:extLst>
          </p:cNvPr>
          <p:cNvSpPr>
            <a:spLocks noGrp="1"/>
          </p:cNvSpPr>
          <p:nvPr/>
        </p:nvSpPr>
        <p:spPr>
          <a:xfrm>
            <a:off x="4686300" y="2571750"/>
            <a:ext cx="285750" cy="285750"/>
          </a:xfrm>
          <a:prstGeom prst="ellipse">
            <a:avLst/>
          </a:prstGeom>
          <a:solidFill>
            <a:srgbClr val="F28482"/>
          </a:solidFill>
          <a:ln w="0">
            <a:noFill/>
            <a:prstDash val="solid"/>
          </a:ln>
        </p:spPr>
        <p:txBody>
          <a:bodyPr lIns="0" tIns="0" rIns="0" bIns="0" anchor="ctr"/>
          <a:lstStyle/>
          <a:p>
            <a:pPr algn="ctr">
              <a:defRPr sz="1350" b="1">
                <a:solidFill>
                  <a:srgbClr val="FFFFFF"/>
                </a:solidFill>
                <a:latin typeface="Inter"/>
                <a:ea typeface="Inter"/>
                <a:cs typeface="Inter"/>
              </a:defRPr>
            </a:pPr>
            <a:r>
              <a:rPr sz="1350" b="1">
                <a:solidFill>
                  <a:srgbClr val="FFFFFF"/>
                </a:solidFill>
                <a:latin typeface="Inter"/>
                <a:ea typeface="Inter"/>
                <a:cs typeface="Inter"/>
              </a:rPr>
              <a:t>!</a:t>
            </a:r>
          </a:p>
        </p:txBody>
      </p:sp>
      <p:sp>
        <p:nvSpPr>
          <p:cNvPr id="34" name="issue-title-1">
            <a:extLst>
              <a:ext uri="{FF2B5EF4-FFF2-40B4-BE49-F238E27FC236}">
                <a16:creationId xmlns:a16="http://schemas.microsoft.com/office/drawing/2014/main" id="{564ACD1A-F1A7-4FC2-89B3-40AD93CB7DD7}"/>
              </a:ext>
            </a:extLst>
          </p:cNvPr>
          <p:cNvSpPr>
            <a:spLocks noGrp="1"/>
          </p:cNvSpPr>
          <p:nvPr/>
        </p:nvSpPr>
        <p:spPr>
          <a:xfrm>
            <a:off x="5105400" y="2552700"/>
            <a:ext cx="2667000" cy="342900"/>
          </a:xfrm>
          <a:prstGeom prst="rect">
            <a:avLst/>
          </a:prstGeom>
          <a:noFill/>
          <a:ln w="0">
            <a:noFill/>
            <a:prstDash val="solid"/>
          </a:ln>
        </p:spPr>
        <p:txBody>
          <a:bodyPr wrap="square" lIns="0" tIns="0" rIns="0" bIns="0" anchor="ctr">
            <a:normAutofit/>
          </a:bodyPr>
          <a:lstStyle/>
          <a:p>
            <a:pPr algn="l">
              <a:lnSpc>
                <a:spcPct val="112000"/>
              </a:lnSpc>
              <a:buNone/>
              <a:defRPr sz="1575" b="1">
                <a:solidFill>
                  <a:srgbClr val="1E293B"/>
                </a:solidFill>
                <a:latin typeface="Inter"/>
                <a:ea typeface="Inter"/>
                <a:cs typeface="Inter"/>
              </a:defRPr>
            </a:pPr>
            <a:r>
              <a:rPr sz="1575" b="1">
                <a:solidFill>
                  <a:srgbClr val="1E293B"/>
                </a:solidFill>
                <a:latin typeface="Inter"/>
                <a:ea typeface="Inter"/>
                <a:cs typeface="Inter"/>
              </a:rPr>
              <a:t>Value prop is buried</a:t>
            </a:r>
          </a:p>
        </p:txBody>
      </p:sp>
      <p:sp>
        <p:nvSpPr>
          <p:cNvPr id="35" name="issue-body-1">
            <a:extLst>
              <a:ext uri="{FF2B5EF4-FFF2-40B4-BE49-F238E27FC236}">
                <a16:creationId xmlns:a16="http://schemas.microsoft.com/office/drawing/2014/main" id="{C55D10BD-3B6B-4343-8BD6-7F51C7C1904C}"/>
              </a:ext>
            </a:extLst>
          </p:cNvPr>
          <p:cNvSpPr>
            <a:spLocks noGrp="1"/>
          </p:cNvSpPr>
          <p:nvPr/>
        </p:nvSpPr>
        <p:spPr>
          <a:xfrm>
            <a:off x="4686300" y="3067050"/>
            <a:ext cx="3124200" cy="590550"/>
          </a:xfrm>
          <a:prstGeom prst="rect">
            <a:avLst/>
          </a:prstGeom>
          <a:noFill/>
          <a:ln w="0">
            <a:noFill/>
            <a:prstDash val="solid"/>
          </a:ln>
        </p:spPr>
        <p:txBody>
          <a:bodyPr wrap="square" lIns="0" tIns="0" rIns="0" bIns="0" anchor="ctr">
            <a:normAutofit/>
          </a:bodyPr>
          <a:lstStyle/>
          <a:p>
            <a:pPr algn="l">
              <a:lnSpc>
                <a:spcPct val="117000"/>
              </a:lnSpc>
              <a:buNone/>
              <a:defRPr sz="1275" b="0">
                <a:solidFill>
                  <a:srgbClr val="64748B"/>
                </a:solidFill>
                <a:latin typeface="Inter"/>
                <a:ea typeface="Inter"/>
                <a:cs typeface="Inter"/>
              </a:defRPr>
            </a:pPr>
            <a:r>
              <a:rPr sz="1275" b="0">
                <a:solidFill>
                  <a:srgbClr val="64748B"/>
                </a:solidFill>
                <a:latin typeface="Inter"/>
                <a:ea typeface="Inter"/>
                <a:cs typeface="Inter"/>
              </a:rPr>
              <a:t>The homepage leads with Ai-kyo and repeated trends before the core pitch.</a:t>
            </a:r>
          </a:p>
        </p:txBody>
      </p:sp>
      <p:sp>
        <p:nvSpPr>
          <p:cNvPr id="36" name="issue-card-2">
            <a:extLst>
              <a:ext uri="{FF2B5EF4-FFF2-40B4-BE49-F238E27FC236}">
                <a16:creationId xmlns:a16="http://schemas.microsoft.com/office/drawing/2014/main" id="{64B2A4BD-4CD2-4D57-8C53-9CEEF535BCE5}"/>
              </a:ext>
            </a:extLst>
          </p:cNvPr>
          <p:cNvSpPr>
            <a:spLocks noGrp="1"/>
          </p:cNvSpPr>
          <p:nvPr/>
        </p:nvSpPr>
        <p:spPr>
          <a:xfrm>
            <a:off x="8305800" y="2381250"/>
            <a:ext cx="3543300" cy="1466850"/>
          </a:xfrm>
          <a:prstGeom prst="roundRect">
            <a:avLst>
              <a:gd name="adj" fmla="val 12987"/>
            </a:avLst>
          </a:prstGeom>
          <a:solidFill>
            <a:srgbClr val="EEF3FF"/>
          </a:solidFill>
          <a:ln w="9525">
            <a:solidFill>
              <a:srgbClr val="FFFFFF">
                <a:alpha val="60000"/>
              </a:srgbClr>
            </a:solidFill>
            <a:prstDash val="solid"/>
          </a:ln>
        </p:spPr>
        <p:style>
          <a:lnRef idx="0">
            <a:scrgbClr r="0" g="0" b="0"/>
          </a:lnRef>
          <a:fillRef idx="0">
            <a:scrgbClr r="0" g="0" b="0"/>
          </a:fillRef>
          <a:effectRef idx="4">
            <a:scrgbClr r="0" g="0" b="0"/>
          </a:effectRef>
          <a:fontRef idx="major"/>
        </p:style>
        <p:txBody>
          <a:bodyPr/>
          <a:lstStyle/>
          <a:p>
            <a:endParaRPr lang="en-SG"/>
          </a:p>
        </p:txBody>
      </p:sp>
      <p:sp>
        <p:nvSpPr>
          <p:cNvPr id="37" name="issue-warn-2">
            <a:extLst>
              <a:ext uri="{FF2B5EF4-FFF2-40B4-BE49-F238E27FC236}">
                <a16:creationId xmlns:a16="http://schemas.microsoft.com/office/drawing/2014/main" id="{FCB2467A-4E73-4248-9578-20ADBAB07857}"/>
              </a:ext>
            </a:extLst>
          </p:cNvPr>
          <p:cNvSpPr>
            <a:spLocks noGrp="1"/>
          </p:cNvSpPr>
          <p:nvPr/>
        </p:nvSpPr>
        <p:spPr>
          <a:xfrm>
            <a:off x="8515350" y="2571750"/>
            <a:ext cx="285750" cy="285750"/>
          </a:xfrm>
          <a:prstGeom prst="ellipse">
            <a:avLst/>
          </a:prstGeom>
          <a:solidFill>
            <a:srgbClr val="B567C2"/>
          </a:solidFill>
          <a:ln w="0">
            <a:noFill/>
            <a:prstDash val="solid"/>
          </a:ln>
        </p:spPr>
        <p:txBody>
          <a:bodyPr lIns="0" tIns="0" rIns="0" bIns="0" anchor="ctr"/>
          <a:lstStyle/>
          <a:p>
            <a:pPr algn="ctr">
              <a:defRPr sz="1350" b="1">
                <a:solidFill>
                  <a:srgbClr val="FFFFFF"/>
                </a:solidFill>
                <a:latin typeface="Inter"/>
                <a:ea typeface="Inter"/>
                <a:cs typeface="Inter"/>
              </a:defRPr>
            </a:pPr>
            <a:r>
              <a:rPr sz="1350" b="1">
                <a:solidFill>
                  <a:srgbClr val="FFFFFF"/>
                </a:solidFill>
                <a:latin typeface="Inter"/>
                <a:ea typeface="Inter"/>
                <a:cs typeface="Inter"/>
              </a:rPr>
              <a:t>!</a:t>
            </a:r>
          </a:p>
        </p:txBody>
      </p:sp>
      <p:sp>
        <p:nvSpPr>
          <p:cNvPr id="38" name="issue-title-2">
            <a:extLst>
              <a:ext uri="{FF2B5EF4-FFF2-40B4-BE49-F238E27FC236}">
                <a16:creationId xmlns:a16="http://schemas.microsoft.com/office/drawing/2014/main" id="{F6E870BA-561A-4EB5-84BE-47BE995D7FC9}"/>
              </a:ext>
            </a:extLst>
          </p:cNvPr>
          <p:cNvSpPr>
            <a:spLocks noGrp="1"/>
          </p:cNvSpPr>
          <p:nvPr/>
        </p:nvSpPr>
        <p:spPr>
          <a:xfrm>
            <a:off x="8934450" y="2552700"/>
            <a:ext cx="2667000" cy="342900"/>
          </a:xfrm>
          <a:prstGeom prst="rect">
            <a:avLst/>
          </a:prstGeom>
          <a:noFill/>
          <a:ln w="0">
            <a:noFill/>
            <a:prstDash val="solid"/>
          </a:ln>
        </p:spPr>
        <p:txBody>
          <a:bodyPr wrap="square" lIns="0" tIns="0" rIns="0" bIns="0" anchor="ctr">
            <a:normAutofit/>
          </a:bodyPr>
          <a:lstStyle/>
          <a:p>
            <a:pPr algn="l">
              <a:lnSpc>
                <a:spcPct val="112000"/>
              </a:lnSpc>
              <a:buNone/>
              <a:defRPr sz="1575" b="1">
                <a:solidFill>
                  <a:srgbClr val="1E293B"/>
                </a:solidFill>
                <a:latin typeface="Inter"/>
                <a:ea typeface="Inter"/>
                <a:cs typeface="Inter"/>
              </a:defRPr>
            </a:pPr>
            <a:r>
              <a:rPr sz="1575" b="1">
                <a:solidFill>
                  <a:srgbClr val="1E293B"/>
                </a:solidFill>
                <a:latin typeface="Inter"/>
                <a:ea typeface="Inter"/>
                <a:cs typeface="Inter"/>
              </a:rPr>
              <a:t>Feature status is unclear</a:t>
            </a:r>
          </a:p>
        </p:txBody>
      </p:sp>
      <p:sp>
        <p:nvSpPr>
          <p:cNvPr id="39" name="issue-body-2">
            <a:extLst>
              <a:ext uri="{FF2B5EF4-FFF2-40B4-BE49-F238E27FC236}">
                <a16:creationId xmlns:a16="http://schemas.microsoft.com/office/drawing/2014/main" id="{FD76698C-61B1-4CA0-BFE4-F6B7CC321563}"/>
              </a:ext>
            </a:extLst>
          </p:cNvPr>
          <p:cNvSpPr>
            <a:spLocks noGrp="1"/>
          </p:cNvSpPr>
          <p:nvPr/>
        </p:nvSpPr>
        <p:spPr>
          <a:xfrm>
            <a:off x="8515350" y="3067050"/>
            <a:ext cx="3124200" cy="590550"/>
          </a:xfrm>
          <a:prstGeom prst="rect">
            <a:avLst/>
          </a:prstGeom>
          <a:noFill/>
          <a:ln w="0">
            <a:noFill/>
            <a:prstDash val="solid"/>
          </a:ln>
        </p:spPr>
        <p:txBody>
          <a:bodyPr wrap="square" lIns="0" tIns="0" rIns="0" bIns="0" anchor="ctr">
            <a:normAutofit/>
          </a:bodyPr>
          <a:lstStyle/>
          <a:p>
            <a:pPr algn="l">
              <a:lnSpc>
                <a:spcPct val="117000"/>
              </a:lnSpc>
              <a:buNone/>
              <a:defRPr sz="1275" b="0">
                <a:solidFill>
                  <a:srgbClr val="64748B"/>
                </a:solidFill>
                <a:latin typeface="Inter"/>
                <a:ea typeface="Inter"/>
                <a:cs typeface="Inter"/>
              </a:defRPr>
            </a:pPr>
            <a:r>
              <a:rPr sz="1275" b="0">
                <a:solidFill>
                  <a:srgbClr val="64748B"/>
                </a:solidFill>
                <a:latin typeface="Inter"/>
                <a:ea typeface="Inter"/>
                <a:cs typeface="Inter"/>
              </a:rPr>
              <a:t>LIVE, BETA and SOON are not applied consistently across features.</a:t>
            </a:r>
          </a:p>
        </p:txBody>
      </p:sp>
      <p:sp>
        <p:nvSpPr>
          <p:cNvPr id="40" name="issue-card-3">
            <a:extLst>
              <a:ext uri="{FF2B5EF4-FFF2-40B4-BE49-F238E27FC236}">
                <a16:creationId xmlns:a16="http://schemas.microsoft.com/office/drawing/2014/main" id="{FB653EBA-D342-400E-AA35-0D1ABB34901C}"/>
              </a:ext>
            </a:extLst>
          </p:cNvPr>
          <p:cNvSpPr>
            <a:spLocks noGrp="1"/>
          </p:cNvSpPr>
          <p:nvPr/>
        </p:nvSpPr>
        <p:spPr>
          <a:xfrm>
            <a:off x="647700" y="4095750"/>
            <a:ext cx="3543300" cy="1466850"/>
          </a:xfrm>
          <a:prstGeom prst="roundRect">
            <a:avLst>
              <a:gd name="adj" fmla="val 12987"/>
            </a:avLst>
          </a:prstGeom>
          <a:solidFill>
            <a:srgbClr val="FFF7E6"/>
          </a:solidFill>
          <a:ln w="9525">
            <a:solidFill>
              <a:srgbClr val="FFFFFF">
                <a:alpha val="60000"/>
              </a:srgbClr>
            </a:solidFill>
            <a:prstDash val="solid"/>
          </a:ln>
        </p:spPr>
        <p:style>
          <a:lnRef idx="0">
            <a:scrgbClr r="0" g="0" b="0"/>
          </a:lnRef>
          <a:fillRef idx="0">
            <a:scrgbClr r="0" g="0" b="0"/>
          </a:fillRef>
          <a:effectRef idx="4">
            <a:scrgbClr r="0" g="0" b="0"/>
          </a:effectRef>
          <a:fontRef idx="major"/>
        </p:style>
        <p:txBody>
          <a:bodyPr/>
          <a:lstStyle/>
          <a:p>
            <a:endParaRPr lang="en-SG"/>
          </a:p>
        </p:txBody>
      </p:sp>
      <p:sp>
        <p:nvSpPr>
          <p:cNvPr id="41" name="issue-warn-3">
            <a:extLst>
              <a:ext uri="{FF2B5EF4-FFF2-40B4-BE49-F238E27FC236}">
                <a16:creationId xmlns:a16="http://schemas.microsoft.com/office/drawing/2014/main" id="{8A4E341C-DB30-4788-8223-2FFD574B9CE6}"/>
              </a:ext>
            </a:extLst>
          </p:cNvPr>
          <p:cNvSpPr>
            <a:spLocks noGrp="1"/>
          </p:cNvSpPr>
          <p:nvPr/>
        </p:nvSpPr>
        <p:spPr>
          <a:xfrm>
            <a:off x="857250" y="4286250"/>
            <a:ext cx="285750" cy="285750"/>
          </a:xfrm>
          <a:prstGeom prst="ellipse">
            <a:avLst/>
          </a:prstGeom>
          <a:solidFill>
            <a:srgbClr val="F28482"/>
          </a:solidFill>
          <a:ln w="0">
            <a:noFill/>
            <a:prstDash val="solid"/>
          </a:ln>
        </p:spPr>
        <p:txBody>
          <a:bodyPr lIns="0" tIns="0" rIns="0" bIns="0" anchor="ctr"/>
          <a:lstStyle/>
          <a:p>
            <a:pPr algn="ctr">
              <a:defRPr sz="1350" b="1">
                <a:solidFill>
                  <a:srgbClr val="FFFFFF"/>
                </a:solidFill>
                <a:latin typeface="Inter"/>
                <a:ea typeface="Inter"/>
                <a:cs typeface="Inter"/>
              </a:defRPr>
            </a:pPr>
            <a:r>
              <a:rPr sz="1350" b="1">
                <a:solidFill>
                  <a:srgbClr val="FFFFFF"/>
                </a:solidFill>
                <a:latin typeface="Inter"/>
                <a:ea typeface="Inter"/>
                <a:cs typeface="Inter"/>
              </a:rPr>
              <a:t>!</a:t>
            </a:r>
          </a:p>
        </p:txBody>
      </p:sp>
      <p:sp>
        <p:nvSpPr>
          <p:cNvPr id="42" name="issue-title-3">
            <a:extLst>
              <a:ext uri="{FF2B5EF4-FFF2-40B4-BE49-F238E27FC236}">
                <a16:creationId xmlns:a16="http://schemas.microsoft.com/office/drawing/2014/main" id="{390370DE-5CF0-41F8-856F-CCA7490A0410}"/>
              </a:ext>
            </a:extLst>
          </p:cNvPr>
          <p:cNvSpPr>
            <a:spLocks noGrp="1"/>
          </p:cNvSpPr>
          <p:nvPr/>
        </p:nvSpPr>
        <p:spPr>
          <a:xfrm>
            <a:off x="1276350" y="4267200"/>
            <a:ext cx="2667000" cy="342900"/>
          </a:xfrm>
          <a:prstGeom prst="rect">
            <a:avLst/>
          </a:prstGeom>
          <a:noFill/>
          <a:ln w="0">
            <a:noFill/>
            <a:prstDash val="solid"/>
          </a:ln>
        </p:spPr>
        <p:txBody>
          <a:bodyPr wrap="square" lIns="0" tIns="0" rIns="0" bIns="0" anchor="ctr">
            <a:normAutofit/>
          </a:bodyPr>
          <a:lstStyle/>
          <a:p>
            <a:pPr algn="l">
              <a:lnSpc>
                <a:spcPct val="112000"/>
              </a:lnSpc>
              <a:buNone/>
              <a:defRPr sz="1575" b="1">
                <a:solidFill>
                  <a:srgbClr val="1E293B"/>
                </a:solidFill>
                <a:latin typeface="Inter"/>
                <a:ea typeface="Inter"/>
                <a:cs typeface="Inter"/>
              </a:defRPr>
            </a:pPr>
            <a:r>
              <a:rPr sz="1575" b="1">
                <a:solidFill>
                  <a:srgbClr val="1E293B"/>
                </a:solidFill>
                <a:latin typeface="Inter"/>
                <a:ea typeface="Inter"/>
                <a:cs typeface="Inter"/>
              </a:rPr>
              <a:t>Creator Index has no home</a:t>
            </a:r>
          </a:p>
        </p:txBody>
      </p:sp>
      <p:sp>
        <p:nvSpPr>
          <p:cNvPr id="43" name="issue-body-3">
            <a:extLst>
              <a:ext uri="{FF2B5EF4-FFF2-40B4-BE49-F238E27FC236}">
                <a16:creationId xmlns:a16="http://schemas.microsoft.com/office/drawing/2014/main" id="{AAD60D89-D0A7-4E60-88AC-752F077D6728}"/>
              </a:ext>
            </a:extLst>
          </p:cNvPr>
          <p:cNvSpPr>
            <a:spLocks noGrp="1"/>
          </p:cNvSpPr>
          <p:nvPr/>
        </p:nvSpPr>
        <p:spPr>
          <a:xfrm>
            <a:off x="857250" y="4781550"/>
            <a:ext cx="3124200" cy="590550"/>
          </a:xfrm>
          <a:prstGeom prst="rect">
            <a:avLst/>
          </a:prstGeom>
          <a:noFill/>
          <a:ln w="0">
            <a:noFill/>
            <a:prstDash val="solid"/>
          </a:ln>
        </p:spPr>
        <p:txBody>
          <a:bodyPr wrap="square" lIns="0" tIns="0" rIns="0" bIns="0" anchor="ctr">
            <a:normAutofit/>
          </a:bodyPr>
          <a:lstStyle/>
          <a:p>
            <a:pPr algn="l">
              <a:lnSpc>
                <a:spcPct val="117000"/>
              </a:lnSpc>
              <a:buNone/>
              <a:defRPr sz="1275" b="0">
                <a:solidFill>
                  <a:srgbClr val="64748B"/>
                </a:solidFill>
                <a:latin typeface="Inter"/>
                <a:ea typeface="Inter"/>
                <a:cs typeface="Inter"/>
              </a:defRPr>
            </a:pPr>
            <a:r>
              <a:rPr sz="1275" b="0">
                <a:solidFill>
                  <a:srgbClr val="64748B"/>
                </a:solidFill>
                <a:latin typeface="Inter"/>
                <a:ea typeface="Inter"/>
                <a:cs typeface="Inter"/>
              </a:rPr>
              <a:t>A headline feature is promoted without a clear directory journey.</a:t>
            </a:r>
          </a:p>
        </p:txBody>
      </p:sp>
      <p:sp>
        <p:nvSpPr>
          <p:cNvPr id="44" name="issue-card-4">
            <a:extLst>
              <a:ext uri="{FF2B5EF4-FFF2-40B4-BE49-F238E27FC236}">
                <a16:creationId xmlns:a16="http://schemas.microsoft.com/office/drawing/2014/main" id="{03D4AD18-4688-4A79-99DE-8D8F25A9E05C}"/>
              </a:ext>
            </a:extLst>
          </p:cNvPr>
          <p:cNvSpPr>
            <a:spLocks noGrp="1"/>
          </p:cNvSpPr>
          <p:nvPr/>
        </p:nvSpPr>
        <p:spPr>
          <a:xfrm>
            <a:off x="4476750" y="4095750"/>
            <a:ext cx="3543300" cy="1466850"/>
          </a:xfrm>
          <a:prstGeom prst="roundRect">
            <a:avLst>
              <a:gd name="adj" fmla="val 12987"/>
            </a:avLst>
          </a:prstGeom>
          <a:solidFill>
            <a:srgbClr val="F7EEFB"/>
          </a:solidFill>
          <a:ln w="9525">
            <a:solidFill>
              <a:srgbClr val="FFFFFF">
                <a:alpha val="60000"/>
              </a:srgbClr>
            </a:solidFill>
            <a:prstDash val="solid"/>
          </a:ln>
        </p:spPr>
        <p:style>
          <a:lnRef idx="0">
            <a:scrgbClr r="0" g="0" b="0"/>
          </a:lnRef>
          <a:fillRef idx="0">
            <a:scrgbClr r="0" g="0" b="0"/>
          </a:fillRef>
          <a:effectRef idx="4">
            <a:scrgbClr r="0" g="0" b="0"/>
          </a:effectRef>
          <a:fontRef idx="major"/>
        </p:style>
        <p:txBody>
          <a:bodyPr/>
          <a:lstStyle/>
          <a:p>
            <a:endParaRPr lang="en-SG"/>
          </a:p>
        </p:txBody>
      </p:sp>
      <p:sp>
        <p:nvSpPr>
          <p:cNvPr id="45" name="issue-warn-4">
            <a:extLst>
              <a:ext uri="{FF2B5EF4-FFF2-40B4-BE49-F238E27FC236}">
                <a16:creationId xmlns:a16="http://schemas.microsoft.com/office/drawing/2014/main" id="{C82D0C14-5901-4E02-88C8-48CBDD844178}"/>
              </a:ext>
            </a:extLst>
          </p:cNvPr>
          <p:cNvSpPr>
            <a:spLocks noGrp="1"/>
          </p:cNvSpPr>
          <p:nvPr/>
        </p:nvSpPr>
        <p:spPr>
          <a:xfrm>
            <a:off x="4686300" y="4286250"/>
            <a:ext cx="285750" cy="285750"/>
          </a:xfrm>
          <a:prstGeom prst="ellipse">
            <a:avLst/>
          </a:prstGeom>
          <a:solidFill>
            <a:srgbClr val="B567C2"/>
          </a:solidFill>
          <a:ln w="0">
            <a:noFill/>
            <a:prstDash val="solid"/>
          </a:ln>
        </p:spPr>
        <p:txBody>
          <a:bodyPr lIns="0" tIns="0" rIns="0" bIns="0" anchor="ctr"/>
          <a:lstStyle/>
          <a:p>
            <a:pPr algn="ctr">
              <a:defRPr sz="1350" b="1">
                <a:solidFill>
                  <a:srgbClr val="FFFFFF"/>
                </a:solidFill>
                <a:latin typeface="Inter"/>
                <a:ea typeface="Inter"/>
                <a:cs typeface="Inter"/>
              </a:defRPr>
            </a:pPr>
            <a:r>
              <a:rPr sz="1350" b="1">
                <a:solidFill>
                  <a:srgbClr val="FFFFFF"/>
                </a:solidFill>
                <a:latin typeface="Inter"/>
                <a:ea typeface="Inter"/>
                <a:cs typeface="Inter"/>
              </a:rPr>
              <a:t>!</a:t>
            </a:r>
          </a:p>
        </p:txBody>
      </p:sp>
      <p:sp>
        <p:nvSpPr>
          <p:cNvPr id="46" name="issue-title-4">
            <a:extLst>
              <a:ext uri="{FF2B5EF4-FFF2-40B4-BE49-F238E27FC236}">
                <a16:creationId xmlns:a16="http://schemas.microsoft.com/office/drawing/2014/main" id="{065C8E0C-0A05-4507-8039-11F7CF4B915D}"/>
              </a:ext>
            </a:extLst>
          </p:cNvPr>
          <p:cNvSpPr>
            <a:spLocks noGrp="1"/>
          </p:cNvSpPr>
          <p:nvPr/>
        </p:nvSpPr>
        <p:spPr>
          <a:xfrm>
            <a:off x="5105400" y="4267200"/>
            <a:ext cx="2667000" cy="342900"/>
          </a:xfrm>
          <a:prstGeom prst="rect">
            <a:avLst/>
          </a:prstGeom>
          <a:noFill/>
          <a:ln w="0">
            <a:noFill/>
            <a:prstDash val="solid"/>
          </a:ln>
        </p:spPr>
        <p:txBody>
          <a:bodyPr wrap="square" lIns="0" tIns="0" rIns="0" bIns="0" anchor="ctr">
            <a:normAutofit/>
          </a:bodyPr>
          <a:lstStyle/>
          <a:p>
            <a:pPr algn="l">
              <a:lnSpc>
                <a:spcPct val="112000"/>
              </a:lnSpc>
              <a:buNone/>
              <a:defRPr sz="1575" b="1">
                <a:solidFill>
                  <a:srgbClr val="1E293B"/>
                </a:solidFill>
                <a:latin typeface="Inter"/>
                <a:ea typeface="Inter"/>
                <a:cs typeface="Inter"/>
              </a:defRPr>
            </a:pPr>
            <a:r>
              <a:rPr sz="1575" b="1">
                <a:solidFill>
                  <a:srgbClr val="1E293B"/>
                </a:solidFill>
                <a:latin typeface="Inter"/>
                <a:ea typeface="Inter"/>
                <a:cs typeface="Inter"/>
              </a:rPr>
              <a:t>Contradictory data language</a:t>
            </a:r>
          </a:p>
        </p:txBody>
      </p:sp>
      <p:sp>
        <p:nvSpPr>
          <p:cNvPr id="47" name="issue-body-4">
            <a:extLst>
              <a:ext uri="{FF2B5EF4-FFF2-40B4-BE49-F238E27FC236}">
                <a16:creationId xmlns:a16="http://schemas.microsoft.com/office/drawing/2014/main" id="{F2069C44-7920-451B-B502-C0D4E9A801E5}"/>
              </a:ext>
            </a:extLst>
          </p:cNvPr>
          <p:cNvSpPr>
            <a:spLocks noGrp="1"/>
          </p:cNvSpPr>
          <p:nvPr/>
        </p:nvSpPr>
        <p:spPr>
          <a:xfrm>
            <a:off x="4686300" y="4781550"/>
            <a:ext cx="3124200" cy="590550"/>
          </a:xfrm>
          <a:prstGeom prst="rect">
            <a:avLst/>
          </a:prstGeom>
          <a:noFill/>
          <a:ln w="0">
            <a:noFill/>
            <a:prstDash val="solid"/>
          </a:ln>
        </p:spPr>
        <p:txBody>
          <a:bodyPr wrap="square" lIns="0" tIns="0" rIns="0" bIns="0" anchor="ctr">
            <a:normAutofit/>
          </a:bodyPr>
          <a:lstStyle/>
          <a:p>
            <a:pPr algn="l">
              <a:lnSpc>
                <a:spcPct val="117000"/>
              </a:lnSpc>
              <a:buNone/>
              <a:defRPr sz="1275" b="0">
                <a:solidFill>
                  <a:srgbClr val="64748B"/>
                </a:solidFill>
                <a:latin typeface="Inter"/>
                <a:ea typeface="Inter"/>
                <a:cs typeface="Inter"/>
              </a:defRPr>
            </a:pPr>
            <a:r>
              <a:rPr sz="1275" b="0">
                <a:solidFill>
                  <a:srgbClr val="64748B"/>
                </a:solidFill>
                <a:latin typeface="Inter"/>
                <a:ea typeface="Inter"/>
                <a:cs typeface="Inter"/>
              </a:rPr>
              <a:t>“Live” and “pulled manually” describe the same data in different places.</a:t>
            </a:r>
          </a:p>
        </p:txBody>
      </p:sp>
      <p:sp>
        <p:nvSpPr>
          <p:cNvPr id="48" name="issue-card-5">
            <a:extLst>
              <a:ext uri="{FF2B5EF4-FFF2-40B4-BE49-F238E27FC236}">
                <a16:creationId xmlns:a16="http://schemas.microsoft.com/office/drawing/2014/main" id="{6451F4C4-8667-482A-BCC2-DE5938331935}"/>
              </a:ext>
            </a:extLst>
          </p:cNvPr>
          <p:cNvSpPr>
            <a:spLocks noGrp="1"/>
          </p:cNvSpPr>
          <p:nvPr/>
        </p:nvSpPr>
        <p:spPr>
          <a:xfrm>
            <a:off x="8305800" y="4095750"/>
            <a:ext cx="3543300" cy="1466850"/>
          </a:xfrm>
          <a:prstGeom prst="roundRect">
            <a:avLst>
              <a:gd name="adj" fmla="val 12987"/>
            </a:avLst>
          </a:prstGeom>
          <a:solidFill>
            <a:srgbClr val="EEF3FF"/>
          </a:solidFill>
          <a:ln w="9525">
            <a:solidFill>
              <a:srgbClr val="FFFFFF">
                <a:alpha val="60000"/>
              </a:srgbClr>
            </a:solidFill>
            <a:prstDash val="solid"/>
          </a:ln>
        </p:spPr>
        <p:style>
          <a:lnRef idx="0">
            <a:scrgbClr r="0" g="0" b="0"/>
          </a:lnRef>
          <a:fillRef idx="0">
            <a:scrgbClr r="0" g="0" b="0"/>
          </a:fillRef>
          <a:effectRef idx="4">
            <a:scrgbClr r="0" g="0" b="0"/>
          </a:effectRef>
          <a:fontRef idx="major"/>
        </p:style>
        <p:txBody>
          <a:bodyPr/>
          <a:lstStyle/>
          <a:p>
            <a:endParaRPr lang="en-SG"/>
          </a:p>
        </p:txBody>
      </p:sp>
      <p:sp>
        <p:nvSpPr>
          <p:cNvPr id="49" name="issue-warn-5">
            <a:extLst>
              <a:ext uri="{FF2B5EF4-FFF2-40B4-BE49-F238E27FC236}">
                <a16:creationId xmlns:a16="http://schemas.microsoft.com/office/drawing/2014/main" id="{8034F216-C75C-46E2-BEE2-3AD07DBEC120}"/>
              </a:ext>
            </a:extLst>
          </p:cNvPr>
          <p:cNvSpPr>
            <a:spLocks noGrp="1"/>
          </p:cNvSpPr>
          <p:nvPr/>
        </p:nvSpPr>
        <p:spPr>
          <a:xfrm>
            <a:off x="8515350" y="4286250"/>
            <a:ext cx="285750" cy="285750"/>
          </a:xfrm>
          <a:prstGeom prst="ellipse">
            <a:avLst/>
          </a:prstGeom>
          <a:solidFill>
            <a:srgbClr val="F28482"/>
          </a:solidFill>
          <a:ln w="0">
            <a:noFill/>
            <a:prstDash val="solid"/>
          </a:ln>
        </p:spPr>
        <p:txBody>
          <a:bodyPr lIns="0" tIns="0" rIns="0" bIns="0" anchor="ctr"/>
          <a:lstStyle/>
          <a:p>
            <a:pPr algn="ctr">
              <a:defRPr sz="1350" b="1">
                <a:solidFill>
                  <a:srgbClr val="FFFFFF"/>
                </a:solidFill>
                <a:latin typeface="Inter"/>
                <a:ea typeface="Inter"/>
                <a:cs typeface="Inter"/>
              </a:defRPr>
            </a:pPr>
            <a:r>
              <a:rPr sz="1350" b="1">
                <a:solidFill>
                  <a:srgbClr val="FFFFFF"/>
                </a:solidFill>
                <a:latin typeface="Inter"/>
                <a:ea typeface="Inter"/>
                <a:cs typeface="Inter"/>
              </a:rPr>
              <a:t>!</a:t>
            </a:r>
          </a:p>
        </p:txBody>
      </p:sp>
      <p:sp>
        <p:nvSpPr>
          <p:cNvPr id="50" name="issue-title-5">
            <a:extLst>
              <a:ext uri="{FF2B5EF4-FFF2-40B4-BE49-F238E27FC236}">
                <a16:creationId xmlns:a16="http://schemas.microsoft.com/office/drawing/2014/main" id="{DAEC46A0-110C-453E-BA32-984EE86647C4}"/>
              </a:ext>
            </a:extLst>
          </p:cNvPr>
          <p:cNvSpPr>
            <a:spLocks noGrp="1"/>
          </p:cNvSpPr>
          <p:nvPr/>
        </p:nvSpPr>
        <p:spPr>
          <a:xfrm>
            <a:off x="8934450" y="4267200"/>
            <a:ext cx="2667000" cy="342900"/>
          </a:xfrm>
          <a:prstGeom prst="rect">
            <a:avLst/>
          </a:prstGeom>
          <a:noFill/>
          <a:ln w="0">
            <a:noFill/>
            <a:prstDash val="solid"/>
          </a:ln>
        </p:spPr>
        <p:txBody>
          <a:bodyPr wrap="square" lIns="0" tIns="0" rIns="0" bIns="0" anchor="ctr">
            <a:normAutofit/>
          </a:bodyPr>
          <a:lstStyle/>
          <a:p>
            <a:pPr algn="l">
              <a:lnSpc>
                <a:spcPct val="112000"/>
              </a:lnSpc>
              <a:buNone/>
              <a:defRPr sz="1575" b="1">
                <a:solidFill>
                  <a:srgbClr val="1E293B"/>
                </a:solidFill>
                <a:latin typeface="Inter"/>
                <a:ea typeface="Inter"/>
                <a:cs typeface="Inter"/>
              </a:defRPr>
            </a:pPr>
            <a:r>
              <a:rPr sz="1575" b="1">
                <a:solidFill>
                  <a:srgbClr val="1E293B"/>
                </a:solidFill>
                <a:latin typeface="Inter"/>
                <a:ea typeface="Inter"/>
                <a:cs typeface="Inter"/>
              </a:rPr>
              <a:t>No single design system</a:t>
            </a:r>
          </a:p>
        </p:txBody>
      </p:sp>
      <p:sp>
        <p:nvSpPr>
          <p:cNvPr id="51" name="issue-body-5">
            <a:extLst>
              <a:ext uri="{FF2B5EF4-FFF2-40B4-BE49-F238E27FC236}">
                <a16:creationId xmlns:a16="http://schemas.microsoft.com/office/drawing/2014/main" id="{B58142D7-6A40-406E-A47C-C84F043D7C9A}"/>
              </a:ext>
            </a:extLst>
          </p:cNvPr>
          <p:cNvSpPr>
            <a:spLocks noGrp="1"/>
          </p:cNvSpPr>
          <p:nvPr/>
        </p:nvSpPr>
        <p:spPr>
          <a:xfrm>
            <a:off x="8515350" y="4781550"/>
            <a:ext cx="3124200" cy="590550"/>
          </a:xfrm>
          <a:prstGeom prst="rect">
            <a:avLst/>
          </a:prstGeom>
          <a:noFill/>
          <a:ln w="0">
            <a:noFill/>
            <a:prstDash val="solid"/>
          </a:ln>
        </p:spPr>
        <p:txBody>
          <a:bodyPr wrap="square" lIns="0" tIns="0" rIns="0" bIns="0" anchor="ctr">
            <a:normAutofit/>
          </a:bodyPr>
          <a:lstStyle/>
          <a:p>
            <a:pPr algn="l">
              <a:lnSpc>
                <a:spcPct val="117000"/>
              </a:lnSpc>
              <a:buNone/>
              <a:defRPr sz="1275" b="0">
                <a:solidFill>
                  <a:srgbClr val="64748B"/>
                </a:solidFill>
                <a:latin typeface="Inter"/>
                <a:ea typeface="Inter"/>
                <a:cs typeface="Inter"/>
              </a:defRPr>
            </a:pPr>
            <a:r>
              <a:rPr sz="1275" b="0">
                <a:solidFill>
                  <a:srgbClr val="64748B"/>
                </a:solidFill>
                <a:latin typeface="Inter"/>
                <a:ea typeface="Inter"/>
                <a:cs typeface="Inter"/>
              </a:rPr>
              <a:t>Type, spacing, cards and states shift page to page, so the product feels improvised.</a:t>
            </a:r>
          </a:p>
        </p:txBody>
      </p:sp>
      <p:sp>
        <p:nvSpPr>
          <p:cNvPr id="52" name="footer-brand">
            <a:extLst>
              <a:ext uri="{FF2B5EF4-FFF2-40B4-BE49-F238E27FC236}">
                <a16:creationId xmlns:a16="http://schemas.microsoft.com/office/drawing/2014/main" id="{03EAC64F-92E6-4503-AC97-46331F623314}"/>
              </a:ext>
            </a:extLst>
          </p:cNvPr>
          <p:cNvSpPr>
            <a:spLocks noGrp="1"/>
          </p:cNvSpPr>
          <p:nvPr/>
        </p:nvSpPr>
        <p:spPr>
          <a:xfrm>
            <a:off x="533400" y="6457950"/>
            <a:ext cx="1714500" cy="190500"/>
          </a:xfrm>
          <a:prstGeom prst="rect">
            <a:avLst/>
          </a:prstGeom>
          <a:noFill/>
          <a:ln w="0">
            <a:noFill/>
            <a:prstDash val="solid"/>
          </a:ln>
        </p:spPr>
        <p:txBody>
          <a:bodyPr wrap="square" lIns="0" tIns="0" rIns="0" bIns="0" anchor="ctr">
            <a:normAutofit/>
          </a:bodyPr>
          <a:lstStyle/>
          <a:p>
            <a:pPr algn="l">
              <a:lnSpc>
                <a:spcPct val="112000"/>
              </a:lnSpc>
              <a:buNone/>
              <a:defRPr sz="975" b="1">
                <a:solidFill>
                  <a:srgbClr val="94A3B8"/>
                </a:solidFill>
                <a:latin typeface="Inter"/>
                <a:ea typeface="Inter"/>
                <a:cs typeface="Inter"/>
              </a:defRPr>
            </a:pPr>
            <a:r>
              <a:rPr sz="975" b="1">
                <a:solidFill>
                  <a:srgbClr val="94A3B8"/>
                </a:solidFill>
                <a:latin typeface="Inter"/>
                <a:ea typeface="Inter"/>
                <a:cs typeface="Inter"/>
              </a:rPr>
              <a:t>INFLUENCEES</a:t>
            </a:r>
          </a:p>
        </p:txBody>
      </p:sp>
      <p:sp>
        <p:nvSpPr>
          <p:cNvPr id="53" name="footer-page">
            <a:extLst>
              <a:ext uri="{FF2B5EF4-FFF2-40B4-BE49-F238E27FC236}">
                <a16:creationId xmlns:a16="http://schemas.microsoft.com/office/drawing/2014/main" id="{16431EB8-B898-481A-A471-E40098BE5C78}"/>
              </a:ext>
            </a:extLst>
          </p:cNvPr>
          <p:cNvSpPr>
            <a:spLocks noGrp="1"/>
          </p:cNvSpPr>
          <p:nvPr/>
        </p:nvSpPr>
        <p:spPr>
          <a:xfrm>
            <a:off x="10572750" y="6457950"/>
            <a:ext cx="1085850" cy="190500"/>
          </a:xfrm>
          <a:prstGeom prst="rect">
            <a:avLst/>
          </a:prstGeom>
          <a:noFill/>
          <a:ln w="0">
            <a:noFill/>
            <a:prstDash val="solid"/>
          </a:ln>
        </p:spPr>
        <p:txBody>
          <a:bodyPr wrap="square" lIns="0" tIns="0" rIns="0" bIns="0" anchor="ctr">
            <a:normAutofit/>
          </a:bodyPr>
          <a:lstStyle/>
          <a:p>
            <a:pPr algn="r">
              <a:lnSpc>
                <a:spcPct val="112000"/>
              </a:lnSpc>
              <a:buNone/>
              <a:defRPr sz="975" b="1">
                <a:solidFill>
                  <a:srgbClr val="94A3B8"/>
                </a:solidFill>
                <a:latin typeface="Inter"/>
                <a:ea typeface="Inter"/>
                <a:cs typeface="Inter"/>
              </a:defRPr>
            </a:pPr>
            <a:r>
              <a:rPr sz="975" b="1">
                <a:solidFill>
                  <a:srgbClr val="94A3B8"/>
                </a:solidFill>
                <a:latin typeface="Inter"/>
                <a:ea typeface="Inter"/>
                <a:cs typeface="Inter"/>
              </a:rPr>
              <a:t>07 / 10</a:t>
            </a:r>
          </a:p>
        </p:txBody>
      </p:sp>
    </p:spTree>
    <p:extLst>
      <p:ext uri="{BB962C8B-B14F-4D97-AF65-F5344CB8AC3E}">
        <p14:creationId xmlns:p14="http://schemas.microsoft.com/office/powerpoint/2010/main" val="20094518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3F0B51A9-5810-4504-A2FC-0769CF0A290A}"/>
              </a:ext>
            </a:extLst>
          </p:cNvPr>
          <p:cNvSpPr>
            <a:spLocks noGrp="1"/>
          </p:cNvSpPr>
          <p:nvPr/>
        </p:nvSpPr>
        <p:spPr>
          <a:xfrm>
            <a:off x="566928" y="457200"/>
            <a:ext cx="8229600" cy="274320"/>
          </a:xfrm>
          <a:prstGeom prst="rect">
            <a:avLst/>
          </a:prstGeom>
          <a:noFill/>
        </p:spPr>
        <p:txBody>
          <a:bodyPr wrap="square" lIns="0" tIns="0" rIns="0" bIns="0" anchor="ctr"/>
          <a:lstStyle/>
          <a:p>
            <a:pPr marL="0" indent="0" algn="l">
              <a:buNone/>
            </a:pPr>
            <a:r>
              <a:rPr sz="1150" b="1">
                <a:solidFill>
                  <a:srgbClr val="5A3EE0"/>
                </a:solidFill>
                <a:latin typeface="Arial"/>
                <a:ea typeface="Arial"/>
                <a:cs typeface="Arial"/>
              </a:rPr>
              <a:t>SOLUTION 02  ·  THE REDESIGN</a:t>
            </a:r>
          </a:p>
        </p:txBody>
      </p:sp>
      <p:sp>
        <p:nvSpPr>
          <p:cNvPr id="3" name="Text 1">
            <a:extLst>
              <a:ext uri="{FF2B5EF4-FFF2-40B4-BE49-F238E27FC236}">
                <a16:creationId xmlns:a16="http://schemas.microsoft.com/office/drawing/2014/main" id="{1984B62A-F40B-4710-8ABB-2F5CE1257C77}"/>
              </a:ext>
            </a:extLst>
          </p:cNvPr>
          <p:cNvSpPr>
            <a:spLocks noGrp="1"/>
          </p:cNvSpPr>
          <p:nvPr/>
        </p:nvSpPr>
        <p:spPr>
          <a:xfrm>
            <a:off x="566928" y="822960"/>
            <a:ext cx="10607040" cy="822960"/>
          </a:xfrm>
          <a:prstGeom prst="rect">
            <a:avLst/>
          </a:prstGeom>
          <a:noFill/>
        </p:spPr>
        <p:txBody>
          <a:bodyPr wrap="square" lIns="0" tIns="0" rIns="0" bIns="0" anchor="t"/>
          <a:lstStyle/>
          <a:p>
            <a:pPr marL="0" indent="0" algn="l">
              <a:lnSpc>
                <a:spcPct val="102000"/>
              </a:lnSpc>
              <a:buNone/>
            </a:pPr>
            <a:r>
              <a:rPr sz="2700" b="1">
                <a:solidFill>
                  <a:srgbClr val="0D0C0A"/>
                </a:solidFill>
                <a:latin typeface="Arial"/>
                <a:ea typeface="Arial"/>
                <a:cs typeface="Arial"/>
              </a:rPr>
              <a:t>Every public page, rebuilt on one system.</a:t>
            </a:r>
          </a:p>
        </p:txBody>
      </p:sp>
      <p:sp>
        <p:nvSpPr>
          <p:cNvPr id="4" name="Shape 2">
            <a:extLst>
              <a:ext uri="{FF2B5EF4-FFF2-40B4-BE49-F238E27FC236}">
                <a16:creationId xmlns:a16="http://schemas.microsoft.com/office/drawing/2014/main" id="{F27D2B68-077D-4C78-B28D-00214B5900CF}"/>
              </a:ext>
            </a:extLst>
          </p:cNvPr>
          <p:cNvSpPr>
            <a:spLocks noGrp="1"/>
          </p:cNvSpPr>
          <p:nvPr/>
        </p:nvSpPr>
        <p:spPr>
          <a:xfrm>
            <a:off x="566928" y="1965960"/>
            <a:ext cx="3490874" cy="1783080"/>
          </a:xfrm>
          <a:prstGeom prst="roundRect">
            <a:avLst>
              <a:gd name="adj" fmla="val 2564"/>
            </a:avLst>
          </a:prstGeom>
          <a:solidFill>
            <a:srgbClr val="FBF9F5"/>
          </a:solidFill>
          <a:ln w="15875">
            <a:solidFill>
              <a:srgbClr val="CBC5B9"/>
            </a:solidFill>
            <a:prstDash val="dash"/>
          </a:ln>
        </p:spPr>
        <p:txBody>
          <a:bodyPr/>
          <a:lstStyle/>
          <a:p>
            <a:endParaRPr lang="en-SG"/>
          </a:p>
        </p:txBody>
      </p:sp>
      <p:sp>
        <p:nvSpPr>
          <p:cNvPr id="5" name="Text 3">
            <a:extLst>
              <a:ext uri="{FF2B5EF4-FFF2-40B4-BE49-F238E27FC236}">
                <a16:creationId xmlns:a16="http://schemas.microsoft.com/office/drawing/2014/main" id="{35EADA42-FD53-44B5-9E25-42C8E8943B29}"/>
              </a:ext>
            </a:extLst>
          </p:cNvPr>
          <p:cNvSpPr>
            <a:spLocks noGrp="1"/>
          </p:cNvSpPr>
          <p:nvPr/>
        </p:nvSpPr>
        <p:spPr>
          <a:xfrm>
            <a:off x="566928" y="2354580"/>
            <a:ext cx="3490874" cy="457200"/>
          </a:xfrm>
          <a:prstGeom prst="rect">
            <a:avLst/>
          </a:prstGeom>
          <a:noFill/>
        </p:spPr>
        <p:txBody>
          <a:bodyPr wrap="square" lIns="0" tIns="0" rIns="0" bIns="0" anchor="ctr"/>
          <a:lstStyle/>
          <a:p>
            <a:pPr marL="0" indent="0" algn="ctr">
              <a:buNone/>
            </a:pPr>
            <a:r>
              <a:rPr sz="2000">
                <a:solidFill>
                  <a:srgbClr val="E2DED6"/>
                </a:solidFill>
                <a:latin typeface="Arial"/>
                <a:ea typeface="Arial"/>
                <a:cs typeface="Arial"/>
              </a:rPr>
              <a:t>◻</a:t>
            </a:r>
          </a:p>
        </p:txBody>
      </p:sp>
      <p:sp>
        <p:nvSpPr>
          <p:cNvPr id="6" name="Text 4">
            <a:extLst>
              <a:ext uri="{FF2B5EF4-FFF2-40B4-BE49-F238E27FC236}">
                <a16:creationId xmlns:a16="http://schemas.microsoft.com/office/drawing/2014/main" id="{150E904E-485E-4318-AA8B-E867AF50EE63}"/>
              </a:ext>
            </a:extLst>
          </p:cNvPr>
          <p:cNvSpPr>
            <a:spLocks noGrp="1"/>
          </p:cNvSpPr>
          <p:nvPr/>
        </p:nvSpPr>
        <p:spPr>
          <a:xfrm>
            <a:off x="658368" y="2784348"/>
            <a:ext cx="3307994" cy="274320"/>
          </a:xfrm>
          <a:prstGeom prst="rect">
            <a:avLst/>
          </a:prstGeom>
          <a:noFill/>
        </p:spPr>
        <p:txBody>
          <a:bodyPr wrap="square" lIns="0" tIns="0" rIns="0" bIns="0" anchor="ctr"/>
          <a:lstStyle/>
          <a:p>
            <a:pPr marL="0" indent="0" algn="ctr">
              <a:buNone/>
            </a:pPr>
            <a:r>
              <a:rPr sz="1050" b="1">
                <a:solidFill>
                  <a:srgbClr val="5A3EE0"/>
                </a:solidFill>
                <a:latin typeface="Arial"/>
                <a:ea typeface="Arial"/>
                <a:cs typeface="Arial"/>
              </a:rPr>
              <a:t>HOME</a:t>
            </a:r>
          </a:p>
        </p:txBody>
      </p:sp>
      <p:sp>
        <p:nvSpPr>
          <p:cNvPr id="7" name="Text 5">
            <a:extLst>
              <a:ext uri="{FF2B5EF4-FFF2-40B4-BE49-F238E27FC236}">
                <a16:creationId xmlns:a16="http://schemas.microsoft.com/office/drawing/2014/main" id="{653C0021-4BE2-4318-BB83-0B5F070127E7}"/>
              </a:ext>
            </a:extLst>
          </p:cNvPr>
          <p:cNvSpPr>
            <a:spLocks noGrp="1"/>
          </p:cNvSpPr>
          <p:nvPr/>
        </p:nvSpPr>
        <p:spPr>
          <a:xfrm>
            <a:off x="566928" y="3794760"/>
            <a:ext cx="3490874" cy="256032"/>
          </a:xfrm>
          <a:prstGeom prst="rect">
            <a:avLst/>
          </a:prstGeom>
          <a:noFill/>
        </p:spPr>
        <p:txBody>
          <a:bodyPr wrap="square" lIns="0" tIns="0" rIns="0" bIns="0" anchor="ctr"/>
          <a:lstStyle/>
          <a:p>
            <a:pPr marL="0" indent="0" algn="l">
              <a:buNone/>
            </a:pPr>
            <a:r>
              <a:rPr sz="1000">
                <a:solidFill>
                  <a:srgbClr val="6B675F"/>
                </a:solidFill>
                <a:latin typeface="Arial"/>
                <a:ea typeface="Arial"/>
                <a:cs typeface="Arial"/>
              </a:rPr>
              <a:t>Value prop first, trending as a section</a:t>
            </a:r>
          </a:p>
        </p:txBody>
      </p:sp>
      <p:sp>
        <p:nvSpPr>
          <p:cNvPr id="8" name="Shape 6">
            <a:extLst>
              <a:ext uri="{FF2B5EF4-FFF2-40B4-BE49-F238E27FC236}">
                <a16:creationId xmlns:a16="http://schemas.microsoft.com/office/drawing/2014/main" id="{D605349F-7892-40AC-8EED-04B8CB93D7FD}"/>
              </a:ext>
            </a:extLst>
          </p:cNvPr>
          <p:cNvSpPr>
            <a:spLocks noGrp="1"/>
          </p:cNvSpPr>
          <p:nvPr/>
        </p:nvSpPr>
        <p:spPr>
          <a:xfrm>
            <a:off x="4350410" y="1965960"/>
            <a:ext cx="3490874" cy="1783080"/>
          </a:xfrm>
          <a:prstGeom prst="roundRect">
            <a:avLst>
              <a:gd name="adj" fmla="val 2564"/>
            </a:avLst>
          </a:prstGeom>
          <a:solidFill>
            <a:srgbClr val="FBF9F5"/>
          </a:solidFill>
          <a:ln w="15875">
            <a:solidFill>
              <a:srgbClr val="CBC5B9"/>
            </a:solidFill>
            <a:prstDash val="dash"/>
          </a:ln>
        </p:spPr>
        <p:txBody>
          <a:bodyPr/>
          <a:lstStyle/>
          <a:p>
            <a:endParaRPr lang="en-SG"/>
          </a:p>
        </p:txBody>
      </p:sp>
      <p:sp>
        <p:nvSpPr>
          <p:cNvPr id="9" name="Text 7">
            <a:extLst>
              <a:ext uri="{FF2B5EF4-FFF2-40B4-BE49-F238E27FC236}">
                <a16:creationId xmlns:a16="http://schemas.microsoft.com/office/drawing/2014/main" id="{E0F5FCC2-2C05-48A2-AF92-AA6DFE83A0D0}"/>
              </a:ext>
            </a:extLst>
          </p:cNvPr>
          <p:cNvSpPr>
            <a:spLocks noGrp="1"/>
          </p:cNvSpPr>
          <p:nvPr/>
        </p:nvSpPr>
        <p:spPr>
          <a:xfrm>
            <a:off x="4350410" y="2354580"/>
            <a:ext cx="3490874" cy="457200"/>
          </a:xfrm>
          <a:prstGeom prst="rect">
            <a:avLst/>
          </a:prstGeom>
          <a:noFill/>
        </p:spPr>
        <p:txBody>
          <a:bodyPr wrap="square" lIns="0" tIns="0" rIns="0" bIns="0" anchor="ctr"/>
          <a:lstStyle/>
          <a:p>
            <a:pPr marL="0" indent="0" algn="ctr">
              <a:buNone/>
            </a:pPr>
            <a:r>
              <a:rPr sz="2000">
                <a:solidFill>
                  <a:srgbClr val="E2DED6"/>
                </a:solidFill>
                <a:latin typeface="Arial"/>
                <a:ea typeface="Arial"/>
                <a:cs typeface="Arial"/>
              </a:rPr>
              <a:t>◻</a:t>
            </a:r>
          </a:p>
        </p:txBody>
      </p:sp>
      <p:sp>
        <p:nvSpPr>
          <p:cNvPr id="10" name="Text 8">
            <a:extLst>
              <a:ext uri="{FF2B5EF4-FFF2-40B4-BE49-F238E27FC236}">
                <a16:creationId xmlns:a16="http://schemas.microsoft.com/office/drawing/2014/main" id="{91DFDE35-09F5-4B78-A996-BC9D77C82D9A}"/>
              </a:ext>
            </a:extLst>
          </p:cNvPr>
          <p:cNvSpPr>
            <a:spLocks noGrp="1"/>
          </p:cNvSpPr>
          <p:nvPr/>
        </p:nvSpPr>
        <p:spPr>
          <a:xfrm>
            <a:off x="4441850" y="2784348"/>
            <a:ext cx="3307994" cy="274320"/>
          </a:xfrm>
          <a:prstGeom prst="rect">
            <a:avLst/>
          </a:prstGeom>
          <a:noFill/>
        </p:spPr>
        <p:txBody>
          <a:bodyPr wrap="square" lIns="0" tIns="0" rIns="0" bIns="0" anchor="ctr"/>
          <a:lstStyle/>
          <a:p>
            <a:pPr marL="0" indent="0" algn="ctr">
              <a:buNone/>
            </a:pPr>
            <a:r>
              <a:rPr sz="1050" b="1">
                <a:solidFill>
                  <a:srgbClr val="5A3EE0"/>
                </a:solidFill>
                <a:latin typeface="Arial"/>
                <a:ea typeface="Arial"/>
                <a:cs typeface="Arial"/>
              </a:rPr>
              <a:t>FOR BRANDS</a:t>
            </a:r>
          </a:p>
        </p:txBody>
      </p:sp>
      <p:sp>
        <p:nvSpPr>
          <p:cNvPr id="11" name="Text 9">
            <a:extLst>
              <a:ext uri="{FF2B5EF4-FFF2-40B4-BE49-F238E27FC236}">
                <a16:creationId xmlns:a16="http://schemas.microsoft.com/office/drawing/2014/main" id="{5827DC67-8B1A-4CDA-8D73-2B35B7B14381}"/>
              </a:ext>
            </a:extLst>
          </p:cNvPr>
          <p:cNvSpPr>
            <a:spLocks noGrp="1"/>
          </p:cNvSpPr>
          <p:nvPr/>
        </p:nvSpPr>
        <p:spPr>
          <a:xfrm>
            <a:off x="4350410" y="3794760"/>
            <a:ext cx="3490874" cy="256032"/>
          </a:xfrm>
          <a:prstGeom prst="rect">
            <a:avLst/>
          </a:prstGeom>
          <a:noFill/>
        </p:spPr>
        <p:txBody>
          <a:bodyPr wrap="square" lIns="0" tIns="0" rIns="0" bIns="0" anchor="ctr"/>
          <a:lstStyle/>
          <a:p>
            <a:pPr marL="0" indent="0" algn="l">
              <a:buNone/>
            </a:pPr>
            <a:r>
              <a:rPr sz="1000">
                <a:solidFill>
                  <a:srgbClr val="6B675F"/>
                </a:solidFill>
                <a:latin typeface="Arial"/>
                <a:ea typeface="Arial"/>
                <a:cs typeface="Arial"/>
              </a:rPr>
              <a:t>Discover, compare, brief, report</a:t>
            </a:r>
          </a:p>
        </p:txBody>
      </p:sp>
      <p:sp>
        <p:nvSpPr>
          <p:cNvPr id="12" name="Shape 10">
            <a:extLst>
              <a:ext uri="{FF2B5EF4-FFF2-40B4-BE49-F238E27FC236}">
                <a16:creationId xmlns:a16="http://schemas.microsoft.com/office/drawing/2014/main" id="{74FC8F98-856E-40FF-8DF5-88335DCA82E8}"/>
              </a:ext>
            </a:extLst>
          </p:cNvPr>
          <p:cNvSpPr>
            <a:spLocks noGrp="1"/>
          </p:cNvSpPr>
          <p:nvPr/>
        </p:nvSpPr>
        <p:spPr>
          <a:xfrm>
            <a:off x="8133893" y="1965960"/>
            <a:ext cx="3490874" cy="1783080"/>
          </a:xfrm>
          <a:prstGeom prst="roundRect">
            <a:avLst>
              <a:gd name="adj" fmla="val 2564"/>
            </a:avLst>
          </a:prstGeom>
          <a:solidFill>
            <a:srgbClr val="FBF9F5"/>
          </a:solidFill>
          <a:ln w="15875">
            <a:solidFill>
              <a:srgbClr val="CBC5B9"/>
            </a:solidFill>
            <a:prstDash val="dash"/>
          </a:ln>
        </p:spPr>
        <p:txBody>
          <a:bodyPr/>
          <a:lstStyle/>
          <a:p>
            <a:endParaRPr lang="en-SG"/>
          </a:p>
        </p:txBody>
      </p:sp>
      <p:sp>
        <p:nvSpPr>
          <p:cNvPr id="13" name="Text 11">
            <a:extLst>
              <a:ext uri="{FF2B5EF4-FFF2-40B4-BE49-F238E27FC236}">
                <a16:creationId xmlns:a16="http://schemas.microsoft.com/office/drawing/2014/main" id="{97F10BBE-62B9-4A0A-A560-D0F67CCDC065}"/>
              </a:ext>
            </a:extLst>
          </p:cNvPr>
          <p:cNvSpPr>
            <a:spLocks noGrp="1"/>
          </p:cNvSpPr>
          <p:nvPr/>
        </p:nvSpPr>
        <p:spPr>
          <a:xfrm>
            <a:off x="8133893" y="2354580"/>
            <a:ext cx="3490874" cy="457200"/>
          </a:xfrm>
          <a:prstGeom prst="rect">
            <a:avLst/>
          </a:prstGeom>
          <a:noFill/>
        </p:spPr>
        <p:txBody>
          <a:bodyPr wrap="square" lIns="0" tIns="0" rIns="0" bIns="0" anchor="ctr"/>
          <a:lstStyle/>
          <a:p>
            <a:pPr marL="0" indent="0" algn="ctr">
              <a:buNone/>
            </a:pPr>
            <a:r>
              <a:rPr sz="2000">
                <a:solidFill>
                  <a:srgbClr val="E2DED6"/>
                </a:solidFill>
                <a:latin typeface="Arial"/>
                <a:ea typeface="Arial"/>
                <a:cs typeface="Arial"/>
              </a:rPr>
              <a:t>◻</a:t>
            </a:r>
          </a:p>
        </p:txBody>
      </p:sp>
      <p:sp>
        <p:nvSpPr>
          <p:cNvPr id="14" name="Text 12">
            <a:extLst>
              <a:ext uri="{FF2B5EF4-FFF2-40B4-BE49-F238E27FC236}">
                <a16:creationId xmlns:a16="http://schemas.microsoft.com/office/drawing/2014/main" id="{5097DD7E-3351-4849-9A13-A3A4055AF054}"/>
              </a:ext>
            </a:extLst>
          </p:cNvPr>
          <p:cNvSpPr>
            <a:spLocks noGrp="1"/>
          </p:cNvSpPr>
          <p:nvPr/>
        </p:nvSpPr>
        <p:spPr>
          <a:xfrm>
            <a:off x="8225333" y="2784348"/>
            <a:ext cx="3307994" cy="274320"/>
          </a:xfrm>
          <a:prstGeom prst="rect">
            <a:avLst/>
          </a:prstGeom>
          <a:noFill/>
        </p:spPr>
        <p:txBody>
          <a:bodyPr wrap="square" lIns="0" tIns="0" rIns="0" bIns="0" anchor="ctr"/>
          <a:lstStyle/>
          <a:p>
            <a:pPr marL="0" indent="0" algn="ctr">
              <a:buNone/>
            </a:pPr>
            <a:r>
              <a:rPr sz="1050" b="1">
                <a:solidFill>
                  <a:srgbClr val="5A3EE0"/>
                </a:solidFill>
                <a:latin typeface="Arial"/>
                <a:ea typeface="Arial"/>
                <a:cs typeface="Arial"/>
              </a:rPr>
              <a:t>FOR CREATORS</a:t>
            </a:r>
          </a:p>
        </p:txBody>
      </p:sp>
      <p:sp>
        <p:nvSpPr>
          <p:cNvPr id="15" name="Text 13">
            <a:extLst>
              <a:ext uri="{FF2B5EF4-FFF2-40B4-BE49-F238E27FC236}">
                <a16:creationId xmlns:a16="http://schemas.microsoft.com/office/drawing/2014/main" id="{3F42C4A0-8771-48E7-A655-8CDFDDAD8250}"/>
              </a:ext>
            </a:extLst>
          </p:cNvPr>
          <p:cNvSpPr>
            <a:spLocks noGrp="1"/>
          </p:cNvSpPr>
          <p:nvPr/>
        </p:nvSpPr>
        <p:spPr>
          <a:xfrm>
            <a:off x="8133893" y="3794760"/>
            <a:ext cx="3490874" cy="256032"/>
          </a:xfrm>
          <a:prstGeom prst="rect">
            <a:avLst/>
          </a:prstGeom>
          <a:noFill/>
        </p:spPr>
        <p:txBody>
          <a:bodyPr wrap="square" lIns="0" tIns="0" rIns="0" bIns="0" anchor="ctr"/>
          <a:lstStyle/>
          <a:p>
            <a:pPr marL="0" indent="0" algn="l">
              <a:buNone/>
            </a:pPr>
            <a:r>
              <a:rPr sz="1000">
                <a:solidFill>
                  <a:srgbClr val="6B675F"/>
                </a:solidFill>
                <a:latin typeface="Arial"/>
                <a:ea typeface="Arial"/>
                <a:cs typeface="Arial"/>
              </a:rPr>
              <a:t>Verified stats, rate card, deals</a:t>
            </a:r>
          </a:p>
        </p:txBody>
      </p:sp>
      <p:sp>
        <p:nvSpPr>
          <p:cNvPr id="16" name="Shape 14">
            <a:extLst>
              <a:ext uri="{FF2B5EF4-FFF2-40B4-BE49-F238E27FC236}">
                <a16:creationId xmlns:a16="http://schemas.microsoft.com/office/drawing/2014/main" id="{F4E9172F-7E87-467E-A80B-ECF4ADF3E15B}"/>
              </a:ext>
            </a:extLst>
          </p:cNvPr>
          <p:cNvSpPr>
            <a:spLocks noGrp="1"/>
          </p:cNvSpPr>
          <p:nvPr/>
        </p:nvSpPr>
        <p:spPr>
          <a:xfrm>
            <a:off x="566928" y="4315968"/>
            <a:ext cx="3490874" cy="1783080"/>
          </a:xfrm>
          <a:prstGeom prst="roundRect">
            <a:avLst>
              <a:gd name="adj" fmla="val 2564"/>
            </a:avLst>
          </a:prstGeom>
          <a:solidFill>
            <a:srgbClr val="FBF9F5"/>
          </a:solidFill>
          <a:ln w="15875">
            <a:solidFill>
              <a:srgbClr val="CBC5B9"/>
            </a:solidFill>
            <a:prstDash val="dash"/>
          </a:ln>
        </p:spPr>
        <p:txBody>
          <a:bodyPr/>
          <a:lstStyle/>
          <a:p>
            <a:endParaRPr lang="en-SG"/>
          </a:p>
        </p:txBody>
      </p:sp>
      <p:sp>
        <p:nvSpPr>
          <p:cNvPr id="17" name="Text 15">
            <a:extLst>
              <a:ext uri="{FF2B5EF4-FFF2-40B4-BE49-F238E27FC236}">
                <a16:creationId xmlns:a16="http://schemas.microsoft.com/office/drawing/2014/main" id="{320ADA99-F241-4597-A97B-ACA4C4C1AF80}"/>
              </a:ext>
            </a:extLst>
          </p:cNvPr>
          <p:cNvSpPr>
            <a:spLocks noGrp="1"/>
          </p:cNvSpPr>
          <p:nvPr/>
        </p:nvSpPr>
        <p:spPr>
          <a:xfrm>
            <a:off x="566928" y="4704588"/>
            <a:ext cx="3490874" cy="457200"/>
          </a:xfrm>
          <a:prstGeom prst="rect">
            <a:avLst/>
          </a:prstGeom>
          <a:noFill/>
        </p:spPr>
        <p:txBody>
          <a:bodyPr wrap="square" lIns="0" tIns="0" rIns="0" bIns="0" anchor="ctr"/>
          <a:lstStyle/>
          <a:p>
            <a:pPr marL="0" indent="0" algn="ctr">
              <a:buNone/>
            </a:pPr>
            <a:r>
              <a:rPr sz="2000">
                <a:solidFill>
                  <a:srgbClr val="E2DED6"/>
                </a:solidFill>
                <a:latin typeface="Arial"/>
                <a:ea typeface="Arial"/>
                <a:cs typeface="Arial"/>
              </a:rPr>
              <a:t>◻</a:t>
            </a:r>
          </a:p>
        </p:txBody>
      </p:sp>
      <p:sp>
        <p:nvSpPr>
          <p:cNvPr id="18" name="Text 16">
            <a:extLst>
              <a:ext uri="{FF2B5EF4-FFF2-40B4-BE49-F238E27FC236}">
                <a16:creationId xmlns:a16="http://schemas.microsoft.com/office/drawing/2014/main" id="{80BB548B-FAB4-42A9-8D47-65F946A2F2B4}"/>
              </a:ext>
            </a:extLst>
          </p:cNvPr>
          <p:cNvSpPr>
            <a:spLocks noGrp="1"/>
          </p:cNvSpPr>
          <p:nvPr/>
        </p:nvSpPr>
        <p:spPr>
          <a:xfrm>
            <a:off x="658368" y="5134356"/>
            <a:ext cx="3307994" cy="274320"/>
          </a:xfrm>
          <a:prstGeom prst="rect">
            <a:avLst/>
          </a:prstGeom>
          <a:noFill/>
        </p:spPr>
        <p:txBody>
          <a:bodyPr wrap="square" lIns="0" tIns="0" rIns="0" bIns="0" anchor="ctr"/>
          <a:lstStyle/>
          <a:p>
            <a:pPr marL="0" indent="0" algn="ctr">
              <a:buNone/>
            </a:pPr>
            <a:r>
              <a:rPr sz="1050" b="1">
                <a:solidFill>
                  <a:srgbClr val="5A3EE0"/>
                </a:solidFill>
                <a:latin typeface="Arial"/>
                <a:ea typeface="Arial"/>
                <a:cs typeface="Arial"/>
              </a:rPr>
              <a:t>CREATOR DIRECTORY</a:t>
            </a:r>
          </a:p>
        </p:txBody>
      </p:sp>
      <p:sp>
        <p:nvSpPr>
          <p:cNvPr id="19" name="Text 17">
            <a:extLst>
              <a:ext uri="{FF2B5EF4-FFF2-40B4-BE49-F238E27FC236}">
                <a16:creationId xmlns:a16="http://schemas.microsoft.com/office/drawing/2014/main" id="{9CFD2464-B3B7-4DD4-8B90-D9E9F59D5E28}"/>
              </a:ext>
            </a:extLst>
          </p:cNvPr>
          <p:cNvSpPr>
            <a:spLocks noGrp="1"/>
          </p:cNvSpPr>
          <p:nvPr/>
        </p:nvSpPr>
        <p:spPr>
          <a:xfrm>
            <a:off x="566928" y="6144768"/>
            <a:ext cx="3490874" cy="256032"/>
          </a:xfrm>
          <a:prstGeom prst="rect">
            <a:avLst/>
          </a:prstGeom>
          <a:noFill/>
        </p:spPr>
        <p:txBody>
          <a:bodyPr wrap="square" lIns="0" tIns="0" rIns="0" bIns="0" anchor="ctr"/>
          <a:lstStyle/>
          <a:p>
            <a:pPr marL="0" indent="0" algn="l">
              <a:buNone/>
            </a:pPr>
            <a:r>
              <a:rPr sz="1000">
                <a:solidFill>
                  <a:srgbClr val="6B675F"/>
                </a:solidFill>
                <a:latin typeface="Arial"/>
                <a:ea typeface="Arial"/>
                <a:cs typeface="Arial"/>
              </a:rPr>
              <a:t>Local filters, trust indicators</a:t>
            </a:r>
          </a:p>
        </p:txBody>
      </p:sp>
      <p:sp>
        <p:nvSpPr>
          <p:cNvPr id="20" name="Shape 18">
            <a:extLst>
              <a:ext uri="{FF2B5EF4-FFF2-40B4-BE49-F238E27FC236}">
                <a16:creationId xmlns:a16="http://schemas.microsoft.com/office/drawing/2014/main" id="{65E93A5C-4B67-4DFE-8F8B-1CB9C76679E6}"/>
              </a:ext>
            </a:extLst>
          </p:cNvPr>
          <p:cNvSpPr>
            <a:spLocks noGrp="1"/>
          </p:cNvSpPr>
          <p:nvPr/>
        </p:nvSpPr>
        <p:spPr>
          <a:xfrm>
            <a:off x="4350410" y="4315968"/>
            <a:ext cx="3490874" cy="1783080"/>
          </a:xfrm>
          <a:prstGeom prst="roundRect">
            <a:avLst>
              <a:gd name="adj" fmla="val 2564"/>
            </a:avLst>
          </a:prstGeom>
          <a:solidFill>
            <a:srgbClr val="FBF9F5"/>
          </a:solidFill>
          <a:ln w="15875">
            <a:solidFill>
              <a:srgbClr val="CBC5B9"/>
            </a:solidFill>
            <a:prstDash val="dash"/>
          </a:ln>
        </p:spPr>
        <p:txBody>
          <a:bodyPr/>
          <a:lstStyle/>
          <a:p>
            <a:endParaRPr lang="en-SG"/>
          </a:p>
        </p:txBody>
      </p:sp>
      <p:sp>
        <p:nvSpPr>
          <p:cNvPr id="21" name="Text 19">
            <a:extLst>
              <a:ext uri="{FF2B5EF4-FFF2-40B4-BE49-F238E27FC236}">
                <a16:creationId xmlns:a16="http://schemas.microsoft.com/office/drawing/2014/main" id="{917D530B-BADD-48FD-9125-1AC5C3EEFDAC}"/>
              </a:ext>
            </a:extLst>
          </p:cNvPr>
          <p:cNvSpPr>
            <a:spLocks noGrp="1"/>
          </p:cNvSpPr>
          <p:nvPr/>
        </p:nvSpPr>
        <p:spPr>
          <a:xfrm>
            <a:off x="4350410" y="4704588"/>
            <a:ext cx="3490874" cy="457200"/>
          </a:xfrm>
          <a:prstGeom prst="rect">
            <a:avLst/>
          </a:prstGeom>
          <a:noFill/>
        </p:spPr>
        <p:txBody>
          <a:bodyPr wrap="square" lIns="0" tIns="0" rIns="0" bIns="0" anchor="ctr"/>
          <a:lstStyle/>
          <a:p>
            <a:pPr marL="0" indent="0" algn="ctr">
              <a:buNone/>
            </a:pPr>
            <a:r>
              <a:rPr sz="2000">
                <a:solidFill>
                  <a:srgbClr val="E2DED6"/>
                </a:solidFill>
                <a:latin typeface="Arial"/>
                <a:ea typeface="Arial"/>
                <a:cs typeface="Arial"/>
              </a:rPr>
              <a:t>◻</a:t>
            </a:r>
          </a:p>
        </p:txBody>
      </p:sp>
      <p:sp>
        <p:nvSpPr>
          <p:cNvPr id="22" name="Text 20">
            <a:extLst>
              <a:ext uri="{FF2B5EF4-FFF2-40B4-BE49-F238E27FC236}">
                <a16:creationId xmlns:a16="http://schemas.microsoft.com/office/drawing/2014/main" id="{AC3DE187-C137-4804-9C92-9C94F0405FC6}"/>
              </a:ext>
            </a:extLst>
          </p:cNvPr>
          <p:cNvSpPr>
            <a:spLocks noGrp="1"/>
          </p:cNvSpPr>
          <p:nvPr/>
        </p:nvSpPr>
        <p:spPr>
          <a:xfrm>
            <a:off x="4441850" y="5134356"/>
            <a:ext cx="3307994" cy="274320"/>
          </a:xfrm>
          <a:prstGeom prst="rect">
            <a:avLst/>
          </a:prstGeom>
          <a:noFill/>
        </p:spPr>
        <p:txBody>
          <a:bodyPr wrap="square" lIns="0" tIns="0" rIns="0" bIns="0" anchor="ctr"/>
          <a:lstStyle/>
          <a:p>
            <a:pPr marL="0" indent="0" algn="ctr">
              <a:buNone/>
            </a:pPr>
            <a:r>
              <a:rPr sz="1050" b="1">
                <a:solidFill>
                  <a:srgbClr val="5A3EE0"/>
                </a:solidFill>
                <a:latin typeface="Arial"/>
                <a:ea typeface="Arial"/>
                <a:cs typeface="Arial"/>
              </a:rPr>
              <a:t>CREATOR PROFILE</a:t>
            </a:r>
          </a:p>
        </p:txBody>
      </p:sp>
      <p:sp>
        <p:nvSpPr>
          <p:cNvPr id="23" name="Text 21">
            <a:extLst>
              <a:ext uri="{FF2B5EF4-FFF2-40B4-BE49-F238E27FC236}">
                <a16:creationId xmlns:a16="http://schemas.microsoft.com/office/drawing/2014/main" id="{10B8529B-86BE-4917-B461-DF126CB5A6EB}"/>
              </a:ext>
            </a:extLst>
          </p:cNvPr>
          <p:cNvSpPr>
            <a:spLocks noGrp="1"/>
          </p:cNvSpPr>
          <p:nvPr/>
        </p:nvSpPr>
        <p:spPr>
          <a:xfrm>
            <a:off x="4350410" y="6144768"/>
            <a:ext cx="3490874" cy="256032"/>
          </a:xfrm>
          <a:prstGeom prst="rect">
            <a:avLst/>
          </a:prstGeom>
          <a:noFill/>
        </p:spPr>
        <p:txBody>
          <a:bodyPr wrap="square" lIns="0" tIns="0" rIns="0" bIns="0" anchor="ctr"/>
          <a:lstStyle/>
          <a:p>
            <a:pPr marL="0" indent="0" algn="l">
              <a:buNone/>
            </a:pPr>
            <a:r>
              <a:rPr sz="1000">
                <a:solidFill>
                  <a:srgbClr val="6B675F"/>
                </a:solidFill>
                <a:latin typeface="Arial"/>
                <a:ea typeface="Arial"/>
                <a:cs typeface="Arial"/>
              </a:rPr>
              <a:t>Performance + rate, sample data</a:t>
            </a:r>
          </a:p>
        </p:txBody>
      </p:sp>
      <p:sp>
        <p:nvSpPr>
          <p:cNvPr id="24" name="Shape 22">
            <a:extLst>
              <a:ext uri="{FF2B5EF4-FFF2-40B4-BE49-F238E27FC236}">
                <a16:creationId xmlns:a16="http://schemas.microsoft.com/office/drawing/2014/main" id="{BC6C6A97-A04F-4245-9DB0-792A01023DA4}"/>
              </a:ext>
            </a:extLst>
          </p:cNvPr>
          <p:cNvSpPr>
            <a:spLocks noGrp="1"/>
          </p:cNvSpPr>
          <p:nvPr/>
        </p:nvSpPr>
        <p:spPr>
          <a:xfrm>
            <a:off x="8133893" y="4315968"/>
            <a:ext cx="3490874" cy="1783080"/>
          </a:xfrm>
          <a:prstGeom prst="roundRect">
            <a:avLst>
              <a:gd name="adj" fmla="val 2564"/>
            </a:avLst>
          </a:prstGeom>
          <a:solidFill>
            <a:srgbClr val="FBF9F5"/>
          </a:solidFill>
          <a:ln w="15875">
            <a:solidFill>
              <a:srgbClr val="CBC5B9"/>
            </a:solidFill>
            <a:prstDash val="dash"/>
          </a:ln>
        </p:spPr>
        <p:txBody>
          <a:bodyPr/>
          <a:lstStyle/>
          <a:p>
            <a:endParaRPr lang="en-SG"/>
          </a:p>
        </p:txBody>
      </p:sp>
      <p:sp>
        <p:nvSpPr>
          <p:cNvPr id="25" name="Text 23">
            <a:extLst>
              <a:ext uri="{FF2B5EF4-FFF2-40B4-BE49-F238E27FC236}">
                <a16:creationId xmlns:a16="http://schemas.microsoft.com/office/drawing/2014/main" id="{FFF82B7B-C519-4193-8AF5-5614D06CFDA1}"/>
              </a:ext>
            </a:extLst>
          </p:cNvPr>
          <p:cNvSpPr>
            <a:spLocks noGrp="1"/>
          </p:cNvSpPr>
          <p:nvPr/>
        </p:nvSpPr>
        <p:spPr>
          <a:xfrm>
            <a:off x="8133893" y="4704588"/>
            <a:ext cx="3490874" cy="457200"/>
          </a:xfrm>
          <a:prstGeom prst="rect">
            <a:avLst/>
          </a:prstGeom>
          <a:noFill/>
        </p:spPr>
        <p:txBody>
          <a:bodyPr wrap="square" lIns="0" tIns="0" rIns="0" bIns="0" anchor="ctr"/>
          <a:lstStyle/>
          <a:p>
            <a:pPr marL="0" indent="0" algn="ctr">
              <a:buNone/>
            </a:pPr>
            <a:r>
              <a:rPr sz="2000">
                <a:solidFill>
                  <a:srgbClr val="E2DED6"/>
                </a:solidFill>
                <a:latin typeface="Arial"/>
                <a:ea typeface="Arial"/>
                <a:cs typeface="Arial"/>
              </a:rPr>
              <a:t>◻</a:t>
            </a:r>
          </a:p>
        </p:txBody>
      </p:sp>
      <p:sp>
        <p:nvSpPr>
          <p:cNvPr id="26" name="Text 24">
            <a:extLst>
              <a:ext uri="{FF2B5EF4-FFF2-40B4-BE49-F238E27FC236}">
                <a16:creationId xmlns:a16="http://schemas.microsoft.com/office/drawing/2014/main" id="{38CDE3C5-7C91-4ED2-B622-997325D26C7F}"/>
              </a:ext>
            </a:extLst>
          </p:cNvPr>
          <p:cNvSpPr>
            <a:spLocks noGrp="1"/>
          </p:cNvSpPr>
          <p:nvPr/>
        </p:nvSpPr>
        <p:spPr>
          <a:xfrm>
            <a:off x="8225333" y="5134356"/>
            <a:ext cx="3307994" cy="274320"/>
          </a:xfrm>
          <a:prstGeom prst="rect">
            <a:avLst/>
          </a:prstGeom>
          <a:noFill/>
        </p:spPr>
        <p:txBody>
          <a:bodyPr wrap="square" lIns="0" tIns="0" rIns="0" bIns="0" anchor="ctr"/>
          <a:lstStyle/>
          <a:p>
            <a:pPr marL="0" indent="0" algn="ctr">
              <a:buNone/>
            </a:pPr>
            <a:r>
              <a:rPr sz="1050" b="1">
                <a:solidFill>
                  <a:srgbClr val="5A3EE0"/>
                </a:solidFill>
                <a:latin typeface="Arial"/>
                <a:ea typeface="Arial"/>
                <a:cs typeface="Arial"/>
              </a:rPr>
              <a:t>PRICING + TRUST CHECK</a:t>
            </a:r>
          </a:p>
        </p:txBody>
      </p:sp>
      <p:sp>
        <p:nvSpPr>
          <p:cNvPr id="27" name="Text 25">
            <a:extLst>
              <a:ext uri="{FF2B5EF4-FFF2-40B4-BE49-F238E27FC236}">
                <a16:creationId xmlns:a16="http://schemas.microsoft.com/office/drawing/2014/main" id="{0F4411F1-6A81-40EC-97C6-FBC2A332F07A}"/>
              </a:ext>
            </a:extLst>
          </p:cNvPr>
          <p:cNvSpPr>
            <a:spLocks noGrp="1"/>
          </p:cNvSpPr>
          <p:nvPr/>
        </p:nvSpPr>
        <p:spPr>
          <a:xfrm>
            <a:off x="8133893" y="6144768"/>
            <a:ext cx="3490874" cy="256032"/>
          </a:xfrm>
          <a:prstGeom prst="rect">
            <a:avLst/>
          </a:prstGeom>
          <a:noFill/>
        </p:spPr>
        <p:txBody>
          <a:bodyPr wrap="square" lIns="0" tIns="0" rIns="0" bIns="0" anchor="ctr"/>
          <a:lstStyle/>
          <a:p>
            <a:pPr marL="0" indent="0" algn="l">
              <a:buNone/>
            </a:pPr>
            <a:r>
              <a:rPr sz="1000">
                <a:solidFill>
                  <a:srgbClr val="6B675F"/>
                </a:solidFill>
                <a:latin typeface="Arial"/>
                <a:ea typeface="Arial"/>
                <a:cs typeface="Arial"/>
              </a:rPr>
              <a:t>One price set; BETA labeled honestly</a:t>
            </a:r>
          </a:p>
        </p:txBody>
      </p:sp>
      <p:sp>
        <p:nvSpPr>
          <p:cNvPr id="28" name="Text 26">
            <a:extLst>
              <a:ext uri="{FF2B5EF4-FFF2-40B4-BE49-F238E27FC236}">
                <a16:creationId xmlns:a16="http://schemas.microsoft.com/office/drawing/2014/main" id="{1CA0FE3A-2424-4318-AD4A-40A469A97733}"/>
              </a:ext>
            </a:extLst>
          </p:cNvPr>
          <p:cNvSpPr>
            <a:spLocks noGrp="1"/>
          </p:cNvSpPr>
          <p:nvPr/>
        </p:nvSpPr>
        <p:spPr>
          <a:xfrm>
            <a:off x="8351215" y="6382512"/>
            <a:ext cx="3273552" cy="274320"/>
          </a:xfrm>
          <a:prstGeom prst="rect">
            <a:avLst/>
          </a:prstGeom>
          <a:noFill/>
        </p:spPr>
        <p:txBody>
          <a:bodyPr wrap="square" lIns="0" tIns="0" rIns="0" bIns="0" anchor="ctr"/>
          <a:lstStyle/>
          <a:p>
            <a:pPr marL="0" indent="0" algn="r">
              <a:buNone/>
            </a:pPr>
            <a:r>
              <a:rPr sz="950" b="1">
                <a:solidFill>
                  <a:srgbClr val="9A968C"/>
                </a:solidFill>
                <a:latin typeface="Arial"/>
                <a:ea typeface="Arial"/>
                <a:cs typeface="Arial"/>
              </a:rPr>
              <a:t>INFLUENCEES</a:t>
            </a:r>
            <a:r>
              <a:rPr sz="950" b="1">
                <a:solidFill>
                  <a:srgbClr val="6B675F"/>
                </a:solidFill>
                <a:latin typeface="Arial"/>
                <a:ea typeface="Arial"/>
                <a:cs typeface="Arial"/>
              </a:rPr>
              <a:t>   08 / 10</a:t>
            </a:r>
          </a:p>
        </p:txBody>
      </p:sp>
      <p:sp>
        <p:nvSpPr>
          <p:cNvPr id="29" name="white-canvas-8">
            <a:extLst>
              <a:ext uri="{FF2B5EF4-FFF2-40B4-BE49-F238E27FC236}">
                <a16:creationId xmlns:a16="http://schemas.microsoft.com/office/drawing/2014/main" id="{2970ABA8-70EC-431D-8994-FD331BCFB15B}"/>
              </a:ext>
            </a:extLst>
          </p:cNvPr>
          <p:cNvSpPr>
            <a:spLocks noGrp="1"/>
          </p:cNvSpPr>
          <p:nvPr/>
        </p:nvSpPr>
        <p:spPr>
          <a:xfrm>
            <a:off x="0" y="0"/>
            <a:ext cx="12192000" cy="6858000"/>
          </a:xfrm>
          <a:prstGeom prst="rect">
            <a:avLst/>
          </a:prstGeom>
          <a:solidFill>
            <a:srgbClr val="FFFFFF"/>
          </a:solidFill>
          <a:ln w="0">
            <a:noFill/>
            <a:prstDash val="solid"/>
          </a:ln>
        </p:spPr>
        <p:txBody>
          <a:bodyPr/>
          <a:lstStyle/>
          <a:p>
            <a:endParaRPr lang="en-SG"/>
          </a:p>
        </p:txBody>
      </p:sp>
      <p:sp>
        <p:nvSpPr>
          <p:cNvPr id="30" name="section-badge">
            <a:extLst>
              <a:ext uri="{FF2B5EF4-FFF2-40B4-BE49-F238E27FC236}">
                <a16:creationId xmlns:a16="http://schemas.microsoft.com/office/drawing/2014/main" id="{E4669F0D-2DCC-4B3F-A775-CA595DDA7AFD}"/>
              </a:ext>
            </a:extLst>
          </p:cNvPr>
          <p:cNvSpPr>
            <a:spLocks noGrp="1"/>
          </p:cNvSpPr>
          <p:nvPr/>
        </p:nvSpPr>
        <p:spPr>
          <a:xfrm>
            <a:off x="4191000" y="323850"/>
            <a:ext cx="3810000" cy="247650"/>
          </a:xfrm>
          <a:prstGeom prst="rect">
            <a:avLst/>
          </a:prstGeom>
          <a:noFill/>
          <a:ln w="0">
            <a:noFill/>
            <a:prstDash val="solid"/>
          </a:ln>
        </p:spPr>
        <p:txBody>
          <a:bodyPr wrap="square" lIns="0" tIns="0" rIns="0" bIns="0" anchor="t">
            <a:normAutofit/>
          </a:bodyPr>
          <a:lstStyle/>
          <a:p>
            <a:pPr algn="ctr">
              <a:lnSpc>
                <a:spcPct val="112000"/>
              </a:lnSpc>
              <a:buNone/>
              <a:defRPr sz="1200" b="1">
                <a:solidFill>
                  <a:srgbClr val="7C5CFC"/>
                </a:solidFill>
                <a:latin typeface="Inter"/>
                <a:ea typeface="Inter"/>
                <a:cs typeface="Inter"/>
              </a:defRPr>
            </a:pPr>
            <a:r>
              <a:rPr sz="1200" b="1">
                <a:solidFill>
                  <a:srgbClr val="7C5CFC"/>
                </a:solidFill>
                <a:latin typeface="Inter"/>
                <a:ea typeface="Inter"/>
                <a:cs typeface="Inter"/>
              </a:rPr>
              <a:t>SOLUTION 02 · THE REDESIGN</a:t>
            </a:r>
          </a:p>
        </p:txBody>
      </p:sp>
      <p:sp>
        <p:nvSpPr>
          <p:cNvPr id="31" name="slide-title">
            <a:extLst>
              <a:ext uri="{FF2B5EF4-FFF2-40B4-BE49-F238E27FC236}">
                <a16:creationId xmlns:a16="http://schemas.microsoft.com/office/drawing/2014/main" id="{FC82AA01-4001-4F82-B4A9-D99353EEAF29}"/>
              </a:ext>
            </a:extLst>
          </p:cNvPr>
          <p:cNvSpPr>
            <a:spLocks noGrp="1"/>
          </p:cNvSpPr>
          <p:nvPr/>
        </p:nvSpPr>
        <p:spPr>
          <a:xfrm>
            <a:off x="952500" y="685800"/>
            <a:ext cx="10287000" cy="685800"/>
          </a:xfrm>
          <a:prstGeom prst="rect">
            <a:avLst/>
          </a:prstGeom>
          <a:noFill/>
          <a:ln w="0">
            <a:noFill/>
            <a:prstDash val="solid"/>
          </a:ln>
        </p:spPr>
        <p:txBody>
          <a:bodyPr wrap="square" lIns="0" tIns="0" rIns="0" bIns="0" anchor="ctr">
            <a:normAutofit/>
          </a:bodyPr>
          <a:lstStyle/>
          <a:p>
            <a:pPr algn="ctr">
              <a:lnSpc>
                <a:spcPct val="102000"/>
              </a:lnSpc>
              <a:buNone/>
              <a:defRPr sz="3450" b="0">
                <a:solidFill>
                  <a:srgbClr val="0F172A"/>
                </a:solidFill>
                <a:latin typeface="Inter"/>
                <a:ea typeface="Inter"/>
                <a:cs typeface="Inter"/>
              </a:defRPr>
            </a:pPr>
            <a:r>
              <a:rPr sz="3450" b="0">
                <a:solidFill>
                  <a:srgbClr val="0F172A"/>
                </a:solidFill>
                <a:latin typeface="Inter"/>
                <a:ea typeface="Inter"/>
                <a:cs typeface="Inter"/>
              </a:rPr>
              <a:t>Every public page, rebuilt on one system.</a:t>
            </a:r>
          </a:p>
        </p:txBody>
      </p:sp>
      <p:sp>
        <p:nvSpPr>
          <p:cNvPr id="32" name="slide-subtitle">
            <a:extLst>
              <a:ext uri="{FF2B5EF4-FFF2-40B4-BE49-F238E27FC236}">
                <a16:creationId xmlns:a16="http://schemas.microsoft.com/office/drawing/2014/main" id="{BCE3C92E-EAFB-4BF2-BE3A-AAC7484CE380}"/>
              </a:ext>
            </a:extLst>
          </p:cNvPr>
          <p:cNvSpPr>
            <a:spLocks noGrp="1"/>
          </p:cNvSpPr>
          <p:nvPr/>
        </p:nvSpPr>
        <p:spPr>
          <a:xfrm>
            <a:off x="1333500" y="1333500"/>
            <a:ext cx="9525000" cy="590550"/>
          </a:xfrm>
          <a:prstGeom prst="rect">
            <a:avLst/>
          </a:prstGeom>
          <a:noFill/>
          <a:ln w="0">
            <a:noFill/>
            <a:prstDash val="solid"/>
          </a:ln>
        </p:spPr>
        <p:txBody>
          <a:bodyPr wrap="square" lIns="0" tIns="0" rIns="0" bIns="0" anchor="ctr">
            <a:normAutofit/>
          </a:bodyPr>
          <a:lstStyle/>
          <a:p>
            <a:pPr algn="ctr">
              <a:lnSpc>
                <a:spcPct val="122000"/>
              </a:lnSpc>
              <a:buNone/>
              <a:defRPr sz="1575" b="0">
                <a:solidFill>
                  <a:srgbClr val="64748B"/>
                </a:solidFill>
                <a:latin typeface="Inter"/>
                <a:ea typeface="Inter"/>
                <a:cs typeface="Inter"/>
              </a:defRPr>
            </a:pPr>
            <a:r>
              <a:rPr sz="1575" b="0">
                <a:solidFill>
                  <a:srgbClr val="64748B"/>
                </a:solidFill>
                <a:latin typeface="Inter"/>
                <a:ea typeface="Inter"/>
                <a:cs typeface="Inter"/>
              </a:rPr>
              <a:t>One visual language, with a distinct journey for every audience.</a:t>
            </a:r>
          </a:p>
        </p:txBody>
      </p:sp>
      <p:sp>
        <p:nvSpPr>
          <p:cNvPr id="33" name="page-card-0">
            <a:extLst>
              <a:ext uri="{FF2B5EF4-FFF2-40B4-BE49-F238E27FC236}">
                <a16:creationId xmlns:a16="http://schemas.microsoft.com/office/drawing/2014/main" id="{4BCB57F3-033F-4B4B-B0DA-BA5B3D58A9AC}"/>
              </a:ext>
            </a:extLst>
          </p:cNvPr>
          <p:cNvSpPr>
            <a:spLocks noGrp="1"/>
          </p:cNvSpPr>
          <p:nvPr/>
        </p:nvSpPr>
        <p:spPr>
          <a:xfrm>
            <a:off x="647700" y="2343150"/>
            <a:ext cx="3543300" cy="1504950"/>
          </a:xfrm>
          <a:prstGeom prst="roundRect">
            <a:avLst>
              <a:gd name="adj" fmla="val 12658"/>
            </a:avLst>
          </a:prstGeom>
          <a:solidFill>
            <a:srgbClr val="FFF7E6"/>
          </a:solidFill>
          <a:ln w="9525">
            <a:solidFill>
              <a:srgbClr val="FFFFFF">
                <a:alpha val="60000"/>
              </a:srgbClr>
            </a:solidFill>
            <a:prstDash val="solid"/>
          </a:ln>
        </p:spPr>
        <p:style>
          <a:lnRef idx="0">
            <a:scrgbClr r="0" g="0" b="0"/>
          </a:lnRef>
          <a:fillRef idx="0">
            <a:scrgbClr r="0" g="0" b="0"/>
          </a:fillRef>
          <a:effectRef idx="4">
            <a:scrgbClr r="0" g="0" b="0"/>
          </a:effectRef>
          <a:fontRef idx="major"/>
        </p:style>
        <p:txBody>
          <a:bodyPr/>
          <a:lstStyle/>
          <a:p>
            <a:endParaRPr lang="en-SG"/>
          </a:p>
        </p:txBody>
      </p:sp>
      <p:sp>
        <p:nvSpPr>
          <p:cNvPr id="34" name="page-index-0">
            <a:extLst>
              <a:ext uri="{FF2B5EF4-FFF2-40B4-BE49-F238E27FC236}">
                <a16:creationId xmlns:a16="http://schemas.microsoft.com/office/drawing/2014/main" id="{BA0D32AA-342E-48CB-950A-BA3F523D9BA8}"/>
              </a:ext>
            </a:extLst>
          </p:cNvPr>
          <p:cNvSpPr>
            <a:spLocks noGrp="1"/>
          </p:cNvSpPr>
          <p:nvPr/>
        </p:nvSpPr>
        <p:spPr>
          <a:xfrm>
            <a:off x="876300" y="2552700"/>
            <a:ext cx="533400" cy="266700"/>
          </a:xfrm>
          <a:prstGeom prst="rect">
            <a:avLst/>
          </a:prstGeom>
          <a:noFill/>
          <a:ln w="0">
            <a:noFill/>
            <a:prstDash val="solid"/>
          </a:ln>
        </p:spPr>
        <p:txBody>
          <a:bodyPr wrap="square" lIns="0" tIns="0" rIns="0" bIns="0" anchor="t">
            <a:normAutofit/>
          </a:bodyPr>
          <a:lstStyle/>
          <a:p>
            <a:pPr algn="l">
              <a:lnSpc>
                <a:spcPct val="112000"/>
              </a:lnSpc>
              <a:buNone/>
              <a:defRPr sz="1275" b="1">
                <a:solidFill>
                  <a:srgbClr val="7C5CFC"/>
                </a:solidFill>
                <a:latin typeface="Inter"/>
                <a:ea typeface="Inter"/>
                <a:cs typeface="Inter"/>
              </a:defRPr>
            </a:pPr>
            <a:r>
              <a:rPr sz="1275" b="1">
                <a:solidFill>
                  <a:srgbClr val="7C5CFC"/>
                </a:solidFill>
                <a:latin typeface="Inter"/>
                <a:ea typeface="Inter"/>
                <a:cs typeface="Inter"/>
              </a:rPr>
              <a:t>01</a:t>
            </a:r>
          </a:p>
        </p:txBody>
      </p:sp>
      <p:sp>
        <p:nvSpPr>
          <p:cNvPr id="35" name="page-title-0">
            <a:extLst>
              <a:ext uri="{FF2B5EF4-FFF2-40B4-BE49-F238E27FC236}">
                <a16:creationId xmlns:a16="http://schemas.microsoft.com/office/drawing/2014/main" id="{B2ABBEBB-9348-4CDD-AECD-61C7EA68DAFD}"/>
              </a:ext>
            </a:extLst>
          </p:cNvPr>
          <p:cNvSpPr>
            <a:spLocks noGrp="1"/>
          </p:cNvSpPr>
          <p:nvPr/>
        </p:nvSpPr>
        <p:spPr>
          <a:xfrm>
            <a:off x="876300" y="2914650"/>
            <a:ext cx="3086100" cy="361950"/>
          </a:xfrm>
          <a:prstGeom prst="rect">
            <a:avLst/>
          </a:prstGeom>
          <a:noFill/>
          <a:ln w="0">
            <a:noFill/>
            <a:prstDash val="solid"/>
          </a:ln>
        </p:spPr>
        <p:txBody>
          <a:bodyPr wrap="square" lIns="0" tIns="0" rIns="0" bIns="0" anchor="ctr">
            <a:normAutofit/>
          </a:bodyPr>
          <a:lstStyle/>
          <a:p>
            <a:pPr algn="l">
              <a:lnSpc>
                <a:spcPct val="112000"/>
              </a:lnSpc>
              <a:buNone/>
              <a:defRPr sz="1725" b="1">
                <a:solidFill>
                  <a:srgbClr val="1E293B"/>
                </a:solidFill>
                <a:latin typeface="Inter"/>
                <a:ea typeface="Inter"/>
                <a:cs typeface="Inter"/>
              </a:defRPr>
            </a:pPr>
            <a:r>
              <a:rPr sz="1725" b="1">
                <a:solidFill>
                  <a:srgbClr val="1E293B"/>
                </a:solidFill>
                <a:latin typeface="Inter"/>
                <a:ea typeface="Inter"/>
                <a:cs typeface="Inter"/>
              </a:rPr>
              <a:t>Home</a:t>
            </a:r>
          </a:p>
        </p:txBody>
      </p:sp>
      <p:sp>
        <p:nvSpPr>
          <p:cNvPr id="36" name="page-body-0">
            <a:extLst>
              <a:ext uri="{FF2B5EF4-FFF2-40B4-BE49-F238E27FC236}">
                <a16:creationId xmlns:a16="http://schemas.microsoft.com/office/drawing/2014/main" id="{FE0A2553-1E85-4AB6-92BB-00BEAF2ADACD}"/>
              </a:ext>
            </a:extLst>
          </p:cNvPr>
          <p:cNvSpPr>
            <a:spLocks noGrp="1"/>
          </p:cNvSpPr>
          <p:nvPr/>
        </p:nvSpPr>
        <p:spPr>
          <a:xfrm>
            <a:off x="876300" y="3324225"/>
            <a:ext cx="3086100" cy="381000"/>
          </a:xfrm>
          <a:prstGeom prst="rect">
            <a:avLst/>
          </a:prstGeom>
          <a:noFill/>
          <a:ln w="0">
            <a:noFill/>
            <a:prstDash val="solid"/>
          </a:ln>
        </p:spPr>
        <p:txBody>
          <a:bodyPr wrap="square" lIns="0" tIns="0" rIns="0" bIns="0" anchor="ctr">
            <a:normAutofit fontScale="92016" lnSpcReduction="10000"/>
          </a:bodyPr>
          <a:lstStyle/>
          <a:p>
            <a:pPr algn="l">
              <a:lnSpc>
                <a:spcPct val="116000"/>
              </a:lnSpc>
              <a:buNone/>
              <a:defRPr sz="1275" b="0">
                <a:solidFill>
                  <a:srgbClr val="64748B"/>
                </a:solidFill>
                <a:latin typeface="Inter"/>
                <a:ea typeface="Inter"/>
                <a:cs typeface="Inter"/>
              </a:defRPr>
            </a:pPr>
            <a:r>
              <a:rPr sz="1275" b="0">
                <a:solidFill>
                  <a:srgbClr val="64748B"/>
                </a:solidFill>
                <a:latin typeface="Inter"/>
                <a:ea typeface="Inter"/>
                <a:cs typeface="Inter"/>
              </a:rPr>
              <a:t>Value proposition first; trends become supporting content.</a:t>
            </a:r>
          </a:p>
        </p:txBody>
      </p:sp>
      <p:sp>
        <p:nvSpPr>
          <p:cNvPr id="37" name="page-card-1">
            <a:extLst>
              <a:ext uri="{FF2B5EF4-FFF2-40B4-BE49-F238E27FC236}">
                <a16:creationId xmlns:a16="http://schemas.microsoft.com/office/drawing/2014/main" id="{CEF626B7-BC37-4B02-9728-16B2C3643711}"/>
              </a:ext>
            </a:extLst>
          </p:cNvPr>
          <p:cNvSpPr>
            <a:spLocks noGrp="1"/>
          </p:cNvSpPr>
          <p:nvPr/>
        </p:nvSpPr>
        <p:spPr>
          <a:xfrm>
            <a:off x="4476750" y="2343150"/>
            <a:ext cx="3543300" cy="1504950"/>
          </a:xfrm>
          <a:prstGeom prst="roundRect">
            <a:avLst>
              <a:gd name="adj" fmla="val 12658"/>
            </a:avLst>
          </a:prstGeom>
          <a:solidFill>
            <a:srgbClr val="F7EEFB"/>
          </a:solidFill>
          <a:ln w="9525">
            <a:solidFill>
              <a:srgbClr val="FFFFFF">
                <a:alpha val="60000"/>
              </a:srgbClr>
            </a:solidFill>
            <a:prstDash val="solid"/>
          </a:ln>
        </p:spPr>
        <p:style>
          <a:lnRef idx="0">
            <a:scrgbClr r="0" g="0" b="0"/>
          </a:lnRef>
          <a:fillRef idx="0">
            <a:scrgbClr r="0" g="0" b="0"/>
          </a:fillRef>
          <a:effectRef idx="4">
            <a:scrgbClr r="0" g="0" b="0"/>
          </a:effectRef>
          <a:fontRef idx="major"/>
        </p:style>
        <p:txBody>
          <a:bodyPr/>
          <a:lstStyle/>
          <a:p>
            <a:endParaRPr lang="en-SG"/>
          </a:p>
        </p:txBody>
      </p:sp>
      <p:sp>
        <p:nvSpPr>
          <p:cNvPr id="38" name="page-index-1">
            <a:extLst>
              <a:ext uri="{FF2B5EF4-FFF2-40B4-BE49-F238E27FC236}">
                <a16:creationId xmlns:a16="http://schemas.microsoft.com/office/drawing/2014/main" id="{B3AF8A44-5C34-4CBA-9F90-908755965008}"/>
              </a:ext>
            </a:extLst>
          </p:cNvPr>
          <p:cNvSpPr>
            <a:spLocks noGrp="1"/>
          </p:cNvSpPr>
          <p:nvPr/>
        </p:nvSpPr>
        <p:spPr>
          <a:xfrm>
            <a:off x="4705350" y="2552700"/>
            <a:ext cx="533400" cy="266700"/>
          </a:xfrm>
          <a:prstGeom prst="rect">
            <a:avLst/>
          </a:prstGeom>
          <a:noFill/>
          <a:ln w="0">
            <a:noFill/>
            <a:prstDash val="solid"/>
          </a:ln>
        </p:spPr>
        <p:txBody>
          <a:bodyPr wrap="square" lIns="0" tIns="0" rIns="0" bIns="0" anchor="t">
            <a:normAutofit/>
          </a:bodyPr>
          <a:lstStyle/>
          <a:p>
            <a:pPr algn="l">
              <a:lnSpc>
                <a:spcPct val="112000"/>
              </a:lnSpc>
              <a:buNone/>
              <a:defRPr sz="1275" b="1">
                <a:solidFill>
                  <a:srgbClr val="7C5CFC"/>
                </a:solidFill>
                <a:latin typeface="Inter"/>
                <a:ea typeface="Inter"/>
                <a:cs typeface="Inter"/>
              </a:defRPr>
            </a:pPr>
            <a:r>
              <a:rPr sz="1275" b="1">
                <a:solidFill>
                  <a:srgbClr val="7C5CFC"/>
                </a:solidFill>
                <a:latin typeface="Inter"/>
                <a:ea typeface="Inter"/>
                <a:cs typeface="Inter"/>
              </a:rPr>
              <a:t>02</a:t>
            </a:r>
          </a:p>
        </p:txBody>
      </p:sp>
      <p:sp>
        <p:nvSpPr>
          <p:cNvPr id="39" name="page-title-1">
            <a:extLst>
              <a:ext uri="{FF2B5EF4-FFF2-40B4-BE49-F238E27FC236}">
                <a16:creationId xmlns:a16="http://schemas.microsoft.com/office/drawing/2014/main" id="{B5A74961-2A84-4A4F-9984-0380D442A183}"/>
              </a:ext>
            </a:extLst>
          </p:cNvPr>
          <p:cNvSpPr>
            <a:spLocks noGrp="1"/>
          </p:cNvSpPr>
          <p:nvPr/>
        </p:nvSpPr>
        <p:spPr>
          <a:xfrm>
            <a:off x="4705350" y="2914650"/>
            <a:ext cx="3086100" cy="361950"/>
          </a:xfrm>
          <a:prstGeom prst="rect">
            <a:avLst/>
          </a:prstGeom>
          <a:noFill/>
          <a:ln w="0">
            <a:noFill/>
            <a:prstDash val="solid"/>
          </a:ln>
        </p:spPr>
        <p:txBody>
          <a:bodyPr wrap="square" lIns="0" tIns="0" rIns="0" bIns="0" anchor="ctr">
            <a:normAutofit/>
          </a:bodyPr>
          <a:lstStyle/>
          <a:p>
            <a:pPr algn="l">
              <a:lnSpc>
                <a:spcPct val="112000"/>
              </a:lnSpc>
              <a:buNone/>
              <a:defRPr sz="1725" b="1">
                <a:solidFill>
                  <a:srgbClr val="1E293B"/>
                </a:solidFill>
                <a:latin typeface="Inter"/>
                <a:ea typeface="Inter"/>
                <a:cs typeface="Inter"/>
              </a:defRPr>
            </a:pPr>
            <a:r>
              <a:rPr sz="1725" b="1">
                <a:solidFill>
                  <a:srgbClr val="1E293B"/>
                </a:solidFill>
                <a:latin typeface="Inter"/>
                <a:ea typeface="Inter"/>
                <a:cs typeface="Inter"/>
              </a:rPr>
              <a:t>For Brands</a:t>
            </a:r>
          </a:p>
        </p:txBody>
      </p:sp>
      <p:sp>
        <p:nvSpPr>
          <p:cNvPr id="40" name="page-body-1">
            <a:extLst>
              <a:ext uri="{FF2B5EF4-FFF2-40B4-BE49-F238E27FC236}">
                <a16:creationId xmlns:a16="http://schemas.microsoft.com/office/drawing/2014/main" id="{A1C6DBDE-0268-4A08-8D41-0257B881150D}"/>
              </a:ext>
            </a:extLst>
          </p:cNvPr>
          <p:cNvSpPr>
            <a:spLocks noGrp="1"/>
          </p:cNvSpPr>
          <p:nvPr/>
        </p:nvSpPr>
        <p:spPr>
          <a:xfrm>
            <a:off x="4705350" y="3324225"/>
            <a:ext cx="3086100" cy="381000"/>
          </a:xfrm>
          <a:prstGeom prst="rect">
            <a:avLst/>
          </a:prstGeom>
          <a:noFill/>
          <a:ln w="0">
            <a:noFill/>
            <a:prstDash val="solid"/>
          </a:ln>
        </p:spPr>
        <p:txBody>
          <a:bodyPr wrap="square" lIns="0" tIns="0" rIns="0" bIns="0" anchor="ctr">
            <a:normAutofit fontScale="93903" lnSpcReduction="10000"/>
          </a:bodyPr>
          <a:lstStyle/>
          <a:p>
            <a:pPr algn="l">
              <a:lnSpc>
                <a:spcPct val="116000"/>
              </a:lnSpc>
              <a:buNone/>
              <a:defRPr sz="1275" b="0">
                <a:solidFill>
                  <a:srgbClr val="64748B"/>
                </a:solidFill>
                <a:latin typeface="Inter"/>
                <a:ea typeface="Inter"/>
                <a:cs typeface="Inter"/>
              </a:defRPr>
            </a:pPr>
            <a:r>
              <a:rPr sz="1275" b="0">
                <a:solidFill>
                  <a:srgbClr val="64748B"/>
                </a:solidFill>
                <a:latin typeface="Inter"/>
                <a:ea typeface="Inter"/>
                <a:cs typeface="Inter"/>
              </a:rPr>
              <a:t>Discover, compare, brief and report with clearer proof.</a:t>
            </a:r>
          </a:p>
        </p:txBody>
      </p:sp>
      <p:sp>
        <p:nvSpPr>
          <p:cNvPr id="41" name="page-card-2">
            <a:extLst>
              <a:ext uri="{FF2B5EF4-FFF2-40B4-BE49-F238E27FC236}">
                <a16:creationId xmlns:a16="http://schemas.microsoft.com/office/drawing/2014/main" id="{B362049A-3341-475A-B7C6-4E97CFA3BD52}"/>
              </a:ext>
            </a:extLst>
          </p:cNvPr>
          <p:cNvSpPr>
            <a:spLocks noGrp="1"/>
          </p:cNvSpPr>
          <p:nvPr/>
        </p:nvSpPr>
        <p:spPr>
          <a:xfrm>
            <a:off x="8305800" y="2343150"/>
            <a:ext cx="3543300" cy="1504950"/>
          </a:xfrm>
          <a:prstGeom prst="roundRect">
            <a:avLst>
              <a:gd name="adj" fmla="val 12658"/>
            </a:avLst>
          </a:prstGeom>
          <a:solidFill>
            <a:srgbClr val="EEF3FF"/>
          </a:solidFill>
          <a:ln w="9525">
            <a:solidFill>
              <a:srgbClr val="FFFFFF">
                <a:alpha val="60000"/>
              </a:srgbClr>
            </a:solidFill>
            <a:prstDash val="solid"/>
          </a:ln>
        </p:spPr>
        <p:style>
          <a:lnRef idx="0">
            <a:scrgbClr r="0" g="0" b="0"/>
          </a:lnRef>
          <a:fillRef idx="0">
            <a:scrgbClr r="0" g="0" b="0"/>
          </a:fillRef>
          <a:effectRef idx="4">
            <a:scrgbClr r="0" g="0" b="0"/>
          </a:effectRef>
          <a:fontRef idx="major"/>
        </p:style>
        <p:txBody>
          <a:bodyPr/>
          <a:lstStyle/>
          <a:p>
            <a:endParaRPr lang="en-SG"/>
          </a:p>
        </p:txBody>
      </p:sp>
      <p:sp>
        <p:nvSpPr>
          <p:cNvPr id="42" name="page-index-2">
            <a:extLst>
              <a:ext uri="{FF2B5EF4-FFF2-40B4-BE49-F238E27FC236}">
                <a16:creationId xmlns:a16="http://schemas.microsoft.com/office/drawing/2014/main" id="{150D30B6-38F5-4642-927F-75F6FFDFC591}"/>
              </a:ext>
            </a:extLst>
          </p:cNvPr>
          <p:cNvSpPr>
            <a:spLocks noGrp="1"/>
          </p:cNvSpPr>
          <p:nvPr/>
        </p:nvSpPr>
        <p:spPr>
          <a:xfrm>
            <a:off x="8534400" y="2552700"/>
            <a:ext cx="533400" cy="266700"/>
          </a:xfrm>
          <a:prstGeom prst="rect">
            <a:avLst/>
          </a:prstGeom>
          <a:noFill/>
          <a:ln w="0">
            <a:noFill/>
            <a:prstDash val="solid"/>
          </a:ln>
        </p:spPr>
        <p:txBody>
          <a:bodyPr wrap="square" lIns="0" tIns="0" rIns="0" bIns="0" anchor="t">
            <a:normAutofit/>
          </a:bodyPr>
          <a:lstStyle/>
          <a:p>
            <a:pPr algn="l">
              <a:lnSpc>
                <a:spcPct val="112000"/>
              </a:lnSpc>
              <a:buNone/>
              <a:defRPr sz="1275" b="1">
                <a:solidFill>
                  <a:srgbClr val="7C5CFC"/>
                </a:solidFill>
                <a:latin typeface="Inter"/>
                <a:ea typeface="Inter"/>
                <a:cs typeface="Inter"/>
              </a:defRPr>
            </a:pPr>
            <a:r>
              <a:rPr sz="1275" b="1">
                <a:solidFill>
                  <a:srgbClr val="7C5CFC"/>
                </a:solidFill>
                <a:latin typeface="Inter"/>
                <a:ea typeface="Inter"/>
                <a:cs typeface="Inter"/>
              </a:rPr>
              <a:t>03</a:t>
            </a:r>
          </a:p>
        </p:txBody>
      </p:sp>
      <p:sp>
        <p:nvSpPr>
          <p:cNvPr id="43" name="page-title-2">
            <a:extLst>
              <a:ext uri="{FF2B5EF4-FFF2-40B4-BE49-F238E27FC236}">
                <a16:creationId xmlns:a16="http://schemas.microsoft.com/office/drawing/2014/main" id="{FB432B97-94B5-4508-BBEF-75639517FC37}"/>
              </a:ext>
            </a:extLst>
          </p:cNvPr>
          <p:cNvSpPr>
            <a:spLocks noGrp="1"/>
          </p:cNvSpPr>
          <p:nvPr/>
        </p:nvSpPr>
        <p:spPr>
          <a:xfrm>
            <a:off x="8534400" y="2914650"/>
            <a:ext cx="3086100" cy="361950"/>
          </a:xfrm>
          <a:prstGeom prst="rect">
            <a:avLst/>
          </a:prstGeom>
          <a:noFill/>
          <a:ln w="0">
            <a:noFill/>
            <a:prstDash val="solid"/>
          </a:ln>
        </p:spPr>
        <p:txBody>
          <a:bodyPr wrap="square" lIns="0" tIns="0" rIns="0" bIns="0" anchor="ctr">
            <a:normAutofit/>
          </a:bodyPr>
          <a:lstStyle/>
          <a:p>
            <a:pPr algn="l">
              <a:lnSpc>
                <a:spcPct val="112000"/>
              </a:lnSpc>
              <a:buNone/>
              <a:defRPr sz="1725" b="1">
                <a:solidFill>
                  <a:srgbClr val="1E293B"/>
                </a:solidFill>
                <a:latin typeface="Inter"/>
                <a:ea typeface="Inter"/>
                <a:cs typeface="Inter"/>
              </a:defRPr>
            </a:pPr>
            <a:r>
              <a:rPr sz="1725" b="1">
                <a:solidFill>
                  <a:srgbClr val="1E293B"/>
                </a:solidFill>
                <a:latin typeface="Inter"/>
                <a:ea typeface="Inter"/>
                <a:cs typeface="Inter"/>
              </a:rPr>
              <a:t>For Creators</a:t>
            </a:r>
          </a:p>
        </p:txBody>
      </p:sp>
      <p:sp>
        <p:nvSpPr>
          <p:cNvPr id="44" name="page-body-2">
            <a:extLst>
              <a:ext uri="{FF2B5EF4-FFF2-40B4-BE49-F238E27FC236}">
                <a16:creationId xmlns:a16="http://schemas.microsoft.com/office/drawing/2014/main" id="{2D7175FF-8ED9-4E02-B021-1FB9852ADAAB}"/>
              </a:ext>
            </a:extLst>
          </p:cNvPr>
          <p:cNvSpPr>
            <a:spLocks noGrp="1"/>
          </p:cNvSpPr>
          <p:nvPr/>
        </p:nvSpPr>
        <p:spPr>
          <a:xfrm>
            <a:off x="8534400" y="3324225"/>
            <a:ext cx="3086100" cy="381000"/>
          </a:xfrm>
          <a:prstGeom prst="rect">
            <a:avLst/>
          </a:prstGeom>
          <a:noFill/>
          <a:ln w="0">
            <a:noFill/>
            <a:prstDash val="solid"/>
          </a:ln>
        </p:spPr>
        <p:txBody>
          <a:bodyPr wrap="square" lIns="0" tIns="0" rIns="0" bIns="0" anchor="ctr">
            <a:normAutofit fontScale="92016" lnSpcReduction="10000"/>
          </a:bodyPr>
          <a:lstStyle/>
          <a:p>
            <a:pPr algn="l">
              <a:lnSpc>
                <a:spcPct val="116000"/>
              </a:lnSpc>
              <a:buNone/>
              <a:defRPr sz="1275" b="0">
                <a:solidFill>
                  <a:srgbClr val="64748B"/>
                </a:solidFill>
                <a:latin typeface="Inter"/>
                <a:ea typeface="Inter"/>
                <a:cs typeface="Inter"/>
              </a:defRPr>
            </a:pPr>
            <a:r>
              <a:rPr sz="1275" b="0">
                <a:solidFill>
                  <a:srgbClr val="64748B"/>
                </a:solidFill>
                <a:latin typeface="Inter"/>
                <a:ea typeface="Inter"/>
                <a:cs typeface="Inter"/>
              </a:rPr>
              <a:t>Verified stats, rate cards, deals and professional growth.</a:t>
            </a:r>
          </a:p>
        </p:txBody>
      </p:sp>
      <p:sp>
        <p:nvSpPr>
          <p:cNvPr id="45" name="page-card-3">
            <a:extLst>
              <a:ext uri="{FF2B5EF4-FFF2-40B4-BE49-F238E27FC236}">
                <a16:creationId xmlns:a16="http://schemas.microsoft.com/office/drawing/2014/main" id="{4E570D94-EB49-419B-A08E-D4B95B8460FE}"/>
              </a:ext>
            </a:extLst>
          </p:cNvPr>
          <p:cNvSpPr>
            <a:spLocks noGrp="1"/>
          </p:cNvSpPr>
          <p:nvPr/>
        </p:nvSpPr>
        <p:spPr>
          <a:xfrm>
            <a:off x="647700" y="4095750"/>
            <a:ext cx="3543300" cy="1504950"/>
          </a:xfrm>
          <a:prstGeom prst="roundRect">
            <a:avLst>
              <a:gd name="adj" fmla="val 12658"/>
            </a:avLst>
          </a:prstGeom>
          <a:solidFill>
            <a:srgbClr val="FFF7E6"/>
          </a:solidFill>
          <a:ln w="9525">
            <a:solidFill>
              <a:srgbClr val="FFFFFF">
                <a:alpha val="60000"/>
              </a:srgbClr>
            </a:solidFill>
            <a:prstDash val="solid"/>
          </a:ln>
        </p:spPr>
        <p:style>
          <a:lnRef idx="0">
            <a:scrgbClr r="0" g="0" b="0"/>
          </a:lnRef>
          <a:fillRef idx="0">
            <a:scrgbClr r="0" g="0" b="0"/>
          </a:fillRef>
          <a:effectRef idx="4">
            <a:scrgbClr r="0" g="0" b="0"/>
          </a:effectRef>
          <a:fontRef idx="major"/>
        </p:style>
        <p:txBody>
          <a:bodyPr/>
          <a:lstStyle/>
          <a:p>
            <a:endParaRPr lang="en-SG"/>
          </a:p>
        </p:txBody>
      </p:sp>
      <p:sp>
        <p:nvSpPr>
          <p:cNvPr id="46" name="page-index-3">
            <a:extLst>
              <a:ext uri="{FF2B5EF4-FFF2-40B4-BE49-F238E27FC236}">
                <a16:creationId xmlns:a16="http://schemas.microsoft.com/office/drawing/2014/main" id="{67958E79-C1EE-412B-B4EE-D00D7AF59C69}"/>
              </a:ext>
            </a:extLst>
          </p:cNvPr>
          <p:cNvSpPr>
            <a:spLocks noGrp="1"/>
          </p:cNvSpPr>
          <p:nvPr/>
        </p:nvSpPr>
        <p:spPr>
          <a:xfrm>
            <a:off x="876300" y="4305300"/>
            <a:ext cx="533400" cy="266700"/>
          </a:xfrm>
          <a:prstGeom prst="rect">
            <a:avLst/>
          </a:prstGeom>
          <a:noFill/>
          <a:ln w="0">
            <a:noFill/>
            <a:prstDash val="solid"/>
          </a:ln>
        </p:spPr>
        <p:txBody>
          <a:bodyPr wrap="square" lIns="0" tIns="0" rIns="0" bIns="0" anchor="t">
            <a:normAutofit/>
          </a:bodyPr>
          <a:lstStyle/>
          <a:p>
            <a:pPr algn="l">
              <a:lnSpc>
                <a:spcPct val="112000"/>
              </a:lnSpc>
              <a:buNone/>
              <a:defRPr sz="1275" b="1">
                <a:solidFill>
                  <a:srgbClr val="7C5CFC"/>
                </a:solidFill>
                <a:latin typeface="Inter"/>
                <a:ea typeface="Inter"/>
                <a:cs typeface="Inter"/>
              </a:defRPr>
            </a:pPr>
            <a:r>
              <a:rPr sz="1275" b="1">
                <a:solidFill>
                  <a:srgbClr val="7C5CFC"/>
                </a:solidFill>
                <a:latin typeface="Inter"/>
                <a:ea typeface="Inter"/>
                <a:cs typeface="Inter"/>
              </a:rPr>
              <a:t>04</a:t>
            </a:r>
          </a:p>
        </p:txBody>
      </p:sp>
      <p:sp>
        <p:nvSpPr>
          <p:cNvPr id="47" name="page-title-3">
            <a:extLst>
              <a:ext uri="{FF2B5EF4-FFF2-40B4-BE49-F238E27FC236}">
                <a16:creationId xmlns:a16="http://schemas.microsoft.com/office/drawing/2014/main" id="{C6B6F19E-F70F-4016-AD42-69A2560D45BD}"/>
              </a:ext>
            </a:extLst>
          </p:cNvPr>
          <p:cNvSpPr>
            <a:spLocks noGrp="1"/>
          </p:cNvSpPr>
          <p:nvPr/>
        </p:nvSpPr>
        <p:spPr>
          <a:xfrm>
            <a:off x="876300" y="4667250"/>
            <a:ext cx="3086100" cy="361950"/>
          </a:xfrm>
          <a:prstGeom prst="rect">
            <a:avLst/>
          </a:prstGeom>
          <a:noFill/>
          <a:ln w="0">
            <a:noFill/>
            <a:prstDash val="solid"/>
          </a:ln>
        </p:spPr>
        <p:txBody>
          <a:bodyPr wrap="square" lIns="0" tIns="0" rIns="0" bIns="0" anchor="ctr">
            <a:normAutofit/>
          </a:bodyPr>
          <a:lstStyle/>
          <a:p>
            <a:pPr algn="l">
              <a:lnSpc>
                <a:spcPct val="112000"/>
              </a:lnSpc>
              <a:buNone/>
              <a:defRPr sz="1725" b="1">
                <a:solidFill>
                  <a:srgbClr val="1E293B"/>
                </a:solidFill>
                <a:latin typeface="Inter"/>
                <a:ea typeface="Inter"/>
                <a:cs typeface="Inter"/>
              </a:defRPr>
            </a:pPr>
            <a:r>
              <a:rPr sz="1725" b="1">
                <a:solidFill>
                  <a:srgbClr val="1E293B"/>
                </a:solidFill>
                <a:latin typeface="Inter"/>
                <a:ea typeface="Inter"/>
                <a:cs typeface="Inter"/>
              </a:rPr>
              <a:t>Creator Directory</a:t>
            </a:r>
          </a:p>
        </p:txBody>
      </p:sp>
      <p:sp>
        <p:nvSpPr>
          <p:cNvPr id="48" name="page-body-3">
            <a:extLst>
              <a:ext uri="{FF2B5EF4-FFF2-40B4-BE49-F238E27FC236}">
                <a16:creationId xmlns:a16="http://schemas.microsoft.com/office/drawing/2014/main" id="{904BDE54-0F9C-4FA2-990C-6D36151C4BD8}"/>
              </a:ext>
            </a:extLst>
          </p:cNvPr>
          <p:cNvSpPr>
            <a:spLocks noGrp="1"/>
          </p:cNvSpPr>
          <p:nvPr/>
        </p:nvSpPr>
        <p:spPr>
          <a:xfrm>
            <a:off x="876300" y="5076825"/>
            <a:ext cx="3086100" cy="381000"/>
          </a:xfrm>
          <a:prstGeom prst="rect">
            <a:avLst/>
          </a:prstGeom>
          <a:noFill/>
          <a:ln w="0">
            <a:noFill/>
            <a:prstDash val="solid"/>
          </a:ln>
        </p:spPr>
        <p:txBody>
          <a:bodyPr wrap="square" lIns="0" tIns="0" rIns="0" bIns="0" anchor="ctr">
            <a:normAutofit fontScale="95991"/>
          </a:bodyPr>
          <a:lstStyle/>
          <a:p>
            <a:pPr algn="l">
              <a:lnSpc>
                <a:spcPct val="116000"/>
              </a:lnSpc>
              <a:buNone/>
              <a:defRPr sz="1275" b="0">
                <a:solidFill>
                  <a:srgbClr val="64748B"/>
                </a:solidFill>
                <a:latin typeface="Inter"/>
                <a:ea typeface="Inter"/>
                <a:cs typeface="Inter"/>
              </a:defRPr>
            </a:pPr>
            <a:r>
              <a:rPr sz="1275" b="0">
                <a:solidFill>
                  <a:srgbClr val="64748B"/>
                </a:solidFill>
                <a:latin typeface="Inter"/>
                <a:ea typeface="Inter"/>
                <a:cs typeface="Inter"/>
              </a:rPr>
              <a:t>Local filters, trust indicators and useful discovery.</a:t>
            </a:r>
          </a:p>
        </p:txBody>
      </p:sp>
      <p:sp>
        <p:nvSpPr>
          <p:cNvPr id="49" name="page-card-4">
            <a:extLst>
              <a:ext uri="{FF2B5EF4-FFF2-40B4-BE49-F238E27FC236}">
                <a16:creationId xmlns:a16="http://schemas.microsoft.com/office/drawing/2014/main" id="{C9874A8A-517A-419A-9F37-6526DF368D45}"/>
              </a:ext>
            </a:extLst>
          </p:cNvPr>
          <p:cNvSpPr>
            <a:spLocks noGrp="1"/>
          </p:cNvSpPr>
          <p:nvPr/>
        </p:nvSpPr>
        <p:spPr>
          <a:xfrm>
            <a:off x="4476750" y="4095750"/>
            <a:ext cx="3543300" cy="1504950"/>
          </a:xfrm>
          <a:prstGeom prst="roundRect">
            <a:avLst>
              <a:gd name="adj" fmla="val 12658"/>
            </a:avLst>
          </a:prstGeom>
          <a:solidFill>
            <a:srgbClr val="F7EEFB"/>
          </a:solidFill>
          <a:ln w="9525">
            <a:solidFill>
              <a:srgbClr val="FFFFFF">
                <a:alpha val="60000"/>
              </a:srgbClr>
            </a:solidFill>
            <a:prstDash val="solid"/>
          </a:ln>
        </p:spPr>
        <p:style>
          <a:lnRef idx="0">
            <a:scrgbClr r="0" g="0" b="0"/>
          </a:lnRef>
          <a:fillRef idx="0">
            <a:scrgbClr r="0" g="0" b="0"/>
          </a:fillRef>
          <a:effectRef idx="4">
            <a:scrgbClr r="0" g="0" b="0"/>
          </a:effectRef>
          <a:fontRef idx="major"/>
        </p:style>
        <p:txBody>
          <a:bodyPr/>
          <a:lstStyle/>
          <a:p>
            <a:endParaRPr lang="en-SG"/>
          </a:p>
        </p:txBody>
      </p:sp>
      <p:sp>
        <p:nvSpPr>
          <p:cNvPr id="50" name="page-index-4">
            <a:extLst>
              <a:ext uri="{FF2B5EF4-FFF2-40B4-BE49-F238E27FC236}">
                <a16:creationId xmlns:a16="http://schemas.microsoft.com/office/drawing/2014/main" id="{5EE56144-BF1D-4ED8-B5C5-08E86AD9898A}"/>
              </a:ext>
            </a:extLst>
          </p:cNvPr>
          <p:cNvSpPr>
            <a:spLocks noGrp="1"/>
          </p:cNvSpPr>
          <p:nvPr/>
        </p:nvSpPr>
        <p:spPr>
          <a:xfrm>
            <a:off x="4705350" y="4305300"/>
            <a:ext cx="533400" cy="266700"/>
          </a:xfrm>
          <a:prstGeom prst="rect">
            <a:avLst/>
          </a:prstGeom>
          <a:noFill/>
          <a:ln w="0">
            <a:noFill/>
            <a:prstDash val="solid"/>
          </a:ln>
        </p:spPr>
        <p:txBody>
          <a:bodyPr wrap="square" lIns="0" tIns="0" rIns="0" bIns="0" anchor="t">
            <a:normAutofit/>
          </a:bodyPr>
          <a:lstStyle/>
          <a:p>
            <a:pPr algn="l">
              <a:lnSpc>
                <a:spcPct val="112000"/>
              </a:lnSpc>
              <a:buNone/>
              <a:defRPr sz="1275" b="1">
                <a:solidFill>
                  <a:srgbClr val="7C5CFC"/>
                </a:solidFill>
                <a:latin typeface="Inter"/>
                <a:ea typeface="Inter"/>
                <a:cs typeface="Inter"/>
              </a:defRPr>
            </a:pPr>
            <a:r>
              <a:rPr sz="1275" b="1">
                <a:solidFill>
                  <a:srgbClr val="7C5CFC"/>
                </a:solidFill>
                <a:latin typeface="Inter"/>
                <a:ea typeface="Inter"/>
                <a:cs typeface="Inter"/>
              </a:rPr>
              <a:t>05</a:t>
            </a:r>
          </a:p>
        </p:txBody>
      </p:sp>
      <p:sp>
        <p:nvSpPr>
          <p:cNvPr id="51" name="page-title-4">
            <a:extLst>
              <a:ext uri="{FF2B5EF4-FFF2-40B4-BE49-F238E27FC236}">
                <a16:creationId xmlns:a16="http://schemas.microsoft.com/office/drawing/2014/main" id="{B80B34BB-53FD-4A93-8DCA-73C729BB5F77}"/>
              </a:ext>
            </a:extLst>
          </p:cNvPr>
          <p:cNvSpPr>
            <a:spLocks noGrp="1"/>
          </p:cNvSpPr>
          <p:nvPr/>
        </p:nvSpPr>
        <p:spPr>
          <a:xfrm>
            <a:off x="4705350" y="4667250"/>
            <a:ext cx="3086100" cy="361950"/>
          </a:xfrm>
          <a:prstGeom prst="rect">
            <a:avLst/>
          </a:prstGeom>
          <a:noFill/>
          <a:ln w="0">
            <a:noFill/>
            <a:prstDash val="solid"/>
          </a:ln>
        </p:spPr>
        <p:txBody>
          <a:bodyPr wrap="square" lIns="0" tIns="0" rIns="0" bIns="0" anchor="ctr">
            <a:normAutofit/>
          </a:bodyPr>
          <a:lstStyle/>
          <a:p>
            <a:pPr algn="l">
              <a:lnSpc>
                <a:spcPct val="112000"/>
              </a:lnSpc>
              <a:buNone/>
              <a:defRPr sz="1725" b="1">
                <a:solidFill>
                  <a:srgbClr val="1E293B"/>
                </a:solidFill>
                <a:latin typeface="Inter"/>
                <a:ea typeface="Inter"/>
                <a:cs typeface="Inter"/>
              </a:defRPr>
            </a:pPr>
            <a:r>
              <a:rPr sz="1725" b="1">
                <a:solidFill>
                  <a:srgbClr val="1E293B"/>
                </a:solidFill>
                <a:latin typeface="Inter"/>
                <a:ea typeface="Inter"/>
                <a:cs typeface="Inter"/>
              </a:rPr>
              <a:t>Creator Profile</a:t>
            </a:r>
          </a:p>
        </p:txBody>
      </p:sp>
      <p:sp>
        <p:nvSpPr>
          <p:cNvPr id="52" name="page-body-4">
            <a:extLst>
              <a:ext uri="{FF2B5EF4-FFF2-40B4-BE49-F238E27FC236}">
                <a16:creationId xmlns:a16="http://schemas.microsoft.com/office/drawing/2014/main" id="{B39201BE-90E9-41AD-ABDA-9975DE6864C3}"/>
              </a:ext>
            </a:extLst>
          </p:cNvPr>
          <p:cNvSpPr>
            <a:spLocks noGrp="1"/>
          </p:cNvSpPr>
          <p:nvPr/>
        </p:nvSpPr>
        <p:spPr>
          <a:xfrm>
            <a:off x="4705350" y="5076825"/>
            <a:ext cx="3086100" cy="381000"/>
          </a:xfrm>
          <a:prstGeom prst="rect">
            <a:avLst/>
          </a:prstGeom>
          <a:noFill/>
          <a:ln w="0">
            <a:noFill/>
            <a:prstDash val="solid"/>
          </a:ln>
        </p:spPr>
        <p:txBody>
          <a:bodyPr wrap="square" lIns="0" tIns="0" rIns="0" bIns="0" anchor="ctr">
            <a:normAutofit fontScale="92016" lnSpcReduction="10000"/>
          </a:bodyPr>
          <a:lstStyle/>
          <a:p>
            <a:pPr algn="l">
              <a:lnSpc>
                <a:spcPct val="116000"/>
              </a:lnSpc>
              <a:buNone/>
              <a:defRPr sz="1275" b="0">
                <a:solidFill>
                  <a:srgbClr val="64748B"/>
                </a:solidFill>
                <a:latin typeface="Inter"/>
                <a:ea typeface="Inter"/>
                <a:cs typeface="Inter"/>
              </a:defRPr>
            </a:pPr>
            <a:r>
              <a:rPr sz="1275" b="0">
                <a:solidFill>
                  <a:srgbClr val="64748B"/>
                </a:solidFill>
                <a:latin typeface="Inter"/>
                <a:ea typeface="Inter"/>
                <a:cs typeface="Inter"/>
              </a:rPr>
              <a:t>Performance, rate guidance and clearly labeled sample data.</a:t>
            </a:r>
          </a:p>
        </p:txBody>
      </p:sp>
      <p:sp>
        <p:nvSpPr>
          <p:cNvPr id="53" name="page-card-5">
            <a:extLst>
              <a:ext uri="{FF2B5EF4-FFF2-40B4-BE49-F238E27FC236}">
                <a16:creationId xmlns:a16="http://schemas.microsoft.com/office/drawing/2014/main" id="{1E212760-B6F7-4F47-981E-82F5484A8EF2}"/>
              </a:ext>
            </a:extLst>
          </p:cNvPr>
          <p:cNvSpPr>
            <a:spLocks noGrp="1"/>
          </p:cNvSpPr>
          <p:nvPr/>
        </p:nvSpPr>
        <p:spPr>
          <a:xfrm>
            <a:off x="8305800" y="4095750"/>
            <a:ext cx="3543300" cy="1504950"/>
          </a:xfrm>
          <a:prstGeom prst="roundRect">
            <a:avLst>
              <a:gd name="adj" fmla="val 12658"/>
            </a:avLst>
          </a:prstGeom>
          <a:solidFill>
            <a:srgbClr val="EEF3FF"/>
          </a:solidFill>
          <a:ln w="9525">
            <a:solidFill>
              <a:srgbClr val="FFFFFF">
                <a:alpha val="60000"/>
              </a:srgbClr>
            </a:solidFill>
            <a:prstDash val="solid"/>
          </a:ln>
        </p:spPr>
        <p:style>
          <a:lnRef idx="0">
            <a:scrgbClr r="0" g="0" b="0"/>
          </a:lnRef>
          <a:fillRef idx="0">
            <a:scrgbClr r="0" g="0" b="0"/>
          </a:fillRef>
          <a:effectRef idx="4">
            <a:scrgbClr r="0" g="0" b="0"/>
          </a:effectRef>
          <a:fontRef idx="major"/>
        </p:style>
        <p:txBody>
          <a:bodyPr/>
          <a:lstStyle/>
          <a:p>
            <a:endParaRPr lang="en-SG"/>
          </a:p>
        </p:txBody>
      </p:sp>
      <p:sp>
        <p:nvSpPr>
          <p:cNvPr id="54" name="page-index-5">
            <a:extLst>
              <a:ext uri="{FF2B5EF4-FFF2-40B4-BE49-F238E27FC236}">
                <a16:creationId xmlns:a16="http://schemas.microsoft.com/office/drawing/2014/main" id="{DCE81BBC-929D-4ACE-82C9-BDB3FB7CE521}"/>
              </a:ext>
            </a:extLst>
          </p:cNvPr>
          <p:cNvSpPr>
            <a:spLocks noGrp="1"/>
          </p:cNvSpPr>
          <p:nvPr/>
        </p:nvSpPr>
        <p:spPr>
          <a:xfrm>
            <a:off x="8534400" y="4305300"/>
            <a:ext cx="533400" cy="266700"/>
          </a:xfrm>
          <a:prstGeom prst="rect">
            <a:avLst/>
          </a:prstGeom>
          <a:noFill/>
          <a:ln w="0">
            <a:noFill/>
            <a:prstDash val="solid"/>
          </a:ln>
        </p:spPr>
        <p:txBody>
          <a:bodyPr wrap="square" lIns="0" tIns="0" rIns="0" bIns="0" anchor="t">
            <a:normAutofit/>
          </a:bodyPr>
          <a:lstStyle/>
          <a:p>
            <a:pPr algn="l">
              <a:lnSpc>
                <a:spcPct val="112000"/>
              </a:lnSpc>
              <a:buNone/>
              <a:defRPr sz="1275" b="1">
                <a:solidFill>
                  <a:srgbClr val="7C5CFC"/>
                </a:solidFill>
                <a:latin typeface="Inter"/>
                <a:ea typeface="Inter"/>
                <a:cs typeface="Inter"/>
              </a:defRPr>
            </a:pPr>
            <a:r>
              <a:rPr sz="1275" b="1">
                <a:solidFill>
                  <a:srgbClr val="7C5CFC"/>
                </a:solidFill>
                <a:latin typeface="Inter"/>
                <a:ea typeface="Inter"/>
                <a:cs typeface="Inter"/>
              </a:rPr>
              <a:t>06</a:t>
            </a:r>
          </a:p>
        </p:txBody>
      </p:sp>
      <p:sp>
        <p:nvSpPr>
          <p:cNvPr id="55" name="page-title-5">
            <a:extLst>
              <a:ext uri="{FF2B5EF4-FFF2-40B4-BE49-F238E27FC236}">
                <a16:creationId xmlns:a16="http://schemas.microsoft.com/office/drawing/2014/main" id="{AF7AF46A-E162-4ED3-AC1B-6499F7FA2EAD}"/>
              </a:ext>
            </a:extLst>
          </p:cNvPr>
          <p:cNvSpPr>
            <a:spLocks noGrp="1"/>
          </p:cNvSpPr>
          <p:nvPr/>
        </p:nvSpPr>
        <p:spPr>
          <a:xfrm>
            <a:off x="8534400" y="4667250"/>
            <a:ext cx="3086100" cy="361950"/>
          </a:xfrm>
          <a:prstGeom prst="rect">
            <a:avLst/>
          </a:prstGeom>
          <a:noFill/>
          <a:ln w="0">
            <a:noFill/>
            <a:prstDash val="solid"/>
          </a:ln>
        </p:spPr>
        <p:txBody>
          <a:bodyPr wrap="square" lIns="0" tIns="0" rIns="0" bIns="0" anchor="ctr">
            <a:normAutofit/>
          </a:bodyPr>
          <a:lstStyle/>
          <a:p>
            <a:pPr algn="l">
              <a:lnSpc>
                <a:spcPct val="112000"/>
              </a:lnSpc>
              <a:buNone/>
              <a:defRPr sz="1725" b="1">
                <a:solidFill>
                  <a:srgbClr val="1E293B"/>
                </a:solidFill>
                <a:latin typeface="Inter"/>
                <a:ea typeface="Inter"/>
                <a:cs typeface="Inter"/>
              </a:defRPr>
            </a:pPr>
            <a:r>
              <a:rPr sz="1725" b="1">
                <a:solidFill>
                  <a:srgbClr val="1E293B"/>
                </a:solidFill>
                <a:latin typeface="Inter"/>
                <a:ea typeface="Inter"/>
                <a:cs typeface="Inter"/>
              </a:rPr>
              <a:t>Pricing + Trust Check</a:t>
            </a:r>
          </a:p>
        </p:txBody>
      </p:sp>
      <p:sp>
        <p:nvSpPr>
          <p:cNvPr id="56" name="page-body-5">
            <a:extLst>
              <a:ext uri="{FF2B5EF4-FFF2-40B4-BE49-F238E27FC236}">
                <a16:creationId xmlns:a16="http://schemas.microsoft.com/office/drawing/2014/main" id="{24155414-A48F-44DF-ABA0-0EAF7EB50F8C}"/>
              </a:ext>
            </a:extLst>
          </p:cNvPr>
          <p:cNvSpPr>
            <a:spLocks noGrp="1"/>
          </p:cNvSpPr>
          <p:nvPr/>
        </p:nvSpPr>
        <p:spPr>
          <a:xfrm>
            <a:off x="8534400" y="5076825"/>
            <a:ext cx="3086100" cy="381000"/>
          </a:xfrm>
          <a:prstGeom prst="rect">
            <a:avLst/>
          </a:prstGeom>
          <a:noFill/>
          <a:ln w="0">
            <a:noFill/>
            <a:prstDash val="solid"/>
          </a:ln>
        </p:spPr>
        <p:txBody>
          <a:bodyPr wrap="square" lIns="0" tIns="0" rIns="0" bIns="0" anchor="ctr">
            <a:normAutofit fontScale="97444"/>
          </a:bodyPr>
          <a:lstStyle/>
          <a:p>
            <a:pPr algn="l">
              <a:lnSpc>
                <a:spcPct val="116000"/>
              </a:lnSpc>
              <a:buNone/>
              <a:defRPr sz="1275" b="0">
                <a:solidFill>
                  <a:srgbClr val="64748B"/>
                </a:solidFill>
                <a:latin typeface="Inter"/>
                <a:ea typeface="Inter"/>
                <a:cs typeface="Inter"/>
              </a:defRPr>
            </a:pPr>
            <a:r>
              <a:rPr sz="1275" b="0">
                <a:solidFill>
                  <a:srgbClr val="64748B"/>
                </a:solidFill>
                <a:latin typeface="Inter"/>
                <a:ea typeface="Inter"/>
                <a:cs typeface="Inter"/>
              </a:rPr>
              <a:t>One price set; beta capabilities labeled honestly.</a:t>
            </a:r>
          </a:p>
        </p:txBody>
      </p:sp>
      <p:sp>
        <p:nvSpPr>
          <p:cNvPr id="57" name="footer-brand">
            <a:extLst>
              <a:ext uri="{FF2B5EF4-FFF2-40B4-BE49-F238E27FC236}">
                <a16:creationId xmlns:a16="http://schemas.microsoft.com/office/drawing/2014/main" id="{DB0920E5-B5FB-4827-ABF8-8A108467BE02}"/>
              </a:ext>
            </a:extLst>
          </p:cNvPr>
          <p:cNvSpPr>
            <a:spLocks noGrp="1"/>
          </p:cNvSpPr>
          <p:nvPr/>
        </p:nvSpPr>
        <p:spPr>
          <a:xfrm>
            <a:off x="533400" y="6457950"/>
            <a:ext cx="1714500" cy="190500"/>
          </a:xfrm>
          <a:prstGeom prst="rect">
            <a:avLst/>
          </a:prstGeom>
          <a:noFill/>
          <a:ln w="0">
            <a:noFill/>
            <a:prstDash val="solid"/>
          </a:ln>
        </p:spPr>
        <p:txBody>
          <a:bodyPr wrap="square" lIns="0" tIns="0" rIns="0" bIns="0" anchor="ctr">
            <a:normAutofit/>
          </a:bodyPr>
          <a:lstStyle/>
          <a:p>
            <a:pPr algn="l">
              <a:lnSpc>
                <a:spcPct val="112000"/>
              </a:lnSpc>
              <a:buNone/>
              <a:defRPr sz="975" b="1">
                <a:solidFill>
                  <a:srgbClr val="94A3B8"/>
                </a:solidFill>
                <a:latin typeface="Inter"/>
                <a:ea typeface="Inter"/>
                <a:cs typeface="Inter"/>
              </a:defRPr>
            </a:pPr>
            <a:r>
              <a:rPr sz="975" b="1">
                <a:solidFill>
                  <a:srgbClr val="94A3B8"/>
                </a:solidFill>
                <a:latin typeface="Inter"/>
                <a:ea typeface="Inter"/>
                <a:cs typeface="Inter"/>
              </a:rPr>
              <a:t>INFLUENCEES</a:t>
            </a:r>
          </a:p>
        </p:txBody>
      </p:sp>
      <p:sp>
        <p:nvSpPr>
          <p:cNvPr id="58" name="footer-page">
            <a:extLst>
              <a:ext uri="{FF2B5EF4-FFF2-40B4-BE49-F238E27FC236}">
                <a16:creationId xmlns:a16="http://schemas.microsoft.com/office/drawing/2014/main" id="{AC0255C4-A7A6-4565-AED6-9167F70F544A}"/>
              </a:ext>
            </a:extLst>
          </p:cNvPr>
          <p:cNvSpPr>
            <a:spLocks noGrp="1"/>
          </p:cNvSpPr>
          <p:nvPr/>
        </p:nvSpPr>
        <p:spPr>
          <a:xfrm>
            <a:off x="10572750" y="6457950"/>
            <a:ext cx="1085850" cy="190500"/>
          </a:xfrm>
          <a:prstGeom prst="rect">
            <a:avLst/>
          </a:prstGeom>
          <a:noFill/>
          <a:ln w="0">
            <a:noFill/>
            <a:prstDash val="solid"/>
          </a:ln>
        </p:spPr>
        <p:txBody>
          <a:bodyPr wrap="square" lIns="0" tIns="0" rIns="0" bIns="0" anchor="ctr">
            <a:normAutofit/>
          </a:bodyPr>
          <a:lstStyle/>
          <a:p>
            <a:pPr algn="r">
              <a:lnSpc>
                <a:spcPct val="112000"/>
              </a:lnSpc>
              <a:buNone/>
              <a:defRPr sz="975" b="1">
                <a:solidFill>
                  <a:srgbClr val="94A3B8"/>
                </a:solidFill>
                <a:latin typeface="Inter"/>
                <a:ea typeface="Inter"/>
                <a:cs typeface="Inter"/>
              </a:defRPr>
            </a:pPr>
            <a:r>
              <a:rPr sz="975" b="1">
                <a:solidFill>
                  <a:srgbClr val="94A3B8"/>
                </a:solidFill>
                <a:latin typeface="Inter"/>
                <a:ea typeface="Inter"/>
                <a:cs typeface="Inter"/>
              </a:rPr>
              <a:t>08 / 10</a:t>
            </a:r>
          </a:p>
        </p:txBody>
      </p:sp>
    </p:spTree>
    <p:extLst>
      <p:ext uri="{BB962C8B-B14F-4D97-AF65-F5344CB8AC3E}">
        <p14:creationId xmlns:p14="http://schemas.microsoft.com/office/powerpoint/2010/main" val="2715199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972F855D-0115-4068-9C9B-CA8B2681A293}"/>
              </a:ext>
            </a:extLst>
          </p:cNvPr>
          <p:cNvSpPr>
            <a:spLocks noGrp="1"/>
          </p:cNvSpPr>
          <p:nvPr/>
        </p:nvSpPr>
        <p:spPr>
          <a:xfrm>
            <a:off x="566928" y="457200"/>
            <a:ext cx="8229600" cy="274320"/>
          </a:xfrm>
          <a:prstGeom prst="rect">
            <a:avLst/>
          </a:prstGeom>
          <a:noFill/>
        </p:spPr>
        <p:txBody>
          <a:bodyPr wrap="square" lIns="0" tIns="0" rIns="0" bIns="0" anchor="ctr"/>
          <a:lstStyle/>
          <a:p>
            <a:pPr marL="0" indent="0" algn="l">
              <a:buNone/>
            </a:pPr>
            <a:r>
              <a:rPr sz="1150" b="1">
                <a:solidFill>
                  <a:srgbClr val="5A3EE0"/>
                </a:solidFill>
                <a:latin typeface="Arial"/>
                <a:ea typeface="Arial"/>
                <a:cs typeface="Arial"/>
              </a:rPr>
              <a:t>SOLUTION 02  ·  WHY IT WORKS</a:t>
            </a:r>
          </a:p>
        </p:txBody>
      </p:sp>
      <p:sp>
        <p:nvSpPr>
          <p:cNvPr id="3" name="Text 1">
            <a:extLst>
              <a:ext uri="{FF2B5EF4-FFF2-40B4-BE49-F238E27FC236}">
                <a16:creationId xmlns:a16="http://schemas.microsoft.com/office/drawing/2014/main" id="{B8CD5ED4-7744-4C2D-AA02-F07D505BA771}"/>
              </a:ext>
            </a:extLst>
          </p:cNvPr>
          <p:cNvSpPr>
            <a:spLocks noGrp="1"/>
          </p:cNvSpPr>
          <p:nvPr/>
        </p:nvSpPr>
        <p:spPr>
          <a:xfrm>
            <a:off x="566928" y="822960"/>
            <a:ext cx="10607040" cy="822960"/>
          </a:xfrm>
          <a:prstGeom prst="rect">
            <a:avLst/>
          </a:prstGeom>
          <a:noFill/>
        </p:spPr>
        <p:txBody>
          <a:bodyPr wrap="square" lIns="0" tIns="0" rIns="0" bIns="0" anchor="t"/>
          <a:lstStyle/>
          <a:p>
            <a:pPr marL="0" indent="0" algn="l">
              <a:lnSpc>
                <a:spcPct val="102000"/>
              </a:lnSpc>
              <a:buNone/>
            </a:pPr>
            <a:r>
              <a:rPr sz="2700" b="1">
                <a:solidFill>
                  <a:srgbClr val="0D0C0A"/>
                </a:solidFill>
                <a:latin typeface="Arial"/>
                <a:ea typeface="Arial"/>
                <a:cs typeface="Arial"/>
              </a:rPr>
              <a:t>The redesign fixes the journey, not just the paint.</a:t>
            </a:r>
          </a:p>
        </p:txBody>
      </p:sp>
      <p:sp>
        <p:nvSpPr>
          <p:cNvPr id="4" name="Shape 2">
            <a:extLst>
              <a:ext uri="{FF2B5EF4-FFF2-40B4-BE49-F238E27FC236}">
                <a16:creationId xmlns:a16="http://schemas.microsoft.com/office/drawing/2014/main" id="{3F8BB52C-F55B-4900-8A6E-AEAC51EFD723}"/>
              </a:ext>
            </a:extLst>
          </p:cNvPr>
          <p:cNvSpPr>
            <a:spLocks noGrp="1"/>
          </p:cNvSpPr>
          <p:nvPr/>
        </p:nvSpPr>
        <p:spPr>
          <a:xfrm>
            <a:off x="566928" y="2011680"/>
            <a:ext cx="3490874" cy="1783080"/>
          </a:xfrm>
          <a:prstGeom prst="roundRect">
            <a:avLst>
              <a:gd name="adj" fmla="val 2308"/>
            </a:avLst>
          </a:prstGeom>
          <a:solidFill>
            <a:srgbClr val="FFFFFF"/>
          </a:solidFill>
          <a:ln w="12700">
            <a:solidFill>
              <a:srgbClr val="E2DED6"/>
            </a:solidFill>
            <a:prstDash val="solid"/>
          </a:ln>
          <a:effectLst>
            <a:outerShdw blurRad="76200" dist="25400" dir="5400000" algn="bl" rotWithShape="0">
              <a:srgbClr val="C9C4BA">
                <a:alpha val="55000"/>
              </a:srgbClr>
            </a:outerShdw>
          </a:effectLst>
        </p:spPr>
        <p:txBody>
          <a:bodyPr/>
          <a:lstStyle/>
          <a:p>
            <a:endParaRPr lang="en-SG"/>
          </a:p>
        </p:txBody>
      </p:sp>
      <p:sp>
        <p:nvSpPr>
          <p:cNvPr id="5" name="Text 3">
            <a:extLst>
              <a:ext uri="{FF2B5EF4-FFF2-40B4-BE49-F238E27FC236}">
                <a16:creationId xmlns:a16="http://schemas.microsoft.com/office/drawing/2014/main" id="{4513BE61-E69C-4E22-9184-ED723322154D}"/>
              </a:ext>
            </a:extLst>
          </p:cNvPr>
          <p:cNvSpPr>
            <a:spLocks noGrp="1"/>
          </p:cNvSpPr>
          <p:nvPr/>
        </p:nvSpPr>
        <p:spPr>
          <a:xfrm>
            <a:off x="822960" y="2249424"/>
            <a:ext cx="365760" cy="365760"/>
          </a:xfrm>
          <a:prstGeom prst="ellipse">
            <a:avLst/>
          </a:prstGeom>
          <a:solidFill>
            <a:srgbClr val="1F9D57"/>
          </a:solidFill>
        </p:spPr>
        <p:txBody>
          <a:bodyPr wrap="square" lIns="0" tIns="0" rIns="0" bIns="0" anchor="ctr"/>
          <a:lstStyle/>
          <a:p>
            <a:pPr marL="0" indent="0" algn="ctr">
              <a:buNone/>
            </a:pPr>
            <a:r>
              <a:rPr sz="1500" b="1">
                <a:solidFill>
                  <a:srgbClr val="FFFFFF"/>
                </a:solidFill>
                <a:latin typeface="Arial"/>
                <a:ea typeface="Arial"/>
                <a:cs typeface="Arial"/>
              </a:rPr>
              <a:t>✓</a:t>
            </a:r>
          </a:p>
        </p:txBody>
      </p:sp>
      <p:sp>
        <p:nvSpPr>
          <p:cNvPr id="6" name="Text 4">
            <a:extLst>
              <a:ext uri="{FF2B5EF4-FFF2-40B4-BE49-F238E27FC236}">
                <a16:creationId xmlns:a16="http://schemas.microsoft.com/office/drawing/2014/main" id="{5767BFDB-8169-4658-9A87-27FAD171D23A}"/>
              </a:ext>
            </a:extLst>
          </p:cNvPr>
          <p:cNvSpPr>
            <a:spLocks noGrp="1"/>
          </p:cNvSpPr>
          <p:nvPr/>
        </p:nvSpPr>
        <p:spPr>
          <a:xfrm>
            <a:off x="822960" y="2724912"/>
            <a:ext cx="2978810" cy="502920"/>
          </a:xfrm>
          <a:prstGeom prst="rect">
            <a:avLst/>
          </a:prstGeom>
          <a:noFill/>
        </p:spPr>
        <p:txBody>
          <a:bodyPr wrap="square" lIns="0" tIns="0" rIns="0" bIns="0" anchor="ctr"/>
          <a:lstStyle/>
          <a:p>
            <a:pPr marL="0" indent="0">
              <a:lnSpc>
                <a:spcPct val="105000"/>
              </a:lnSpc>
              <a:buNone/>
            </a:pPr>
            <a:r>
              <a:rPr sz="1400" b="1">
                <a:solidFill>
                  <a:srgbClr val="0D0C0A"/>
                </a:solidFill>
                <a:latin typeface="Arial"/>
                <a:ea typeface="Arial"/>
                <a:cs typeface="Arial"/>
              </a:rPr>
              <a:t>One canonical price set</a:t>
            </a:r>
          </a:p>
        </p:txBody>
      </p:sp>
      <p:sp>
        <p:nvSpPr>
          <p:cNvPr id="7" name="Text 5">
            <a:extLst>
              <a:ext uri="{FF2B5EF4-FFF2-40B4-BE49-F238E27FC236}">
                <a16:creationId xmlns:a16="http://schemas.microsoft.com/office/drawing/2014/main" id="{9D7B80C3-8C12-472F-844B-8E96FFBC1B49}"/>
              </a:ext>
            </a:extLst>
          </p:cNvPr>
          <p:cNvSpPr>
            <a:spLocks noGrp="1"/>
          </p:cNvSpPr>
          <p:nvPr/>
        </p:nvSpPr>
        <p:spPr>
          <a:xfrm>
            <a:off x="822960" y="3182112"/>
            <a:ext cx="2978810" cy="548640"/>
          </a:xfrm>
          <a:prstGeom prst="rect">
            <a:avLst/>
          </a:prstGeom>
          <a:noFill/>
        </p:spPr>
        <p:txBody>
          <a:bodyPr wrap="square" lIns="0" tIns="0" rIns="0" bIns="0" anchor="ctr"/>
          <a:lstStyle/>
          <a:p>
            <a:pPr marL="0" indent="0">
              <a:lnSpc>
                <a:spcPct val="118000"/>
              </a:lnSpc>
              <a:buNone/>
            </a:pPr>
            <a:r>
              <a:rPr sz="1050">
                <a:solidFill>
                  <a:srgbClr val="6B675F"/>
                </a:solidFill>
                <a:latin typeface="Arial"/>
                <a:ea typeface="Arial"/>
                <a:cs typeface="Arial"/>
              </a:rPr>
              <a:t>$49 / $119 / $249 for brands, Free / $16 for creators, the same everywhere.</a:t>
            </a:r>
          </a:p>
        </p:txBody>
      </p:sp>
      <p:sp>
        <p:nvSpPr>
          <p:cNvPr id="8" name="Shape 6">
            <a:extLst>
              <a:ext uri="{FF2B5EF4-FFF2-40B4-BE49-F238E27FC236}">
                <a16:creationId xmlns:a16="http://schemas.microsoft.com/office/drawing/2014/main" id="{98BFAF17-B5A9-4737-9574-8260CFB479F8}"/>
              </a:ext>
            </a:extLst>
          </p:cNvPr>
          <p:cNvSpPr>
            <a:spLocks noGrp="1"/>
          </p:cNvSpPr>
          <p:nvPr/>
        </p:nvSpPr>
        <p:spPr>
          <a:xfrm>
            <a:off x="4350410" y="2011680"/>
            <a:ext cx="3490874" cy="1783080"/>
          </a:xfrm>
          <a:prstGeom prst="roundRect">
            <a:avLst>
              <a:gd name="adj" fmla="val 2308"/>
            </a:avLst>
          </a:prstGeom>
          <a:solidFill>
            <a:srgbClr val="FFFFFF"/>
          </a:solidFill>
          <a:ln w="12700">
            <a:solidFill>
              <a:srgbClr val="E2DED6"/>
            </a:solidFill>
            <a:prstDash val="solid"/>
          </a:ln>
          <a:effectLst>
            <a:outerShdw blurRad="76200" dist="25400" dir="5400000" algn="bl" rotWithShape="0">
              <a:srgbClr val="C9C4BA">
                <a:alpha val="55000"/>
              </a:srgbClr>
            </a:outerShdw>
          </a:effectLst>
        </p:spPr>
        <p:txBody>
          <a:bodyPr/>
          <a:lstStyle/>
          <a:p>
            <a:endParaRPr lang="en-SG"/>
          </a:p>
        </p:txBody>
      </p:sp>
      <p:sp>
        <p:nvSpPr>
          <p:cNvPr id="9" name="Text 7">
            <a:extLst>
              <a:ext uri="{FF2B5EF4-FFF2-40B4-BE49-F238E27FC236}">
                <a16:creationId xmlns:a16="http://schemas.microsoft.com/office/drawing/2014/main" id="{7E295BB1-4C10-43AE-8729-78FE40A25020}"/>
              </a:ext>
            </a:extLst>
          </p:cNvPr>
          <p:cNvSpPr>
            <a:spLocks noGrp="1"/>
          </p:cNvSpPr>
          <p:nvPr/>
        </p:nvSpPr>
        <p:spPr>
          <a:xfrm>
            <a:off x="4606442" y="2249424"/>
            <a:ext cx="365760" cy="365760"/>
          </a:xfrm>
          <a:prstGeom prst="ellipse">
            <a:avLst/>
          </a:prstGeom>
          <a:solidFill>
            <a:srgbClr val="1F9D57"/>
          </a:solidFill>
        </p:spPr>
        <p:txBody>
          <a:bodyPr wrap="square" lIns="0" tIns="0" rIns="0" bIns="0" anchor="ctr"/>
          <a:lstStyle/>
          <a:p>
            <a:pPr marL="0" indent="0" algn="ctr">
              <a:buNone/>
            </a:pPr>
            <a:r>
              <a:rPr sz="1500" b="1">
                <a:solidFill>
                  <a:srgbClr val="FFFFFF"/>
                </a:solidFill>
                <a:latin typeface="Arial"/>
                <a:ea typeface="Arial"/>
                <a:cs typeface="Arial"/>
              </a:rPr>
              <a:t>✓</a:t>
            </a:r>
          </a:p>
        </p:txBody>
      </p:sp>
      <p:sp>
        <p:nvSpPr>
          <p:cNvPr id="10" name="Text 8">
            <a:extLst>
              <a:ext uri="{FF2B5EF4-FFF2-40B4-BE49-F238E27FC236}">
                <a16:creationId xmlns:a16="http://schemas.microsoft.com/office/drawing/2014/main" id="{84F37B40-4EB8-4FFE-8A19-C90AC4F49582}"/>
              </a:ext>
            </a:extLst>
          </p:cNvPr>
          <p:cNvSpPr>
            <a:spLocks noGrp="1"/>
          </p:cNvSpPr>
          <p:nvPr/>
        </p:nvSpPr>
        <p:spPr>
          <a:xfrm>
            <a:off x="4606442" y="2724912"/>
            <a:ext cx="2978810" cy="502920"/>
          </a:xfrm>
          <a:prstGeom prst="rect">
            <a:avLst/>
          </a:prstGeom>
          <a:noFill/>
        </p:spPr>
        <p:txBody>
          <a:bodyPr wrap="square" lIns="0" tIns="0" rIns="0" bIns="0" anchor="ctr"/>
          <a:lstStyle/>
          <a:p>
            <a:pPr marL="0" indent="0">
              <a:lnSpc>
                <a:spcPct val="105000"/>
              </a:lnSpc>
              <a:buNone/>
            </a:pPr>
            <a:r>
              <a:rPr sz="1400" b="1">
                <a:solidFill>
                  <a:srgbClr val="0D0C0A"/>
                </a:solidFill>
                <a:latin typeface="Arial"/>
                <a:ea typeface="Arial"/>
                <a:cs typeface="Arial"/>
              </a:rPr>
              <a:t>Honest feature labels</a:t>
            </a:r>
          </a:p>
        </p:txBody>
      </p:sp>
      <p:sp>
        <p:nvSpPr>
          <p:cNvPr id="11" name="Text 9">
            <a:extLst>
              <a:ext uri="{FF2B5EF4-FFF2-40B4-BE49-F238E27FC236}">
                <a16:creationId xmlns:a16="http://schemas.microsoft.com/office/drawing/2014/main" id="{BBFCAE70-87C8-4CBE-A244-723BDEEB25BE}"/>
              </a:ext>
            </a:extLst>
          </p:cNvPr>
          <p:cNvSpPr>
            <a:spLocks noGrp="1"/>
          </p:cNvSpPr>
          <p:nvPr/>
        </p:nvSpPr>
        <p:spPr>
          <a:xfrm>
            <a:off x="4606442" y="3182112"/>
            <a:ext cx="2978810" cy="548640"/>
          </a:xfrm>
          <a:prstGeom prst="rect">
            <a:avLst/>
          </a:prstGeom>
          <a:noFill/>
        </p:spPr>
        <p:txBody>
          <a:bodyPr wrap="square" lIns="0" tIns="0" rIns="0" bIns="0" anchor="ctr"/>
          <a:lstStyle/>
          <a:p>
            <a:pPr marL="0" indent="0">
              <a:lnSpc>
                <a:spcPct val="118000"/>
              </a:lnSpc>
              <a:buNone/>
            </a:pPr>
            <a:r>
              <a:rPr sz="1050">
                <a:solidFill>
                  <a:srgbClr val="6B675F"/>
                </a:solidFill>
                <a:latin typeface="Arial"/>
                <a:ea typeface="Arial"/>
                <a:cs typeface="Arial"/>
              </a:rPr>
              <a:t>LIVE / BETA / SOON on every feature, so trust is earned, not implied.</a:t>
            </a:r>
          </a:p>
        </p:txBody>
      </p:sp>
      <p:sp>
        <p:nvSpPr>
          <p:cNvPr id="12" name="Shape 10">
            <a:extLst>
              <a:ext uri="{FF2B5EF4-FFF2-40B4-BE49-F238E27FC236}">
                <a16:creationId xmlns:a16="http://schemas.microsoft.com/office/drawing/2014/main" id="{7B73B900-E630-4DAD-A5A3-576740AEDD8B}"/>
              </a:ext>
            </a:extLst>
          </p:cNvPr>
          <p:cNvSpPr>
            <a:spLocks noGrp="1"/>
          </p:cNvSpPr>
          <p:nvPr/>
        </p:nvSpPr>
        <p:spPr>
          <a:xfrm>
            <a:off x="8133893" y="2011680"/>
            <a:ext cx="3490874" cy="1783080"/>
          </a:xfrm>
          <a:prstGeom prst="roundRect">
            <a:avLst>
              <a:gd name="adj" fmla="val 2308"/>
            </a:avLst>
          </a:prstGeom>
          <a:solidFill>
            <a:srgbClr val="FFFFFF"/>
          </a:solidFill>
          <a:ln w="12700">
            <a:solidFill>
              <a:srgbClr val="E2DED6"/>
            </a:solidFill>
            <a:prstDash val="solid"/>
          </a:ln>
          <a:effectLst>
            <a:outerShdw blurRad="76200" dist="25400" dir="5400000" algn="bl" rotWithShape="0">
              <a:srgbClr val="C9C4BA">
                <a:alpha val="55000"/>
              </a:srgbClr>
            </a:outerShdw>
          </a:effectLst>
        </p:spPr>
        <p:txBody>
          <a:bodyPr/>
          <a:lstStyle/>
          <a:p>
            <a:endParaRPr lang="en-SG"/>
          </a:p>
        </p:txBody>
      </p:sp>
      <p:sp>
        <p:nvSpPr>
          <p:cNvPr id="13" name="Text 11">
            <a:extLst>
              <a:ext uri="{FF2B5EF4-FFF2-40B4-BE49-F238E27FC236}">
                <a16:creationId xmlns:a16="http://schemas.microsoft.com/office/drawing/2014/main" id="{3F84E110-6211-4381-8427-DD72C43F6165}"/>
              </a:ext>
            </a:extLst>
          </p:cNvPr>
          <p:cNvSpPr>
            <a:spLocks noGrp="1"/>
          </p:cNvSpPr>
          <p:nvPr/>
        </p:nvSpPr>
        <p:spPr>
          <a:xfrm>
            <a:off x="8389925" y="2249424"/>
            <a:ext cx="365760" cy="365760"/>
          </a:xfrm>
          <a:prstGeom prst="ellipse">
            <a:avLst/>
          </a:prstGeom>
          <a:solidFill>
            <a:srgbClr val="1F9D57"/>
          </a:solidFill>
        </p:spPr>
        <p:txBody>
          <a:bodyPr wrap="square" lIns="0" tIns="0" rIns="0" bIns="0" anchor="ctr"/>
          <a:lstStyle/>
          <a:p>
            <a:pPr marL="0" indent="0" algn="ctr">
              <a:buNone/>
            </a:pPr>
            <a:r>
              <a:rPr sz="1500" b="1">
                <a:solidFill>
                  <a:srgbClr val="FFFFFF"/>
                </a:solidFill>
                <a:latin typeface="Arial"/>
                <a:ea typeface="Arial"/>
                <a:cs typeface="Arial"/>
              </a:rPr>
              <a:t>✓</a:t>
            </a:r>
          </a:p>
        </p:txBody>
      </p:sp>
      <p:sp>
        <p:nvSpPr>
          <p:cNvPr id="14" name="Text 12">
            <a:extLst>
              <a:ext uri="{FF2B5EF4-FFF2-40B4-BE49-F238E27FC236}">
                <a16:creationId xmlns:a16="http://schemas.microsoft.com/office/drawing/2014/main" id="{9AD0029A-DC79-41F9-A092-A54EE6FBA50D}"/>
              </a:ext>
            </a:extLst>
          </p:cNvPr>
          <p:cNvSpPr>
            <a:spLocks noGrp="1"/>
          </p:cNvSpPr>
          <p:nvPr/>
        </p:nvSpPr>
        <p:spPr>
          <a:xfrm>
            <a:off x="8389925" y="2724912"/>
            <a:ext cx="2978810" cy="502920"/>
          </a:xfrm>
          <a:prstGeom prst="rect">
            <a:avLst/>
          </a:prstGeom>
          <a:noFill/>
        </p:spPr>
        <p:txBody>
          <a:bodyPr wrap="square" lIns="0" tIns="0" rIns="0" bIns="0" anchor="ctr"/>
          <a:lstStyle/>
          <a:p>
            <a:pPr marL="0" indent="0">
              <a:lnSpc>
                <a:spcPct val="105000"/>
              </a:lnSpc>
              <a:buNone/>
            </a:pPr>
            <a:r>
              <a:rPr sz="1400" b="1">
                <a:solidFill>
                  <a:srgbClr val="0D0C0A"/>
                </a:solidFill>
                <a:latin typeface="Arial"/>
                <a:ea typeface="Arial"/>
                <a:cs typeface="Arial"/>
              </a:rPr>
              <a:t>Brand and creator paths split</a:t>
            </a:r>
          </a:p>
        </p:txBody>
      </p:sp>
      <p:sp>
        <p:nvSpPr>
          <p:cNvPr id="15" name="Text 13">
            <a:extLst>
              <a:ext uri="{FF2B5EF4-FFF2-40B4-BE49-F238E27FC236}">
                <a16:creationId xmlns:a16="http://schemas.microsoft.com/office/drawing/2014/main" id="{ABB124CC-03E3-4D61-BCD2-2A2B14290208}"/>
              </a:ext>
            </a:extLst>
          </p:cNvPr>
          <p:cNvSpPr>
            <a:spLocks noGrp="1"/>
          </p:cNvSpPr>
          <p:nvPr/>
        </p:nvSpPr>
        <p:spPr>
          <a:xfrm>
            <a:off x="8389925" y="3182112"/>
            <a:ext cx="2978810" cy="548640"/>
          </a:xfrm>
          <a:prstGeom prst="rect">
            <a:avLst/>
          </a:prstGeom>
          <a:noFill/>
        </p:spPr>
        <p:txBody>
          <a:bodyPr wrap="square" lIns="0" tIns="0" rIns="0" bIns="0" anchor="ctr"/>
          <a:lstStyle/>
          <a:p>
            <a:pPr marL="0" indent="0">
              <a:lnSpc>
                <a:spcPct val="118000"/>
              </a:lnSpc>
              <a:buNone/>
            </a:pPr>
            <a:r>
              <a:rPr sz="1050">
                <a:solidFill>
                  <a:srgbClr val="6B675F"/>
                </a:solidFill>
                <a:latin typeface="Arial"/>
                <a:ea typeface="Arial"/>
                <a:cs typeface="Arial"/>
              </a:rPr>
              <a:t>Each audience gets its own language and journey instead of one blurred pitch.</a:t>
            </a:r>
          </a:p>
        </p:txBody>
      </p:sp>
      <p:sp>
        <p:nvSpPr>
          <p:cNvPr id="16" name="Shape 14">
            <a:extLst>
              <a:ext uri="{FF2B5EF4-FFF2-40B4-BE49-F238E27FC236}">
                <a16:creationId xmlns:a16="http://schemas.microsoft.com/office/drawing/2014/main" id="{5DB0782A-57DE-4DC0-9476-27ABE8D57FA7}"/>
              </a:ext>
            </a:extLst>
          </p:cNvPr>
          <p:cNvSpPr>
            <a:spLocks noGrp="1"/>
          </p:cNvSpPr>
          <p:nvPr/>
        </p:nvSpPr>
        <p:spPr>
          <a:xfrm>
            <a:off x="566928" y="4087368"/>
            <a:ext cx="3490874" cy="1783080"/>
          </a:xfrm>
          <a:prstGeom prst="roundRect">
            <a:avLst>
              <a:gd name="adj" fmla="val 2308"/>
            </a:avLst>
          </a:prstGeom>
          <a:solidFill>
            <a:srgbClr val="FFFFFF"/>
          </a:solidFill>
          <a:ln w="12700">
            <a:solidFill>
              <a:srgbClr val="E2DED6"/>
            </a:solidFill>
            <a:prstDash val="solid"/>
          </a:ln>
          <a:effectLst>
            <a:outerShdw blurRad="76200" dist="25400" dir="5400000" algn="bl" rotWithShape="0">
              <a:srgbClr val="C9C4BA">
                <a:alpha val="55000"/>
              </a:srgbClr>
            </a:outerShdw>
          </a:effectLst>
        </p:spPr>
        <p:txBody>
          <a:bodyPr/>
          <a:lstStyle/>
          <a:p>
            <a:endParaRPr lang="en-SG"/>
          </a:p>
        </p:txBody>
      </p:sp>
      <p:sp>
        <p:nvSpPr>
          <p:cNvPr id="17" name="Text 15">
            <a:extLst>
              <a:ext uri="{FF2B5EF4-FFF2-40B4-BE49-F238E27FC236}">
                <a16:creationId xmlns:a16="http://schemas.microsoft.com/office/drawing/2014/main" id="{A097E2C3-05A7-428B-8902-31EEE5FF8459}"/>
              </a:ext>
            </a:extLst>
          </p:cNvPr>
          <p:cNvSpPr>
            <a:spLocks noGrp="1"/>
          </p:cNvSpPr>
          <p:nvPr/>
        </p:nvSpPr>
        <p:spPr>
          <a:xfrm>
            <a:off x="822960" y="4325112"/>
            <a:ext cx="365760" cy="365760"/>
          </a:xfrm>
          <a:prstGeom prst="ellipse">
            <a:avLst/>
          </a:prstGeom>
          <a:solidFill>
            <a:srgbClr val="1F9D57"/>
          </a:solidFill>
        </p:spPr>
        <p:txBody>
          <a:bodyPr wrap="square" lIns="0" tIns="0" rIns="0" bIns="0" anchor="ctr"/>
          <a:lstStyle/>
          <a:p>
            <a:pPr marL="0" indent="0" algn="ctr">
              <a:buNone/>
            </a:pPr>
            <a:r>
              <a:rPr sz="1500" b="1">
                <a:solidFill>
                  <a:srgbClr val="FFFFFF"/>
                </a:solidFill>
                <a:latin typeface="Arial"/>
                <a:ea typeface="Arial"/>
                <a:cs typeface="Arial"/>
              </a:rPr>
              <a:t>✓</a:t>
            </a:r>
          </a:p>
        </p:txBody>
      </p:sp>
      <p:sp>
        <p:nvSpPr>
          <p:cNvPr id="18" name="Text 16">
            <a:extLst>
              <a:ext uri="{FF2B5EF4-FFF2-40B4-BE49-F238E27FC236}">
                <a16:creationId xmlns:a16="http://schemas.microsoft.com/office/drawing/2014/main" id="{E8692262-A00F-4EE8-B209-15DCA86FEDA5}"/>
              </a:ext>
            </a:extLst>
          </p:cNvPr>
          <p:cNvSpPr>
            <a:spLocks noGrp="1"/>
          </p:cNvSpPr>
          <p:nvPr/>
        </p:nvSpPr>
        <p:spPr>
          <a:xfrm>
            <a:off x="822960" y="4800600"/>
            <a:ext cx="2978810" cy="502920"/>
          </a:xfrm>
          <a:prstGeom prst="rect">
            <a:avLst/>
          </a:prstGeom>
          <a:noFill/>
        </p:spPr>
        <p:txBody>
          <a:bodyPr wrap="square" lIns="0" tIns="0" rIns="0" bIns="0" anchor="ctr"/>
          <a:lstStyle/>
          <a:p>
            <a:pPr marL="0" indent="0">
              <a:lnSpc>
                <a:spcPct val="105000"/>
              </a:lnSpc>
              <a:buNone/>
            </a:pPr>
            <a:r>
              <a:rPr sz="1400" b="1">
                <a:solidFill>
                  <a:srgbClr val="0D0C0A"/>
                </a:solidFill>
                <a:latin typeface="Arial"/>
                <a:ea typeface="Arial"/>
                <a:cs typeface="Arial"/>
              </a:rPr>
              <a:t>Value prop leads</a:t>
            </a:r>
          </a:p>
        </p:txBody>
      </p:sp>
      <p:sp>
        <p:nvSpPr>
          <p:cNvPr id="19" name="Text 17">
            <a:extLst>
              <a:ext uri="{FF2B5EF4-FFF2-40B4-BE49-F238E27FC236}">
                <a16:creationId xmlns:a16="http://schemas.microsoft.com/office/drawing/2014/main" id="{B10340DA-6967-4CA2-AF64-26678D7DF361}"/>
              </a:ext>
            </a:extLst>
          </p:cNvPr>
          <p:cNvSpPr>
            <a:spLocks noGrp="1"/>
          </p:cNvSpPr>
          <p:nvPr/>
        </p:nvSpPr>
        <p:spPr>
          <a:xfrm>
            <a:off x="822960" y="5257800"/>
            <a:ext cx="2978810" cy="548640"/>
          </a:xfrm>
          <a:prstGeom prst="rect">
            <a:avLst/>
          </a:prstGeom>
          <a:noFill/>
        </p:spPr>
        <p:txBody>
          <a:bodyPr wrap="square" lIns="0" tIns="0" rIns="0" bIns="0" anchor="ctr"/>
          <a:lstStyle/>
          <a:p>
            <a:pPr marL="0" indent="0">
              <a:lnSpc>
                <a:spcPct val="118000"/>
              </a:lnSpc>
              <a:buNone/>
            </a:pPr>
            <a:r>
              <a:rPr sz="1050">
                <a:solidFill>
                  <a:srgbClr val="6B675F"/>
                </a:solidFill>
                <a:latin typeface="Arial"/>
                <a:ea typeface="Arial"/>
                <a:cs typeface="Arial"/>
              </a:rPr>
              <a:t>The homepage sells first; the trending feed becomes a section, not the whole page.</a:t>
            </a:r>
          </a:p>
        </p:txBody>
      </p:sp>
      <p:sp>
        <p:nvSpPr>
          <p:cNvPr id="20" name="Shape 18">
            <a:extLst>
              <a:ext uri="{FF2B5EF4-FFF2-40B4-BE49-F238E27FC236}">
                <a16:creationId xmlns:a16="http://schemas.microsoft.com/office/drawing/2014/main" id="{A206D029-C451-4C4B-80A3-509D8EB54734}"/>
              </a:ext>
            </a:extLst>
          </p:cNvPr>
          <p:cNvSpPr>
            <a:spLocks noGrp="1"/>
          </p:cNvSpPr>
          <p:nvPr/>
        </p:nvSpPr>
        <p:spPr>
          <a:xfrm>
            <a:off x="4350410" y="4087368"/>
            <a:ext cx="3490874" cy="1783080"/>
          </a:xfrm>
          <a:prstGeom prst="roundRect">
            <a:avLst>
              <a:gd name="adj" fmla="val 2308"/>
            </a:avLst>
          </a:prstGeom>
          <a:solidFill>
            <a:srgbClr val="FFFFFF"/>
          </a:solidFill>
          <a:ln w="12700">
            <a:solidFill>
              <a:srgbClr val="E2DED6"/>
            </a:solidFill>
            <a:prstDash val="solid"/>
          </a:ln>
          <a:effectLst>
            <a:outerShdw blurRad="76200" dist="25400" dir="5400000" algn="bl" rotWithShape="0">
              <a:srgbClr val="C9C4BA">
                <a:alpha val="55000"/>
              </a:srgbClr>
            </a:outerShdw>
          </a:effectLst>
        </p:spPr>
        <p:txBody>
          <a:bodyPr/>
          <a:lstStyle/>
          <a:p>
            <a:endParaRPr lang="en-SG"/>
          </a:p>
        </p:txBody>
      </p:sp>
      <p:sp>
        <p:nvSpPr>
          <p:cNvPr id="21" name="Text 19">
            <a:extLst>
              <a:ext uri="{FF2B5EF4-FFF2-40B4-BE49-F238E27FC236}">
                <a16:creationId xmlns:a16="http://schemas.microsoft.com/office/drawing/2014/main" id="{0CC61A19-503D-43E5-9C3D-284C360BFEEA}"/>
              </a:ext>
            </a:extLst>
          </p:cNvPr>
          <p:cNvSpPr>
            <a:spLocks noGrp="1"/>
          </p:cNvSpPr>
          <p:nvPr/>
        </p:nvSpPr>
        <p:spPr>
          <a:xfrm>
            <a:off x="4606442" y="4325112"/>
            <a:ext cx="365760" cy="365760"/>
          </a:xfrm>
          <a:prstGeom prst="ellipse">
            <a:avLst/>
          </a:prstGeom>
          <a:solidFill>
            <a:srgbClr val="1F9D57"/>
          </a:solidFill>
        </p:spPr>
        <p:txBody>
          <a:bodyPr wrap="square" lIns="0" tIns="0" rIns="0" bIns="0" anchor="ctr"/>
          <a:lstStyle/>
          <a:p>
            <a:pPr marL="0" indent="0" algn="ctr">
              <a:buNone/>
            </a:pPr>
            <a:r>
              <a:rPr sz="1500" b="1">
                <a:solidFill>
                  <a:srgbClr val="FFFFFF"/>
                </a:solidFill>
                <a:latin typeface="Arial"/>
                <a:ea typeface="Arial"/>
                <a:cs typeface="Arial"/>
              </a:rPr>
              <a:t>✓</a:t>
            </a:r>
          </a:p>
        </p:txBody>
      </p:sp>
      <p:sp>
        <p:nvSpPr>
          <p:cNvPr id="22" name="Text 20">
            <a:extLst>
              <a:ext uri="{FF2B5EF4-FFF2-40B4-BE49-F238E27FC236}">
                <a16:creationId xmlns:a16="http://schemas.microsoft.com/office/drawing/2014/main" id="{4C96AE68-046F-4E1D-AB41-35899BE58DA2}"/>
              </a:ext>
            </a:extLst>
          </p:cNvPr>
          <p:cNvSpPr>
            <a:spLocks noGrp="1"/>
          </p:cNvSpPr>
          <p:nvPr/>
        </p:nvSpPr>
        <p:spPr>
          <a:xfrm>
            <a:off x="4606442" y="4800600"/>
            <a:ext cx="2978810" cy="502920"/>
          </a:xfrm>
          <a:prstGeom prst="rect">
            <a:avLst/>
          </a:prstGeom>
          <a:noFill/>
        </p:spPr>
        <p:txBody>
          <a:bodyPr wrap="square" lIns="0" tIns="0" rIns="0" bIns="0" anchor="ctr"/>
          <a:lstStyle/>
          <a:p>
            <a:pPr marL="0" indent="0">
              <a:lnSpc>
                <a:spcPct val="105000"/>
              </a:lnSpc>
              <a:buNone/>
            </a:pPr>
            <a:r>
              <a:rPr sz="1400" b="1">
                <a:solidFill>
                  <a:srgbClr val="0D0C0A"/>
                </a:solidFill>
                <a:latin typeface="Arial"/>
                <a:ea typeface="Arial"/>
                <a:cs typeface="Arial"/>
              </a:rPr>
              <a:t>One design system</a:t>
            </a:r>
          </a:p>
        </p:txBody>
      </p:sp>
      <p:sp>
        <p:nvSpPr>
          <p:cNvPr id="23" name="Text 21">
            <a:extLst>
              <a:ext uri="{FF2B5EF4-FFF2-40B4-BE49-F238E27FC236}">
                <a16:creationId xmlns:a16="http://schemas.microsoft.com/office/drawing/2014/main" id="{30243D01-E8B3-47FD-82C4-742B27BE784B}"/>
              </a:ext>
            </a:extLst>
          </p:cNvPr>
          <p:cNvSpPr>
            <a:spLocks noGrp="1"/>
          </p:cNvSpPr>
          <p:nvPr/>
        </p:nvSpPr>
        <p:spPr>
          <a:xfrm>
            <a:off x="4606442" y="5257800"/>
            <a:ext cx="2978810" cy="548640"/>
          </a:xfrm>
          <a:prstGeom prst="rect">
            <a:avLst/>
          </a:prstGeom>
          <a:noFill/>
        </p:spPr>
        <p:txBody>
          <a:bodyPr wrap="square" lIns="0" tIns="0" rIns="0" bIns="0" anchor="ctr"/>
          <a:lstStyle/>
          <a:p>
            <a:pPr marL="0" indent="0">
              <a:lnSpc>
                <a:spcPct val="118000"/>
              </a:lnSpc>
              <a:buNone/>
            </a:pPr>
            <a:r>
              <a:rPr sz="1050">
                <a:solidFill>
                  <a:srgbClr val="6B675F"/>
                </a:solidFill>
                <a:latin typeface="Arial"/>
                <a:ea typeface="Arial"/>
                <a:cs typeface="Arial"/>
              </a:rPr>
              <a:t>Shared type, spacing, cards and status chips. It reads deliberate, not vibe-coded.</a:t>
            </a:r>
          </a:p>
        </p:txBody>
      </p:sp>
      <p:sp>
        <p:nvSpPr>
          <p:cNvPr id="24" name="Shape 22">
            <a:extLst>
              <a:ext uri="{FF2B5EF4-FFF2-40B4-BE49-F238E27FC236}">
                <a16:creationId xmlns:a16="http://schemas.microsoft.com/office/drawing/2014/main" id="{F3B6105D-D250-4064-87CF-2E01311DA003}"/>
              </a:ext>
            </a:extLst>
          </p:cNvPr>
          <p:cNvSpPr>
            <a:spLocks noGrp="1"/>
          </p:cNvSpPr>
          <p:nvPr/>
        </p:nvSpPr>
        <p:spPr>
          <a:xfrm>
            <a:off x="8133893" y="4087368"/>
            <a:ext cx="3490874" cy="1783080"/>
          </a:xfrm>
          <a:prstGeom prst="roundRect">
            <a:avLst>
              <a:gd name="adj" fmla="val 2308"/>
            </a:avLst>
          </a:prstGeom>
          <a:solidFill>
            <a:srgbClr val="FFFFFF"/>
          </a:solidFill>
          <a:ln w="12700">
            <a:solidFill>
              <a:srgbClr val="E2DED6"/>
            </a:solidFill>
            <a:prstDash val="solid"/>
          </a:ln>
          <a:effectLst>
            <a:outerShdw blurRad="76200" dist="25400" dir="5400000" algn="bl" rotWithShape="0">
              <a:srgbClr val="C9C4BA">
                <a:alpha val="55000"/>
              </a:srgbClr>
            </a:outerShdw>
          </a:effectLst>
        </p:spPr>
        <p:txBody>
          <a:bodyPr/>
          <a:lstStyle/>
          <a:p>
            <a:endParaRPr lang="en-SG"/>
          </a:p>
        </p:txBody>
      </p:sp>
      <p:sp>
        <p:nvSpPr>
          <p:cNvPr id="25" name="Text 23">
            <a:extLst>
              <a:ext uri="{FF2B5EF4-FFF2-40B4-BE49-F238E27FC236}">
                <a16:creationId xmlns:a16="http://schemas.microsoft.com/office/drawing/2014/main" id="{DDF00E0C-B5DA-4841-9DE8-9411993E0D73}"/>
              </a:ext>
            </a:extLst>
          </p:cNvPr>
          <p:cNvSpPr>
            <a:spLocks noGrp="1"/>
          </p:cNvSpPr>
          <p:nvPr/>
        </p:nvSpPr>
        <p:spPr>
          <a:xfrm>
            <a:off x="8389925" y="4325112"/>
            <a:ext cx="365760" cy="365760"/>
          </a:xfrm>
          <a:prstGeom prst="ellipse">
            <a:avLst/>
          </a:prstGeom>
          <a:solidFill>
            <a:srgbClr val="1F9D57"/>
          </a:solidFill>
        </p:spPr>
        <p:txBody>
          <a:bodyPr wrap="square" lIns="0" tIns="0" rIns="0" bIns="0" anchor="ctr"/>
          <a:lstStyle/>
          <a:p>
            <a:pPr marL="0" indent="0" algn="ctr">
              <a:buNone/>
            </a:pPr>
            <a:r>
              <a:rPr sz="1500" b="1">
                <a:solidFill>
                  <a:srgbClr val="FFFFFF"/>
                </a:solidFill>
                <a:latin typeface="Arial"/>
                <a:ea typeface="Arial"/>
                <a:cs typeface="Arial"/>
              </a:rPr>
              <a:t>✓</a:t>
            </a:r>
          </a:p>
        </p:txBody>
      </p:sp>
      <p:sp>
        <p:nvSpPr>
          <p:cNvPr id="26" name="Text 24">
            <a:extLst>
              <a:ext uri="{FF2B5EF4-FFF2-40B4-BE49-F238E27FC236}">
                <a16:creationId xmlns:a16="http://schemas.microsoft.com/office/drawing/2014/main" id="{5BFA0D4F-FFD0-4DAB-AD23-52B8BD540C1C}"/>
              </a:ext>
            </a:extLst>
          </p:cNvPr>
          <p:cNvSpPr>
            <a:spLocks noGrp="1"/>
          </p:cNvSpPr>
          <p:nvPr/>
        </p:nvSpPr>
        <p:spPr>
          <a:xfrm>
            <a:off x="8389925" y="4800600"/>
            <a:ext cx="2978810" cy="502920"/>
          </a:xfrm>
          <a:prstGeom prst="rect">
            <a:avLst/>
          </a:prstGeom>
          <a:noFill/>
        </p:spPr>
        <p:txBody>
          <a:bodyPr wrap="square" lIns="0" tIns="0" rIns="0" bIns="0" anchor="ctr"/>
          <a:lstStyle/>
          <a:p>
            <a:pPr marL="0" indent="0">
              <a:lnSpc>
                <a:spcPct val="105000"/>
              </a:lnSpc>
              <a:buNone/>
            </a:pPr>
            <a:r>
              <a:rPr sz="1400" b="1">
                <a:solidFill>
                  <a:srgbClr val="0D0C0A"/>
                </a:solidFill>
                <a:latin typeface="Arial"/>
                <a:ea typeface="Arial"/>
                <a:cs typeface="Arial"/>
              </a:rPr>
              <a:t>Responsive and static</a:t>
            </a:r>
          </a:p>
        </p:txBody>
      </p:sp>
      <p:sp>
        <p:nvSpPr>
          <p:cNvPr id="27" name="Text 25">
            <a:extLst>
              <a:ext uri="{FF2B5EF4-FFF2-40B4-BE49-F238E27FC236}">
                <a16:creationId xmlns:a16="http://schemas.microsoft.com/office/drawing/2014/main" id="{E5DEE1E8-8B38-47AA-A9E2-10B5FE33CF4C}"/>
              </a:ext>
            </a:extLst>
          </p:cNvPr>
          <p:cNvSpPr>
            <a:spLocks noGrp="1"/>
          </p:cNvSpPr>
          <p:nvPr/>
        </p:nvSpPr>
        <p:spPr>
          <a:xfrm>
            <a:off x="8389925" y="5257800"/>
            <a:ext cx="2978810" cy="548640"/>
          </a:xfrm>
          <a:prstGeom prst="rect">
            <a:avLst/>
          </a:prstGeom>
          <a:noFill/>
        </p:spPr>
        <p:txBody>
          <a:bodyPr wrap="square" lIns="0" tIns="0" rIns="0" bIns="0" anchor="ctr"/>
          <a:lstStyle/>
          <a:p>
            <a:pPr marL="0" indent="0">
              <a:lnSpc>
                <a:spcPct val="118000"/>
              </a:lnSpc>
              <a:buNone/>
            </a:pPr>
            <a:r>
              <a:rPr sz="1050">
                <a:solidFill>
                  <a:srgbClr val="6B675F"/>
                </a:solidFill>
                <a:latin typeface="Arial"/>
                <a:ea typeface="Arial"/>
                <a:cs typeface="Arial"/>
              </a:rPr>
              <a:t>Works at 360, 768 and 1440, no backend, consistent sample data throughout.</a:t>
            </a:r>
          </a:p>
        </p:txBody>
      </p:sp>
      <p:sp>
        <p:nvSpPr>
          <p:cNvPr id="28" name="Text 26">
            <a:extLst>
              <a:ext uri="{FF2B5EF4-FFF2-40B4-BE49-F238E27FC236}">
                <a16:creationId xmlns:a16="http://schemas.microsoft.com/office/drawing/2014/main" id="{3EC899AD-F5EF-44DB-A1FC-1042DAA5D979}"/>
              </a:ext>
            </a:extLst>
          </p:cNvPr>
          <p:cNvSpPr>
            <a:spLocks noGrp="1"/>
          </p:cNvSpPr>
          <p:nvPr/>
        </p:nvSpPr>
        <p:spPr>
          <a:xfrm>
            <a:off x="8351215" y="6382512"/>
            <a:ext cx="3273552" cy="274320"/>
          </a:xfrm>
          <a:prstGeom prst="rect">
            <a:avLst/>
          </a:prstGeom>
          <a:noFill/>
        </p:spPr>
        <p:txBody>
          <a:bodyPr wrap="square" lIns="0" tIns="0" rIns="0" bIns="0" anchor="ctr"/>
          <a:lstStyle/>
          <a:p>
            <a:pPr marL="0" indent="0" algn="r">
              <a:buNone/>
            </a:pPr>
            <a:r>
              <a:rPr sz="950" b="1">
                <a:solidFill>
                  <a:srgbClr val="9A968C"/>
                </a:solidFill>
                <a:latin typeface="Arial"/>
                <a:ea typeface="Arial"/>
                <a:cs typeface="Arial"/>
              </a:rPr>
              <a:t>INFLUENCEES</a:t>
            </a:r>
            <a:r>
              <a:rPr sz="950" b="1">
                <a:solidFill>
                  <a:srgbClr val="6B675F"/>
                </a:solidFill>
                <a:latin typeface="Arial"/>
                <a:ea typeface="Arial"/>
                <a:cs typeface="Arial"/>
              </a:rPr>
              <a:t>   09 / 10</a:t>
            </a:r>
          </a:p>
        </p:txBody>
      </p:sp>
      <p:sp>
        <p:nvSpPr>
          <p:cNvPr id="29" name="white-canvas-9">
            <a:extLst>
              <a:ext uri="{FF2B5EF4-FFF2-40B4-BE49-F238E27FC236}">
                <a16:creationId xmlns:a16="http://schemas.microsoft.com/office/drawing/2014/main" id="{2057D011-427A-4321-9331-F1F8620C8AED}"/>
              </a:ext>
            </a:extLst>
          </p:cNvPr>
          <p:cNvSpPr>
            <a:spLocks noGrp="1"/>
          </p:cNvSpPr>
          <p:nvPr/>
        </p:nvSpPr>
        <p:spPr>
          <a:xfrm>
            <a:off x="0" y="0"/>
            <a:ext cx="12192000" cy="6858000"/>
          </a:xfrm>
          <a:prstGeom prst="rect">
            <a:avLst/>
          </a:prstGeom>
          <a:solidFill>
            <a:srgbClr val="FFFFFF"/>
          </a:solidFill>
          <a:ln w="0">
            <a:noFill/>
            <a:prstDash val="solid"/>
          </a:ln>
        </p:spPr>
        <p:txBody>
          <a:bodyPr/>
          <a:lstStyle/>
          <a:p>
            <a:endParaRPr lang="en-SG"/>
          </a:p>
        </p:txBody>
      </p:sp>
      <p:sp>
        <p:nvSpPr>
          <p:cNvPr id="30" name="section-badge">
            <a:extLst>
              <a:ext uri="{FF2B5EF4-FFF2-40B4-BE49-F238E27FC236}">
                <a16:creationId xmlns:a16="http://schemas.microsoft.com/office/drawing/2014/main" id="{DB35DD6D-0AA4-4FEE-9C74-22C8D99006B0}"/>
              </a:ext>
            </a:extLst>
          </p:cNvPr>
          <p:cNvSpPr>
            <a:spLocks noGrp="1"/>
          </p:cNvSpPr>
          <p:nvPr/>
        </p:nvSpPr>
        <p:spPr>
          <a:xfrm>
            <a:off x="4191000" y="323850"/>
            <a:ext cx="3810000" cy="247650"/>
          </a:xfrm>
          <a:prstGeom prst="rect">
            <a:avLst/>
          </a:prstGeom>
          <a:noFill/>
          <a:ln w="0">
            <a:noFill/>
            <a:prstDash val="solid"/>
          </a:ln>
        </p:spPr>
        <p:txBody>
          <a:bodyPr wrap="square" lIns="0" tIns="0" rIns="0" bIns="0" anchor="t">
            <a:normAutofit/>
          </a:bodyPr>
          <a:lstStyle/>
          <a:p>
            <a:pPr algn="ctr">
              <a:lnSpc>
                <a:spcPct val="112000"/>
              </a:lnSpc>
              <a:buNone/>
              <a:defRPr sz="1200" b="1">
                <a:solidFill>
                  <a:srgbClr val="7C5CFC"/>
                </a:solidFill>
                <a:latin typeface="Inter"/>
                <a:ea typeface="Inter"/>
                <a:cs typeface="Inter"/>
              </a:defRPr>
            </a:pPr>
            <a:r>
              <a:rPr sz="1200" b="1">
                <a:solidFill>
                  <a:srgbClr val="7C5CFC"/>
                </a:solidFill>
                <a:latin typeface="Inter"/>
                <a:ea typeface="Inter"/>
                <a:cs typeface="Inter"/>
              </a:rPr>
              <a:t>SOLUTION 02 · WHY IT WORKS</a:t>
            </a:r>
          </a:p>
        </p:txBody>
      </p:sp>
      <p:sp>
        <p:nvSpPr>
          <p:cNvPr id="31" name="slide-title">
            <a:extLst>
              <a:ext uri="{FF2B5EF4-FFF2-40B4-BE49-F238E27FC236}">
                <a16:creationId xmlns:a16="http://schemas.microsoft.com/office/drawing/2014/main" id="{DA447AD3-CF77-4F63-A0F3-D43B993D2C2C}"/>
              </a:ext>
            </a:extLst>
          </p:cNvPr>
          <p:cNvSpPr>
            <a:spLocks noGrp="1"/>
          </p:cNvSpPr>
          <p:nvPr/>
        </p:nvSpPr>
        <p:spPr>
          <a:xfrm>
            <a:off x="952500" y="685800"/>
            <a:ext cx="10287000" cy="685800"/>
          </a:xfrm>
          <a:prstGeom prst="rect">
            <a:avLst/>
          </a:prstGeom>
          <a:noFill/>
          <a:ln w="0">
            <a:noFill/>
            <a:prstDash val="solid"/>
          </a:ln>
        </p:spPr>
        <p:txBody>
          <a:bodyPr wrap="square" lIns="0" tIns="0" rIns="0" bIns="0" anchor="ctr">
            <a:normAutofit/>
          </a:bodyPr>
          <a:lstStyle/>
          <a:p>
            <a:pPr algn="ctr">
              <a:lnSpc>
                <a:spcPct val="102000"/>
              </a:lnSpc>
              <a:buNone/>
              <a:defRPr sz="3300" b="0">
                <a:solidFill>
                  <a:srgbClr val="0F172A"/>
                </a:solidFill>
                <a:latin typeface="Inter"/>
                <a:ea typeface="Inter"/>
                <a:cs typeface="Inter"/>
              </a:defRPr>
            </a:pPr>
            <a:r>
              <a:rPr sz="3300" b="0">
                <a:solidFill>
                  <a:srgbClr val="0F172A"/>
                </a:solidFill>
                <a:latin typeface="Inter"/>
                <a:ea typeface="Inter"/>
                <a:cs typeface="Inter"/>
              </a:rPr>
              <a:t>The redesign fixes the journey—not just the paint.</a:t>
            </a:r>
          </a:p>
        </p:txBody>
      </p:sp>
      <p:sp>
        <p:nvSpPr>
          <p:cNvPr id="32" name="slide-subtitle">
            <a:extLst>
              <a:ext uri="{FF2B5EF4-FFF2-40B4-BE49-F238E27FC236}">
                <a16:creationId xmlns:a16="http://schemas.microsoft.com/office/drawing/2014/main" id="{EBE83B91-F6CC-4D7D-950C-38B59CA5BEC2}"/>
              </a:ext>
            </a:extLst>
          </p:cNvPr>
          <p:cNvSpPr>
            <a:spLocks noGrp="1"/>
          </p:cNvSpPr>
          <p:nvPr/>
        </p:nvSpPr>
        <p:spPr>
          <a:xfrm>
            <a:off x="1333500" y="1333500"/>
            <a:ext cx="9525000" cy="590550"/>
          </a:xfrm>
          <a:prstGeom prst="rect">
            <a:avLst/>
          </a:prstGeom>
          <a:noFill/>
          <a:ln w="0">
            <a:noFill/>
            <a:prstDash val="solid"/>
          </a:ln>
        </p:spPr>
        <p:txBody>
          <a:bodyPr wrap="square" lIns="0" tIns="0" rIns="0" bIns="0" anchor="ctr">
            <a:normAutofit/>
          </a:bodyPr>
          <a:lstStyle/>
          <a:p>
            <a:pPr algn="ctr">
              <a:lnSpc>
                <a:spcPct val="122000"/>
              </a:lnSpc>
              <a:buNone/>
              <a:defRPr sz="1575" b="0">
                <a:solidFill>
                  <a:srgbClr val="64748B"/>
                </a:solidFill>
                <a:latin typeface="Inter"/>
                <a:ea typeface="Inter"/>
                <a:cs typeface="Inter"/>
              </a:defRPr>
            </a:pPr>
            <a:r>
              <a:rPr sz="1575" b="0">
                <a:solidFill>
                  <a:srgbClr val="64748B"/>
                </a:solidFill>
                <a:latin typeface="Inter"/>
                <a:ea typeface="Inter"/>
                <a:cs typeface="Inter"/>
              </a:rPr>
              <a:t>Each decision makes Influencees easier to understand, trust and use.</a:t>
            </a:r>
          </a:p>
        </p:txBody>
      </p:sp>
      <p:sp>
        <p:nvSpPr>
          <p:cNvPr id="33" name="outcome-card-0">
            <a:extLst>
              <a:ext uri="{FF2B5EF4-FFF2-40B4-BE49-F238E27FC236}">
                <a16:creationId xmlns:a16="http://schemas.microsoft.com/office/drawing/2014/main" id="{B3B4D4D5-19C6-452D-8045-D3FFE6E63E5A}"/>
              </a:ext>
            </a:extLst>
          </p:cNvPr>
          <p:cNvSpPr>
            <a:spLocks noGrp="1"/>
          </p:cNvSpPr>
          <p:nvPr/>
        </p:nvSpPr>
        <p:spPr>
          <a:xfrm>
            <a:off x="647700" y="2343150"/>
            <a:ext cx="3543300" cy="1504950"/>
          </a:xfrm>
          <a:prstGeom prst="roundRect">
            <a:avLst>
              <a:gd name="adj" fmla="val 12658"/>
            </a:avLst>
          </a:prstGeom>
          <a:solidFill>
            <a:srgbClr val="FFF7E6"/>
          </a:solidFill>
          <a:ln w="9525">
            <a:solidFill>
              <a:srgbClr val="FFFFFF">
                <a:alpha val="60000"/>
              </a:srgbClr>
            </a:solidFill>
            <a:prstDash val="solid"/>
          </a:ln>
        </p:spPr>
        <p:style>
          <a:lnRef idx="0">
            <a:scrgbClr r="0" g="0" b="0"/>
          </a:lnRef>
          <a:fillRef idx="0">
            <a:scrgbClr r="0" g="0" b="0"/>
          </a:fillRef>
          <a:effectRef idx="4">
            <a:scrgbClr r="0" g="0" b="0"/>
          </a:effectRef>
          <a:fontRef idx="major"/>
        </p:style>
        <p:txBody>
          <a:bodyPr/>
          <a:lstStyle/>
          <a:p>
            <a:endParaRPr lang="en-SG"/>
          </a:p>
        </p:txBody>
      </p:sp>
      <p:sp>
        <p:nvSpPr>
          <p:cNvPr id="34" name="outcome-check-0">
            <a:extLst>
              <a:ext uri="{FF2B5EF4-FFF2-40B4-BE49-F238E27FC236}">
                <a16:creationId xmlns:a16="http://schemas.microsoft.com/office/drawing/2014/main" id="{42803041-681D-478B-998B-7644C2C8B1FD}"/>
              </a:ext>
            </a:extLst>
          </p:cNvPr>
          <p:cNvSpPr>
            <a:spLocks noGrp="1"/>
          </p:cNvSpPr>
          <p:nvPr/>
        </p:nvSpPr>
        <p:spPr>
          <a:xfrm>
            <a:off x="876300" y="2552700"/>
            <a:ext cx="285750" cy="285750"/>
          </a:xfrm>
          <a:prstGeom prst="ellipse">
            <a:avLst/>
          </a:prstGeom>
          <a:solidFill>
            <a:srgbClr val="22A06B"/>
          </a:solidFill>
          <a:ln w="0">
            <a:noFill/>
            <a:prstDash val="solid"/>
          </a:ln>
        </p:spPr>
        <p:txBody>
          <a:bodyPr lIns="0" tIns="0" rIns="0" bIns="0" anchor="ctr"/>
          <a:lstStyle/>
          <a:p>
            <a:pPr algn="ctr">
              <a:defRPr sz="1275" b="1">
                <a:solidFill>
                  <a:srgbClr val="FFFFFF"/>
                </a:solidFill>
                <a:latin typeface="Inter"/>
                <a:ea typeface="Inter"/>
                <a:cs typeface="Inter"/>
              </a:defRPr>
            </a:pPr>
            <a:r>
              <a:rPr sz="1275" b="1">
                <a:solidFill>
                  <a:srgbClr val="FFFFFF"/>
                </a:solidFill>
                <a:latin typeface="Inter"/>
                <a:ea typeface="Inter"/>
                <a:cs typeface="Inter"/>
              </a:rPr>
              <a:t>✓</a:t>
            </a:r>
          </a:p>
        </p:txBody>
      </p:sp>
      <p:sp>
        <p:nvSpPr>
          <p:cNvPr id="35" name="outcome-title-0">
            <a:extLst>
              <a:ext uri="{FF2B5EF4-FFF2-40B4-BE49-F238E27FC236}">
                <a16:creationId xmlns:a16="http://schemas.microsoft.com/office/drawing/2014/main" id="{E01FF503-7B18-4E91-8058-0E1E30CC7008}"/>
              </a:ext>
            </a:extLst>
          </p:cNvPr>
          <p:cNvSpPr>
            <a:spLocks noGrp="1"/>
          </p:cNvSpPr>
          <p:nvPr/>
        </p:nvSpPr>
        <p:spPr>
          <a:xfrm>
            <a:off x="1314450" y="2524125"/>
            <a:ext cx="2647950" cy="361950"/>
          </a:xfrm>
          <a:prstGeom prst="rect">
            <a:avLst/>
          </a:prstGeom>
          <a:noFill/>
          <a:ln w="0">
            <a:noFill/>
            <a:prstDash val="solid"/>
          </a:ln>
        </p:spPr>
        <p:txBody>
          <a:bodyPr wrap="square" lIns="0" tIns="0" rIns="0" bIns="0" anchor="ctr">
            <a:normAutofit/>
          </a:bodyPr>
          <a:lstStyle/>
          <a:p>
            <a:pPr algn="l">
              <a:lnSpc>
                <a:spcPct val="112000"/>
              </a:lnSpc>
              <a:buNone/>
              <a:defRPr sz="1575" b="1">
                <a:solidFill>
                  <a:srgbClr val="1E293B"/>
                </a:solidFill>
                <a:latin typeface="Inter"/>
                <a:ea typeface="Inter"/>
                <a:cs typeface="Inter"/>
              </a:defRPr>
            </a:pPr>
            <a:r>
              <a:rPr sz="1575" b="1">
                <a:solidFill>
                  <a:srgbClr val="1E293B"/>
                </a:solidFill>
                <a:latin typeface="Inter"/>
                <a:ea typeface="Inter"/>
                <a:cs typeface="Inter"/>
              </a:rPr>
              <a:t>One canonical price set</a:t>
            </a:r>
          </a:p>
        </p:txBody>
      </p:sp>
      <p:sp>
        <p:nvSpPr>
          <p:cNvPr id="36" name="outcome-body-0">
            <a:extLst>
              <a:ext uri="{FF2B5EF4-FFF2-40B4-BE49-F238E27FC236}">
                <a16:creationId xmlns:a16="http://schemas.microsoft.com/office/drawing/2014/main" id="{B1BBA6D3-5769-478B-BFB4-20782565EDCE}"/>
              </a:ext>
            </a:extLst>
          </p:cNvPr>
          <p:cNvSpPr>
            <a:spLocks noGrp="1"/>
          </p:cNvSpPr>
          <p:nvPr/>
        </p:nvSpPr>
        <p:spPr>
          <a:xfrm>
            <a:off x="876300" y="3086100"/>
            <a:ext cx="3086100" cy="552450"/>
          </a:xfrm>
          <a:prstGeom prst="rect">
            <a:avLst/>
          </a:prstGeom>
          <a:noFill/>
          <a:ln w="0">
            <a:noFill/>
            <a:prstDash val="solid"/>
          </a:ln>
        </p:spPr>
        <p:txBody>
          <a:bodyPr wrap="square" lIns="0" tIns="0" rIns="0" bIns="0" anchor="ctr">
            <a:normAutofit/>
          </a:bodyPr>
          <a:lstStyle/>
          <a:p>
            <a:pPr algn="l">
              <a:lnSpc>
                <a:spcPct val="116000"/>
              </a:lnSpc>
              <a:buNone/>
              <a:defRPr sz="1275" b="0">
                <a:solidFill>
                  <a:srgbClr val="64748B"/>
                </a:solidFill>
                <a:latin typeface="Inter"/>
                <a:ea typeface="Inter"/>
                <a:cs typeface="Inter"/>
              </a:defRPr>
            </a:pPr>
            <a:r>
              <a:rPr sz="1275" b="0">
                <a:solidFill>
                  <a:srgbClr val="64748B"/>
                </a:solidFill>
                <a:latin typeface="Inter"/>
                <a:ea typeface="Inter"/>
                <a:cs typeface="Inter"/>
              </a:rPr>
              <a:t>$49 / $119 / $249 for brands; Free / $16 for creators.</a:t>
            </a:r>
          </a:p>
        </p:txBody>
      </p:sp>
      <p:sp>
        <p:nvSpPr>
          <p:cNvPr id="37" name="outcome-card-1">
            <a:extLst>
              <a:ext uri="{FF2B5EF4-FFF2-40B4-BE49-F238E27FC236}">
                <a16:creationId xmlns:a16="http://schemas.microsoft.com/office/drawing/2014/main" id="{5C3E5E73-5F48-4D0A-BCB6-64525E435FAE}"/>
              </a:ext>
            </a:extLst>
          </p:cNvPr>
          <p:cNvSpPr>
            <a:spLocks noGrp="1"/>
          </p:cNvSpPr>
          <p:nvPr/>
        </p:nvSpPr>
        <p:spPr>
          <a:xfrm>
            <a:off x="4476750" y="2343150"/>
            <a:ext cx="3543300" cy="1504950"/>
          </a:xfrm>
          <a:prstGeom prst="roundRect">
            <a:avLst>
              <a:gd name="adj" fmla="val 12658"/>
            </a:avLst>
          </a:prstGeom>
          <a:solidFill>
            <a:srgbClr val="F7EEFB"/>
          </a:solidFill>
          <a:ln w="9525">
            <a:solidFill>
              <a:srgbClr val="FFFFFF">
                <a:alpha val="60000"/>
              </a:srgbClr>
            </a:solidFill>
            <a:prstDash val="solid"/>
          </a:ln>
        </p:spPr>
        <p:style>
          <a:lnRef idx="0">
            <a:scrgbClr r="0" g="0" b="0"/>
          </a:lnRef>
          <a:fillRef idx="0">
            <a:scrgbClr r="0" g="0" b="0"/>
          </a:fillRef>
          <a:effectRef idx="4">
            <a:scrgbClr r="0" g="0" b="0"/>
          </a:effectRef>
          <a:fontRef idx="major"/>
        </p:style>
        <p:txBody>
          <a:bodyPr/>
          <a:lstStyle/>
          <a:p>
            <a:endParaRPr lang="en-SG"/>
          </a:p>
        </p:txBody>
      </p:sp>
      <p:sp>
        <p:nvSpPr>
          <p:cNvPr id="38" name="outcome-check-1">
            <a:extLst>
              <a:ext uri="{FF2B5EF4-FFF2-40B4-BE49-F238E27FC236}">
                <a16:creationId xmlns:a16="http://schemas.microsoft.com/office/drawing/2014/main" id="{3288CB7E-8EEB-46C6-863D-4FC1838CE1A4}"/>
              </a:ext>
            </a:extLst>
          </p:cNvPr>
          <p:cNvSpPr>
            <a:spLocks noGrp="1"/>
          </p:cNvSpPr>
          <p:nvPr/>
        </p:nvSpPr>
        <p:spPr>
          <a:xfrm>
            <a:off x="4705350" y="2552700"/>
            <a:ext cx="285750" cy="285750"/>
          </a:xfrm>
          <a:prstGeom prst="ellipse">
            <a:avLst/>
          </a:prstGeom>
          <a:solidFill>
            <a:srgbClr val="22A06B"/>
          </a:solidFill>
          <a:ln w="0">
            <a:noFill/>
            <a:prstDash val="solid"/>
          </a:ln>
        </p:spPr>
        <p:txBody>
          <a:bodyPr lIns="0" tIns="0" rIns="0" bIns="0" anchor="ctr"/>
          <a:lstStyle/>
          <a:p>
            <a:pPr algn="ctr">
              <a:defRPr sz="1275" b="1">
                <a:solidFill>
                  <a:srgbClr val="FFFFFF"/>
                </a:solidFill>
                <a:latin typeface="Inter"/>
                <a:ea typeface="Inter"/>
                <a:cs typeface="Inter"/>
              </a:defRPr>
            </a:pPr>
            <a:r>
              <a:rPr sz="1275" b="1">
                <a:solidFill>
                  <a:srgbClr val="FFFFFF"/>
                </a:solidFill>
                <a:latin typeface="Inter"/>
                <a:ea typeface="Inter"/>
                <a:cs typeface="Inter"/>
              </a:rPr>
              <a:t>✓</a:t>
            </a:r>
          </a:p>
        </p:txBody>
      </p:sp>
      <p:sp>
        <p:nvSpPr>
          <p:cNvPr id="39" name="outcome-title-1">
            <a:extLst>
              <a:ext uri="{FF2B5EF4-FFF2-40B4-BE49-F238E27FC236}">
                <a16:creationId xmlns:a16="http://schemas.microsoft.com/office/drawing/2014/main" id="{96ECAF30-9769-497A-9202-6B83D163C3C2}"/>
              </a:ext>
            </a:extLst>
          </p:cNvPr>
          <p:cNvSpPr>
            <a:spLocks noGrp="1"/>
          </p:cNvSpPr>
          <p:nvPr/>
        </p:nvSpPr>
        <p:spPr>
          <a:xfrm>
            <a:off x="5143500" y="2524125"/>
            <a:ext cx="2647950" cy="361950"/>
          </a:xfrm>
          <a:prstGeom prst="rect">
            <a:avLst/>
          </a:prstGeom>
          <a:noFill/>
          <a:ln w="0">
            <a:noFill/>
            <a:prstDash val="solid"/>
          </a:ln>
        </p:spPr>
        <p:txBody>
          <a:bodyPr wrap="square" lIns="0" tIns="0" rIns="0" bIns="0" anchor="ctr">
            <a:normAutofit/>
          </a:bodyPr>
          <a:lstStyle/>
          <a:p>
            <a:pPr algn="l">
              <a:lnSpc>
                <a:spcPct val="112000"/>
              </a:lnSpc>
              <a:buNone/>
              <a:defRPr sz="1575" b="1">
                <a:solidFill>
                  <a:srgbClr val="1E293B"/>
                </a:solidFill>
                <a:latin typeface="Inter"/>
                <a:ea typeface="Inter"/>
                <a:cs typeface="Inter"/>
              </a:defRPr>
            </a:pPr>
            <a:r>
              <a:rPr sz="1575" b="1">
                <a:solidFill>
                  <a:srgbClr val="1E293B"/>
                </a:solidFill>
                <a:latin typeface="Inter"/>
                <a:ea typeface="Inter"/>
                <a:cs typeface="Inter"/>
              </a:rPr>
              <a:t>Honest feature labels</a:t>
            </a:r>
          </a:p>
        </p:txBody>
      </p:sp>
      <p:sp>
        <p:nvSpPr>
          <p:cNvPr id="40" name="outcome-body-1">
            <a:extLst>
              <a:ext uri="{FF2B5EF4-FFF2-40B4-BE49-F238E27FC236}">
                <a16:creationId xmlns:a16="http://schemas.microsoft.com/office/drawing/2014/main" id="{C5EEA0AF-EB5F-4CE5-BF78-BA1FC1B83AC0}"/>
              </a:ext>
            </a:extLst>
          </p:cNvPr>
          <p:cNvSpPr>
            <a:spLocks noGrp="1"/>
          </p:cNvSpPr>
          <p:nvPr/>
        </p:nvSpPr>
        <p:spPr>
          <a:xfrm>
            <a:off x="4705350" y="3086100"/>
            <a:ext cx="3086100" cy="552450"/>
          </a:xfrm>
          <a:prstGeom prst="rect">
            <a:avLst/>
          </a:prstGeom>
          <a:noFill/>
          <a:ln w="0">
            <a:noFill/>
            <a:prstDash val="solid"/>
          </a:ln>
        </p:spPr>
        <p:txBody>
          <a:bodyPr wrap="square" lIns="0" tIns="0" rIns="0" bIns="0" anchor="ctr">
            <a:normAutofit/>
          </a:bodyPr>
          <a:lstStyle/>
          <a:p>
            <a:pPr algn="l">
              <a:lnSpc>
                <a:spcPct val="116000"/>
              </a:lnSpc>
              <a:buNone/>
              <a:defRPr sz="1275" b="0">
                <a:solidFill>
                  <a:srgbClr val="64748B"/>
                </a:solidFill>
                <a:latin typeface="Inter"/>
                <a:ea typeface="Inter"/>
                <a:cs typeface="Inter"/>
              </a:defRPr>
            </a:pPr>
            <a:r>
              <a:rPr sz="1275" b="0">
                <a:solidFill>
                  <a:srgbClr val="64748B"/>
                </a:solidFill>
                <a:latin typeface="Inter"/>
                <a:ea typeface="Inter"/>
                <a:cs typeface="Inter"/>
              </a:rPr>
              <a:t>LIVE, BETA and SOON appear consistently across the experience.</a:t>
            </a:r>
          </a:p>
        </p:txBody>
      </p:sp>
      <p:sp>
        <p:nvSpPr>
          <p:cNvPr id="41" name="outcome-card-2">
            <a:extLst>
              <a:ext uri="{FF2B5EF4-FFF2-40B4-BE49-F238E27FC236}">
                <a16:creationId xmlns:a16="http://schemas.microsoft.com/office/drawing/2014/main" id="{17C078F8-C18A-483E-9E15-DCEBAEEFE1B9}"/>
              </a:ext>
            </a:extLst>
          </p:cNvPr>
          <p:cNvSpPr>
            <a:spLocks noGrp="1"/>
          </p:cNvSpPr>
          <p:nvPr/>
        </p:nvSpPr>
        <p:spPr>
          <a:xfrm>
            <a:off x="8305800" y="2343150"/>
            <a:ext cx="3543300" cy="1504950"/>
          </a:xfrm>
          <a:prstGeom prst="roundRect">
            <a:avLst>
              <a:gd name="adj" fmla="val 12658"/>
            </a:avLst>
          </a:prstGeom>
          <a:solidFill>
            <a:srgbClr val="EEF3FF"/>
          </a:solidFill>
          <a:ln w="9525">
            <a:solidFill>
              <a:srgbClr val="FFFFFF">
                <a:alpha val="60000"/>
              </a:srgbClr>
            </a:solidFill>
            <a:prstDash val="solid"/>
          </a:ln>
        </p:spPr>
        <p:style>
          <a:lnRef idx="0">
            <a:scrgbClr r="0" g="0" b="0"/>
          </a:lnRef>
          <a:fillRef idx="0">
            <a:scrgbClr r="0" g="0" b="0"/>
          </a:fillRef>
          <a:effectRef idx="4">
            <a:scrgbClr r="0" g="0" b="0"/>
          </a:effectRef>
          <a:fontRef idx="major"/>
        </p:style>
        <p:txBody>
          <a:bodyPr/>
          <a:lstStyle/>
          <a:p>
            <a:endParaRPr lang="en-SG"/>
          </a:p>
        </p:txBody>
      </p:sp>
      <p:sp>
        <p:nvSpPr>
          <p:cNvPr id="42" name="outcome-check-2">
            <a:extLst>
              <a:ext uri="{FF2B5EF4-FFF2-40B4-BE49-F238E27FC236}">
                <a16:creationId xmlns:a16="http://schemas.microsoft.com/office/drawing/2014/main" id="{BA6C036A-E859-464F-8FFA-40EA3026D593}"/>
              </a:ext>
            </a:extLst>
          </p:cNvPr>
          <p:cNvSpPr>
            <a:spLocks noGrp="1"/>
          </p:cNvSpPr>
          <p:nvPr/>
        </p:nvSpPr>
        <p:spPr>
          <a:xfrm>
            <a:off x="8534400" y="2552700"/>
            <a:ext cx="285750" cy="285750"/>
          </a:xfrm>
          <a:prstGeom prst="ellipse">
            <a:avLst/>
          </a:prstGeom>
          <a:solidFill>
            <a:srgbClr val="22A06B"/>
          </a:solidFill>
          <a:ln w="0">
            <a:noFill/>
            <a:prstDash val="solid"/>
          </a:ln>
        </p:spPr>
        <p:txBody>
          <a:bodyPr lIns="0" tIns="0" rIns="0" bIns="0" anchor="ctr"/>
          <a:lstStyle/>
          <a:p>
            <a:pPr algn="ctr">
              <a:defRPr sz="1275" b="1">
                <a:solidFill>
                  <a:srgbClr val="FFFFFF"/>
                </a:solidFill>
                <a:latin typeface="Inter"/>
                <a:ea typeface="Inter"/>
                <a:cs typeface="Inter"/>
              </a:defRPr>
            </a:pPr>
            <a:r>
              <a:rPr sz="1275" b="1">
                <a:solidFill>
                  <a:srgbClr val="FFFFFF"/>
                </a:solidFill>
                <a:latin typeface="Inter"/>
                <a:ea typeface="Inter"/>
                <a:cs typeface="Inter"/>
              </a:rPr>
              <a:t>✓</a:t>
            </a:r>
          </a:p>
        </p:txBody>
      </p:sp>
      <p:sp>
        <p:nvSpPr>
          <p:cNvPr id="43" name="outcome-title-2">
            <a:extLst>
              <a:ext uri="{FF2B5EF4-FFF2-40B4-BE49-F238E27FC236}">
                <a16:creationId xmlns:a16="http://schemas.microsoft.com/office/drawing/2014/main" id="{43C5195C-E459-40E7-AD91-A6F0F9B499EF}"/>
              </a:ext>
            </a:extLst>
          </p:cNvPr>
          <p:cNvSpPr>
            <a:spLocks noGrp="1"/>
          </p:cNvSpPr>
          <p:nvPr/>
        </p:nvSpPr>
        <p:spPr>
          <a:xfrm>
            <a:off x="8972550" y="2524125"/>
            <a:ext cx="2647950" cy="361950"/>
          </a:xfrm>
          <a:prstGeom prst="rect">
            <a:avLst/>
          </a:prstGeom>
          <a:noFill/>
          <a:ln w="0">
            <a:noFill/>
            <a:prstDash val="solid"/>
          </a:ln>
        </p:spPr>
        <p:txBody>
          <a:bodyPr wrap="square" lIns="0" tIns="0" rIns="0" bIns="0" anchor="ctr">
            <a:normAutofit/>
          </a:bodyPr>
          <a:lstStyle/>
          <a:p>
            <a:pPr algn="l">
              <a:lnSpc>
                <a:spcPct val="112000"/>
              </a:lnSpc>
              <a:buNone/>
              <a:defRPr sz="1575" b="1">
                <a:solidFill>
                  <a:srgbClr val="1E293B"/>
                </a:solidFill>
                <a:latin typeface="Inter"/>
                <a:ea typeface="Inter"/>
                <a:cs typeface="Inter"/>
              </a:defRPr>
            </a:pPr>
            <a:r>
              <a:rPr sz="1575" b="1">
                <a:solidFill>
                  <a:srgbClr val="1E293B"/>
                </a:solidFill>
                <a:latin typeface="Inter"/>
                <a:ea typeface="Inter"/>
                <a:cs typeface="Inter"/>
              </a:rPr>
              <a:t>Brand and creator paths split</a:t>
            </a:r>
          </a:p>
        </p:txBody>
      </p:sp>
      <p:sp>
        <p:nvSpPr>
          <p:cNvPr id="44" name="outcome-body-2">
            <a:extLst>
              <a:ext uri="{FF2B5EF4-FFF2-40B4-BE49-F238E27FC236}">
                <a16:creationId xmlns:a16="http://schemas.microsoft.com/office/drawing/2014/main" id="{DF1422F1-39CB-493A-B04F-E47D6759DE26}"/>
              </a:ext>
            </a:extLst>
          </p:cNvPr>
          <p:cNvSpPr>
            <a:spLocks noGrp="1"/>
          </p:cNvSpPr>
          <p:nvPr/>
        </p:nvSpPr>
        <p:spPr>
          <a:xfrm>
            <a:off x="8534400" y="3086100"/>
            <a:ext cx="3086100" cy="552450"/>
          </a:xfrm>
          <a:prstGeom prst="rect">
            <a:avLst/>
          </a:prstGeom>
          <a:noFill/>
          <a:ln w="0">
            <a:noFill/>
            <a:prstDash val="solid"/>
          </a:ln>
        </p:spPr>
        <p:txBody>
          <a:bodyPr wrap="square" lIns="0" tIns="0" rIns="0" bIns="0" anchor="ctr">
            <a:normAutofit/>
          </a:bodyPr>
          <a:lstStyle/>
          <a:p>
            <a:pPr algn="l">
              <a:lnSpc>
                <a:spcPct val="116000"/>
              </a:lnSpc>
              <a:buNone/>
              <a:defRPr sz="1275" b="0">
                <a:solidFill>
                  <a:srgbClr val="64748B"/>
                </a:solidFill>
                <a:latin typeface="Inter"/>
                <a:ea typeface="Inter"/>
                <a:cs typeface="Inter"/>
              </a:defRPr>
            </a:pPr>
            <a:r>
              <a:rPr sz="1275" b="0">
                <a:solidFill>
                  <a:srgbClr val="64748B"/>
                </a:solidFill>
                <a:latin typeface="Inter"/>
                <a:ea typeface="Inter"/>
                <a:cs typeface="Inter"/>
              </a:rPr>
              <a:t>Each audience gets its own language, proof and next step.</a:t>
            </a:r>
          </a:p>
        </p:txBody>
      </p:sp>
      <p:sp>
        <p:nvSpPr>
          <p:cNvPr id="45" name="outcome-card-3">
            <a:extLst>
              <a:ext uri="{FF2B5EF4-FFF2-40B4-BE49-F238E27FC236}">
                <a16:creationId xmlns:a16="http://schemas.microsoft.com/office/drawing/2014/main" id="{97704488-9AF3-42BF-826C-07727A07E2C3}"/>
              </a:ext>
            </a:extLst>
          </p:cNvPr>
          <p:cNvSpPr>
            <a:spLocks noGrp="1"/>
          </p:cNvSpPr>
          <p:nvPr/>
        </p:nvSpPr>
        <p:spPr>
          <a:xfrm>
            <a:off x="647700" y="4095750"/>
            <a:ext cx="3543300" cy="1504950"/>
          </a:xfrm>
          <a:prstGeom prst="roundRect">
            <a:avLst>
              <a:gd name="adj" fmla="val 12658"/>
            </a:avLst>
          </a:prstGeom>
          <a:solidFill>
            <a:srgbClr val="FFF7E6"/>
          </a:solidFill>
          <a:ln w="9525">
            <a:solidFill>
              <a:srgbClr val="FFFFFF">
                <a:alpha val="60000"/>
              </a:srgbClr>
            </a:solidFill>
            <a:prstDash val="solid"/>
          </a:ln>
        </p:spPr>
        <p:style>
          <a:lnRef idx="0">
            <a:scrgbClr r="0" g="0" b="0"/>
          </a:lnRef>
          <a:fillRef idx="0">
            <a:scrgbClr r="0" g="0" b="0"/>
          </a:fillRef>
          <a:effectRef idx="4">
            <a:scrgbClr r="0" g="0" b="0"/>
          </a:effectRef>
          <a:fontRef idx="major"/>
        </p:style>
        <p:txBody>
          <a:bodyPr/>
          <a:lstStyle/>
          <a:p>
            <a:endParaRPr lang="en-SG"/>
          </a:p>
        </p:txBody>
      </p:sp>
      <p:sp>
        <p:nvSpPr>
          <p:cNvPr id="46" name="outcome-check-3">
            <a:extLst>
              <a:ext uri="{FF2B5EF4-FFF2-40B4-BE49-F238E27FC236}">
                <a16:creationId xmlns:a16="http://schemas.microsoft.com/office/drawing/2014/main" id="{C125C153-C816-42A2-824E-57B7D2841E50}"/>
              </a:ext>
            </a:extLst>
          </p:cNvPr>
          <p:cNvSpPr>
            <a:spLocks noGrp="1"/>
          </p:cNvSpPr>
          <p:nvPr/>
        </p:nvSpPr>
        <p:spPr>
          <a:xfrm>
            <a:off x="876300" y="4305300"/>
            <a:ext cx="285750" cy="285750"/>
          </a:xfrm>
          <a:prstGeom prst="ellipse">
            <a:avLst/>
          </a:prstGeom>
          <a:solidFill>
            <a:srgbClr val="22A06B"/>
          </a:solidFill>
          <a:ln w="0">
            <a:noFill/>
            <a:prstDash val="solid"/>
          </a:ln>
        </p:spPr>
        <p:txBody>
          <a:bodyPr lIns="0" tIns="0" rIns="0" bIns="0" anchor="ctr"/>
          <a:lstStyle/>
          <a:p>
            <a:pPr algn="ctr">
              <a:defRPr sz="1275" b="1">
                <a:solidFill>
                  <a:srgbClr val="FFFFFF"/>
                </a:solidFill>
                <a:latin typeface="Inter"/>
                <a:ea typeface="Inter"/>
                <a:cs typeface="Inter"/>
              </a:defRPr>
            </a:pPr>
            <a:r>
              <a:rPr sz="1275" b="1">
                <a:solidFill>
                  <a:srgbClr val="FFFFFF"/>
                </a:solidFill>
                <a:latin typeface="Inter"/>
                <a:ea typeface="Inter"/>
                <a:cs typeface="Inter"/>
              </a:rPr>
              <a:t>✓</a:t>
            </a:r>
          </a:p>
        </p:txBody>
      </p:sp>
      <p:sp>
        <p:nvSpPr>
          <p:cNvPr id="47" name="outcome-title-3">
            <a:extLst>
              <a:ext uri="{FF2B5EF4-FFF2-40B4-BE49-F238E27FC236}">
                <a16:creationId xmlns:a16="http://schemas.microsoft.com/office/drawing/2014/main" id="{14E44B84-C33A-46FD-9133-59B1D0FE6B13}"/>
              </a:ext>
            </a:extLst>
          </p:cNvPr>
          <p:cNvSpPr>
            <a:spLocks noGrp="1"/>
          </p:cNvSpPr>
          <p:nvPr/>
        </p:nvSpPr>
        <p:spPr>
          <a:xfrm>
            <a:off x="1314450" y="4276725"/>
            <a:ext cx="2647950" cy="361950"/>
          </a:xfrm>
          <a:prstGeom prst="rect">
            <a:avLst/>
          </a:prstGeom>
          <a:noFill/>
          <a:ln w="0">
            <a:noFill/>
            <a:prstDash val="solid"/>
          </a:ln>
        </p:spPr>
        <p:txBody>
          <a:bodyPr wrap="square" lIns="0" tIns="0" rIns="0" bIns="0" anchor="ctr">
            <a:normAutofit/>
          </a:bodyPr>
          <a:lstStyle/>
          <a:p>
            <a:pPr algn="l">
              <a:lnSpc>
                <a:spcPct val="112000"/>
              </a:lnSpc>
              <a:buNone/>
              <a:defRPr sz="1575" b="1">
                <a:solidFill>
                  <a:srgbClr val="1E293B"/>
                </a:solidFill>
                <a:latin typeface="Inter"/>
                <a:ea typeface="Inter"/>
                <a:cs typeface="Inter"/>
              </a:defRPr>
            </a:pPr>
            <a:r>
              <a:rPr sz="1575" b="1">
                <a:solidFill>
                  <a:srgbClr val="1E293B"/>
                </a:solidFill>
                <a:latin typeface="Inter"/>
                <a:ea typeface="Inter"/>
                <a:cs typeface="Inter"/>
              </a:rPr>
              <a:t>Value proposition leads</a:t>
            </a:r>
          </a:p>
        </p:txBody>
      </p:sp>
      <p:sp>
        <p:nvSpPr>
          <p:cNvPr id="48" name="outcome-body-3">
            <a:extLst>
              <a:ext uri="{FF2B5EF4-FFF2-40B4-BE49-F238E27FC236}">
                <a16:creationId xmlns:a16="http://schemas.microsoft.com/office/drawing/2014/main" id="{CE4BBD76-7A9C-4DB6-B3E7-DCFC955F54B2}"/>
              </a:ext>
            </a:extLst>
          </p:cNvPr>
          <p:cNvSpPr>
            <a:spLocks noGrp="1"/>
          </p:cNvSpPr>
          <p:nvPr/>
        </p:nvSpPr>
        <p:spPr>
          <a:xfrm>
            <a:off x="876300" y="4838700"/>
            <a:ext cx="3086100" cy="552450"/>
          </a:xfrm>
          <a:prstGeom prst="rect">
            <a:avLst/>
          </a:prstGeom>
          <a:noFill/>
          <a:ln w="0">
            <a:noFill/>
            <a:prstDash val="solid"/>
          </a:ln>
        </p:spPr>
        <p:txBody>
          <a:bodyPr wrap="square" lIns="0" tIns="0" rIns="0" bIns="0" anchor="ctr">
            <a:normAutofit/>
          </a:bodyPr>
          <a:lstStyle/>
          <a:p>
            <a:pPr algn="l">
              <a:lnSpc>
                <a:spcPct val="116000"/>
              </a:lnSpc>
              <a:buNone/>
              <a:defRPr sz="1275" b="0">
                <a:solidFill>
                  <a:srgbClr val="64748B"/>
                </a:solidFill>
                <a:latin typeface="Inter"/>
                <a:ea typeface="Inter"/>
                <a:cs typeface="Inter"/>
              </a:defRPr>
            </a:pPr>
            <a:r>
              <a:rPr sz="1275" b="0">
                <a:solidFill>
                  <a:srgbClr val="64748B"/>
                </a:solidFill>
                <a:latin typeface="Inter"/>
                <a:ea typeface="Inter"/>
                <a:cs typeface="Inter"/>
              </a:rPr>
              <a:t>The homepage sells the platform before supporting content.</a:t>
            </a:r>
          </a:p>
        </p:txBody>
      </p:sp>
      <p:sp>
        <p:nvSpPr>
          <p:cNvPr id="49" name="outcome-card-4">
            <a:extLst>
              <a:ext uri="{FF2B5EF4-FFF2-40B4-BE49-F238E27FC236}">
                <a16:creationId xmlns:a16="http://schemas.microsoft.com/office/drawing/2014/main" id="{B356E7C0-0DF4-4927-B775-4819B6565176}"/>
              </a:ext>
            </a:extLst>
          </p:cNvPr>
          <p:cNvSpPr>
            <a:spLocks noGrp="1"/>
          </p:cNvSpPr>
          <p:nvPr/>
        </p:nvSpPr>
        <p:spPr>
          <a:xfrm>
            <a:off x="4476750" y="4095750"/>
            <a:ext cx="3543300" cy="1504950"/>
          </a:xfrm>
          <a:prstGeom prst="roundRect">
            <a:avLst>
              <a:gd name="adj" fmla="val 12658"/>
            </a:avLst>
          </a:prstGeom>
          <a:solidFill>
            <a:srgbClr val="F7EEFB"/>
          </a:solidFill>
          <a:ln w="9525">
            <a:solidFill>
              <a:srgbClr val="FFFFFF">
                <a:alpha val="60000"/>
              </a:srgbClr>
            </a:solidFill>
            <a:prstDash val="solid"/>
          </a:ln>
        </p:spPr>
        <p:style>
          <a:lnRef idx="0">
            <a:scrgbClr r="0" g="0" b="0"/>
          </a:lnRef>
          <a:fillRef idx="0">
            <a:scrgbClr r="0" g="0" b="0"/>
          </a:fillRef>
          <a:effectRef idx="4">
            <a:scrgbClr r="0" g="0" b="0"/>
          </a:effectRef>
          <a:fontRef idx="major"/>
        </p:style>
        <p:txBody>
          <a:bodyPr/>
          <a:lstStyle/>
          <a:p>
            <a:endParaRPr lang="en-SG"/>
          </a:p>
        </p:txBody>
      </p:sp>
      <p:sp>
        <p:nvSpPr>
          <p:cNvPr id="50" name="outcome-check-4">
            <a:extLst>
              <a:ext uri="{FF2B5EF4-FFF2-40B4-BE49-F238E27FC236}">
                <a16:creationId xmlns:a16="http://schemas.microsoft.com/office/drawing/2014/main" id="{A9BF220C-7D05-48BC-8560-12BCCD56C142}"/>
              </a:ext>
            </a:extLst>
          </p:cNvPr>
          <p:cNvSpPr>
            <a:spLocks noGrp="1"/>
          </p:cNvSpPr>
          <p:nvPr/>
        </p:nvSpPr>
        <p:spPr>
          <a:xfrm>
            <a:off x="4705350" y="4305300"/>
            <a:ext cx="285750" cy="285750"/>
          </a:xfrm>
          <a:prstGeom prst="ellipse">
            <a:avLst/>
          </a:prstGeom>
          <a:solidFill>
            <a:srgbClr val="22A06B"/>
          </a:solidFill>
          <a:ln w="0">
            <a:noFill/>
            <a:prstDash val="solid"/>
          </a:ln>
        </p:spPr>
        <p:txBody>
          <a:bodyPr lIns="0" tIns="0" rIns="0" bIns="0" anchor="ctr"/>
          <a:lstStyle/>
          <a:p>
            <a:pPr algn="ctr">
              <a:defRPr sz="1275" b="1">
                <a:solidFill>
                  <a:srgbClr val="FFFFFF"/>
                </a:solidFill>
                <a:latin typeface="Inter"/>
                <a:ea typeface="Inter"/>
                <a:cs typeface="Inter"/>
              </a:defRPr>
            </a:pPr>
            <a:r>
              <a:rPr sz="1275" b="1">
                <a:solidFill>
                  <a:srgbClr val="FFFFFF"/>
                </a:solidFill>
                <a:latin typeface="Inter"/>
                <a:ea typeface="Inter"/>
                <a:cs typeface="Inter"/>
              </a:rPr>
              <a:t>✓</a:t>
            </a:r>
          </a:p>
        </p:txBody>
      </p:sp>
      <p:sp>
        <p:nvSpPr>
          <p:cNvPr id="51" name="outcome-title-4">
            <a:extLst>
              <a:ext uri="{FF2B5EF4-FFF2-40B4-BE49-F238E27FC236}">
                <a16:creationId xmlns:a16="http://schemas.microsoft.com/office/drawing/2014/main" id="{024FFDBA-C422-4D44-BB9D-C4F1E8D75EBD}"/>
              </a:ext>
            </a:extLst>
          </p:cNvPr>
          <p:cNvSpPr>
            <a:spLocks noGrp="1"/>
          </p:cNvSpPr>
          <p:nvPr/>
        </p:nvSpPr>
        <p:spPr>
          <a:xfrm>
            <a:off x="5143500" y="4276725"/>
            <a:ext cx="2647950" cy="361950"/>
          </a:xfrm>
          <a:prstGeom prst="rect">
            <a:avLst/>
          </a:prstGeom>
          <a:noFill/>
          <a:ln w="0">
            <a:noFill/>
            <a:prstDash val="solid"/>
          </a:ln>
        </p:spPr>
        <p:txBody>
          <a:bodyPr wrap="square" lIns="0" tIns="0" rIns="0" bIns="0" anchor="ctr">
            <a:normAutofit/>
          </a:bodyPr>
          <a:lstStyle/>
          <a:p>
            <a:pPr algn="l">
              <a:lnSpc>
                <a:spcPct val="112000"/>
              </a:lnSpc>
              <a:buNone/>
              <a:defRPr sz="1575" b="1">
                <a:solidFill>
                  <a:srgbClr val="1E293B"/>
                </a:solidFill>
                <a:latin typeface="Inter"/>
                <a:ea typeface="Inter"/>
                <a:cs typeface="Inter"/>
              </a:defRPr>
            </a:pPr>
            <a:r>
              <a:rPr sz="1575" b="1">
                <a:solidFill>
                  <a:srgbClr val="1E293B"/>
                </a:solidFill>
                <a:latin typeface="Inter"/>
                <a:ea typeface="Inter"/>
                <a:cs typeface="Inter"/>
              </a:rPr>
              <a:t>One design system</a:t>
            </a:r>
          </a:p>
        </p:txBody>
      </p:sp>
      <p:sp>
        <p:nvSpPr>
          <p:cNvPr id="52" name="outcome-body-4">
            <a:extLst>
              <a:ext uri="{FF2B5EF4-FFF2-40B4-BE49-F238E27FC236}">
                <a16:creationId xmlns:a16="http://schemas.microsoft.com/office/drawing/2014/main" id="{1D56CF6B-D62B-4DD7-B5A4-3B6733A98D8A}"/>
              </a:ext>
            </a:extLst>
          </p:cNvPr>
          <p:cNvSpPr>
            <a:spLocks noGrp="1"/>
          </p:cNvSpPr>
          <p:nvPr/>
        </p:nvSpPr>
        <p:spPr>
          <a:xfrm>
            <a:off x="4705350" y="4838700"/>
            <a:ext cx="3086100" cy="552450"/>
          </a:xfrm>
          <a:prstGeom prst="rect">
            <a:avLst/>
          </a:prstGeom>
          <a:noFill/>
          <a:ln w="0">
            <a:noFill/>
            <a:prstDash val="solid"/>
          </a:ln>
        </p:spPr>
        <p:txBody>
          <a:bodyPr wrap="square" lIns="0" tIns="0" rIns="0" bIns="0" anchor="ctr">
            <a:normAutofit/>
          </a:bodyPr>
          <a:lstStyle/>
          <a:p>
            <a:pPr algn="l">
              <a:lnSpc>
                <a:spcPct val="116000"/>
              </a:lnSpc>
              <a:buNone/>
              <a:defRPr sz="1275" b="0">
                <a:solidFill>
                  <a:srgbClr val="64748B"/>
                </a:solidFill>
                <a:latin typeface="Inter"/>
                <a:ea typeface="Inter"/>
                <a:cs typeface="Inter"/>
              </a:defRPr>
            </a:pPr>
            <a:r>
              <a:rPr sz="1275" b="0">
                <a:solidFill>
                  <a:srgbClr val="64748B"/>
                </a:solidFill>
                <a:latin typeface="Inter"/>
                <a:ea typeface="Inter"/>
                <a:cs typeface="Inter"/>
              </a:rPr>
              <a:t>Shared type, spacing, cards and status chips feel deliberate.</a:t>
            </a:r>
          </a:p>
        </p:txBody>
      </p:sp>
      <p:sp>
        <p:nvSpPr>
          <p:cNvPr id="53" name="outcome-card-5">
            <a:extLst>
              <a:ext uri="{FF2B5EF4-FFF2-40B4-BE49-F238E27FC236}">
                <a16:creationId xmlns:a16="http://schemas.microsoft.com/office/drawing/2014/main" id="{6F0D05AD-4AA2-458B-B33B-D0A2F1858C77}"/>
              </a:ext>
            </a:extLst>
          </p:cNvPr>
          <p:cNvSpPr>
            <a:spLocks noGrp="1"/>
          </p:cNvSpPr>
          <p:nvPr/>
        </p:nvSpPr>
        <p:spPr>
          <a:xfrm>
            <a:off x="8305800" y="4095750"/>
            <a:ext cx="3543300" cy="1504950"/>
          </a:xfrm>
          <a:prstGeom prst="roundRect">
            <a:avLst>
              <a:gd name="adj" fmla="val 12658"/>
            </a:avLst>
          </a:prstGeom>
          <a:solidFill>
            <a:srgbClr val="EEF3FF"/>
          </a:solidFill>
          <a:ln w="9525">
            <a:solidFill>
              <a:srgbClr val="FFFFFF">
                <a:alpha val="60000"/>
              </a:srgbClr>
            </a:solidFill>
            <a:prstDash val="solid"/>
          </a:ln>
        </p:spPr>
        <p:style>
          <a:lnRef idx="0">
            <a:scrgbClr r="0" g="0" b="0"/>
          </a:lnRef>
          <a:fillRef idx="0">
            <a:scrgbClr r="0" g="0" b="0"/>
          </a:fillRef>
          <a:effectRef idx="4">
            <a:scrgbClr r="0" g="0" b="0"/>
          </a:effectRef>
          <a:fontRef idx="major"/>
        </p:style>
        <p:txBody>
          <a:bodyPr/>
          <a:lstStyle/>
          <a:p>
            <a:endParaRPr lang="en-SG"/>
          </a:p>
        </p:txBody>
      </p:sp>
      <p:sp>
        <p:nvSpPr>
          <p:cNvPr id="54" name="outcome-check-5">
            <a:extLst>
              <a:ext uri="{FF2B5EF4-FFF2-40B4-BE49-F238E27FC236}">
                <a16:creationId xmlns:a16="http://schemas.microsoft.com/office/drawing/2014/main" id="{091B4BF3-0C41-435A-AE60-0159A96D3F7E}"/>
              </a:ext>
            </a:extLst>
          </p:cNvPr>
          <p:cNvSpPr>
            <a:spLocks noGrp="1"/>
          </p:cNvSpPr>
          <p:nvPr/>
        </p:nvSpPr>
        <p:spPr>
          <a:xfrm>
            <a:off x="8534400" y="4305300"/>
            <a:ext cx="285750" cy="285750"/>
          </a:xfrm>
          <a:prstGeom prst="ellipse">
            <a:avLst/>
          </a:prstGeom>
          <a:solidFill>
            <a:srgbClr val="22A06B"/>
          </a:solidFill>
          <a:ln w="0">
            <a:noFill/>
            <a:prstDash val="solid"/>
          </a:ln>
        </p:spPr>
        <p:txBody>
          <a:bodyPr lIns="0" tIns="0" rIns="0" bIns="0" anchor="ctr"/>
          <a:lstStyle/>
          <a:p>
            <a:pPr algn="ctr">
              <a:defRPr sz="1275" b="1">
                <a:solidFill>
                  <a:srgbClr val="FFFFFF"/>
                </a:solidFill>
                <a:latin typeface="Inter"/>
                <a:ea typeface="Inter"/>
                <a:cs typeface="Inter"/>
              </a:defRPr>
            </a:pPr>
            <a:r>
              <a:rPr sz="1275" b="1">
                <a:solidFill>
                  <a:srgbClr val="FFFFFF"/>
                </a:solidFill>
                <a:latin typeface="Inter"/>
                <a:ea typeface="Inter"/>
                <a:cs typeface="Inter"/>
              </a:rPr>
              <a:t>✓</a:t>
            </a:r>
          </a:p>
        </p:txBody>
      </p:sp>
      <p:sp>
        <p:nvSpPr>
          <p:cNvPr id="55" name="outcome-title-5">
            <a:extLst>
              <a:ext uri="{FF2B5EF4-FFF2-40B4-BE49-F238E27FC236}">
                <a16:creationId xmlns:a16="http://schemas.microsoft.com/office/drawing/2014/main" id="{D2586644-B252-436B-938B-704605708BA1}"/>
              </a:ext>
            </a:extLst>
          </p:cNvPr>
          <p:cNvSpPr>
            <a:spLocks noGrp="1"/>
          </p:cNvSpPr>
          <p:nvPr/>
        </p:nvSpPr>
        <p:spPr>
          <a:xfrm>
            <a:off x="8972550" y="4276725"/>
            <a:ext cx="2647950" cy="361950"/>
          </a:xfrm>
          <a:prstGeom prst="rect">
            <a:avLst/>
          </a:prstGeom>
          <a:noFill/>
          <a:ln w="0">
            <a:noFill/>
            <a:prstDash val="solid"/>
          </a:ln>
        </p:spPr>
        <p:txBody>
          <a:bodyPr wrap="square" lIns="0" tIns="0" rIns="0" bIns="0" anchor="ctr">
            <a:normAutofit/>
          </a:bodyPr>
          <a:lstStyle/>
          <a:p>
            <a:pPr algn="l">
              <a:lnSpc>
                <a:spcPct val="112000"/>
              </a:lnSpc>
              <a:buNone/>
              <a:defRPr sz="1575" b="1">
                <a:solidFill>
                  <a:srgbClr val="1E293B"/>
                </a:solidFill>
                <a:latin typeface="Inter"/>
                <a:ea typeface="Inter"/>
                <a:cs typeface="Inter"/>
              </a:defRPr>
            </a:pPr>
            <a:r>
              <a:rPr sz="1575" b="1">
                <a:solidFill>
                  <a:srgbClr val="1E293B"/>
                </a:solidFill>
                <a:latin typeface="Inter"/>
                <a:ea typeface="Inter"/>
                <a:cs typeface="Inter"/>
              </a:rPr>
              <a:t>Responsive and static</a:t>
            </a:r>
          </a:p>
        </p:txBody>
      </p:sp>
      <p:sp>
        <p:nvSpPr>
          <p:cNvPr id="56" name="outcome-body-5">
            <a:extLst>
              <a:ext uri="{FF2B5EF4-FFF2-40B4-BE49-F238E27FC236}">
                <a16:creationId xmlns:a16="http://schemas.microsoft.com/office/drawing/2014/main" id="{C26A3BB1-04B7-45C3-B6C5-721E48995BBF}"/>
              </a:ext>
            </a:extLst>
          </p:cNvPr>
          <p:cNvSpPr>
            <a:spLocks noGrp="1"/>
          </p:cNvSpPr>
          <p:nvPr/>
        </p:nvSpPr>
        <p:spPr>
          <a:xfrm>
            <a:off x="8534400" y="4838700"/>
            <a:ext cx="3086100" cy="552450"/>
          </a:xfrm>
          <a:prstGeom prst="rect">
            <a:avLst/>
          </a:prstGeom>
          <a:noFill/>
          <a:ln w="0">
            <a:noFill/>
            <a:prstDash val="solid"/>
          </a:ln>
        </p:spPr>
        <p:txBody>
          <a:bodyPr wrap="square" lIns="0" tIns="0" rIns="0" bIns="0" anchor="ctr">
            <a:normAutofit/>
          </a:bodyPr>
          <a:lstStyle/>
          <a:p>
            <a:pPr algn="l">
              <a:lnSpc>
                <a:spcPct val="116000"/>
              </a:lnSpc>
              <a:buNone/>
              <a:defRPr sz="1275" b="0">
                <a:solidFill>
                  <a:srgbClr val="64748B"/>
                </a:solidFill>
                <a:latin typeface="Inter"/>
                <a:ea typeface="Inter"/>
                <a:cs typeface="Inter"/>
              </a:defRPr>
            </a:pPr>
            <a:r>
              <a:rPr sz="1275" b="0">
                <a:solidFill>
                  <a:srgbClr val="64748B"/>
                </a:solidFill>
                <a:latin typeface="Inter"/>
                <a:ea typeface="Inter"/>
                <a:cs typeface="Inter"/>
              </a:rPr>
              <a:t>Designed across 360, 768 and 1440 without a backend.</a:t>
            </a:r>
          </a:p>
        </p:txBody>
      </p:sp>
      <p:sp>
        <p:nvSpPr>
          <p:cNvPr id="57" name="footer-brand">
            <a:extLst>
              <a:ext uri="{FF2B5EF4-FFF2-40B4-BE49-F238E27FC236}">
                <a16:creationId xmlns:a16="http://schemas.microsoft.com/office/drawing/2014/main" id="{08FD7D70-E3D7-4BE1-9DED-11E41BEED043}"/>
              </a:ext>
            </a:extLst>
          </p:cNvPr>
          <p:cNvSpPr>
            <a:spLocks noGrp="1"/>
          </p:cNvSpPr>
          <p:nvPr/>
        </p:nvSpPr>
        <p:spPr>
          <a:xfrm>
            <a:off x="533400" y="6457950"/>
            <a:ext cx="1714500" cy="190500"/>
          </a:xfrm>
          <a:prstGeom prst="rect">
            <a:avLst/>
          </a:prstGeom>
          <a:noFill/>
          <a:ln w="0">
            <a:noFill/>
            <a:prstDash val="solid"/>
          </a:ln>
        </p:spPr>
        <p:txBody>
          <a:bodyPr wrap="square" lIns="0" tIns="0" rIns="0" bIns="0" anchor="ctr">
            <a:normAutofit/>
          </a:bodyPr>
          <a:lstStyle/>
          <a:p>
            <a:pPr algn="l">
              <a:lnSpc>
                <a:spcPct val="112000"/>
              </a:lnSpc>
              <a:buNone/>
              <a:defRPr sz="975" b="1">
                <a:solidFill>
                  <a:srgbClr val="94A3B8"/>
                </a:solidFill>
                <a:latin typeface="Inter"/>
                <a:ea typeface="Inter"/>
                <a:cs typeface="Inter"/>
              </a:defRPr>
            </a:pPr>
            <a:r>
              <a:rPr sz="975" b="1">
                <a:solidFill>
                  <a:srgbClr val="94A3B8"/>
                </a:solidFill>
                <a:latin typeface="Inter"/>
                <a:ea typeface="Inter"/>
                <a:cs typeface="Inter"/>
              </a:rPr>
              <a:t>INFLUENCEES</a:t>
            </a:r>
          </a:p>
        </p:txBody>
      </p:sp>
      <p:sp>
        <p:nvSpPr>
          <p:cNvPr id="58" name="footer-page">
            <a:extLst>
              <a:ext uri="{FF2B5EF4-FFF2-40B4-BE49-F238E27FC236}">
                <a16:creationId xmlns:a16="http://schemas.microsoft.com/office/drawing/2014/main" id="{361D6C04-5836-4B4B-862C-0FF95305A0A8}"/>
              </a:ext>
            </a:extLst>
          </p:cNvPr>
          <p:cNvSpPr>
            <a:spLocks noGrp="1"/>
          </p:cNvSpPr>
          <p:nvPr/>
        </p:nvSpPr>
        <p:spPr>
          <a:xfrm>
            <a:off x="10572750" y="6457950"/>
            <a:ext cx="1085850" cy="190500"/>
          </a:xfrm>
          <a:prstGeom prst="rect">
            <a:avLst/>
          </a:prstGeom>
          <a:noFill/>
          <a:ln w="0">
            <a:noFill/>
            <a:prstDash val="solid"/>
          </a:ln>
        </p:spPr>
        <p:txBody>
          <a:bodyPr wrap="square" lIns="0" tIns="0" rIns="0" bIns="0" anchor="ctr">
            <a:normAutofit/>
          </a:bodyPr>
          <a:lstStyle/>
          <a:p>
            <a:pPr algn="r">
              <a:lnSpc>
                <a:spcPct val="112000"/>
              </a:lnSpc>
              <a:buNone/>
              <a:defRPr sz="975" b="1">
                <a:solidFill>
                  <a:srgbClr val="94A3B8"/>
                </a:solidFill>
                <a:latin typeface="Inter"/>
                <a:ea typeface="Inter"/>
                <a:cs typeface="Inter"/>
              </a:defRPr>
            </a:pPr>
            <a:r>
              <a:rPr sz="975" b="1">
                <a:solidFill>
                  <a:srgbClr val="94A3B8"/>
                </a:solidFill>
                <a:latin typeface="Inter"/>
                <a:ea typeface="Inter"/>
                <a:cs typeface="Inter"/>
              </a:rPr>
              <a:t>09 / 10</a:t>
            </a:r>
          </a:p>
        </p:txBody>
      </p:sp>
    </p:spTree>
    <p:extLst>
      <p:ext uri="{BB962C8B-B14F-4D97-AF65-F5344CB8AC3E}">
        <p14:creationId xmlns:p14="http://schemas.microsoft.com/office/powerpoint/2010/main" val="2063129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180C797-1A2E-464F-9325-7EEF4BBAC3B3}"/>
              </a:ext>
            </a:extLst>
          </p:cNvPr>
          <p:cNvSpPr>
            <a:spLocks noGrp="1"/>
          </p:cNvSpPr>
          <p:nvPr/>
        </p:nvSpPr>
        <p:spPr>
          <a:xfrm>
            <a:off x="566928" y="640080"/>
            <a:ext cx="8229600" cy="274320"/>
          </a:xfrm>
          <a:prstGeom prst="rect">
            <a:avLst/>
          </a:prstGeom>
          <a:noFill/>
        </p:spPr>
        <p:txBody>
          <a:bodyPr wrap="square" lIns="0" tIns="0" rIns="0" bIns="0" anchor="ctr"/>
          <a:lstStyle/>
          <a:p>
            <a:pPr marL="0" indent="0">
              <a:buNone/>
            </a:pPr>
            <a:r>
              <a:rPr sz="1150" b="1">
                <a:solidFill>
                  <a:srgbClr val="9E86FF"/>
                </a:solidFill>
                <a:latin typeface="Arial"/>
                <a:ea typeface="Arial"/>
                <a:cs typeface="Arial"/>
              </a:rPr>
              <a:t>INFLUENCEES  ·  BUILD REVIEW</a:t>
            </a:r>
          </a:p>
        </p:txBody>
      </p:sp>
      <p:sp>
        <p:nvSpPr>
          <p:cNvPr id="3" name="Text 1">
            <a:extLst>
              <a:ext uri="{FF2B5EF4-FFF2-40B4-BE49-F238E27FC236}">
                <a16:creationId xmlns:a16="http://schemas.microsoft.com/office/drawing/2014/main" id="{DBEB25D9-C208-40E8-A8CD-36446063D6DE}"/>
              </a:ext>
            </a:extLst>
          </p:cNvPr>
          <p:cNvSpPr>
            <a:spLocks noGrp="1"/>
          </p:cNvSpPr>
          <p:nvPr/>
        </p:nvSpPr>
        <p:spPr>
          <a:xfrm>
            <a:off x="566928" y="1600200"/>
            <a:ext cx="10424160" cy="1371600"/>
          </a:xfrm>
          <a:prstGeom prst="rect">
            <a:avLst/>
          </a:prstGeom>
          <a:noFill/>
        </p:spPr>
        <p:txBody>
          <a:bodyPr wrap="square" lIns="0" tIns="0" rIns="0" bIns="0" anchor="t"/>
          <a:lstStyle/>
          <a:p>
            <a:pPr marL="0" indent="0" algn="l">
              <a:lnSpc>
                <a:spcPct val="105000"/>
              </a:lnSpc>
              <a:buNone/>
            </a:pPr>
            <a:r>
              <a:rPr sz="3800" b="1">
                <a:solidFill>
                  <a:srgbClr val="FFFFFF"/>
                </a:solidFill>
                <a:latin typeface="Arial"/>
                <a:ea typeface="Arial"/>
                <a:cs typeface="Arial"/>
              </a:rPr>
              <a:t>One track. Two solutions. Both sides of the platform.</a:t>
            </a:r>
          </a:p>
        </p:txBody>
      </p:sp>
      <p:sp>
        <p:nvSpPr>
          <p:cNvPr id="4" name="Shape 2">
            <a:extLst>
              <a:ext uri="{FF2B5EF4-FFF2-40B4-BE49-F238E27FC236}">
                <a16:creationId xmlns:a16="http://schemas.microsoft.com/office/drawing/2014/main" id="{8B4798A3-3B45-4CF7-B322-E69BC9545204}"/>
              </a:ext>
            </a:extLst>
          </p:cNvPr>
          <p:cNvSpPr>
            <a:spLocks noGrp="1"/>
          </p:cNvSpPr>
          <p:nvPr/>
        </p:nvSpPr>
        <p:spPr>
          <a:xfrm>
            <a:off x="566928" y="3520440"/>
            <a:ext cx="5257800" cy="1965960"/>
          </a:xfrm>
          <a:prstGeom prst="roundRect">
            <a:avLst>
              <a:gd name="adj" fmla="val 2093"/>
            </a:avLst>
          </a:prstGeom>
          <a:solidFill>
            <a:srgbClr val="17161C"/>
          </a:solidFill>
          <a:ln w="12700">
            <a:solidFill>
              <a:srgbClr val="2C2A33"/>
            </a:solidFill>
            <a:prstDash val="solid"/>
          </a:ln>
        </p:spPr>
        <p:txBody>
          <a:bodyPr/>
          <a:lstStyle/>
          <a:p>
            <a:endParaRPr lang="en-SG"/>
          </a:p>
        </p:txBody>
      </p:sp>
      <p:sp>
        <p:nvSpPr>
          <p:cNvPr id="5" name="Text 3">
            <a:extLst>
              <a:ext uri="{FF2B5EF4-FFF2-40B4-BE49-F238E27FC236}">
                <a16:creationId xmlns:a16="http://schemas.microsoft.com/office/drawing/2014/main" id="{89E65B7A-D546-4CFE-BD75-6D142B1508FE}"/>
              </a:ext>
            </a:extLst>
          </p:cNvPr>
          <p:cNvSpPr>
            <a:spLocks noGrp="1"/>
          </p:cNvSpPr>
          <p:nvPr/>
        </p:nvSpPr>
        <p:spPr>
          <a:xfrm>
            <a:off x="877824" y="3794760"/>
            <a:ext cx="4636008" cy="365760"/>
          </a:xfrm>
          <a:prstGeom prst="rect">
            <a:avLst/>
          </a:prstGeom>
          <a:noFill/>
        </p:spPr>
        <p:txBody>
          <a:bodyPr wrap="square" lIns="0" tIns="0" rIns="0" bIns="0" anchor="ctr"/>
          <a:lstStyle/>
          <a:p>
            <a:pPr marL="0" indent="0">
              <a:buNone/>
            </a:pPr>
            <a:r>
              <a:rPr sz="1300" b="1">
                <a:solidFill>
                  <a:srgbClr val="9E86FF"/>
                </a:solidFill>
                <a:latin typeface="Arial"/>
                <a:ea typeface="Arial"/>
                <a:cs typeface="Arial"/>
              </a:rPr>
              <a:t>01  ·  BD Agent</a:t>
            </a:r>
          </a:p>
        </p:txBody>
      </p:sp>
      <p:sp>
        <p:nvSpPr>
          <p:cNvPr id="6" name="Text 4">
            <a:extLst>
              <a:ext uri="{FF2B5EF4-FFF2-40B4-BE49-F238E27FC236}">
                <a16:creationId xmlns:a16="http://schemas.microsoft.com/office/drawing/2014/main" id="{C837BF49-4AB4-4A69-B4D5-00E46135ECB5}"/>
              </a:ext>
            </a:extLst>
          </p:cNvPr>
          <p:cNvSpPr>
            <a:spLocks noGrp="1"/>
          </p:cNvSpPr>
          <p:nvPr/>
        </p:nvSpPr>
        <p:spPr>
          <a:xfrm>
            <a:off x="877824" y="4297680"/>
            <a:ext cx="4636008" cy="1051560"/>
          </a:xfrm>
          <a:prstGeom prst="rect">
            <a:avLst/>
          </a:prstGeom>
          <a:noFill/>
        </p:spPr>
        <p:txBody>
          <a:bodyPr wrap="square" lIns="0" tIns="0" rIns="0" bIns="0" anchor="ctr"/>
          <a:lstStyle/>
          <a:p>
            <a:pPr marL="0" indent="0">
              <a:lnSpc>
                <a:spcPct val="130000"/>
              </a:lnSpc>
              <a:buNone/>
            </a:pPr>
            <a:r>
              <a:rPr sz="1200">
                <a:solidFill>
                  <a:srgbClr val="D6D4DA"/>
                </a:solidFill>
                <a:latin typeface="Arial"/>
                <a:ea typeface="Arial"/>
                <a:cs typeface="Arial"/>
              </a:rPr>
              <a:t>A controllable outreach operator: discovers, researches, messages, reads replies and follows up. Demoable end to end today, and built to go live with Bright Data plus a channel adapter.</a:t>
            </a:r>
          </a:p>
        </p:txBody>
      </p:sp>
      <p:sp>
        <p:nvSpPr>
          <p:cNvPr id="7" name="Shape 5">
            <a:extLst>
              <a:ext uri="{FF2B5EF4-FFF2-40B4-BE49-F238E27FC236}">
                <a16:creationId xmlns:a16="http://schemas.microsoft.com/office/drawing/2014/main" id="{14B3A340-EE7E-408F-9E22-FFF85EB36918}"/>
              </a:ext>
            </a:extLst>
          </p:cNvPr>
          <p:cNvSpPr>
            <a:spLocks noGrp="1"/>
          </p:cNvSpPr>
          <p:nvPr/>
        </p:nvSpPr>
        <p:spPr>
          <a:xfrm>
            <a:off x="6190488" y="3520440"/>
            <a:ext cx="5257800" cy="1965960"/>
          </a:xfrm>
          <a:prstGeom prst="roundRect">
            <a:avLst>
              <a:gd name="adj" fmla="val 2093"/>
            </a:avLst>
          </a:prstGeom>
          <a:solidFill>
            <a:srgbClr val="17161C"/>
          </a:solidFill>
          <a:ln w="12700">
            <a:solidFill>
              <a:srgbClr val="2C2A33"/>
            </a:solidFill>
            <a:prstDash val="solid"/>
          </a:ln>
        </p:spPr>
        <p:txBody>
          <a:bodyPr/>
          <a:lstStyle/>
          <a:p>
            <a:endParaRPr lang="en-SG"/>
          </a:p>
        </p:txBody>
      </p:sp>
      <p:sp>
        <p:nvSpPr>
          <p:cNvPr id="8" name="Text 6">
            <a:extLst>
              <a:ext uri="{FF2B5EF4-FFF2-40B4-BE49-F238E27FC236}">
                <a16:creationId xmlns:a16="http://schemas.microsoft.com/office/drawing/2014/main" id="{D6EC6CC9-CDA8-470A-A341-8E282526559C}"/>
              </a:ext>
            </a:extLst>
          </p:cNvPr>
          <p:cNvSpPr>
            <a:spLocks noGrp="1"/>
          </p:cNvSpPr>
          <p:nvPr/>
        </p:nvSpPr>
        <p:spPr>
          <a:xfrm>
            <a:off x="6501384" y="3794760"/>
            <a:ext cx="4636008" cy="365760"/>
          </a:xfrm>
          <a:prstGeom prst="rect">
            <a:avLst/>
          </a:prstGeom>
          <a:noFill/>
        </p:spPr>
        <p:txBody>
          <a:bodyPr wrap="square" lIns="0" tIns="0" rIns="0" bIns="0" anchor="ctr"/>
          <a:lstStyle/>
          <a:p>
            <a:pPr marL="0" indent="0">
              <a:buNone/>
            </a:pPr>
            <a:r>
              <a:rPr sz="1300" b="1">
                <a:solidFill>
                  <a:srgbClr val="9E86FF"/>
                </a:solidFill>
                <a:latin typeface="Arial"/>
                <a:ea typeface="Arial"/>
                <a:cs typeface="Arial"/>
              </a:rPr>
              <a:t>02  ·  Website redesign</a:t>
            </a:r>
          </a:p>
        </p:txBody>
      </p:sp>
      <p:sp>
        <p:nvSpPr>
          <p:cNvPr id="9" name="Text 7">
            <a:extLst>
              <a:ext uri="{FF2B5EF4-FFF2-40B4-BE49-F238E27FC236}">
                <a16:creationId xmlns:a16="http://schemas.microsoft.com/office/drawing/2014/main" id="{A6504034-288A-4029-8986-DF4A9E381E22}"/>
              </a:ext>
            </a:extLst>
          </p:cNvPr>
          <p:cNvSpPr>
            <a:spLocks noGrp="1"/>
          </p:cNvSpPr>
          <p:nvPr/>
        </p:nvSpPr>
        <p:spPr>
          <a:xfrm>
            <a:off x="6501384" y="4297680"/>
            <a:ext cx="4636008" cy="1051560"/>
          </a:xfrm>
          <a:prstGeom prst="rect">
            <a:avLst/>
          </a:prstGeom>
          <a:noFill/>
        </p:spPr>
        <p:txBody>
          <a:bodyPr wrap="square" lIns="0" tIns="0" rIns="0" bIns="0" anchor="ctr"/>
          <a:lstStyle/>
          <a:p>
            <a:pPr marL="0" indent="0">
              <a:lnSpc>
                <a:spcPct val="130000"/>
              </a:lnSpc>
              <a:buNone/>
            </a:pPr>
            <a:r>
              <a:rPr sz="1200">
                <a:solidFill>
                  <a:srgbClr val="D6D4DA"/>
                </a:solidFill>
                <a:latin typeface="Arial"/>
                <a:ea typeface="Arial"/>
                <a:cs typeface="Arial"/>
              </a:rPr>
              <a:t>A credible, consistent public site: one price set, honest feature labels, split brand and creator journeys, one design system. Static, responsive, no backend.</a:t>
            </a:r>
          </a:p>
        </p:txBody>
      </p:sp>
      <p:sp>
        <p:nvSpPr>
          <p:cNvPr id="10" name="Text 8">
            <a:extLst>
              <a:ext uri="{FF2B5EF4-FFF2-40B4-BE49-F238E27FC236}">
                <a16:creationId xmlns:a16="http://schemas.microsoft.com/office/drawing/2014/main" id="{70DE91D5-81A2-4D3A-AADB-0A313E48ED05}"/>
              </a:ext>
            </a:extLst>
          </p:cNvPr>
          <p:cNvSpPr>
            <a:spLocks noGrp="1"/>
          </p:cNvSpPr>
          <p:nvPr/>
        </p:nvSpPr>
        <p:spPr>
          <a:xfrm>
            <a:off x="7436815" y="6355080"/>
            <a:ext cx="4187952" cy="274320"/>
          </a:xfrm>
          <a:prstGeom prst="rect">
            <a:avLst/>
          </a:prstGeom>
          <a:noFill/>
        </p:spPr>
        <p:txBody>
          <a:bodyPr wrap="square" lIns="0" tIns="0" rIns="0" bIns="0" anchor="ctr"/>
          <a:lstStyle/>
          <a:p>
            <a:pPr marL="0" indent="0" algn="r">
              <a:buNone/>
            </a:pPr>
            <a:r>
              <a:rPr sz="1000">
                <a:solidFill>
                  <a:srgbClr val="8A8891"/>
                </a:solidFill>
                <a:latin typeface="Arial"/>
                <a:ea typeface="Arial"/>
                <a:cs typeface="Arial"/>
              </a:rPr>
              <a:t>hello@influencees.com   ·   Singapore</a:t>
            </a:r>
          </a:p>
        </p:txBody>
      </p:sp>
      <p:sp>
        <p:nvSpPr>
          <p:cNvPr id="11" name="white-canvas-10">
            <a:extLst>
              <a:ext uri="{FF2B5EF4-FFF2-40B4-BE49-F238E27FC236}">
                <a16:creationId xmlns:a16="http://schemas.microsoft.com/office/drawing/2014/main" id="{1958C51E-81EE-448E-85AE-41C532279102}"/>
              </a:ext>
            </a:extLst>
          </p:cNvPr>
          <p:cNvSpPr>
            <a:spLocks noGrp="1"/>
          </p:cNvSpPr>
          <p:nvPr/>
        </p:nvSpPr>
        <p:spPr>
          <a:xfrm>
            <a:off x="0" y="0"/>
            <a:ext cx="12192000" cy="6858000"/>
          </a:xfrm>
          <a:prstGeom prst="rect">
            <a:avLst/>
          </a:prstGeom>
          <a:solidFill>
            <a:srgbClr val="FFFFFF"/>
          </a:solidFill>
          <a:ln w="0">
            <a:noFill/>
            <a:prstDash val="solid"/>
          </a:ln>
        </p:spPr>
        <p:txBody>
          <a:bodyPr/>
          <a:lstStyle/>
          <a:p>
            <a:endParaRPr lang="en-SG"/>
          </a:p>
        </p:txBody>
      </p:sp>
      <p:sp>
        <p:nvSpPr>
          <p:cNvPr id="12" name="section-badge">
            <a:extLst>
              <a:ext uri="{FF2B5EF4-FFF2-40B4-BE49-F238E27FC236}">
                <a16:creationId xmlns:a16="http://schemas.microsoft.com/office/drawing/2014/main" id="{FFB715AF-E8F7-4570-9042-8838C64B9C2C}"/>
              </a:ext>
            </a:extLst>
          </p:cNvPr>
          <p:cNvSpPr>
            <a:spLocks noGrp="1"/>
          </p:cNvSpPr>
          <p:nvPr/>
        </p:nvSpPr>
        <p:spPr>
          <a:xfrm>
            <a:off x="4191000" y="438150"/>
            <a:ext cx="3810000" cy="247650"/>
          </a:xfrm>
          <a:prstGeom prst="rect">
            <a:avLst/>
          </a:prstGeom>
          <a:noFill/>
          <a:ln w="0">
            <a:noFill/>
            <a:prstDash val="solid"/>
          </a:ln>
        </p:spPr>
        <p:txBody>
          <a:bodyPr wrap="square" lIns="0" tIns="0" rIns="0" bIns="0" anchor="t">
            <a:normAutofit/>
          </a:bodyPr>
          <a:lstStyle/>
          <a:p>
            <a:pPr algn="ctr">
              <a:lnSpc>
                <a:spcPct val="112000"/>
              </a:lnSpc>
              <a:buNone/>
              <a:defRPr sz="1200" b="1">
                <a:solidFill>
                  <a:srgbClr val="7C5CFC"/>
                </a:solidFill>
                <a:latin typeface="Inter"/>
                <a:ea typeface="Inter"/>
                <a:cs typeface="Inter"/>
              </a:defRPr>
            </a:pPr>
            <a:r>
              <a:rPr sz="1200" b="1">
                <a:solidFill>
                  <a:srgbClr val="7C5CFC"/>
                </a:solidFill>
                <a:latin typeface="Inter"/>
                <a:ea typeface="Inter"/>
                <a:cs typeface="Inter"/>
              </a:rPr>
              <a:t>INFLUENCEES · TWO-TRACK PROPOSAL</a:t>
            </a:r>
          </a:p>
        </p:txBody>
      </p:sp>
      <p:sp>
        <p:nvSpPr>
          <p:cNvPr id="13" name="close-title-1">
            <a:extLst>
              <a:ext uri="{FF2B5EF4-FFF2-40B4-BE49-F238E27FC236}">
                <a16:creationId xmlns:a16="http://schemas.microsoft.com/office/drawing/2014/main" id="{8AAB46B8-7AAA-4154-A1BF-0F1B0D740B07}"/>
              </a:ext>
            </a:extLst>
          </p:cNvPr>
          <p:cNvSpPr>
            <a:spLocks noGrp="1"/>
          </p:cNvSpPr>
          <p:nvPr/>
        </p:nvSpPr>
        <p:spPr>
          <a:xfrm>
            <a:off x="1333500" y="1143000"/>
            <a:ext cx="9525000" cy="723900"/>
          </a:xfrm>
          <a:prstGeom prst="rect">
            <a:avLst/>
          </a:prstGeom>
          <a:noFill/>
          <a:ln w="0">
            <a:noFill/>
            <a:prstDash val="solid"/>
          </a:ln>
        </p:spPr>
        <p:txBody>
          <a:bodyPr wrap="square" lIns="0" tIns="0" rIns="0" bIns="0" anchor="ctr">
            <a:normAutofit fontScale="97496"/>
          </a:bodyPr>
          <a:lstStyle/>
          <a:p>
            <a:pPr algn="ctr">
              <a:lnSpc>
                <a:spcPct val="112000"/>
              </a:lnSpc>
              <a:buNone/>
              <a:defRPr sz="4350" b="0">
                <a:solidFill>
                  <a:srgbClr val="0F172A"/>
                </a:solidFill>
                <a:latin typeface="Inter"/>
                <a:ea typeface="Inter"/>
                <a:cs typeface="Inter"/>
              </a:defRPr>
            </a:pPr>
            <a:r>
              <a:rPr sz="4350" b="0" dirty="0">
                <a:solidFill>
                  <a:srgbClr val="0F172A"/>
                </a:solidFill>
                <a:latin typeface="Inter"/>
                <a:ea typeface="Inter"/>
                <a:cs typeface="Inter"/>
              </a:rPr>
              <a:t>One track. Two solutions.</a:t>
            </a:r>
          </a:p>
        </p:txBody>
      </p:sp>
      <p:sp>
        <p:nvSpPr>
          <p:cNvPr id="14" name="close-title-2">
            <a:extLst>
              <a:ext uri="{FF2B5EF4-FFF2-40B4-BE49-F238E27FC236}">
                <a16:creationId xmlns:a16="http://schemas.microsoft.com/office/drawing/2014/main" id="{A36A245D-21DA-4D4C-9EC3-9C3287C9582C}"/>
              </a:ext>
            </a:extLst>
          </p:cNvPr>
          <p:cNvSpPr>
            <a:spLocks noGrp="1"/>
          </p:cNvSpPr>
          <p:nvPr/>
        </p:nvSpPr>
        <p:spPr>
          <a:xfrm>
            <a:off x="1333500" y="1809750"/>
            <a:ext cx="9525000" cy="723900"/>
          </a:xfrm>
          <a:prstGeom prst="rect">
            <a:avLst/>
          </a:prstGeom>
          <a:noFill/>
          <a:ln w="0">
            <a:noFill/>
            <a:prstDash val="solid"/>
          </a:ln>
        </p:spPr>
        <p:txBody>
          <a:bodyPr wrap="square" lIns="0" tIns="0" rIns="0" bIns="0" anchor="ctr">
            <a:normAutofit fontScale="94246"/>
          </a:bodyPr>
          <a:lstStyle/>
          <a:p>
            <a:pPr algn="ctr">
              <a:lnSpc>
                <a:spcPct val="112000"/>
              </a:lnSpc>
              <a:buNone/>
              <a:defRPr sz="4500" b="1">
                <a:solidFill>
                  <a:srgbClr val="7C5CFC"/>
                </a:solidFill>
                <a:latin typeface="Inter"/>
                <a:ea typeface="Inter"/>
                <a:cs typeface="Inter"/>
              </a:defRPr>
            </a:pPr>
            <a:r>
              <a:rPr sz="4500" b="1" dirty="0">
                <a:solidFill>
                  <a:srgbClr val="7C5CFC"/>
                </a:solidFill>
                <a:latin typeface="Inter"/>
                <a:ea typeface="Inter"/>
                <a:cs typeface="Inter"/>
              </a:rPr>
              <a:t>Both sides of the platform.</a:t>
            </a:r>
          </a:p>
        </p:txBody>
      </p:sp>
      <p:sp>
        <p:nvSpPr>
          <p:cNvPr id="15" name="close-subtitle">
            <a:extLst>
              <a:ext uri="{FF2B5EF4-FFF2-40B4-BE49-F238E27FC236}">
                <a16:creationId xmlns:a16="http://schemas.microsoft.com/office/drawing/2014/main" id="{34F8B464-A823-4B06-8600-E8A46D317D19}"/>
              </a:ext>
            </a:extLst>
          </p:cNvPr>
          <p:cNvSpPr>
            <a:spLocks noGrp="1"/>
          </p:cNvSpPr>
          <p:nvPr/>
        </p:nvSpPr>
        <p:spPr>
          <a:xfrm>
            <a:off x="2476500" y="2724150"/>
            <a:ext cx="7239000" cy="419100"/>
          </a:xfrm>
          <a:prstGeom prst="rect">
            <a:avLst/>
          </a:prstGeom>
          <a:noFill/>
          <a:ln w="0">
            <a:noFill/>
            <a:prstDash val="solid"/>
          </a:ln>
        </p:spPr>
        <p:txBody>
          <a:bodyPr wrap="square" lIns="0" tIns="0" rIns="0" bIns="0" anchor="ctr">
            <a:normAutofit/>
          </a:bodyPr>
          <a:lstStyle/>
          <a:p>
            <a:pPr algn="ctr">
              <a:lnSpc>
                <a:spcPct val="112000"/>
              </a:lnSpc>
              <a:buNone/>
              <a:defRPr sz="1650" b="0">
                <a:solidFill>
                  <a:srgbClr val="64748B"/>
                </a:solidFill>
                <a:latin typeface="Inter"/>
                <a:ea typeface="Inter"/>
                <a:cs typeface="Inter"/>
              </a:defRPr>
            </a:pPr>
            <a:r>
              <a:rPr sz="1650" b="0">
                <a:solidFill>
                  <a:srgbClr val="64748B"/>
                </a:solidFill>
                <a:latin typeface="Inter"/>
                <a:ea typeface="Inter"/>
                <a:cs typeface="Inter"/>
              </a:rPr>
              <a:t>Build traction internally. Build trust externally.</a:t>
            </a:r>
          </a:p>
        </p:txBody>
      </p:sp>
      <p:sp>
        <p:nvSpPr>
          <p:cNvPr id="16" name="close-card-01">
            <a:extLst>
              <a:ext uri="{FF2B5EF4-FFF2-40B4-BE49-F238E27FC236}">
                <a16:creationId xmlns:a16="http://schemas.microsoft.com/office/drawing/2014/main" id="{74A4A07B-68DD-4D56-95C0-E9D10E41F526}"/>
              </a:ext>
            </a:extLst>
          </p:cNvPr>
          <p:cNvSpPr>
            <a:spLocks noGrp="1"/>
          </p:cNvSpPr>
          <p:nvPr/>
        </p:nvSpPr>
        <p:spPr>
          <a:xfrm>
            <a:off x="1238250" y="3714750"/>
            <a:ext cx="4667250" cy="1866900"/>
          </a:xfrm>
          <a:prstGeom prst="roundRect">
            <a:avLst>
              <a:gd name="adj" fmla="val 10204"/>
            </a:avLst>
          </a:prstGeom>
          <a:solidFill>
            <a:srgbClr val="F7EEFB"/>
          </a:solidFill>
          <a:ln w="9525">
            <a:solidFill>
              <a:srgbClr val="FFFFFF">
                <a:alpha val="60000"/>
              </a:srgbClr>
            </a:solidFill>
            <a:prstDash val="solid"/>
          </a:ln>
        </p:spPr>
        <p:style>
          <a:lnRef idx="0">
            <a:scrgbClr r="0" g="0" b="0"/>
          </a:lnRef>
          <a:fillRef idx="0">
            <a:scrgbClr r="0" g="0" b="0"/>
          </a:fillRef>
          <a:effectRef idx="4">
            <a:scrgbClr r="0" g="0" b="0"/>
          </a:effectRef>
          <a:fontRef idx="major"/>
        </p:style>
        <p:txBody>
          <a:bodyPr/>
          <a:lstStyle/>
          <a:p>
            <a:endParaRPr lang="en-SG"/>
          </a:p>
        </p:txBody>
      </p:sp>
      <p:sp>
        <p:nvSpPr>
          <p:cNvPr id="17" name="close-num-01">
            <a:extLst>
              <a:ext uri="{FF2B5EF4-FFF2-40B4-BE49-F238E27FC236}">
                <a16:creationId xmlns:a16="http://schemas.microsoft.com/office/drawing/2014/main" id="{93133AF9-BEC2-4D78-8F49-25F3F636EF4E}"/>
              </a:ext>
            </a:extLst>
          </p:cNvPr>
          <p:cNvSpPr>
            <a:spLocks noGrp="1"/>
          </p:cNvSpPr>
          <p:nvPr/>
        </p:nvSpPr>
        <p:spPr>
          <a:xfrm>
            <a:off x="1504950" y="3962400"/>
            <a:ext cx="571500" cy="285750"/>
          </a:xfrm>
          <a:prstGeom prst="rect">
            <a:avLst/>
          </a:prstGeom>
          <a:noFill/>
          <a:ln w="0">
            <a:noFill/>
            <a:prstDash val="solid"/>
          </a:ln>
        </p:spPr>
        <p:txBody>
          <a:bodyPr wrap="square" lIns="0" tIns="0" rIns="0" bIns="0" anchor="t">
            <a:normAutofit/>
          </a:bodyPr>
          <a:lstStyle/>
          <a:p>
            <a:pPr algn="l">
              <a:lnSpc>
                <a:spcPct val="112000"/>
              </a:lnSpc>
              <a:buNone/>
              <a:defRPr sz="1500" b="1">
                <a:solidFill>
                  <a:srgbClr val="7C5CFC"/>
                </a:solidFill>
                <a:latin typeface="Inter"/>
                <a:ea typeface="Inter"/>
                <a:cs typeface="Inter"/>
              </a:defRPr>
            </a:pPr>
            <a:r>
              <a:rPr sz="1500" b="1">
                <a:solidFill>
                  <a:srgbClr val="7C5CFC"/>
                </a:solidFill>
                <a:latin typeface="Inter"/>
                <a:ea typeface="Inter"/>
                <a:cs typeface="Inter"/>
              </a:rPr>
              <a:t>01</a:t>
            </a:r>
          </a:p>
        </p:txBody>
      </p:sp>
      <p:sp>
        <p:nvSpPr>
          <p:cNvPr id="18" name="close-card-title-01">
            <a:extLst>
              <a:ext uri="{FF2B5EF4-FFF2-40B4-BE49-F238E27FC236}">
                <a16:creationId xmlns:a16="http://schemas.microsoft.com/office/drawing/2014/main" id="{BDD37993-6527-4C90-9F85-9B5F68DD313C}"/>
              </a:ext>
            </a:extLst>
          </p:cNvPr>
          <p:cNvSpPr>
            <a:spLocks noGrp="1"/>
          </p:cNvSpPr>
          <p:nvPr/>
        </p:nvSpPr>
        <p:spPr>
          <a:xfrm>
            <a:off x="1504950" y="4362450"/>
            <a:ext cx="4095750" cy="400050"/>
          </a:xfrm>
          <a:prstGeom prst="rect">
            <a:avLst/>
          </a:prstGeom>
          <a:noFill/>
          <a:ln w="0">
            <a:noFill/>
            <a:prstDash val="solid"/>
          </a:ln>
        </p:spPr>
        <p:txBody>
          <a:bodyPr wrap="square" lIns="0" tIns="0" rIns="0" bIns="0" anchor="ctr">
            <a:normAutofit/>
          </a:bodyPr>
          <a:lstStyle/>
          <a:p>
            <a:pPr algn="l">
              <a:lnSpc>
                <a:spcPct val="112000"/>
              </a:lnSpc>
              <a:buNone/>
              <a:defRPr sz="2100" b="1">
                <a:solidFill>
                  <a:srgbClr val="1E293B"/>
                </a:solidFill>
                <a:latin typeface="Inter"/>
                <a:ea typeface="Inter"/>
                <a:cs typeface="Inter"/>
              </a:defRPr>
            </a:pPr>
            <a:r>
              <a:rPr sz="2100" b="1">
                <a:solidFill>
                  <a:srgbClr val="1E293B"/>
                </a:solidFill>
                <a:latin typeface="Inter"/>
                <a:ea typeface="Inter"/>
                <a:cs typeface="Inter"/>
              </a:rPr>
              <a:t>BD Agent</a:t>
            </a:r>
          </a:p>
        </p:txBody>
      </p:sp>
      <p:sp>
        <p:nvSpPr>
          <p:cNvPr id="19" name="close-card-body-01">
            <a:extLst>
              <a:ext uri="{FF2B5EF4-FFF2-40B4-BE49-F238E27FC236}">
                <a16:creationId xmlns:a16="http://schemas.microsoft.com/office/drawing/2014/main" id="{B9B64E7F-1847-4592-81A6-D6728843E7A3}"/>
              </a:ext>
            </a:extLst>
          </p:cNvPr>
          <p:cNvSpPr>
            <a:spLocks noGrp="1"/>
          </p:cNvSpPr>
          <p:nvPr/>
        </p:nvSpPr>
        <p:spPr>
          <a:xfrm>
            <a:off x="1504950" y="4876800"/>
            <a:ext cx="4095750" cy="533400"/>
          </a:xfrm>
          <a:prstGeom prst="rect">
            <a:avLst/>
          </a:prstGeom>
          <a:noFill/>
          <a:ln w="0">
            <a:noFill/>
            <a:prstDash val="solid"/>
          </a:ln>
        </p:spPr>
        <p:txBody>
          <a:bodyPr wrap="square" lIns="0" tIns="0" rIns="0" bIns="0" anchor="ctr">
            <a:normAutofit/>
          </a:bodyPr>
          <a:lstStyle/>
          <a:p>
            <a:pPr algn="l">
              <a:lnSpc>
                <a:spcPct val="120000"/>
              </a:lnSpc>
              <a:buNone/>
              <a:defRPr sz="1425" b="0">
                <a:solidFill>
                  <a:srgbClr val="64748B"/>
                </a:solidFill>
                <a:latin typeface="Inter"/>
                <a:ea typeface="Inter"/>
                <a:cs typeface="Inter"/>
              </a:defRPr>
            </a:pPr>
            <a:r>
              <a:rPr sz="1425" b="0">
                <a:solidFill>
                  <a:srgbClr val="64748B"/>
                </a:solidFill>
                <a:latin typeface="Inter"/>
                <a:ea typeface="Inter"/>
                <a:cs typeface="Inter"/>
              </a:rPr>
              <a:t>A controllable outreach operator that discovers, researches, messages, reads replies and follows up.</a:t>
            </a:r>
          </a:p>
        </p:txBody>
      </p:sp>
      <p:sp>
        <p:nvSpPr>
          <p:cNvPr id="20" name="close-card-02">
            <a:extLst>
              <a:ext uri="{FF2B5EF4-FFF2-40B4-BE49-F238E27FC236}">
                <a16:creationId xmlns:a16="http://schemas.microsoft.com/office/drawing/2014/main" id="{0C2EE3B2-E0A0-4893-ABFF-7C718C0B04BA}"/>
              </a:ext>
            </a:extLst>
          </p:cNvPr>
          <p:cNvSpPr>
            <a:spLocks noGrp="1"/>
          </p:cNvSpPr>
          <p:nvPr/>
        </p:nvSpPr>
        <p:spPr>
          <a:xfrm>
            <a:off x="6286500" y="3714750"/>
            <a:ext cx="4667250" cy="1866900"/>
          </a:xfrm>
          <a:prstGeom prst="roundRect">
            <a:avLst>
              <a:gd name="adj" fmla="val 10204"/>
            </a:avLst>
          </a:prstGeom>
          <a:solidFill>
            <a:srgbClr val="EEF3FF"/>
          </a:solidFill>
          <a:ln w="9525">
            <a:solidFill>
              <a:srgbClr val="FFFFFF">
                <a:alpha val="60000"/>
              </a:srgbClr>
            </a:solidFill>
            <a:prstDash val="solid"/>
          </a:ln>
        </p:spPr>
        <p:style>
          <a:lnRef idx="0">
            <a:scrgbClr r="0" g="0" b="0"/>
          </a:lnRef>
          <a:fillRef idx="0">
            <a:scrgbClr r="0" g="0" b="0"/>
          </a:fillRef>
          <a:effectRef idx="4">
            <a:scrgbClr r="0" g="0" b="0"/>
          </a:effectRef>
          <a:fontRef idx="major"/>
        </p:style>
        <p:txBody>
          <a:bodyPr/>
          <a:lstStyle/>
          <a:p>
            <a:endParaRPr lang="en-SG"/>
          </a:p>
        </p:txBody>
      </p:sp>
      <p:sp>
        <p:nvSpPr>
          <p:cNvPr id="21" name="close-num-02">
            <a:extLst>
              <a:ext uri="{FF2B5EF4-FFF2-40B4-BE49-F238E27FC236}">
                <a16:creationId xmlns:a16="http://schemas.microsoft.com/office/drawing/2014/main" id="{687F501A-5769-4402-B2BA-5DE613FF9570}"/>
              </a:ext>
            </a:extLst>
          </p:cNvPr>
          <p:cNvSpPr>
            <a:spLocks noGrp="1"/>
          </p:cNvSpPr>
          <p:nvPr/>
        </p:nvSpPr>
        <p:spPr>
          <a:xfrm>
            <a:off x="6553200" y="3962400"/>
            <a:ext cx="571500" cy="285750"/>
          </a:xfrm>
          <a:prstGeom prst="rect">
            <a:avLst/>
          </a:prstGeom>
          <a:noFill/>
          <a:ln w="0">
            <a:noFill/>
            <a:prstDash val="solid"/>
          </a:ln>
        </p:spPr>
        <p:txBody>
          <a:bodyPr wrap="square" lIns="0" tIns="0" rIns="0" bIns="0" anchor="t">
            <a:normAutofit/>
          </a:bodyPr>
          <a:lstStyle/>
          <a:p>
            <a:pPr algn="l">
              <a:lnSpc>
                <a:spcPct val="112000"/>
              </a:lnSpc>
              <a:buNone/>
              <a:defRPr sz="1500" b="1">
                <a:solidFill>
                  <a:srgbClr val="7C5CFC"/>
                </a:solidFill>
                <a:latin typeface="Inter"/>
                <a:ea typeface="Inter"/>
                <a:cs typeface="Inter"/>
              </a:defRPr>
            </a:pPr>
            <a:r>
              <a:rPr sz="1500" b="1">
                <a:solidFill>
                  <a:srgbClr val="7C5CFC"/>
                </a:solidFill>
                <a:latin typeface="Inter"/>
                <a:ea typeface="Inter"/>
                <a:cs typeface="Inter"/>
              </a:rPr>
              <a:t>02</a:t>
            </a:r>
          </a:p>
        </p:txBody>
      </p:sp>
      <p:sp>
        <p:nvSpPr>
          <p:cNvPr id="22" name="close-card-title-02">
            <a:extLst>
              <a:ext uri="{FF2B5EF4-FFF2-40B4-BE49-F238E27FC236}">
                <a16:creationId xmlns:a16="http://schemas.microsoft.com/office/drawing/2014/main" id="{0BD00276-D78E-42C8-878D-D3A728FA4811}"/>
              </a:ext>
            </a:extLst>
          </p:cNvPr>
          <p:cNvSpPr>
            <a:spLocks noGrp="1"/>
          </p:cNvSpPr>
          <p:nvPr/>
        </p:nvSpPr>
        <p:spPr>
          <a:xfrm>
            <a:off x="6553200" y="4362450"/>
            <a:ext cx="4095750" cy="400050"/>
          </a:xfrm>
          <a:prstGeom prst="rect">
            <a:avLst/>
          </a:prstGeom>
          <a:noFill/>
          <a:ln w="0">
            <a:noFill/>
            <a:prstDash val="solid"/>
          </a:ln>
        </p:spPr>
        <p:txBody>
          <a:bodyPr wrap="square" lIns="0" tIns="0" rIns="0" bIns="0" anchor="ctr">
            <a:normAutofit/>
          </a:bodyPr>
          <a:lstStyle/>
          <a:p>
            <a:pPr algn="l">
              <a:lnSpc>
                <a:spcPct val="112000"/>
              </a:lnSpc>
              <a:buNone/>
              <a:defRPr sz="2100" b="1">
                <a:solidFill>
                  <a:srgbClr val="1E293B"/>
                </a:solidFill>
                <a:latin typeface="Inter"/>
                <a:ea typeface="Inter"/>
                <a:cs typeface="Inter"/>
              </a:defRPr>
            </a:pPr>
            <a:r>
              <a:rPr sz="2100" b="1">
                <a:solidFill>
                  <a:srgbClr val="1E293B"/>
                </a:solidFill>
                <a:latin typeface="Inter"/>
                <a:ea typeface="Inter"/>
                <a:cs typeface="Inter"/>
              </a:rPr>
              <a:t>Website redesign</a:t>
            </a:r>
          </a:p>
        </p:txBody>
      </p:sp>
      <p:sp>
        <p:nvSpPr>
          <p:cNvPr id="23" name="close-card-body-02">
            <a:extLst>
              <a:ext uri="{FF2B5EF4-FFF2-40B4-BE49-F238E27FC236}">
                <a16:creationId xmlns:a16="http://schemas.microsoft.com/office/drawing/2014/main" id="{476C642E-3F45-480E-9F1B-C4387BF34701}"/>
              </a:ext>
            </a:extLst>
          </p:cNvPr>
          <p:cNvSpPr>
            <a:spLocks noGrp="1"/>
          </p:cNvSpPr>
          <p:nvPr/>
        </p:nvSpPr>
        <p:spPr>
          <a:xfrm>
            <a:off x="6553200" y="4876800"/>
            <a:ext cx="4095750" cy="533400"/>
          </a:xfrm>
          <a:prstGeom prst="rect">
            <a:avLst/>
          </a:prstGeom>
          <a:noFill/>
          <a:ln w="0">
            <a:noFill/>
            <a:prstDash val="solid"/>
          </a:ln>
        </p:spPr>
        <p:txBody>
          <a:bodyPr wrap="square" lIns="0" tIns="0" rIns="0" bIns="0" anchor="ctr">
            <a:normAutofit/>
          </a:bodyPr>
          <a:lstStyle/>
          <a:p>
            <a:pPr algn="l">
              <a:lnSpc>
                <a:spcPct val="120000"/>
              </a:lnSpc>
              <a:buNone/>
              <a:defRPr sz="1425" b="0">
                <a:solidFill>
                  <a:srgbClr val="64748B"/>
                </a:solidFill>
                <a:latin typeface="Inter"/>
                <a:ea typeface="Inter"/>
                <a:cs typeface="Inter"/>
              </a:defRPr>
            </a:pPr>
            <a:r>
              <a:rPr sz="1425" b="0">
                <a:solidFill>
                  <a:srgbClr val="64748B"/>
                </a:solidFill>
                <a:latin typeface="Inter"/>
                <a:ea typeface="Inter"/>
                <a:cs typeface="Inter"/>
              </a:rPr>
              <a:t>A credible public experience with one price set, honest labels and clearer audience journeys.</a:t>
            </a:r>
          </a:p>
        </p:txBody>
      </p:sp>
      <p:sp>
        <p:nvSpPr>
          <p:cNvPr id="24" name="close-contact">
            <a:extLst>
              <a:ext uri="{FF2B5EF4-FFF2-40B4-BE49-F238E27FC236}">
                <a16:creationId xmlns:a16="http://schemas.microsoft.com/office/drawing/2014/main" id="{76963201-5F19-4129-A2A6-CD2F8D269596}"/>
              </a:ext>
            </a:extLst>
          </p:cNvPr>
          <p:cNvSpPr>
            <a:spLocks noGrp="1"/>
          </p:cNvSpPr>
          <p:nvPr/>
        </p:nvSpPr>
        <p:spPr>
          <a:xfrm>
            <a:off x="3810000" y="6153150"/>
            <a:ext cx="4572000" cy="266700"/>
          </a:xfrm>
          <a:prstGeom prst="rect">
            <a:avLst/>
          </a:prstGeom>
          <a:noFill/>
          <a:ln w="0">
            <a:noFill/>
            <a:prstDash val="solid"/>
          </a:ln>
        </p:spPr>
        <p:txBody>
          <a:bodyPr wrap="square" lIns="0" tIns="0" rIns="0" bIns="0" anchor="ctr">
            <a:normAutofit/>
          </a:bodyPr>
          <a:lstStyle/>
          <a:p>
            <a:pPr algn="ctr">
              <a:lnSpc>
                <a:spcPct val="112000"/>
              </a:lnSpc>
              <a:buNone/>
              <a:defRPr sz="1200" b="0">
                <a:solidFill>
                  <a:srgbClr val="94A3B8"/>
                </a:solidFill>
                <a:latin typeface="Inter"/>
                <a:ea typeface="Inter"/>
                <a:cs typeface="Inter"/>
              </a:defRPr>
            </a:pPr>
            <a:r>
              <a:rPr sz="1200" b="0">
                <a:solidFill>
                  <a:srgbClr val="94A3B8"/>
                </a:solidFill>
                <a:latin typeface="Inter"/>
                <a:ea typeface="Inter"/>
                <a:cs typeface="Inter"/>
              </a:rPr>
              <a:t>hello@influencees.com  ·  Singapore</a:t>
            </a:r>
          </a:p>
        </p:txBody>
      </p:sp>
    </p:spTree>
    <p:extLst>
      <p:ext uri="{BB962C8B-B14F-4D97-AF65-F5344CB8AC3E}">
        <p14:creationId xmlns:p14="http://schemas.microsoft.com/office/powerpoint/2010/main" val="19870012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lose-title-1">
            <a:extLst>
              <a:ext uri="{FF2B5EF4-FFF2-40B4-BE49-F238E27FC236}">
                <a16:creationId xmlns:a16="http://schemas.microsoft.com/office/drawing/2014/main" id="{C244E250-6A9D-537B-3F9F-09799476BCC7}"/>
              </a:ext>
            </a:extLst>
          </p:cNvPr>
          <p:cNvSpPr>
            <a:spLocks noGrp="1"/>
          </p:cNvSpPr>
          <p:nvPr/>
        </p:nvSpPr>
        <p:spPr>
          <a:xfrm>
            <a:off x="1333500" y="908050"/>
            <a:ext cx="9525000" cy="723900"/>
          </a:xfrm>
          <a:prstGeom prst="rect">
            <a:avLst/>
          </a:prstGeom>
          <a:noFill/>
          <a:ln w="0">
            <a:noFill/>
            <a:prstDash val="solid"/>
          </a:ln>
        </p:spPr>
        <p:txBody>
          <a:bodyPr wrap="square" lIns="0" tIns="0" rIns="0" bIns="0" anchor="ctr">
            <a:normAutofit fontScale="97496"/>
          </a:bodyPr>
          <a:lstStyle/>
          <a:p>
            <a:pPr algn="ctr">
              <a:lnSpc>
                <a:spcPct val="112000"/>
              </a:lnSpc>
              <a:buNone/>
              <a:defRPr sz="4350" b="0">
                <a:solidFill>
                  <a:srgbClr val="0F172A"/>
                </a:solidFill>
                <a:latin typeface="Inter"/>
                <a:ea typeface="Inter"/>
                <a:cs typeface="Inter"/>
              </a:defRPr>
            </a:pPr>
            <a:endParaRPr sz="4350" b="0" dirty="0">
              <a:solidFill>
                <a:srgbClr val="0F172A"/>
              </a:solidFill>
              <a:latin typeface="Inter"/>
              <a:ea typeface="Inter"/>
              <a:cs typeface="Inter"/>
            </a:endParaRPr>
          </a:p>
        </p:txBody>
      </p:sp>
      <p:sp>
        <p:nvSpPr>
          <p:cNvPr id="5" name="TextBox 4">
            <a:extLst>
              <a:ext uri="{FF2B5EF4-FFF2-40B4-BE49-F238E27FC236}">
                <a16:creationId xmlns:a16="http://schemas.microsoft.com/office/drawing/2014/main" id="{09CE7581-F803-8DDC-88AC-22DE4E2208DB}"/>
              </a:ext>
            </a:extLst>
          </p:cNvPr>
          <p:cNvSpPr txBox="1"/>
          <p:nvPr/>
        </p:nvSpPr>
        <p:spPr>
          <a:xfrm>
            <a:off x="1758950" y="1270889"/>
            <a:ext cx="8350250" cy="1601977"/>
          </a:xfrm>
          <a:prstGeom prst="rect">
            <a:avLst/>
          </a:prstGeom>
          <a:noFill/>
        </p:spPr>
        <p:txBody>
          <a:bodyPr wrap="square">
            <a:spAutoFit/>
          </a:bodyPr>
          <a:lstStyle/>
          <a:p>
            <a:pPr algn="ctr">
              <a:lnSpc>
                <a:spcPct val="112000"/>
              </a:lnSpc>
              <a:buNone/>
              <a:defRPr sz="4500" b="1">
                <a:solidFill>
                  <a:srgbClr val="7C5CFC"/>
                </a:solidFill>
                <a:latin typeface="Inter"/>
                <a:ea typeface="Inter"/>
                <a:cs typeface="Inter"/>
              </a:defRPr>
            </a:pPr>
            <a:r>
              <a:rPr lang="en-US" sz="4500" b="1" dirty="0">
                <a:solidFill>
                  <a:srgbClr val="7C5CFC"/>
                </a:solidFill>
                <a:latin typeface="Inter"/>
                <a:ea typeface="Inter"/>
                <a:cs typeface="Inter"/>
              </a:rPr>
              <a:t>The hosted websites for easier viewing:</a:t>
            </a:r>
          </a:p>
        </p:txBody>
      </p:sp>
      <p:sp>
        <p:nvSpPr>
          <p:cNvPr id="7" name="TextBox 6">
            <a:extLst>
              <a:ext uri="{FF2B5EF4-FFF2-40B4-BE49-F238E27FC236}">
                <a16:creationId xmlns:a16="http://schemas.microsoft.com/office/drawing/2014/main" id="{57EF0155-D9AE-1B2C-915D-4B4652D0DCF1}"/>
              </a:ext>
            </a:extLst>
          </p:cNvPr>
          <p:cNvSpPr txBox="1"/>
          <p:nvPr/>
        </p:nvSpPr>
        <p:spPr>
          <a:xfrm>
            <a:off x="727074" y="3294762"/>
            <a:ext cx="10601325" cy="3153171"/>
          </a:xfrm>
          <a:prstGeom prst="rect">
            <a:avLst/>
          </a:prstGeom>
          <a:noFill/>
        </p:spPr>
        <p:txBody>
          <a:bodyPr wrap="square">
            <a:spAutoFit/>
          </a:bodyPr>
          <a:lstStyle/>
          <a:p>
            <a:pPr algn="ctr">
              <a:lnSpc>
                <a:spcPct val="112000"/>
              </a:lnSpc>
              <a:buNone/>
              <a:defRPr sz="4500" b="1">
                <a:solidFill>
                  <a:srgbClr val="7C5CFC"/>
                </a:solidFill>
                <a:latin typeface="Inter"/>
                <a:ea typeface="Inter"/>
                <a:cs typeface="Inter"/>
              </a:defRPr>
            </a:pPr>
            <a:r>
              <a:rPr lang="en-US" sz="4500" b="1" dirty="0">
                <a:solidFill>
                  <a:srgbClr val="F95FC9"/>
                </a:solidFill>
                <a:latin typeface="Inter"/>
                <a:ea typeface="Inter"/>
                <a:cs typeface="Inter"/>
                <a:hlinkClick r:id="rId2">
                  <a:extLst>
                    <a:ext uri="{A12FA001-AC4F-418D-AE19-62706E023703}">
                      <ahyp:hlinkClr xmlns:ahyp="http://schemas.microsoft.com/office/drawing/2018/hyperlinkcolor" val="tx"/>
                    </a:ext>
                  </a:extLst>
                </a:hlinkClick>
              </a:rPr>
              <a:t>https://influencees-bd-agent.vercel.app/</a:t>
            </a:r>
            <a:endParaRPr lang="en-US" sz="4500" b="1" dirty="0">
              <a:solidFill>
                <a:srgbClr val="F95FC9"/>
              </a:solidFill>
              <a:latin typeface="Inter"/>
              <a:ea typeface="Inter"/>
              <a:cs typeface="Inter"/>
            </a:endParaRPr>
          </a:p>
          <a:p>
            <a:pPr algn="ctr">
              <a:lnSpc>
                <a:spcPct val="112000"/>
              </a:lnSpc>
              <a:buNone/>
              <a:defRPr sz="4500" b="1">
                <a:solidFill>
                  <a:srgbClr val="7C5CFC"/>
                </a:solidFill>
                <a:latin typeface="Inter"/>
                <a:ea typeface="Inter"/>
                <a:cs typeface="Inter"/>
              </a:defRPr>
            </a:pPr>
            <a:endParaRPr lang="en-US" sz="4500" b="1" dirty="0">
              <a:solidFill>
                <a:srgbClr val="F95FC9"/>
              </a:solidFill>
              <a:latin typeface="Inter"/>
              <a:ea typeface="Inter"/>
              <a:cs typeface="Inter"/>
            </a:endParaRPr>
          </a:p>
          <a:p>
            <a:pPr algn="ctr">
              <a:lnSpc>
                <a:spcPct val="112000"/>
              </a:lnSpc>
              <a:buNone/>
              <a:defRPr sz="4500" b="1">
                <a:solidFill>
                  <a:srgbClr val="7C5CFC"/>
                </a:solidFill>
                <a:latin typeface="Inter"/>
                <a:ea typeface="Inter"/>
                <a:cs typeface="Inter"/>
              </a:defRPr>
            </a:pPr>
            <a:r>
              <a:rPr lang="en-US" sz="4500" b="1" dirty="0">
                <a:solidFill>
                  <a:srgbClr val="F95FC9"/>
                </a:solidFill>
                <a:latin typeface="Inter"/>
                <a:ea typeface="Inter"/>
                <a:cs typeface="Inter"/>
                <a:hlinkClick r:id="rId3">
                  <a:extLst>
                    <a:ext uri="{A12FA001-AC4F-418D-AE19-62706E023703}">
                      <ahyp:hlinkClr xmlns:ahyp="http://schemas.microsoft.com/office/drawing/2018/hyperlinkcolor" val="tx"/>
                    </a:ext>
                  </a:extLst>
                </a:hlinkClick>
              </a:rPr>
              <a:t>https://influencees-website.vercel.app/</a:t>
            </a:r>
            <a:endParaRPr lang="en-US" sz="4500" b="1" dirty="0">
              <a:solidFill>
                <a:srgbClr val="F95FC9"/>
              </a:solidFill>
              <a:latin typeface="Inter"/>
              <a:ea typeface="Inter"/>
              <a:cs typeface="Inter"/>
            </a:endParaRPr>
          </a:p>
          <a:p>
            <a:pPr algn="ctr">
              <a:lnSpc>
                <a:spcPct val="112000"/>
              </a:lnSpc>
              <a:buNone/>
              <a:defRPr sz="4500" b="1">
                <a:solidFill>
                  <a:srgbClr val="7C5CFC"/>
                </a:solidFill>
                <a:latin typeface="Inter"/>
                <a:ea typeface="Inter"/>
                <a:cs typeface="Inter"/>
              </a:defRPr>
            </a:pPr>
            <a:endParaRPr lang="en-US" sz="4500" b="1" dirty="0">
              <a:solidFill>
                <a:srgbClr val="F95FC9"/>
              </a:solidFill>
              <a:latin typeface="Inter"/>
              <a:ea typeface="Inter"/>
              <a:cs typeface="Inter"/>
            </a:endParaRPr>
          </a:p>
        </p:txBody>
      </p:sp>
    </p:spTree>
    <p:extLst>
      <p:ext uri="{BB962C8B-B14F-4D97-AF65-F5344CB8AC3E}">
        <p14:creationId xmlns:p14="http://schemas.microsoft.com/office/powerpoint/2010/main" val="122712553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
          <a:effectLst>
            <a:outerShdw blurRad="285750" dist="95250" dir="5400000">
              <a:srgbClr val="000000">
                <a:alpha val="10000"/>
              </a:srgbClr>
            </a:outerShdw>
          </a:effectLst>
        </a:effectStyle>
        <a:effectStyle>
          <a:effectLst>
            <a:outerShdw blurRad="190500" dist="76200" dir="5400000">
              <a:srgbClr val="000000">
                <a:alpha val="5000"/>
              </a:srgbClr>
            </a:outerShdw>
          </a:effectLst>
        </a:effectStyle>
        <a:effectStyle>
          <a:effectLst>
            <a:outerShdw blurRad="190500" dist="76200" dir="5400000">
              <a:srgbClr val="000000">
                <a:alpha val="6000"/>
              </a:srgbClr>
            </a:outerShdw>
          </a:effectLst>
        </a:effectStyle>
        <a:effectStyle>
          <a:effectLst>
            <a:outerShdw blurRad="114300" dist="38100" dir="5400000">
              <a:srgbClr val="000000">
                <a:alpha val="5000"/>
              </a:srgbClr>
            </a:outerShdw>
          </a:effectLst>
        </a:effectStyle>
        <a:effectStyle>
          <a:effectLst>
            <a:outerShdw blurRad="133350" dist="38100" dir="5400000">
              <a:srgbClr val="000000">
                <a:alpha val="14000"/>
              </a:srgbClr>
            </a:outerShdw>
          </a:effectLst>
        </a:effectStyle>
        <a:effectStyle>
          <a:effectLst>
            <a:outerShdw blurRad="171450" dist="66675" dir="5400000">
              <a:srgbClr val="000000">
                <a:alpha val="5000"/>
              </a:srgbClr>
            </a:outerShdw>
          </a:effectLst>
        </a:effectStyle>
        <a:effectStyle>
          <a:effectLst>
            <a:outerShdw blurRad="247650" dist="95250" dir="5400000">
              <a:srgbClr val="000000">
                <a:alpha val="7000"/>
              </a:srgbClr>
            </a:outerShdw>
          </a:effectLst>
        </a:effectStyle>
        <a:effectStyle>
          <a:effectLst>
            <a:outerShdw blurRad="228600" dist="85725" dir="5400000">
              <a:srgbClr val="000000">
                <a:alpha val="6000"/>
              </a:srgbClr>
            </a:outerShdw>
          </a:effectLst>
        </a:effectStyle>
        <a:effectStyle>
          <a:effectLst>
            <a:outerShdw blurRad="142875" dist="47625" dir="5400000">
              <a:srgbClr val="000000">
                <a:alpha val="4000"/>
              </a:srgbClr>
            </a:outerShdw>
          </a:effectLst>
        </a:effectStyle>
        <a:effectStyle>
          <a:effectLst>
            <a:outerShdw blurRad="133350" dist="47625" dir="5400000">
              <a:srgbClr val="000000">
                <a:alpha val="6000"/>
              </a:srgbClr>
            </a:outerShdw>
          </a:effectLst>
        </a:effectStyle>
        <a:effectStyle>
          <a:effectLst>
            <a:outerShdw blurRad="171450" dist="57150" dir="5400000">
              <a:srgbClr val="000000">
                <a:alpha val="4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TotalTime>
  <Words>2868</Words>
  <Application>Microsoft Office PowerPoint</Application>
  <DocSecurity>0</DocSecurity>
  <PresentationFormat>Widescreen</PresentationFormat>
  <Paragraphs>388</Paragraphs>
  <Slides>11</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Inter</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NG YU HANG</cp:lastModifiedBy>
  <cp:revision>2</cp:revision>
  <dcterms:created xsi:type="dcterms:W3CDTF">2026-07-24T07:10:51Z</dcterms:created>
  <dcterms:modified xsi:type="dcterms:W3CDTF">2026-07-24T07:49:12Z</dcterms:modified>
</cp:coreProperties>
</file>