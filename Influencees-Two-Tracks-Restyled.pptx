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06235236e44103" /><Relationship Type="http://schemas.openxmlformats.org/officeDocument/2006/relationships/extended-properties" Target="/docProps/app.xml" Id="R6055a48b596f40c1" /><Relationship Type="http://schemas.openxmlformats.org/officeDocument/2006/relationships/officeDocument" Target="/ppt/presentation.xml" Id="R8df0f08049954860" /></Relationships>
</file>

<file path=ppt/presentation.xml><?xml version="1.0" encoding="utf-8"?>
<p:presentation xmlns:p="http://schemas.openxmlformats.org/presentationml/2006/main">
  <p:sldMasterIdLst>
    <p:sldMasterId xmlns:r="http://schemas.openxmlformats.org/officeDocument/2006/relationships" id="2147483648" r:id="Rf87f303071bf4988"/>
  </p:sldMasterIdLst>
  <p:notesMasterIdLst>
    <p:notesMasterId xmlns:r="http://schemas.openxmlformats.org/officeDocument/2006/relationships" r:id="Rf90f57700071415d"/>
  </p:notesMasterIdLst>
  <p:sldIdLst>
    <p:sldId xmlns:r="http://schemas.openxmlformats.org/officeDocument/2006/relationships" id="256" r:id="R44ae62c04d564021"/>
    <p:sldId xmlns:r="http://schemas.openxmlformats.org/officeDocument/2006/relationships" id="257" r:id="R0b49cb8d771c4a7a"/>
    <p:sldId xmlns:r="http://schemas.openxmlformats.org/officeDocument/2006/relationships" id="258" r:id="R17443c22f00245e0"/>
    <p:sldId xmlns:r="http://schemas.openxmlformats.org/officeDocument/2006/relationships" id="259" r:id="R4d6dcb0af8154afb"/>
    <p:sldId xmlns:r="http://schemas.openxmlformats.org/officeDocument/2006/relationships" id="260" r:id="Rba7282934ce64a06"/>
    <p:sldId xmlns:r="http://schemas.openxmlformats.org/officeDocument/2006/relationships" id="261" r:id="R5dcb7da3c40c4048"/>
    <p:sldId xmlns:r="http://schemas.openxmlformats.org/officeDocument/2006/relationships" id="262" r:id="R20d080d5aaa4484a"/>
    <p:sldId xmlns:r="http://schemas.openxmlformats.org/officeDocument/2006/relationships" id="263" r:id="R75fdea8b508c4be0"/>
    <p:sldId xmlns:r="http://schemas.openxmlformats.org/officeDocument/2006/relationships" id="264" r:id="Re0b64861d08a43e6"/>
    <p:sldId xmlns:r="http://schemas.openxmlformats.org/officeDocument/2006/relationships" id="265" r:id="R2fb18bdaa2a1492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24ec4d3b032472a" /><Relationship Type="http://schemas.openxmlformats.org/officeDocument/2006/relationships/slideMaster" Target="/ppt/slideMasters/slideMaster1.xml" Id="Rf87f303071bf4988" /><Relationship Type="http://schemas.openxmlformats.org/officeDocument/2006/relationships/notesMaster" Target="/ppt/notesMasters/notesMaster1.xml" Id="Rf90f57700071415d" /><Relationship Type="http://schemas.openxmlformats.org/officeDocument/2006/relationships/presProps" Target="/ppt/presProps.xml" Id="R7c446ed46b364a85" /><Relationship Type="http://schemas.openxmlformats.org/officeDocument/2006/relationships/viewProps" Target="/ppt/viewProps.xml" Id="Rbdab64a011c54364" /><Relationship Type="http://schemas.openxmlformats.org/officeDocument/2006/relationships/tableStyles" Target="/ppt/tableStyles.xml" Id="Rc0b0f263b4ea44a5" /><Relationship Type="http://schemas.openxmlformats.org/officeDocument/2006/relationships/slide" Target="/ppt/slides/slide1.xml" Id="R44ae62c04d564021" /><Relationship Type="http://schemas.openxmlformats.org/officeDocument/2006/relationships/slide" Target="/ppt/slides/slide2.xml" Id="R0b49cb8d771c4a7a" /><Relationship Type="http://schemas.openxmlformats.org/officeDocument/2006/relationships/slide" Target="/ppt/slides/slide3.xml" Id="R17443c22f00245e0" /><Relationship Type="http://schemas.openxmlformats.org/officeDocument/2006/relationships/slide" Target="/ppt/slides/slide4.xml" Id="R4d6dcb0af8154afb" /><Relationship Type="http://schemas.openxmlformats.org/officeDocument/2006/relationships/slide" Target="/ppt/slides/slide5.xml" Id="Rba7282934ce64a06" /><Relationship Type="http://schemas.openxmlformats.org/officeDocument/2006/relationships/slide" Target="/ppt/slides/slide6.xml" Id="R5dcb7da3c40c4048" /><Relationship Type="http://schemas.openxmlformats.org/officeDocument/2006/relationships/slide" Target="/ppt/slides/slide7.xml" Id="R20d080d5aaa4484a" /><Relationship Type="http://schemas.openxmlformats.org/officeDocument/2006/relationships/slide" Target="/ppt/slides/slide8.xml" Id="R75fdea8b508c4be0" /><Relationship Type="http://schemas.openxmlformats.org/officeDocument/2006/relationships/slide" Target="/ppt/slides/slide9.xml" Id="Re0b64861d08a43e6" /><Relationship Type="http://schemas.openxmlformats.org/officeDocument/2006/relationships/slide" Target="/ppt/slides/slide10.xml" Id="R2fb18bdaa2a149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b24484984645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
          <a:effectLst>
            <a:outerShdw blurRad="285750" dist="95250" dir="5400000">
              <a:srgbClr val="000000">
                <a:alpha val="10000"/>
              </a:srgbClr>
            </a:outerShdw>
          </a:effectLst>
        </a:effectStyle>
        <a:effectStyle>
          <a:effectLst>
            <a:outerShdw blurRad="190500" dist="76200" dir="5400000">
              <a:srgbClr val="000000">
                <a:alpha val="5000"/>
              </a:srgbClr>
            </a:outerShdw>
          </a:effectLst>
        </a:effectStyle>
        <a:effectStyle>
          <a:effectLst>
            <a:outerShdw blurRad="190500" dist="76200" dir="5400000">
              <a:srgbClr val="000000">
                <a:alpha val="6000"/>
              </a:srgbClr>
            </a:outerShdw>
          </a:effectLst>
        </a:effectStyle>
        <a:effectStyle>
          <a:effectLst>
            <a:outerShdw blurRad="114300" dist="38100" dir="5400000">
              <a:srgbClr val="000000">
                <a:alpha val="5000"/>
              </a:srgbClr>
            </a:outerShdw>
          </a:effectLst>
        </a:effectStyle>
        <a:effectStyle>
          <a:effectLst>
            <a:outerShdw blurRad="133350" dist="38100" dir="5400000">
              <a:srgbClr val="000000">
                <a:alpha val="14000"/>
              </a:srgbClr>
            </a:outerShdw>
          </a:effectLst>
        </a:effectStyle>
        <a:effectStyle>
          <a:effectLst>
            <a:outerShdw blurRad="171450" dist="66675" dir="5400000">
              <a:srgbClr val="000000">
                <a:alpha val="5000"/>
              </a:srgbClr>
            </a:outerShdw>
          </a:effectLst>
        </a:effectStyle>
        <a:effectStyle>
          <a:effectLst>
            <a:outerShdw blurRad="247650" dist="95250" dir="5400000">
              <a:srgbClr val="000000">
                <a:alpha val="7000"/>
              </a:srgbClr>
            </a:outerShdw>
          </a:effectLst>
        </a:effectStyle>
        <a:effectStyle>
          <a:effectLst>
            <a:outerShdw blurRad="228600" dist="85725" dir="5400000">
              <a:srgbClr val="000000">
                <a:alpha val="6000"/>
              </a:srgbClr>
            </a:outerShdw>
          </a:effectLst>
        </a:effectStyle>
        <a:effectStyle>
          <a:effectLst>
            <a:outerShdw blurRad="142875" dist="47625" dir="5400000">
              <a:srgbClr val="000000">
                <a:alpha val="4000"/>
              </a:srgbClr>
            </a:outerShdw>
          </a:effectLst>
        </a:effectStyle>
        <a:effectStyle>
          <a:effectLst>
            <a:outerShdw blurRad="133350" dist="47625" dir="5400000">
              <a:srgbClr val="000000">
                <a:alpha val="6000"/>
              </a:srgbClr>
            </a:outerShdw>
          </a:effectLst>
        </a:effectStyle>
        <a:effectStyle>
          <a:effectLst>
            <a:outerShdw blurRad="171450" dist="57150" dir="5400000">
              <a:srgbClr val="000000">
                <a:alpha val="4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be812bdad74637" /><Relationship Type="http://schemas.openxmlformats.org/officeDocument/2006/relationships/notesMaster" Target="/ppt/notesMasters/notesMaster1.xml" Id="R6a7c7b7e39b842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f1977460c64ea7" /><Relationship Type="http://schemas.openxmlformats.org/officeDocument/2006/relationships/notesMaster" Target="/ppt/notesMasters/notesMaster1.xml" Id="Rab7a93b09c7649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4f10889f5e47df" /><Relationship Type="http://schemas.openxmlformats.org/officeDocument/2006/relationships/notesMaster" Target="/ppt/notesMasters/notesMaster1.xml" Id="R158de9c791224c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eb106aff994776" /><Relationship Type="http://schemas.openxmlformats.org/officeDocument/2006/relationships/notesMaster" Target="/ppt/notesMasters/notesMaster1.xml" Id="R6d2b77696fbe4e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b25ac561504a38" /><Relationship Type="http://schemas.openxmlformats.org/officeDocument/2006/relationships/notesMaster" Target="/ppt/notesMasters/notesMaster1.xml" Id="Ra2a856de8aa640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8710b723d44ccd" /><Relationship Type="http://schemas.openxmlformats.org/officeDocument/2006/relationships/notesMaster" Target="/ppt/notesMasters/notesMaster1.xml" Id="R3de97984355d4d7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10819ab230488c" /><Relationship Type="http://schemas.openxmlformats.org/officeDocument/2006/relationships/notesMaster" Target="/ppt/notesMasters/notesMaster1.xml" Id="R421c01be3da045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e3eac4a2b94ae7" /><Relationship Type="http://schemas.openxmlformats.org/officeDocument/2006/relationships/notesMaster" Target="/ppt/notesMasters/notesMaster1.xml" Id="Rf46697aee80f4d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1ee7567958d4d33" /><Relationship Type="http://schemas.openxmlformats.org/officeDocument/2006/relationships/notesMaster" Target="/ppt/notesMasters/notesMaster1.xml" Id="R20d16667488846a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9a2b742683141e5" /><Relationship Type="http://schemas.openxmlformats.org/officeDocument/2006/relationships/notesMaster" Target="/ppt/notesMasters/notesMaster1.xml" Id="R76902ad581c844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~20s. One track, two solutions for the same company. Solution 1 is an internal BD tool that actually sends and reads messages. Solution 2 is a full redesign of the public site. Both are demoable. Move quickly.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~20s. One line on what Influencees is, then the two solutions: more brands in the door (BD agent), and a site that looks as trustworthy as the product (redesign). Don't linger.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~25s. The core idea: a real operator, not a text generator. The key feature is the switch between human-approval and fully autonomous, per conversation. Mention takeover, and that messages are evidence-bound so they don't read as spam.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~25s. Walk the seven steps fast. Key point at the bottom: messages are specific and sourced, not generic AI outreach. Read one line of the sample if time allows. Step 5 (Send) is highlighted because that's where the autonomy switch 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~20s. Point at the shared inbox: the exact outgoing message, the live thread, and company context sit together. Human and autonomous modes visibly diverge. Take over any thread and hand it back. Screenshots are placeholders you'll paste 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~25s. The honesty slide: a working demo on seeded data, deliberately, so it can't fail live. Then it's built to go real, layer by layer: Bright Data for research, n8n or a custom service for orchestration, a swappable channel adapter for sending. Nothing hand-wavy.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~30s. Constructive tone, this is the founder's own site. Lead with the framing: the substance is good, the system is missing. Hit the pricing conflict first (strongest, concrete). Keep it evidence-based. Straight from the site 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~20s. Quick sweep: same system across all pages. Point out one or two, Home and the creator directory. Placeholders are for your screenshots. Captions say the improvement each page makes.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~25s. The payoff. Lead with the pricing fix, clearest credibility win. Then status labels and split journeys. Close the point: a system change, so the site finally matches the quality of the data underneath.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~15s. Land it: one track, two solutions, both sides covered. BD agent is demoable today and live-ready. Redesign makes the site credible. Stop on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35645a2ae04834"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e64f6692624181" /><Relationship Type="http://schemas.openxmlformats.org/officeDocument/2006/relationships/slideLayout" Target="/ppt/slideLayouts/slideLayout1.xml" Id="R4e72f8bf2d014187"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72f8bf2d01418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00d87dafab441f" /><Relationship Type="http://schemas.openxmlformats.org/officeDocument/2006/relationships/notesSlide" Target="/ppt/notesSlides/notesSlide1.xml" Id="Rda7c8faaf64944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973533935e4a49" /><Relationship Type="http://schemas.openxmlformats.org/officeDocument/2006/relationships/notesSlide" Target="/ppt/notesSlides/notesSlide2.xml" Id="R856fc872b5154a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2e00e528705464d" /><Relationship Type="http://schemas.openxmlformats.org/officeDocument/2006/relationships/notesSlide" Target="/ppt/notesSlides/notesSlide3.xml" Id="R12a423a2169b4b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c3ed2b592ec48d8" /><Relationship Type="http://schemas.openxmlformats.org/officeDocument/2006/relationships/notesSlide" Target="/ppt/notesSlides/notesSlide4.xml" Id="R608ca6fe95d84e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78fe5803ff44890" /><Relationship Type="http://schemas.openxmlformats.org/officeDocument/2006/relationships/notesSlide" Target="/ppt/notesSlides/notesSlide5.xml" Id="R230f78b3d77149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2e1d9e6f7bc4eaf" /><Relationship Type="http://schemas.openxmlformats.org/officeDocument/2006/relationships/notesSlide" Target="/ppt/notesSlides/notesSlide6.xml" Id="R9c16bb0e2a374d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ff81c72b0fb45d5" /><Relationship Type="http://schemas.openxmlformats.org/officeDocument/2006/relationships/notesSlide" Target="/ppt/notesSlides/notesSlide7.xml" Id="R13f2b0dd7d8244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e5689eb50004f80" /><Relationship Type="http://schemas.openxmlformats.org/officeDocument/2006/relationships/notesSlide" Target="/ppt/notesSlides/notesSlide8.xml" Id="Ra66133be4bbf4f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3f82b6478db42fd" /><Relationship Type="http://schemas.openxmlformats.org/officeDocument/2006/relationships/notesSlide" Target="/ppt/notesSlides/notesSlide9.xml" Id="Rc073ccf6504e43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4a9903ae98449c3" /><Relationship Type="http://schemas.openxmlformats.org/officeDocument/2006/relationships/notesSlide" Target="/ppt/notesSlides/notesSlide10.xml" Id="R3e025891973f4b3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F3D7D07-D2EB-4959-8AAA-286ECE637F22}"/>
              </a:ext>
            </a:extLst>
          </p:cNvPr>
          <p:cNvSpPr>
            <a:spLocks xmlns:a="http://schemas.openxmlformats.org/drawingml/2006/main" noGrp="1"/>
          </p:cNvSpPr>
          <p:nvPr/>
        </p:nvSpPr>
        <p:spPr>
          <a:xfrm xmlns:a="http://schemas.openxmlformats.org/drawingml/2006/main">
            <a:off x="566928" y="64008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50" b="1">
                <a:solidFill>
                  <a:srgbClr val="5A3EE0"/>
                </a:solidFill>
                <a:latin typeface="Arial"/>
                <a:ea typeface="Arial"/>
                <a:cs typeface="Arial"/>
              </a:rPr>
              <a:t>INFLUENCEES  ·  BUILD REVIEW</a:t>
            </a:r>
          </a:p>
        </p:txBody>
      </p:sp>
      <p:sp>
        <p:nvSpPr>
          <p:cNvPr id="3" name="Text 1">
            <a:extLst xmlns:a="http://schemas.openxmlformats.org/drawingml/2006/main">
              <a:ext uri="{FF2B5EF4-FFF2-40B4-BE49-F238E27FC236}">
                <a16:creationId xmlns:a16="http://schemas.microsoft.com/office/drawing/2014/main" id="{1F190216-01CE-4F8F-B261-8BDA8DA2E67A}"/>
              </a:ext>
            </a:extLst>
          </p:cNvPr>
          <p:cNvSpPr>
            <a:spLocks xmlns:a="http://schemas.openxmlformats.org/drawingml/2006/main" noGrp="1"/>
          </p:cNvSpPr>
          <p:nvPr/>
        </p:nvSpPr>
        <p:spPr>
          <a:xfrm xmlns:a="http://schemas.openxmlformats.org/drawingml/2006/main">
            <a:off x="9448495" y="640080"/>
            <a:ext cx="21762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50">
                <a:solidFill>
                  <a:srgbClr val="9A968C"/>
                </a:solidFill>
                <a:latin typeface="Arial"/>
                <a:ea typeface="Arial"/>
                <a:cs typeface="Arial"/>
              </a:rPr>
              <a:t>July 2026</a:t>
            </a:r>
          </a:p>
        </p:txBody>
      </p:sp>
      <p:sp>
        <p:nvSpPr>
          <p:cNvPr id="4" name="Text 2">
            <a:extLst xmlns:a="http://schemas.openxmlformats.org/drawingml/2006/main">
              <a:ext uri="{FF2B5EF4-FFF2-40B4-BE49-F238E27FC236}">
                <a16:creationId xmlns:a16="http://schemas.microsoft.com/office/drawing/2014/main" id="{C8CF03DA-F379-4047-974A-0E574595DED0}"/>
              </a:ext>
            </a:extLst>
          </p:cNvPr>
          <p:cNvSpPr>
            <a:spLocks xmlns:a="http://schemas.openxmlformats.org/drawingml/2006/main" noGrp="1"/>
          </p:cNvSpPr>
          <p:nvPr/>
        </p:nvSpPr>
        <p:spPr>
          <a:xfrm xmlns:a="http://schemas.openxmlformats.org/drawingml/2006/main">
            <a:off x="566928" y="1874520"/>
            <a:ext cx="768096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98000"/>
              </a:lnSpc>
              <a:buNone/>
            </a:pPr>
            <a:r>
              <a:rPr sz="5800" b="1">
                <a:solidFill>
                  <a:srgbClr val="0D0C0A"/>
                </a:solidFill>
                <a:latin typeface="Arial"/>
                <a:ea typeface="Arial"/>
                <a:cs typeface="Arial"/>
              </a:rPr>
              <a:t>One track,</a:t>
            </a:r>
          </a:p>
          <a:p xmlns:a="http://schemas.openxmlformats.org/drawingml/2006/main">
            <a:pPr marL="0" indent="0" algn="l">
              <a:lnSpc>
                <a:spcPct val="98000"/>
              </a:lnSpc>
              <a:buNone/>
            </a:pPr>
            <a:r>
              <a:rPr sz="5800" b="1">
                <a:solidFill>
                  <a:srgbClr val="5A3EE0"/>
                </a:solidFill>
                <a:latin typeface="Arial"/>
                <a:ea typeface="Arial"/>
                <a:cs typeface="Arial"/>
              </a:rPr>
              <a:t>two solutions.</a:t>
            </a:r>
          </a:p>
        </p:txBody>
      </p:sp>
      <p:sp>
        <p:nvSpPr>
          <p:cNvPr id="5" name="Text 3">
            <a:extLst xmlns:a="http://schemas.openxmlformats.org/drawingml/2006/main">
              <a:ext uri="{FF2B5EF4-FFF2-40B4-BE49-F238E27FC236}">
                <a16:creationId xmlns:a16="http://schemas.microsoft.com/office/drawing/2014/main" id="{5C6507DB-14C6-4E8A-A057-6449497E1BE3}"/>
              </a:ext>
            </a:extLst>
          </p:cNvPr>
          <p:cNvSpPr>
            <a:spLocks xmlns:a="http://schemas.openxmlformats.org/drawingml/2006/main" noGrp="1"/>
          </p:cNvSpPr>
          <p:nvPr/>
        </p:nvSpPr>
        <p:spPr>
          <a:xfrm xmlns:a="http://schemas.openxmlformats.org/drawingml/2006/main">
            <a:off x="566928" y="3977640"/>
            <a:ext cx="69494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pPr>
            <a:r>
              <a:rPr sz="1500">
                <a:solidFill>
                  <a:srgbClr val="6B675F"/>
                </a:solidFill>
                <a:latin typeface="Arial"/>
                <a:ea typeface="Arial"/>
                <a:cs typeface="Arial"/>
              </a:rPr>
              <a:t>A working automated BD agent, and a full redesign of the public site. Built for Influencees, the trust layer for Singapore's creator economy.</a:t>
            </a:r>
          </a:p>
        </p:txBody>
      </p:sp>
      <p:sp>
        <p:nvSpPr>
          <p:cNvPr id="6" name="Text 4">
            <a:extLst xmlns:a="http://schemas.openxmlformats.org/drawingml/2006/main">
              <a:ext uri="{FF2B5EF4-FFF2-40B4-BE49-F238E27FC236}">
                <a16:creationId xmlns:a16="http://schemas.microsoft.com/office/drawing/2014/main" id="{DBEFE45F-FDDB-4850-BB9E-93C5B5A5FE00}"/>
              </a:ext>
            </a:extLst>
          </p:cNvPr>
          <p:cNvSpPr>
            <a:spLocks xmlns:a="http://schemas.openxmlformats.org/drawingml/2006/main" noGrp="1"/>
          </p:cNvSpPr>
          <p:nvPr/>
        </p:nvSpPr>
        <p:spPr>
          <a:xfrm xmlns:a="http://schemas.openxmlformats.org/drawingml/2006/main">
            <a:off x="8686800" y="1965960"/>
            <a:ext cx="8229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rgbClr val="7A5CFF"/>
                </a:solidFill>
                <a:latin typeface="Arial"/>
                <a:ea typeface="Arial"/>
                <a:cs typeface="Arial"/>
              </a:rPr>
              <a:t>01</a:t>
            </a:r>
          </a:p>
        </p:txBody>
      </p:sp>
      <p:sp>
        <p:nvSpPr>
          <p:cNvPr id="7" name="Text 5">
            <a:extLst xmlns:a="http://schemas.openxmlformats.org/drawingml/2006/main">
              <a:ext uri="{FF2B5EF4-FFF2-40B4-BE49-F238E27FC236}">
                <a16:creationId xmlns:a16="http://schemas.microsoft.com/office/drawing/2014/main" id="{742D73E7-1CF1-430B-8252-22738486BD5A}"/>
              </a:ext>
            </a:extLst>
          </p:cNvPr>
          <p:cNvSpPr>
            <a:spLocks xmlns:a="http://schemas.openxmlformats.org/drawingml/2006/main" noGrp="1"/>
          </p:cNvSpPr>
          <p:nvPr/>
        </p:nvSpPr>
        <p:spPr>
          <a:xfrm xmlns:a="http://schemas.openxmlformats.org/drawingml/2006/main">
            <a:off x="9555480" y="1984248"/>
            <a:ext cx="2057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0D0C0A"/>
                </a:solidFill>
                <a:latin typeface="Arial"/>
                <a:ea typeface="Arial"/>
                <a:cs typeface="Arial"/>
              </a:rPr>
              <a:t>BD Agent</a:t>
            </a:r>
          </a:p>
        </p:txBody>
      </p:sp>
      <p:sp>
        <p:nvSpPr>
          <p:cNvPr id="8" name="Text 6">
            <a:extLst xmlns:a="http://schemas.openxmlformats.org/drawingml/2006/main">
              <a:ext uri="{FF2B5EF4-FFF2-40B4-BE49-F238E27FC236}">
                <a16:creationId xmlns:a16="http://schemas.microsoft.com/office/drawing/2014/main" id="{F745E4FA-AA0B-404F-BD39-33E7220B93D7}"/>
              </a:ext>
            </a:extLst>
          </p:cNvPr>
          <p:cNvSpPr>
            <a:spLocks xmlns:a="http://schemas.openxmlformats.org/drawingml/2006/main" noGrp="1"/>
          </p:cNvSpPr>
          <p:nvPr/>
        </p:nvSpPr>
        <p:spPr>
          <a:xfrm xmlns:a="http://schemas.openxmlformats.org/drawingml/2006/main">
            <a:off x="9555480" y="2331720"/>
            <a:ext cx="20574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050">
                <a:solidFill>
                  <a:srgbClr val="6B675F"/>
                </a:solidFill>
                <a:latin typeface="Arial"/>
                <a:ea typeface="Arial"/>
                <a:cs typeface="Arial"/>
              </a:rPr>
              <a:t>Find brands. Message them. Stay in control.</a:t>
            </a:r>
          </a:p>
        </p:txBody>
      </p:sp>
      <p:sp>
        <p:nvSpPr>
          <p:cNvPr id="9" name="Text 7">
            <a:extLst xmlns:a="http://schemas.openxmlformats.org/drawingml/2006/main">
              <a:ext uri="{FF2B5EF4-FFF2-40B4-BE49-F238E27FC236}">
                <a16:creationId xmlns:a16="http://schemas.microsoft.com/office/drawing/2014/main" id="{A1318EBB-2697-496F-A792-FA5DA054A079}"/>
              </a:ext>
            </a:extLst>
          </p:cNvPr>
          <p:cNvSpPr>
            <a:spLocks xmlns:a="http://schemas.openxmlformats.org/drawingml/2006/main" noGrp="1"/>
          </p:cNvSpPr>
          <p:nvPr/>
        </p:nvSpPr>
        <p:spPr>
          <a:xfrm xmlns:a="http://schemas.openxmlformats.org/drawingml/2006/main">
            <a:off x="8686800" y="3200400"/>
            <a:ext cx="8229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rgbClr val="7A5CFF"/>
                </a:solidFill>
                <a:latin typeface="Arial"/>
                <a:ea typeface="Arial"/>
                <a:cs typeface="Arial"/>
              </a:rPr>
              <a:t>02</a:t>
            </a:r>
          </a:p>
        </p:txBody>
      </p:sp>
      <p:sp>
        <p:nvSpPr>
          <p:cNvPr id="10" name="Text 8">
            <a:extLst xmlns:a="http://schemas.openxmlformats.org/drawingml/2006/main">
              <a:ext uri="{FF2B5EF4-FFF2-40B4-BE49-F238E27FC236}">
                <a16:creationId xmlns:a16="http://schemas.microsoft.com/office/drawing/2014/main" id="{D5BEFE34-E1C7-4F92-BABD-009FAB1495A6}"/>
              </a:ext>
            </a:extLst>
          </p:cNvPr>
          <p:cNvSpPr>
            <a:spLocks xmlns:a="http://schemas.openxmlformats.org/drawingml/2006/main" noGrp="1"/>
          </p:cNvSpPr>
          <p:nvPr/>
        </p:nvSpPr>
        <p:spPr>
          <a:xfrm xmlns:a="http://schemas.openxmlformats.org/drawingml/2006/main">
            <a:off x="9555480" y="3218688"/>
            <a:ext cx="2057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0D0C0A"/>
                </a:solidFill>
                <a:latin typeface="Arial"/>
                <a:ea typeface="Arial"/>
                <a:cs typeface="Arial"/>
              </a:rPr>
              <a:t>Website redesign</a:t>
            </a:r>
          </a:p>
        </p:txBody>
      </p:sp>
      <p:sp>
        <p:nvSpPr>
          <p:cNvPr id="11" name="Text 9">
            <a:extLst xmlns:a="http://schemas.openxmlformats.org/drawingml/2006/main">
              <a:ext uri="{FF2B5EF4-FFF2-40B4-BE49-F238E27FC236}">
                <a16:creationId xmlns:a16="http://schemas.microsoft.com/office/drawing/2014/main" id="{86290622-0CF7-4B3E-8597-356C2D0C307C}"/>
              </a:ext>
            </a:extLst>
          </p:cNvPr>
          <p:cNvSpPr>
            <a:spLocks xmlns:a="http://schemas.openxmlformats.org/drawingml/2006/main" noGrp="1"/>
          </p:cNvSpPr>
          <p:nvPr/>
        </p:nvSpPr>
        <p:spPr>
          <a:xfrm xmlns:a="http://schemas.openxmlformats.org/drawingml/2006/main">
            <a:off x="9555480" y="3566160"/>
            <a:ext cx="20574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050">
                <a:solidFill>
                  <a:srgbClr val="6B675F"/>
                </a:solidFill>
                <a:latin typeface="Arial"/>
                <a:ea typeface="Arial"/>
                <a:cs typeface="Arial"/>
              </a:rPr>
              <a:t>One system. Consistent, credible, responsive.</a:t>
            </a:r>
          </a:p>
        </p:txBody>
      </p:sp>
      <p:sp>
        <p:nvSpPr>
          <p:cNvPr id="12" name="Shape 10">
            <a:extLst xmlns:a="http://schemas.openxmlformats.org/drawingml/2006/main">
              <a:ext uri="{FF2B5EF4-FFF2-40B4-BE49-F238E27FC236}">
                <a16:creationId xmlns:a16="http://schemas.microsoft.com/office/drawing/2014/main" id="{89020301-0A11-432D-BA12-33C830AA2446}"/>
              </a:ext>
            </a:extLst>
          </p:cNvPr>
          <p:cNvSpPr>
            <a:spLocks xmlns:a="http://schemas.openxmlformats.org/drawingml/2006/main" noGrp="1"/>
          </p:cNvSpPr>
          <p:nvPr/>
        </p:nvSpPr>
        <p:spPr>
          <a:xfrm xmlns:a="http://schemas.openxmlformats.org/drawingml/2006/main">
            <a:off x="8686800" y="1874520"/>
            <a:ext cx="0" cy="2331720"/>
          </a:xfrm>
          <a:prstGeom xmlns:a="http://schemas.openxmlformats.org/drawingml/2006/main" prst="line">
            <a:avLst/>
          </a:prstGeom>
          <a:noFill xmlns:a="http://schemas.openxmlformats.org/drawingml/2006/main"/>
          <a:ln xmlns:a="http://schemas.openxmlformats.org/drawingml/2006/main" w="12700">
            <a:solidFill>
              <a:srgbClr val="E2DED6"/>
            </a:solidFill>
            <a:prstDash val="solid"/>
          </a:ln>
        </p:spPr>
      </p:sp>
      <p:sp>
        <p:nvSpPr>
          <p:cNvPr id="13" name="Text 11">
            <a:extLst xmlns:a="http://schemas.openxmlformats.org/drawingml/2006/main">
              <a:ext uri="{FF2B5EF4-FFF2-40B4-BE49-F238E27FC236}">
                <a16:creationId xmlns:a16="http://schemas.microsoft.com/office/drawing/2014/main" id="{F954CBE7-37A5-4E37-8DC8-4FE9B6CA6193}"/>
              </a:ext>
            </a:extLst>
          </p:cNvPr>
          <p:cNvSpPr>
            <a:spLocks xmlns:a="http://schemas.openxmlformats.org/drawingml/2006/main" noGrp="1"/>
          </p:cNvSpPr>
          <p:nvPr/>
        </p:nvSpPr>
        <p:spPr>
          <a:xfrm xmlns:a="http://schemas.openxmlformats.org/drawingml/2006/main">
            <a:off x="8351215" y="6382512"/>
            <a:ext cx="327355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b="1">
                <a:solidFill>
                  <a:srgbClr val="9A968C"/>
                </a:solidFill>
                <a:latin typeface="Arial"/>
                <a:ea typeface="Arial"/>
                <a:cs typeface="Arial"/>
              </a:rPr>
              <a:t>INFLUENCEES</a:t>
            </a:r>
            <a:r>
              <a:rPr sz="950" b="1">
                <a:solidFill>
                  <a:srgbClr val="6B675F"/>
                </a:solidFill>
                <a:latin typeface="Arial"/>
                <a:ea typeface="Arial"/>
                <a:cs typeface="Arial"/>
              </a:rPr>
              <a:t>   01 / 10</a:t>
            </a:r>
          </a:p>
        </p:txBody>
      </p:sp>
      <p:sp>
        <p:nvSpPr>
          <p:cNvPr id="14" name="white-canvas-1">
            <a:extLst xmlns:a="http://schemas.openxmlformats.org/drawingml/2006/main">
              <a:ext uri="{FF2B5EF4-FFF2-40B4-BE49-F238E27FC236}">
                <a16:creationId xmlns:a16="http://schemas.microsoft.com/office/drawing/2014/main" id="{86BD38D0-A473-4EF3-A5D8-471C4924933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 name="section-badge">
            <a:extLst xmlns:a="http://schemas.openxmlformats.org/drawingml/2006/main">
              <a:ext uri="{FF2B5EF4-FFF2-40B4-BE49-F238E27FC236}">
                <a16:creationId xmlns:a16="http://schemas.microsoft.com/office/drawing/2014/main" id="{F46B4251-E111-4740-9DB2-3EBBCF9ABB28}"/>
              </a:ext>
            </a:extLst>
          </p:cNvPr>
          <p:cNvSpPr>
            <a:spLocks xmlns:a="http://schemas.openxmlformats.org/drawingml/2006/main" noGrp="1"/>
          </p:cNvSpPr>
          <p:nvPr/>
        </p:nvSpPr>
        <p:spPr>
          <a:xfrm xmlns:a="http://schemas.openxmlformats.org/drawingml/2006/main">
            <a:off x="4191000" y="4191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1200" b="1">
                <a:solidFill>
                  <a:srgbClr val="7C5CFC"/>
                </a:solidFill>
                <a:latin typeface="Inter"/>
                <a:ea typeface="Inter"/>
                <a:cs typeface="Inter"/>
              </a:defRPr>
            </a:pPr>
            <a:r>
              <a:rPr sz="1200" b="1">
                <a:solidFill>
                  <a:srgbClr val="7C5CFC"/>
                </a:solidFill>
                <a:latin typeface="Inter"/>
                <a:ea typeface="Inter"/>
                <a:cs typeface="Inter"/>
              </a:rPr>
              <a:t>INFLUENCEES · TWO-TRACK PROPOSAL</a:t>
            </a:r>
          </a:p>
        </p:txBody>
      </p:sp>
      <p:sp>
        <p:nvSpPr>
          <p:cNvPr id="16" name="cover-title-1">
            <a:extLst xmlns:a="http://schemas.openxmlformats.org/drawingml/2006/main">
              <a:ext uri="{FF2B5EF4-FFF2-40B4-BE49-F238E27FC236}">
                <a16:creationId xmlns:a16="http://schemas.microsoft.com/office/drawing/2014/main" id="{05D17E65-1173-419D-AB90-534A8946B366}"/>
              </a:ext>
            </a:extLst>
          </p:cNvPr>
          <p:cNvSpPr>
            <a:spLocks xmlns:a="http://schemas.openxmlformats.org/drawingml/2006/main" noGrp="1"/>
          </p:cNvSpPr>
          <p:nvPr/>
        </p:nvSpPr>
        <p:spPr>
          <a:xfrm xmlns:a="http://schemas.openxmlformats.org/drawingml/2006/main">
            <a:off x="1524000" y="1162050"/>
            <a:ext cx="9144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0782"/>
          </a:bodyPr>
          <a:lstStyle xmlns:a="http://schemas.openxmlformats.org/drawingml/2006/main"/>
          <a:p xmlns:a="http://schemas.openxmlformats.org/drawingml/2006/main">
            <a:pPr algn="ctr">
              <a:lnSpc>
                <a:spcPct val="112000"/>
              </a:lnSpc>
              <a:buNone/>
              <a:defRPr sz="5250" b="0">
                <a:solidFill>
                  <a:srgbClr val="0F172A"/>
                </a:solidFill>
                <a:latin typeface="Inter"/>
                <a:ea typeface="Inter"/>
                <a:cs typeface="Inter"/>
              </a:defRPr>
            </a:pPr>
            <a:r>
              <a:rPr sz="5250" b="0">
                <a:solidFill>
                  <a:srgbClr val="0F172A"/>
                </a:solidFill>
                <a:latin typeface="Inter"/>
                <a:ea typeface="Inter"/>
                <a:cs typeface="Inter"/>
              </a:rPr>
              <a:t>One track,</a:t>
            </a:r>
          </a:p>
        </p:txBody>
      </p:sp>
      <p:sp>
        <p:nvSpPr>
          <p:cNvPr id="17" name="cover-title-2">
            <a:extLst xmlns:a="http://schemas.openxmlformats.org/drawingml/2006/main">
              <a:ext uri="{FF2B5EF4-FFF2-40B4-BE49-F238E27FC236}">
                <a16:creationId xmlns:a16="http://schemas.microsoft.com/office/drawing/2014/main" id="{E36E7DF3-97EF-476E-9DB2-1AB0305DE9B7}"/>
              </a:ext>
            </a:extLst>
          </p:cNvPr>
          <p:cNvSpPr>
            <a:spLocks xmlns:a="http://schemas.openxmlformats.org/drawingml/2006/main" noGrp="1"/>
          </p:cNvSpPr>
          <p:nvPr/>
        </p:nvSpPr>
        <p:spPr>
          <a:xfrm xmlns:a="http://schemas.openxmlformats.org/drawingml/2006/main">
            <a:off x="1524000" y="1847850"/>
            <a:ext cx="914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806"/>
          </a:bodyPr>
          <a:lstStyle xmlns:a="http://schemas.openxmlformats.org/drawingml/2006/main"/>
          <a:p xmlns:a="http://schemas.openxmlformats.org/drawingml/2006/main">
            <a:pPr algn="ctr">
              <a:lnSpc>
                <a:spcPct val="112000"/>
              </a:lnSpc>
              <a:buNone/>
              <a:defRPr sz="5400" b="1">
                <a:solidFill>
                  <a:srgbClr val="7C5CFC"/>
                </a:solidFill>
                <a:latin typeface="Inter"/>
                <a:ea typeface="Inter"/>
                <a:cs typeface="Inter"/>
              </a:defRPr>
            </a:pPr>
            <a:r>
              <a:rPr sz="5400" b="1">
                <a:solidFill>
                  <a:srgbClr val="7C5CFC"/>
                </a:solidFill>
                <a:latin typeface="Inter"/>
                <a:ea typeface="Inter"/>
                <a:cs typeface="Inter"/>
              </a:rPr>
              <a:t>two solutions.</a:t>
            </a:r>
          </a:p>
        </p:txBody>
      </p:sp>
      <p:sp>
        <p:nvSpPr>
          <p:cNvPr id="18" name="cover-subtitle">
            <a:extLst xmlns:a="http://schemas.openxmlformats.org/drawingml/2006/main">
              <a:ext uri="{FF2B5EF4-FFF2-40B4-BE49-F238E27FC236}">
                <a16:creationId xmlns:a16="http://schemas.microsoft.com/office/drawing/2014/main" id="{DDB0E521-566B-4E54-9ABD-49ED4D967BFF}"/>
              </a:ext>
            </a:extLst>
          </p:cNvPr>
          <p:cNvSpPr>
            <a:spLocks xmlns:a="http://schemas.openxmlformats.org/drawingml/2006/main" noGrp="1"/>
          </p:cNvSpPr>
          <p:nvPr/>
        </p:nvSpPr>
        <p:spPr>
          <a:xfrm xmlns:a="http://schemas.openxmlformats.org/drawingml/2006/main">
            <a:off x="2238375" y="2838450"/>
            <a:ext cx="7715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25000"/>
              </a:lnSpc>
              <a:buNone/>
              <a:defRPr sz="1650" b="0">
                <a:solidFill>
                  <a:srgbClr val="64748B"/>
                </a:solidFill>
                <a:latin typeface="Inter"/>
                <a:ea typeface="Inter"/>
                <a:cs typeface="Inter"/>
              </a:defRPr>
            </a:pPr>
            <a:r>
              <a:rPr sz="1650" b="0">
                <a:solidFill>
                  <a:srgbClr val="64748B"/>
                </a:solidFill>
                <a:latin typeface="Inter"/>
                <a:ea typeface="Inter"/>
                <a:cs typeface="Inter"/>
              </a:rPr>
              <a:t>A working business-development agent and a complete redesign of the public site—built for both sides of the Influencees platform.</a:t>
            </a:r>
          </a:p>
        </p:txBody>
      </p:sp>
      <p:sp>
        <p:nvSpPr>
          <p:cNvPr id="19" name="cover-card-01">
            <a:extLst xmlns:a="http://schemas.openxmlformats.org/drawingml/2006/main">
              <a:ext uri="{FF2B5EF4-FFF2-40B4-BE49-F238E27FC236}">
                <a16:creationId xmlns:a16="http://schemas.microsoft.com/office/drawing/2014/main" id="{E542C971-320F-4F53-B3E1-626A7BDECD37}"/>
              </a:ext>
            </a:extLst>
          </p:cNvPr>
          <p:cNvSpPr>
            <a:spLocks xmlns:a="http://schemas.openxmlformats.org/drawingml/2006/main" noGrp="1"/>
          </p:cNvSpPr>
          <p:nvPr/>
        </p:nvSpPr>
        <p:spPr>
          <a:xfrm xmlns:a="http://schemas.openxmlformats.org/drawingml/2006/main">
            <a:off x="1381125" y="3943350"/>
            <a:ext cx="4524375" cy="1952625"/>
          </a:xfrm>
          <a:prstGeom xmlns:a="http://schemas.openxmlformats.org/drawingml/2006/main" prst="roundRect">
            <a:avLst>
              <a:gd name="adj" fmla="val 9756"/>
            </a:avLst>
          </a:prstGeom>
          <a:solidFill xmlns:a="http://schemas.openxmlformats.org/drawingml/2006/main">
            <a:srgbClr val="FFF7E6"/>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cover-num-01">
            <a:extLst xmlns:a="http://schemas.openxmlformats.org/drawingml/2006/main">
              <a:ext uri="{FF2B5EF4-FFF2-40B4-BE49-F238E27FC236}">
                <a16:creationId xmlns:a16="http://schemas.microsoft.com/office/drawing/2014/main" id="{95047AEE-D59A-4FE6-BF2C-B063C25E5AB8}"/>
              </a:ext>
            </a:extLst>
          </p:cNvPr>
          <p:cNvSpPr>
            <a:spLocks xmlns:a="http://schemas.openxmlformats.org/drawingml/2006/main" noGrp="1"/>
          </p:cNvSpPr>
          <p:nvPr/>
        </p:nvSpPr>
        <p:spPr>
          <a:xfrm xmlns:a="http://schemas.openxmlformats.org/drawingml/2006/main">
            <a:off x="1628775" y="41719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1">
                <a:solidFill>
                  <a:srgbClr val="7C5CFC"/>
                </a:solidFill>
                <a:latin typeface="Inter"/>
                <a:ea typeface="Inter"/>
                <a:cs typeface="Inter"/>
              </a:defRPr>
            </a:pPr>
            <a:r>
              <a:rPr sz="1650" b="1">
                <a:solidFill>
                  <a:srgbClr val="7C5CFC"/>
                </a:solidFill>
                <a:latin typeface="Inter"/>
                <a:ea typeface="Inter"/>
                <a:cs typeface="Inter"/>
              </a:rPr>
              <a:t>01</a:t>
            </a:r>
          </a:p>
        </p:txBody>
      </p:sp>
      <p:sp>
        <p:nvSpPr>
          <p:cNvPr id="21" name="cover-card-title-01">
            <a:extLst xmlns:a="http://schemas.openxmlformats.org/drawingml/2006/main">
              <a:ext uri="{FF2B5EF4-FFF2-40B4-BE49-F238E27FC236}">
                <a16:creationId xmlns:a16="http://schemas.microsoft.com/office/drawing/2014/main" id="{2D8F0BB3-9E36-4483-AC7F-8F061B30894F}"/>
              </a:ext>
            </a:extLst>
          </p:cNvPr>
          <p:cNvSpPr>
            <a:spLocks xmlns:a="http://schemas.openxmlformats.org/drawingml/2006/main" noGrp="1"/>
          </p:cNvSpPr>
          <p:nvPr/>
        </p:nvSpPr>
        <p:spPr>
          <a:xfrm xmlns:a="http://schemas.openxmlformats.org/drawingml/2006/main">
            <a:off x="1628775" y="46291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00" b="1">
                <a:solidFill>
                  <a:srgbClr val="0F172A"/>
                </a:solidFill>
                <a:latin typeface="Inter"/>
                <a:ea typeface="Inter"/>
                <a:cs typeface="Inter"/>
              </a:defRPr>
            </a:pPr>
            <a:r>
              <a:rPr sz="2100" b="1">
                <a:solidFill>
                  <a:srgbClr val="0F172A"/>
                </a:solidFill>
                <a:latin typeface="Inter"/>
                <a:ea typeface="Inter"/>
                <a:cs typeface="Inter"/>
              </a:rPr>
              <a:t>BD Agent</a:t>
            </a:r>
          </a:p>
        </p:txBody>
      </p:sp>
      <p:sp>
        <p:nvSpPr>
          <p:cNvPr id="22" name="cover-card-body-01">
            <a:extLst xmlns:a="http://schemas.openxmlformats.org/drawingml/2006/main">
              <a:ext uri="{FF2B5EF4-FFF2-40B4-BE49-F238E27FC236}">
                <a16:creationId xmlns:a16="http://schemas.microsoft.com/office/drawing/2014/main" id="{1C2392F2-A3A8-4B44-8FD5-196FF4AF443C}"/>
              </a:ext>
            </a:extLst>
          </p:cNvPr>
          <p:cNvSpPr>
            <a:spLocks xmlns:a="http://schemas.openxmlformats.org/drawingml/2006/main" noGrp="1"/>
          </p:cNvSpPr>
          <p:nvPr/>
        </p:nvSpPr>
        <p:spPr>
          <a:xfrm xmlns:a="http://schemas.openxmlformats.org/drawingml/2006/main">
            <a:off x="1628775" y="5124450"/>
            <a:ext cx="3905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20000"/>
              </a:lnSpc>
              <a:buNone/>
              <a:defRPr sz="1500" b="0">
                <a:solidFill>
                  <a:srgbClr val="64748B"/>
                </a:solidFill>
                <a:latin typeface="Inter"/>
                <a:ea typeface="Inter"/>
                <a:cs typeface="Inter"/>
              </a:defRPr>
            </a:pPr>
            <a:r>
              <a:rPr sz="1500" b="0">
                <a:solidFill>
                  <a:srgbClr val="64748B"/>
                </a:solidFill>
                <a:latin typeface="Inter"/>
                <a:ea typeface="Inter"/>
                <a:cs typeface="Inter"/>
              </a:rPr>
              <a:t>Find brands, research the moment, send the message, and manage every reply.</a:t>
            </a:r>
          </a:p>
        </p:txBody>
      </p:sp>
      <p:sp>
        <p:nvSpPr>
          <p:cNvPr id="23" name="cover-card-02">
            <a:extLst xmlns:a="http://schemas.openxmlformats.org/drawingml/2006/main">
              <a:ext uri="{FF2B5EF4-FFF2-40B4-BE49-F238E27FC236}">
                <a16:creationId xmlns:a16="http://schemas.microsoft.com/office/drawing/2014/main" id="{C5B6481A-D417-40E7-84D5-FE8EBCA44487}"/>
              </a:ext>
            </a:extLst>
          </p:cNvPr>
          <p:cNvSpPr>
            <a:spLocks xmlns:a="http://schemas.openxmlformats.org/drawingml/2006/main" noGrp="1"/>
          </p:cNvSpPr>
          <p:nvPr/>
        </p:nvSpPr>
        <p:spPr>
          <a:xfrm xmlns:a="http://schemas.openxmlformats.org/drawingml/2006/main">
            <a:off x="6286500" y="3943350"/>
            <a:ext cx="4524375" cy="1952625"/>
          </a:xfrm>
          <a:prstGeom xmlns:a="http://schemas.openxmlformats.org/drawingml/2006/main" prst="roundRect">
            <a:avLst>
              <a:gd name="adj" fmla="val 9756"/>
            </a:avLst>
          </a:prstGeom>
          <a:solidFill xmlns:a="http://schemas.openxmlformats.org/drawingml/2006/main">
            <a:srgbClr val="F7EEFB"/>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cover-num-02">
            <a:extLst xmlns:a="http://schemas.openxmlformats.org/drawingml/2006/main">
              <a:ext uri="{FF2B5EF4-FFF2-40B4-BE49-F238E27FC236}">
                <a16:creationId xmlns:a16="http://schemas.microsoft.com/office/drawing/2014/main" id="{D0CF7771-5C33-4190-9290-49EBAD109F41}"/>
              </a:ext>
            </a:extLst>
          </p:cNvPr>
          <p:cNvSpPr>
            <a:spLocks xmlns:a="http://schemas.openxmlformats.org/drawingml/2006/main" noGrp="1"/>
          </p:cNvSpPr>
          <p:nvPr/>
        </p:nvSpPr>
        <p:spPr>
          <a:xfrm xmlns:a="http://schemas.openxmlformats.org/drawingml/2006/main">
            <a:off x="6534150" y="41719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1">
                <a:solidFill>
                  <a:srgbClr val="7C5CFC"/>
                </a:solidFill>
                <a:latin typeface="Inter"/>
                <a:ea typeface="Inter"/>
                <a:cs typeface="Inter"/>
              </a:defRPr>
            </a:pPr>
            <a:r>
              <a:rPr sz="1650" b="1">
                <a:solidFill>
                  <a:srgbClr val="7C5CFC"/>
                </a:solidFill>
                <a:latin typeface="Inter"/>
                <a:ea typeface="Inter"/>
                <a:cs typeface="Inter"/>
              </a:rPr>
              <a:t>02</a:t>
            </a:r>
          </a:p>
        </p:txBody>
      </p:sp>
      <p:sp>
        <p:nvSpPr>
          <p:cNvPr id="25" name="cover-card-title-02">
            <a:extLst xmlns:a="http://schemas.openxmlformats.org/drawingml/2006/main">
              <a:ext uri="{FF2B5EF4-FFF2-40B4-BE49-F238E27FC236}">
                <a16:creationId xmlns:a16="http://schemas.microsoft.com/office/drawing/2014/main" id="{406AE8A4-441F-4964-8308-A050ABDB4545}"/>
              </a:ext>
            </a:extLst>
          </p:cNvPr>
          <p:cNvSpPr>
            <a:spLocks xmlns:a="http://schemas.openxmlformats.org/drawingml/2006/main" noGrp="1"/>
          </p:cNvSpPr>
          <p:nvPr/>
        </p:nvSpPr>
        <p:spPr>
          <a:xfrm xmlns:a="http://schemas.openxmlformats.org/drawingml/2006/main">
            <a:off x="6534150" y="46291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00" b="1">
                <a:solidFill>
                  <a:srgbClr val="0F172A"/>
                </a:solidFill>
                <a:latin typeface="Inter"/>
                <a:ea typeface="Inter"/>
                <a:cs typeface="Inter"/>
              </a:defRPr>
            </a:pPr>
            <a:r>
              <a:rPr sz="2100" b="1">
                <a:solidFill>
                  <a:srgbClr val="0F172A"/>
                </a:solidFill>
                <a:latin typeface="Inter"/>
                <a:ea typeface="Inter"/>
                <a:cs typeface="Inter"/>
              </a:rPr>
              <a:t>Website redesign</a:t>
            </a:r>
          </a:p>
        </p:txBody>
      </p:sp>
      <p:sp>
        <p:nvSpPr>
          <p:cNvPr id="26" name="cover-card-body-02">
            <a:extLst xmlns:a="http://schemas.openxmlformats.org/drawingml/2006/main">
              <a:ext uri="{FF2B5EF4-FFF2-40B4-BE49-F238E27FC236}">
                <a16:creationId xmlns:a16="http://schemas.microsoft.com/office/drawing/2014/main" id="{E1A6B0FB-A7AA-484D-A867-EEA09251C8C7}"/>
              </a:ext>
            </a:extLst>
          </p:cNvPr>
          <p:cNvSpPr>
            <a:spLocks xmlns:a="http://schemas.openxmlformats.org/drawingml/2006/main" noGrp="1"/>
          </p:cNvSpPr>
          <p:nvPr/>
        </p:nvSpPr>
        <p:spPr>
          <a:xfrm xmlns:a="http://schemas.openxmlformats.org/drawingml/2006/main">
            <a:off x="6534150" y="5124450"/>
            <a:ext cx="3905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20000"/>
              </a:lnSpc>
              <a:buNone/>
              <a:defRPr sz="1500" b="0">
                <a:solidFill>
                  <a:srgbClr val="64748B"/>
                </a:solidFill>
                <a:latin typeface="Inter"/>
                <a:ea typeface="Inter"/>
                <a:cs typeface="Inter"/>
              </a:defRPr>
            </a:pPr>
            <a:r>
              <a:rPr sz="1500" b="0">
                <a:solidFill>
                  <a:srgbClr val="64748B"/>
                </a:solidFill>
                <a:latin typeface="Inter"/>
                <a:ea typeface="Inter"/>
                <a:cs typeface="Inter"/>
              </a:rPr>
              <a:t>One coherent, credible and responsive system across every public page.</a:t>
            </a:r>
          </a:p>
        </p:txBody>
      </p:sp>
      <p:sp>
        <p:nvSpPr>
          <p:cNvPr id="27" name="footer-brand">
            <a:extLst xmlns:a="http://schemas.openxmlformats.org/drawingml/2006/main">
              <a:ext uri="{FF2B5EF4-FFF2-40B4-BE49-F238E27FC236}">
                <a16:creationId xmlns:a16="http://schemas.microsoft.com/office/drawing/2014/main" id="{F747DA60-BE8C-44CF-A934-CE6B30F689DE}"/>
              </a:ext>
            </a:extLst>
          </p:cNvPr>
          <p:cNvSpPr>
            <a:spLocks xmlns:a="http://schemas.openxmlformats.org/drawingml/2006/main" noGrp="1"/>
          </p:cNvSpPr>
          <p:nvPr/>
        </p:nvSpPr>
        <p:spPr>
          <a:xfrm xmlns:a="http://schemas.openxmlformats.org/drawingml/2006/main">
            <a:off x="533400" y="6457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75" b="1">
                <a:solidFill>
                  <a:srgbClr val="94A3B8"/>
                </a:solidFill>
                <a:latin typeface="Inter"/>
                <a:ea typeface="Inter"/>
                <a:cs typeface="Inter"/>
              </a:defRPr>
            </a:pPr>
            <a:r>
              <a:rPr sz="975" b="1">
                <a:solidFill>
                  <a:srgbClr val="94A3B8"/>
                </a:solidFill>
                <a:latin typeface="Inter"/>
                <a:ea typeface="Inter"/>
                <a:cs typeface="Inter"/>
              </a:rPr>
              <a:t>INFLUENCEES</a:t>
            </a:r>
          </a:p>
        </p:txBody>
      </p:sp>
      <p:sp>
        <p:nvSpPr>
          <p:cNvPr id="28" name="footer-page">
            <a:extLst xmlns:a="http://schemas.openxmlformats.org/drawingml/2006/main">
              <a:ext uri="{FF2B5EF4-FFF2-40B4-BE49-F238E27FC236}">
                <a16:creationId xmlns:a16="http://schemas.microsoft.com/office/drawing/2014/main" id="{D48D8AB1-9DCA-4DA8-9140-7D6284F55FD1}"/>
              </a:ext>
            </a:extLst>
          </p:cNvPr>
          <p:cNvSpPr>
            <a:spLocks xmlns:a="http://schemas.openxmlformats.org/drawingml/2006/main" noGrp="1"/>
          </p:cNvSpPr>
          <p:nvPr/>
        </p:nvSpPr>
        <p:spPr>
          <a:xfrm xmlns:a="http://schemas.openxmlformats.org/drawingml/2006/main">
            <a:off x="10572750" y="6457950"/>
            <a:ext cx="1085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975" b="1">
                <a:solidFill>
                  <a:srgbClr val="94A3B8"/>
                </a:solidFill>
                <a:latin typeface="Inter"/>
                <a:ea typeface="Inter"/>
                <a:cs typeface="Inter"/>
              </a:defRPr>
            </a:pPr>
            <a:r>
              <a:rPr sz="975" b="1">
                <a:solidFill>
                  <a:srgbClr val="94A3B8"/>
                </a:solidFill>
                <a:latin typeface="Inter"/>
                <a:ea typeface="Inter"/>
                <a:cs typeface="Inter"/>
              </a:rPr>
              <a:t>01 / 10</a:t>
            </a:r>
          </a:p>
        </p:txBody>
      </p:sp>
    </p:spTree>
    <p:extLst>
      <p:ext uri="{BB962C8B-B14F-4D97-AF65-F5344CB8AC3E}">
        <p14:creationId xmlns:p14="http://schemas.microsoft.com/office/powerpoint/2010/main" val="15877459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9649AC2-7B05-40C8-B6FC-7A8842513420}"/>
              </a:ext>
            </a:extLst>
          </p:cNvPr>
          <p:cNvSpPr>
            <a:spLocks xmlns:a="http://schemas.openxmlformats.org/drawingml/2006/main" noGrp="1"/>
          </p:cNvSpPr>
          <p:nvPr/>
        </p:nvSpPr>
        <p:spPr>
          <a:xfrm xmlns:a="http://schemas.openxmlformats.org/drawingml/2006/main">
            <a:off x="566928"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50" b="1">
                <a:solidFill>
                  <a:srgbClr val="5A3EE0"/>
                </a:solidFill>
                <a:latin typeface="Arial"/>
                <a:ea typeface="Arial"/>
                <a:cs typeface="Arial"/>
              </a:rPr>
              <a:t>THE SETUP</a:t>
            </a:r>
          </a:p>
        </p:txBody>
      </p:sp>
      <p:sp>
        <p:nvSpPr>
          <p:cNvPr id="3" name="Text 1">
            <a:extLst xmlns:a="http://schemas.openxmlformats.org/drawingml/2006/main">
              <a:ext uri="{FF2B5EF4-FFF2-40B4-BE49-F238E27FC236}">
                <a16:creationId xmlns:a16="http://schemas.microsoft.com/office/drawing/2014/main" id="{700AB125-6A9A-478D-8615-940305CB728C}"/>
              </a:ext>
            </a:extLst>
          </p:cNvPr>
          <p:cNvSpPr>
            <a:spLocks xmlns:a="http://schemas.openxmlformats.org/drawingml/2006/main" noGrp="1"/>
          </p:cNvSpPr>
          <p:nvPr/>
        </p:nvSpPr>
        <p:spPr>
          <a:xfrm xmlns:a="http://schemas.openxmlformats.org/drawingml/2006/main">
            <a:off x="566928" y="822960"/>
            <a:ext cx="106070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2000"/>
              </a:lnSpc>
              <a:buNone/>
            </a:pPr>
            <a:r>
              <a:rPr sz="2800" b="1">
                <a:solidFill>
                  <a:srgbClr val="0D0C0A"/>
                </a:solidFill>
                <a:latin typeface="Arial"/>
                <a:ea typeface="Arial"/>
                <a:cs typeface="Arial"/>
              </a:rPr>
              <a:t>Influencees has the substance. Two solutions move it forward now.</a:t>
            </a:r>
          </a:p>
        </p:txBody>
      </p:sp>
      <p:sp>
        <p:nvSpPr>
          <p:cNvPr id="4" name="Text 2">
            <a:extLst xmlns:a="http://schemas.openxmlformats.org/drawingml/2006/main">
              <a:ext uri="{FF2B5EF4-FFF2-40B4-BE49-F238E27FC236}">
                <a16:creationId xmlns:a16="http://schemas.microsoft.com/office/drawing/2014/main" id="{D31F356D-FCBB-4BFA-91C3-168DDE271F16}"/>
              </a:ext>
            </a:extLst>
          </p:cNvPr>
          <p:cNvSpPr>
            <a:spLocks xmlns:a="http://schemas.openxmlformats.org/drawingml/2006/main" noGrp="1"/>
          </p:cNvSpPr>
          <p:nvPr/>
        </p:nvSpPr>
        <p:spPr>
          <a:xfrm xmlns:a="http://schemas.openxmlformats.org/drawingml/2006/main">
            <a:off x="566928" y="1920240"/>
            <a:ext cx="10881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pPr>
            <a:r>
              <a:rPr sz="1350">
                <a:solidFill>
                  <a:srgbClr val="6B675F"/>
                </a:solidFill>
                <a:latin typeface="Arial"/>
                <a:ea typeface="Arial"/>
                <a:cs typeface="Arial"/>
              </a:rPr>
              <a:t>Brands find Singapore creators and verify them with data, not vibes. Ai-kyo runs campaigns, Trust Check flags fakes, and the workspace tracks it end to end. The company launched around June 2026, so the job now is traction and trust.</a:t>
            </a:r>
          </a:p>
        </p:txBody>
      </p:sp>
      <p:sp>
        <p:nvSpPr>
          <p:cNvPr id="5" name="Shape 3">
            <a:extLst xmlns:a="http://schemas.openxmlformats.org/drawingml/2006/main">
              <a:ext uri="{FF2B5EF4-FFF2-40B4-BE49-F238E27FC236}">
                <a16:creationId xmlns:a16="http://schemas.microsoft.com/office/drawing/2014/main" id="{B8ADC03D-B205-4AA0-9CAE-D43D44A28888}"/>
              </a:ext>
            </a:extLst>
          </p:cNvPr>
          <p:cNvSpPr>
            <a:spLocks xmlns:a="http://schemas.openxmlformats.org/drawingml/2006/main" noGrp="1"/>
          </p:cNvSpPr>
          <p:nvPr/>
        </p:nvSpPr>
        <p:spPr>
          <a:xfrm xmlns:a="http://schemas.openxmlformats.org/drawingml/2006/main">
            <a:off x="566928" y="3063240"/>
            <a:ext cx="5257800" cy="2788920"/>
          </a:xfrm>
          <a:prstGeom xmlns:a="http://schemas.openxmlformats.org/drawingml/2006/main" prst="roundRect">
            <a:avLst>
              <a:gd name="adj" fmla="val 1475"/>
            </a:avLst>
          </a:prstGeom>
          <a:solidFill xmlns:a="http://schemas.openxmlformats.org/drawingml/2006/main">
            <a:srgbClr val="FFFFFF"/>
          </a:solidFill>
          <a:ln xmlns:a="http://schemas.openxmlformats.org/drawingml/2006/main" w="12700">
            <a:solidFill>
              <a:srgbClr val="E2DED6"/>
            </a:solidFill>
            <a:prstDash val="solid"/>
          </a:ln>
          <a:effectLst xmlns:a="http://schemas.openxmlformats.org/drawingml/2006/main">
            <a:outerShdw blurRad="76200" dist="25400" dir="5400000" sx="100000" sy="100000" kx="0" ky="0" algn="bl" rotWithShape="0">
              <a:srgbClr val="C9C4BA">
                <a:alpha val="55000"/>
              </a:srgbClr>
            </a:outerShdw>
          </a:effectLst>
        </p:spPr>
      </p:sp>
      <p:sp>
        <p:nvSpPr>
          <p:cNvPr id="6" name="Text 4">
            <a:extLst xmlns:a="http://schemas.openxmlformats.org/drawingml/2006/main">
              <a:ext uri="{FF2B5EF4-FFF2-40B4-BE49-F238E27FC236}">
                <a16:creationId xmlns:a16="http://schemas.microsoft.com/office/drawing/2014/main" id="{735D3038-3C4E-45FE-A9D2-EF38390CAB2F}"/>
              </a:ext>
            </a:extLst>
          </p:cNvPr>
          <p:cNvSpPr>
            <a:spLocks xmlns:a="http://schemas.openxmlformats.org/drawingml/2006/main" noGrp="1"/>
          </p:cNvSpPr>
          <p:nvPr/>
        </p:nvSpPr>
        <p:spPr>
          <a:xfrm xmlns:a="http://schemas.openxmlformats.org/drawingml/2006/main">
            <a:off x="859536" y="3319272"/>
            <a:ext cx="1097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7A5CFF"/>
                </a:solidFill>
                <a:latin typeface="Arial"/>
                <a:ea typeface="Arial"/>
                <a:cs typeface="Arial"/>
              </a:rPr>
              <a:t>01</a:t>
            </a:r>
          </a:p>
        </p:txBody>
      </p:sp>
      <p:sp>
        <p:nvSpPr>
          <p:cNvPr id="7" name="Text 5">
            <a:extLst xmlns:a="http://schemas.openxmlformats.org/drawingml/2006/main">
              <a:ext uri="{FF2B5EF4-FFF2-40B4-BE49-F238E27FC236}">
                <a16:creationId xmlns:a16="http://schemas.microsoft.com/office/drawing/2014/main" id="{676899E9-B4EB-4E32-AD1C-8DD8B47CE762}"/>
              </a:ext>
            </a:extLst>
          </p:cNvPr>
          <p:cNvSpPr>
            <a:spLocks xmlns:a="http://schemas.openxmlformats.org/drawingml/2006/main" noGrp="1"/>
          </p:cNvSpPr>
          <p:nvPr/>
        </p:nvSpPr>
        <p:spPr>
          <a:xfrm xmlns:a="http://schemas.openxmlformats.org/drawingml/2006/main">
            <a:off x="1801368" y="3374136"/>
            <a:ext cx="37947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D0C0A"/>
                </a:solidFill>
                <a:latin typeface="Arial"/>
                <a:ea typeface="Arial"/>
                <a:cs typeface="Arial"/>
              </a:rPr>
              <a:t>BD Agent</a:t>
            </a:r>
          </a:p>
        </p:txBody>
      </p:sp>
      <p:sp>
        <p:nvSpPr>
          <p:cNvPr id="8" name="Text 6">
            <a:extLst xmlns:a="http://schemas.openxmlformats.org/drawingml/2006/main">
              <a:ext uri="{FF2B5EF4-FFF2-40B4-BE49-F238E27FC236}">
                <a16:creationId xmlns:a16="http://schemas.microsoft.com/office/drawing/2014/main" id="{9A3B17EC-2EDC-432A-BD9A-62257B662B8D}"/>
              </a:ext>
            </a:extLst>
          </p:cNvPr>
          <p:cNvSpPr>
            <a:spLocks xmlns:a="http://schemas.openxmlformats.org/drawingml/2006/main" noGrp="1"/>
          </p:cNvSpPr>
          <p:nvPr/>
        </p:nvSpPr>
        <p:spPr>
          <a:xfrm xmlns:a="http://schemas.openxmlformats.org/drawingml/2006/main">
            <a:off x="877824" y="4069080"/>
            <a:ext cx="4654296"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400" b="1">
                <a:solidFill>
                  <a:srgbClr val="5A3EE0"/>
                </a:solidFill>
                <a:latin typeface="Arial"/>
                <a:ea typeface="Arial"/>
                <a:cs typeface="Arial"/>
              </a:rPr>
              <a:t>Get more of the right brands in the door.</a:t>
            </a:r>
          </a:p>
        </p:txBody>
      </p:sp>
      <p:sp>
        <p:nvSpPr>
          <p:cNvPr id="9" name="Text 7">
            <a:extLst xmlns:a="http://schemas.openxmlformats.org/drawingml/2006/main">
              <a:ext uri="{FF2B5EF4-FFF2-40B4-BE49-F238E27FC236}">
                <a16:creationId xmlns:a16="http://schemas.microsoft.com/office/drawing/2014/main" id="{B84BA6D7-7601-4EB6-BE46-E824554A2A10}"/>
              </a:ext>
            </a:extLst>
          </p:cNvPr>
          <p:cNvSpPr>
            <a:spLocks xmlns:a="http://schemas.openxmlformats.org/drawingml/2006/main" noGrp="1"/>
          </p:cNvSpPr>
          <p:nvPr/>
        </p:nvSpPr>
        <p:spPr>
          <a:xfrm xmlns:a="http://schemas.openxmlformats.org/drawingml/2006/main">
            <a:off x="877824" y="4636008"/>
            <a:ext cx="4654296"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8000"/>
              </a:lnSpc>
              <a:buNone/>
            </a:pPr>
            <a:r>
              <a:rPr sz="1200">
                <a:solidFill>
                  <a:srgbClr val="6B675F"/>
                </a:solidFill>
                <a:latin typeface="Arial"/>
                <a:ea typeface="Arial"/>
                <a:cs typeface="Arial"/>
              </a:rPr>
              <a:t>An AI operator that finds suitable Singapore companies, researches them, writes a specific first message, sends it, reads the reply, and follows up. The founder keeps the wheel.</a:t>
            </a:r>
          </a:p>
        </p:txBody>
      </p:sp>
      <p:sp>
        <p:nvSpPr>
          <p:cNvPr id="10" name="Shape 8">
            <a:extLst xmlns:a="http://schemas.openxmlformats.org/drawingml/2006/main">
              <a:ext uri="{FF2B5EF4-FFF2-40B4-BE49-F238E27FC236}">
                <a16:creationId xmlns:a16="http://schemas.microsoft.com/office/drawing/2014/main" id="{625D24D4-C07B-4832-B796-CC5F88DEFBF2}"/>
              </a:ext>
            </a:extLst>
          </p:cNvPr>
          <p:cNvSpPr>
            <a:spLocks xmlns:a="http://schemas.openxmlformats.org/drawingml/2006/main" noGrp="1"/>
          </p:cNvSpPr>
          <p:nvPr/>
        </p:nvSpPr>
        <p:spPr>
          <a:xfrm xmlns:a="http://schemas.openxmlformats.org/drawingml/2006/main">
            <a:off x="6190488" y="3063240"/>
            <a:ext cx="5257800" cy="2788920"/>
          </a:xfrm>
          <a:prstGeom xmlns:a="http://schemas.openxmlformats.org/drawingml/2006/main" prst="roundRect">
            <a:avLst>
              <a:gd name="adj" fmla="val 1475"/>
            </a:avLst>
          </a:prstGeom>
          <a:solidFill xmlns:a="http://schemas.openxmlformats.org/drawingml/2006/main">
            <a:srgbClr val="FFFFFF"/>
          </a:solidFill>
          <a:ln xmlns:a="http://schemas.openxmlformats.org/drawingml/2006/main" w="12700">
            <a:solidFill>
              <a:srgbClr val="E2DED6"/>
            </a:solidFill>
            <a:prstDash val="solid"/>
          </a:ln>
          <a:effectLst xmlns:a="http://schemas.openxmlformats.org/drawingml/2006/main">
            <a:outerShdw blurRad="76200" dist="25400" dir="5400000" sx="100000" sy="100000" kx="0" ky="0" algn="bl" rotWithShape="0">
              <a:srgbClr val="C9C4BA">
                <a:alpha val="55000"/>
              </a:srgbClr>
            </a:outerShdw>
          </a:effectLst>
        </p:spPr>
      </p:sp>
      <p:sp>
        <p:nvSpPr>
          <p:cNvPr id="11" name="Text 9">
            <a:extLst xmlns:a="http://schemas.openxmlformats.org/drawingml/2006/main">
              <a:ext uri="{FF2B5EF4-FFF2-40B4-BE49-F238E27FC236}">
                <a16:creationId xmlns:a16="http://schemas.microsoft.com/office/drawing/2014/main" id="{EBD2BD8A-9741-45AF-BFA8-C8C6CF880A44}"/>
              </a:ext>
            </a:extLst>
          </p:cNvPr>
          <p:cNvSpPr>
            <a:spLocks xmlns:a="http://schemas.openxmlformats.org/drawingml/2006/main" noGrp="1"/>
          </p:cNvSpPr>
          <p:nvPr/>
        </p:nvSpPr>
        <p:spPr>
          <a:xfrm xmlns:a="http://schemas.openxmlformats.org/drawingml/2006/main">
            <a:off x="6483096" y="3319272"/>
            <a:ext cx="1097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7A5CFF"/>
                </a:solidFill>
                <a:latin typeface="Arial"/>
                <a:ea typeface="Arial"/>
                <a:cs typeface="Arial"/>
              </a:rPr>
              <a:t>02</a:t>
            </a:r>
          </a:p>
        </p:txBody>
      </p:sp>
      <p:sp>
        <p:nvSpPr>
          <p:cNvPr id="12" name="Text 10">
            <a:extLst xmlns:a="http://schemas.openxmlformats.org/drawingml/2006/main">
              <a:ext uri="{FF2B5EF4-FFF2-40B4-BE49-F238E27FC236}">
                <a16:creationId xmlns:a16="http://schemas.microsoft.com/office/drawing/2014/main" id="{FAEB192C-B0A2-4B0A-8AAE-AE1FC7369528}"/>
              </a:ext>
            </a:extLst>
          </p:cNvPr>
          <p:cNvSpPr>
            <a:spLocks xmlns:a="http://schemas.openxmlformats.org/drawingml/2006/main" noGrp="1"/>
          </p:cNvSpPr>
          <p:nvPr/>
        </p:nvSpPr>
        <p:spPr>
          <a:xfrm xmlns:a="http://schemas.openxmlformats.org/drawingml/2006/main">
            <a:off x="7424928" y="3374136"/>
            <a:ext cx="37947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D0C0A"/>
                </a:solidFill>
                <a:latin typeface="Arial"/>
                <a:ea typeface="Arial"/>
                <a:cs typeface="Arial"/>
              </a:rPr>
              <a:t>Website redesign</a:t>
            </a:r>
          </a:p>
        </p:txBody>
      </p:sp>
      <p:sp>
        <p:nvSpPr>
          <p:cNvPr id="13" name="Text 11">
            <a:extLst xmlns:a="http://schemas.openxmlformats.org/drawingml/2006/main">
              <a:ext uri="{FF2B5EF4-FFF2-40B4-BE49-F238E27FC236}">
                <a16:creationId xmlns:a16="http://schemas.microsoft.com/office/drawing/2014/main" id="{B93E6217-5D44-41FF-A8F6-BA2DF6900370}"/>
              </a:ext>
            </a:extLst>
          </p:cNvPr>
          <p:cNvSpPr>
            <a:spLocks xmlns:a="http://schemas.openxmlformats.org/drawingml/2006/main" noGrp="1"/>
          </p:cNvSpPr>
          <p:nvPr/>
        </p:nvSpPr>
        <p:spPr>
          <a:xfrm xmlns:a="http://schemas.openxmlformats.org/drawingml/2006/main">
            <a:off x="6501384" y="4069080"/>
            <a:ext cx="4654296"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400" b="1">
                <a:solidFill>
                  <a:srgbClr val="5A3EE0"/>
                </a:solidFill>
                <a:latin typeface="Arial"/>
                <a:ea typeface="Arial"/>
                <a:cs typeface="Arial"/>
              </a:rPr>
              <a:t>Make the site as credible as the data behind it.</a:t>
            </a:r>
          </a:p>
        </p:txBody>
      </p:sp>
      <p:sp>
        <p:nvSpPr>
          <p:cNvPr id="14" name="Text 12">
            <a:extLst xmlns:a="http://schemas.openxmlformats.org/drawingml/2006/main">
              <a:ext uri="{FF2B5EF4-FFF2-40B4-BE49-F238E27FC236}">
                <a16:creationId xmlns:a16="http://schemas.microsoft.com/office/drawing/2014/main" id="{6A9E95FE-6B4E-400F-ABE5-ACCC0C6A6F78}"/>
              </a:ext>
            </a:extLst>
          </p:cNvPr>
          <p:cNvSpPr>
            <a:spLocks xmlns:a="http://schemas.openxmlformats.org/drawingml/2006/main" noGrp="1"/>
          </p:cNvSpPr>
          <p:nvPr/>
        </p:nvSpPr>
        <p:spPr>
          <a:xfrm xmlns:a="http://schemas.openxmlformats.org/drawingml/2006/main">
            <a:off x="6501384" y="4636008"/>
            <a:ext cx="4654296"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8000"/>
              </a:lnSpc>
              <a:buNone/>
            </a:pPr>
            <a:r>
              <a:rPr sz="1200">
                <a:solidFill>
                  <a:srgbClr val="6B675F"/>
                </a:solidFill>
                <a:latin typeface="Arial"/>
                <a:ea typeface="Arial"/>
                <a:cs typeface="Arial"/>
              </a:rPr>
              <a:t>One coherent design system across every public page. Consistent pricing, honest feature labels, clear brand and creator paths. Static, responsive, no backend.</a:t>
            </a:r>
          </a:p>
        </p:txBody>
      </p:sp>
      <p:sp>
        <p:nvSpPr>
          <p:cNvPr id="15" name="Text 13">
            <a:extLst xmlns:a="http://schemas.openxmlformats.org/drawingml/2006/main">
              <a:ext uri="{FF2B5EF4-FFF2-40B4-BE49-F238E27FC236}">
                <a16:creationId xmlns:a16="http://schemas.microsoft.com/office/drawing/2014/main" id="{0F8EF07D-1E19-4B46-A739-3B8EB10865EC}"/>
              </a:ext>
            </a:extLst>
          </p:cNvPr>
          <p:cNvSpPr>
            <a:spLocks xmlns:a="http://schemas.openxmlformats.org/drawingml/2006/main" noGrp="1"/>
          </p:cNvSpPr>
          <p:nvPr/>
        </p:nvSpPr>
        <p:spPr>
          <a:xfrm xmlns:a="http://schemas.openxmlformats.org/drawingml/2006/main">
            <a:off x="8351215" y="6382512"/>
            <a:ext cx="327355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b="1">
                <a:solidFill>
                  <a:srgbClr val="9A968C"/>
                </a:solidFill>
                <a:latin typeface="Arial"/>
                <a:ea typeface="Arial"/>
                <a:cs typeface="Arial"/>
              </a:rPr>
              <a:t>INFLUENCEES</a:t>
            </a:r>
            <a:r>
              <a:rPr sz="950" b="1">
                <a:solidFill>
                  <a:srgbClr val="6B675F"/>
                </a:solidFill>
                <a:latin typeface="Arial"/>
                <a:ea typeface="Arial"/>
                <a:cs typeface="Arial"/>
              </a:rPr>
              <a:t>   02 / 10</a:t>
            </a:r>
          </a:p>
        </p:txBody>
      </p:sp>
      <p:sp>
        <p:nvSpPr>
          <p:cNvPr id="16" name="white-canvas-2">
            <a:extLst xmlns:a="http://schemas.openxmlformats.org/drawingml/2006/main">
              <a:ext uri="{FF2B5EF4-FFF2-40B4-BE49-F238E27FC236}">
                <a16:creationId xmlns:a16="http://schemas.microsoft.com/office/drawing/2014/main" id="{D7CE75C4-DA42-467C-8092-BCE85ABC7DB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 name="section-badge">
            <a:extLst xmlns:a="http://schemas.openxmlformats.org/drawingml/2006/main">
              <a:ext uri="{FF2B5EF4-FFF2-40B4-BE49-F238E27FC236}">
                <a16:creationId xmlns:a16="http://schemas.microsoft.com/office/drawing/2014/main" id="{2B40B73C-A0D8-4536-9F5D-E06718A40947}"/>
              </a:ext>
            </a:extLst>
          </p:cNvPr>
          <p:cNvSpPr>
            <a:spLocks xmlns:a="http://schemas.openxmlformats.org/drawingml/2006/main" noGrp="1"/>
          </p:cNvSpPr>
          <p:nvPr/>
        </p:nvSpPr>
        <p:spPr>
          <a:xfrm xmlns:a="http://schemas.openxmlformats.org/drawingml/2006/main">
            <a:off x="4191000" y="3238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1200" b="1">
                <a:solidFill>
                  <a:srgbClr val="7C5CFC"/>
                </a:solidFill>
                <a:latin typeface="Inter"/>
                <a:ea typeface="Inter"/>
                <a:cs typeface="Inter"/>
              </a:defRPr>
            </a:pPr>
            <a:r>
              <a:rPr sz="1200" b="1">
                <a:solidFill>
                  <a:srgbClr val="7C5CFC"/>
                </a:solidFill>
                <a:latin typeface="Inter"/>
                <a:ea typeface="Inter"/>
                <a:cs typeface="Inter"/>
              </a:rPr>
              <a:t>THE SETUP</a:t>
            </a:r>
          </a:p>
        </p:txBody>
      </p:sp>
      <p:sp>
        <p:nvSpPr>
          <p:cNvPr id="18" name="slide-title">
            <a:extLst xmlns:a="http://schemas.openxmlformats.org/drawingml/2006/main">
              <a:ext uri="{FF2B5EF4-FFF2-40B4-BE49-F238E27FC236}">
                <a16:creationId xmlns:a16="http://schemas.microsoft.com/office/drawing/2014/main" id="{6BB1D3CA-A6C3-4A27-A80C-2347EBC8B41F}"/>
              </a:ext>
            </a:extLst>
          </p:cNvPr>
          <p:cNvSpPr>
            <a:spLocks xmlns:a="http://schemas.openxmlformats.org/drawingml/2006/main" noGrp="1"/>
          </p:cNvSpPr>
          <p:nvPr/>
        </p:nvSpPr>
        <p:spPr>
          <a:xfrm xmlns:a="http://schemas.openxmlformats.org/drawingml/2006/main">
            <a:off x="952500" y="666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3675" b="0">
                <a:solidFill>
                  <a:srgbClr val="0F172A"/>
                </a:solidFill>
                <a:latin typeface="Inter"/>
                <a:ea typeface="Inter"/>
                <a:cs typeface="Inter"/>
              </a:defRPr>
            </a:pPr>
            <a:r>
              <a:rPr sz="3675" b="0">
                <a:solidFill>
                  <a:srgbClr val="0F172A"/>
                </a:solidFill>
                <a:latin typeface="Inter"/>
                <a:ea typeface="Inter"/>
                <a:cs typeface="Inter"/>
              </a:rPr>
              <a:t>Influencees has the substance.</a:t>
            </a:r>
          </a:p>
        </p:txBody>
      </p:sp>
      <p:sp>
        <p:nvSpPr>
          <p:cNvPr id="19" name="slide-subtitle">
            <a:extLst xmlns:a="http://schemas.openxmlformats.org/drawingml/2006/main">
              <a:ext uri="{FF2B5EF4-FFF2-40B4-BE49-F238E27FC236}">
                <a16:creationId xmlns:a16="http://schemas.microsoft.com/office/drawing/2014/main" id="{CD33171F-DEA0-4090-B246-6A112BCBC427}"/>
              </a:ext>
            </a:extLst>
          </p:cNvPr>
          <p:cNvSpPr>
            <a:spLocks xmlns:a="http://schemas.openxmlformats.org/drawingml/2006/main" noGrp="1"/>
          </p:cNvSpPr>
          <p:nvPr/>
        </p:nvSpPr>
        <p:spPr>
          <a:xfrm xmlns:a="http://schemas.openxmlformats.org/drawingml/2006/main">
            <a:off x="1333500" y="1333500"/>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22000"/>
              </a:lnSpc>
              <a:buNone/>
              <a:defRPr sz="1575" b="0">
                <a:solidFill>
                  <a:srgbClr val="64748B"/>
                </a:solidFill>
                <a:latin typeface="Inter"/>
                <a:ea typeface="Inter"/>
                <a:cs typeface="Inter"/>
              </a:defRPr>
            </a:pPr>
            <a:r>
              <a:rPr sz="1575" b="0">
                <a:solidFill>
                  <a:srgbClr val="64748B"/>
                </a:solidFill>
                <a:latin typeface="Inter"/>
                <a:ea typeface="Inter"/>
                <a:cs typeface="Inter"/>
              </a:rPr>
              <a:t>Two focused solutions move it forward: one builds traction, the other builds trust.</a:t>
            </a:r>
          </a:p>
        </p:txBody>
      </p:sp>
      <p:sp>
        <p:nvSpPr>
          <p:cNvPr id="20" name="setup-card-01">
            <a:extLst xmlns:a="http://schemas.openxmlformats.org/drawingml/2006/main">
              <a:ext uri="{FF2B5EF4-FFF2-40B4-BE49-F238E27FC236}">
                <a16:creationId xmlns:a16="http://schemas.microsoft.com/office/drawing/2014/main" id="{033211B7-A183-4B3C-8B5B-2F972850605E}"/>
              </a:ext>
            </a:extLst>
          </p:cNvPr>
          <p:cNvSpPr>
            <a:spLocks xmlns:a="http://schemas.openxmlformats.org/drawingml/2006/main" noGrp="1"/>
          </p:cNvSpPr>
          <p:nvPr/>
        </p:nvSpPr>
        <p:spPr>
          <a:xfrm xmlns:a="http://schemas.openxmlformats.org/drawingml/2006/main">
            <a:off x="876300" y="2571750"/>
            <a:ext cx="5086350" cy="3314700"/>
          </a:xfrm>
          <a:prstGeom xmlns:a="http://schemas.openxmlformats.org/drawingml/2006/main" prst="roundRect">
            <a:avLst>
              <a:gd name="adj" fmla="val 5747"/>
            </a:avLst>
          </a:prstGeom>
          <a:solidFill xmlns:a="http://schemas.openxmlformats.org/drawingml/2006/main">
            <a:srgbClr val="FFF7E6"/>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setup-num-01">
            <a:extLst xmlns:a="http://schemas.openxmlformats.org/drawingml/2006/main">
              <a:ext uri="{FF2B5EF4-FFF2-40B4-BE49-F238E27FC236}">
                <a16:creationId xmlns:a16="http://schemas.microsoft.com/office/drawing/2014/main" id="{F6DB38C6-5FC0-4795-98FF-3373FA03633E}"/>
              </a:ext>
            </a:extLst>
          </p:cNvPr>
          <p:cNvSpPr>
            <a:spLocks xmlns:a="http://schemas.openxmlformats.org/drawingml/2006/main" noGrp="1"/>
          </p:cNvSpPr>
          <p:nvPr/>
        </p:nvSpPr>
        <p:spPr>
          <a:xfrm xmlns:a="http://schemas.openxmlformats.org/drawingml/2006/main">
            <a:off x="1143000" y="281940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1">
                <a:solidFill>
                  <a:srgbClr val="7C5CFC"/>
                </a:solidFill>
                <a:latin typeface="Inter"/>
                <a:ea typeface="Inter"/>
                <a:cs typeface="Inter"/>
              </a:defRPr>
            </a:pPr>
            <a:r>
              <a:rPr sz="1650" b="1">
                <a:solidFill>
                  <a:srgbClr val="7C5CFC"/>
                </a:solidFill>
                <a:latin typeface="Inter"/>
                <a:ea typeface="Inter"/>
                <a:cs typeface="Inter"/>
              </a:rPr>
              <a:t>01</a:t>
            </a:r>
          </a:p>
        </p:txBody>
      </p:sp>
      <p:sp>
        <p:nvSpPr>
          <p:cNvPr id="22" name="setup-title-01">
            <a:extLst xmlns:a="http://schemas.openxmlformats.org/drawingml/2006/main">
              <a:ext uri="{FF2B5EF4-FFF2-40B4-BE49-F238E27FC236}">
                <a16:creationId xmlns:a16="http://schemas.microsoft.com/office/drawing/2014/main" id="{A342B91C-2B14-4B59-B71B-6780B3237DB0}"/>
              </a:ext>
            </a:extLst>
          </p:cNvPr>
          <p:cNvSpPr>
            <a:spLocks xmlns:a="http://schemas.openxmlformats.org/drawingml/2006/main" noGrp="1"/>
          </p:cNvSpPr>
          <p:nvPr/>
        </p:nvSpPr>
        <p:spPr>
          <a:xfrm xmlns:a="http://schemas.openxmlformats.org/drawingml/2006/main">
            <a:off x="1143000" y="32766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75" b="1">
                <a:solidFill>
                  <a:srgbClr val="0F172A"/>
                </a:solidFill>
                <a:latin typeface="Inter"/>
                <a:ea typeface="Inter"/>
                <a:cs typeface="Inter"/>
              </a:defRPr>
            </a:pPr>
            <a:r>
              <a:rPr sz="2175" b="1">
                <a:solidFill>
                  <a:srgbClr val="0F172A"/>
                </a:solidFill>
                <a:latin typeface="Inter"/>
                <a:ea typeface="Inter"/>
                <a:cs typeface="Inter"/>
              </a:rPr>
              <a:t>BD Agent</a:t>
            </a:r>
          </a:p>
        </p:txBody>
      </p:sp>
      <p:sp>
        <p:nvSpPr>
          <p:cNvPr id="23" name="setup-callout-01">
            <a:extLst xmlns:a="http://schemas.openxmlformats.org/drawingml/2006/main">
              <a:ext uri="{FF2B5EF4-FFF2-40B4-BE49-F238E27FC236}">
                <a16:creationId xmlns:a16="http://schemas.microsoft.com/office/drawing/2014/main" id="{D09A940F-B1CE-430D-AD4A-F68A6B1484F9}"/>
              </a:ext>
            </a:extLst>
          </p:cNvPr>
          <p:cNvSpPr>
            <a:spLocks xmlns:a="http://schemas.openxmlformats.org/drawingml/2006/main" noGrp="1"/>
          </p:cNvSpPr>
          <p:nvPr/>
        </p:nvSpPr>
        <p:spPr>
          <a:xfrm xmlns:a="http://schemas.openxmlformats.org/drawingml/2006/main">
            <a:off x="1143000" y="38862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650" b="1">
                <a:solidFill>
                  <a:srgbClr val="1E293B"/>
                </a:solidFill>
                <a:latin typeface="Inter"/>
                <a:ea typeface="Inter"/>
                <a:cs typeface="Inter"/>
              </a:defRPr>
            </a:pPr>
            <a:r>
              <a:rPr sz="1650" b="1">
                <a:solidFill>
                  <a:srgbClr val="1E293B"/>
                </a:solidFill>
                <a:latin typeface="Inter"/>
                <a:ea typeface="Inter"/>
                <a:cs typeface="Inter"/>
              </a:rPr>
              <a:t>Get more of the right brands in the door.</a:t>
            </a:r>
          </a:p>
        </p:txBody>
      </p:sp>
      <p:sp>
        <p:nvSpPr>
          <p:cNvPr id="24" name="setup-note-01">
            <a:extLst xmlns:a="http://schemas.openxmlformats.org/drawingml/2006/main">
              <a:ext uri="{FF2B5EF4-FFF2-40B4-BE49-F238E27FC236}">
                <a16:creationId xmlns:a16="http://schemas.microsoft.com/office/drawing/2014/main" id="{9A8227B0-63F5-4346-AEBC-1843F72BFD10}"/>
              </a:ext>
            </a:extLst>
          </p:cNvPr>
          <p:cNvSpPr>
            <a:spLocks xmlns:a="http://schemas.openxmlformats.org/drawingml/2006/main" noGrp="1"/>
          </p:cNvSpPr>
          <p:nvPr/>
        </p:nvSpPr>
        <p:spPr>
          <a:xfrm xmlns:a="http://schemas.openxmlformats.org/drawingml/2006/main">
            <a:off x="1143000" y="4591050"/>
            <a:ext cx="4552950" cy="1028700"/>
          </a:xfrm>
          <a:prstGeom xmlns:a="http://schemas.openxmlformats.org/drawingml/2006/main" prst="roundRect">
            <a:avLst>
              <a:gd name="adj" fmla="val 11111"/>
            </a:avLst>
          </a:prstGeom>
          <a:solidFill xmlns:a="http://schemas.openxmlformats.org/drawingml/2006/main">
            <a:srgbClr val="FFFFFF">
              <a:alpha val="86000"/>
            </a:srgbClr>
          </a:solidFill>
          <a:ln xmlns:a="http://schemas.openxmlformats.org/drawingml/2006/main" w="9525">
            <a:solidFill>
              <a:srgbClr val="FFFFFF"/>
            </a:solidFill>
            <a:prstDash val="solid"/>
          </a:ln>
        </p:spPr>
        <p:style>
          <a:lnRef xmlns:a="http://schemas.openxmlformats.org/drawingml/2006/main" idx="0"/>
          <a:fillRef xmlns:a="http://schemas.openxmlformats.org/drawingml/2006/main" idx="0"/>
          <a:effectRef xmlns:a="http://schemas.openxmlformats.org/drawingml/2006/main" idx="5"/>
          <a:fontRef xmlns:a="http://schemas.openxmlformats.org/drawingml/2006/main" idx="major"/>
        </p:style>
      </p:sp>
      <p:sp>
        <p:nvSpPr>
          <p:cNvPr id="25" name="setup-body-01">
            <a:extLst xmlns:a="http://schemas.openxmlformats.org/drawingml/2006/main">
              <a:ext uri="{FF2B5EF4-FFF2-40B4-BE49-F238E27FC236}">
                <a16:creationId xmlns:a16="http://schemas.microsoft.com/office/drawing/2014/main" id="{D57F92E1-3782-41A8-B534-A0333DEE6090}"/>
              </a:ext>
            </a:extLst>
          </p:cNvPr>
          <p:cNvSpPr>
            <a:spLocks xmlns:a="http://schemas.openxmlformats.org/drawingml/2006/main" noGrp="1"/>
          </p:cNvSpPr>
          <p:nvPr/>
        </p:nvSpPr>
        <p:spPr>
          <a:xfrm xmlns:a="http://schemas.openxmlformats.org/drawingml/2006/main">
            <a:off x="1314450" y="4724400"/>
            <a:ext cx="42100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466"/>
          </a:bodyPr>
          <a:lstStyle xmlns:a="http://schemas.openxmlformats.org/drawingml/2006/main"/>
          <a:p xmlns:a="http://schemas.openxmlformats.org/drawingml/2006/main">
            <a:pPr algn="l">
              <a:lnSpc>
                <a:spcPct val="120000"/>
              </a:lnSpc>
              <a:buNone/>
              <a:defRPr sz="1425" b="0">
                <a:solidFill>
                  <a:srgbClr val="64748B"/>
                </a:solidFill>
                <a:latin typeface="Inter"/>
                <a:ea typeface="Inter"/>
                <a:cs typeface="Inter"/>
              </a:defRPr>
            </a:pPr>
            <a:r>
              <a:rPr sz="1425" b="0">
                <a:solidFill>
                  <a:srgbClr val="64748B"/>
                </a:solidFill>
                <a:latin typeface="Inter"/>
                <a:ea typeface="Inter"/>
                <a:cs typeface="Inter"/>
              </a:rPr>
              <a:t>Discover suitable Singapore companies, research the moment, send a specific first message, read the reply and follow up—with the founder still in control.</a:t>
            </a:r>
          </a:p>
        </p:txBody>
      </p:sp>
      <p:sp>
        <p:nvSpPr>
          <p:cNvPr id="26" name="setup-card-02">
            <a:extLst xmlns:a="http://schemas.openxmlformats.org/drawingml/2006/main">
              <a:ext uri="{FF2B5EF4-FFF2-40B4-BE49-F238E27FC236}">
                <a16:creationId xmlns:a16="http://schemas.microsoft.com/office/drawing/2014/main" id="{B6B57BFD-361C-4031-A184-A45CE0D83D83}"/>
              </a:ext>
            </a:extLst>
          </p:cNvPr>
          <p:cNvSpPr>
            <a:spLocks xmlns:a="http://schemas.openxmlformats.org/drawingml/2006/main" noGrp="1"/>
          </p:cNvSpPr>
          <p:nvPr/>
        </p:nvSpPr>
        <p:spPr>
          <a:xfrm xmlns:a="http://schemas.openxmlformats.org/drawingml/2006/main">
            <a:off x="6229350" y="2571750"/>
            <a:ext cx="5086350" cy="3314700"/>
          </a:xfrm>
          <a:prstGeom xmlns:a="http://schemas.openxmlformats.org/drawingml/2006/main" prst="roundRect">
            <a:avLst>
              <a:gd name="adj" fmla="val 5747"/>
            </a:avLst>
          </a:prstGeom>
          <a:solidFill xmlns:a="http://schemas.openxmlformats.org/drawingml/2006/main">
            <a:srgbClr val="EEF3FF"/>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setup-num-02">
            <a:extLst xmlns:a="http://schemas.openxmlformats.org/drawingml/2006/main">
              <a:ext uri="{FF2B5EF4-FFF2-40B4-BE49-F238E27FC236}">
                <a16:creationId xmlns:a16="http://schemas.microsoft.com/office/drawing/2014/main" id="{DBB075F9-F45B-4BD5-817F-B67AB86C0E50}"/>
              </a:ext>
            </a:extLst>
          </p:cNvPr>
          <p:cNvSpPr>
            <a:spLocks xmlns:a="http://schemas.openxmlformats.org/drawingml/2006/main" noGrp="1"/>
          </p:cNvSpPr>
          <p:nvPr/>
        </p:nvSpPr>
        <p:spPr>
          <a:xfrm xmlns:a="http://schemas.openxmlformats.org/drawingml/2006/main">
            <a:off x="6496050" y="281940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1">
                <a:solidFill>
                  <a:srgbClr val="7C5CFC"/>
                </a:solidFill>
                <a:latin typeface="Inter"/>
                <a:ea typeface="Inter"/>
                <a:cs typeface="Inter"/>
              </a:defRPr>
            </a:pPr>
            <a:r>
              <a:rPr sz="1650" b="1">
                <a:solidFill>
                  <a:srgbClr val="7C5CFC"/>
                </a:solidFill>
                <a:latin typeface="Inter"/>
                <a:ea typeface="Inter"/>
                <a:cs typeface="Inter"/>
              </a:rPr>
              <a:t>02</a:t>
            </a:r>
          </a:p>
        </p:txBody>
      </p:sp>
      <p:sp>
        <p:nvSpPr>
          <p:cNvPr id="28" name="setup-title-02">
            <a:extLst xmlns:a="http://schemas.openxmlformats.org/drawingml/2006/main">
              <a:ext uri="{FF2B5EF4-FFF2-40B4-BE49-F238E27FC236}">
                <a16:creationId xmlns:a16="http://schemas.microsoft.com/office/drawing/2014/main" id="{CEC3DA9D-2718-46BD-944E-3CD7F419A2B5}"/>
              </a:ext>
            </a:extLst>
          </p:cNvPr>
          <p:cNvSpPr>
            <a:spLocks xmlns:a="http://schemas.openxmlformats.org/drawingml/2006/main" noGrp="1"/>
          </p:cNvSpPr>
          <p:nvPr/>
        </p:nvSpPr>
        <p:spPr>
          <a:xfrm xmlns:a="http://schemas.openxmlformats.org/drawingml/2006/main">
            <a:off x="6496050" y="32766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75" b="1">
                <a:solidFill>
                  <a:srgbClr val="0F172A"/>
                </a:solidFill>
                <a:latin typeface="Inter"/>
                <a:ea typeface="Inter"/>
                <a:cs typeface="Inter"/>
              </a:defRPr>
            </a:pPr>
            <a:r>
              <a:rPr sz="2175" b="1">
                <a:solidFill>
                  <a:srgbClr val="0F172A"/>
                </a:solidFill>
                <a:latin typeface="Inter"/>
                <a:ea typeface="Inter"/>
                <a:cs typeface="Inter"/>
              </a:rPr>
              <a:t>Website redesign</a:t>
            </a:r>
          </a:p>
        </p:txBody>
      </p:sp>
      <p:sp>
        <p:nvSpPr>
          <p:cNvPr id="29" name="setup-callout-02">
            <a:extLst xmlns:a="http://schemas.openxmlformats.org/drawingml/2006/main">
              <a:ext uri="{FF2B5EF4-FFF2-40B4-BE49-F238E27FC236}">
                <a16:creationId xmlns:a16="http://schemas.microsoft.com/office/drawing/2014/main" id="{57A24138-3833-4691-864C-A9B567D9CD51}"/>
              </a:ext>
            </a:extLst>
          </p:cNvPr>
          <p:cNvSpPr>
            <a:spLocks xmlns:a="http://schemas.openxmlformats.org/drawingml/2006/main" noGrp="1"/>
          </p:cNvSpPr>
          <p:nvPr/>
        </p:nvSpPr>
        <p:spPr>
          <a:xfrm xmlns:a="http://schemas.openxmlformats.org/drawingml/2006/main">
            <a:off x="6496050" y="38862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650" b="1">
                <a:solidFill>
                  <a:srgbClr val="1E293B"/>
                </a:solidFill>
                <a:latin typeface="Inter"/>
                <a:ea typeface="Inter"/>
                <a:cs typeface="Inter"/>
              </a:defRPr>
            </a:pPr>
            <a:r>
              <a:rPr sz="1650" b="1">
                <a:solidFill>
                  <a:srgbClr val="1E293B"/>
                </a:solidFill>
                <a:latin typeface="Inter"/>
                <a:ea typeface="Inter"/>
                <a:cs typeface="Inter"/>
              </a:rPr>
              <a:t>Make the site as credible as the data behind it.</a:t>
            </a:r>
          </a:p>
        </p:txBody>
      </p:sp>
      <p:sp>
        <p:nvSpPr>
          <p:cNvPr id="30" name="setup-note-02">
            <a:extLst xmlns:a="http://schemas.openxmlformats.org/drawingml/2006/main">
              <a:ext uri="{FF2B5EF4-FFF2-40B4-BE49-F238E27FC236}">
                <a16:creationId xmlns:a16="http://schemas.microsoft.com/office/drawing/2014/main" id="{0E84F3D9-3947-47E9-ACBD-6AB9AC5F6F9E}"/>
              </a:ext>
            </a:extLst>
          </p:cNvPr>
          <p:cNvSpPr>
            <a:spLocks xmlns:a="http://schemas.openxmlformats.org/drawingml/2006/main" noGrp="1"/>
          </p:cNvSpPr>
          <p:nvPr/>
        </p:nvSpPr>
        <p:spPr>
          <a:xfrm xmlns:a="http://schemas.openxmlformats.org/drawingml/2006/main">
            <a:off x="6496050" y="4591050"/>
            <a:ext cx="4552950" cy="1028700"/>
          </a:xfrm>
          <a:prstGeom xmlns:a="http://schemas.openxmlformats.org/drawingml/2006/main" prst="roundRect">
            <a:avLst>
              <a:gd name="adj" fmla="val 11111"/>
            </a:avLst>
          </a:prstGeom>
          <a:solidFill xmlns:a="http://schemas.openxmlformats.org/drawingml/2006/main">
            <a:srgbClr val="FFFFFF">
              <a:alpha val="86000"/>
            </a:srgbClr>
          </a:solidFill>
          <a:ln xmlns:a="http://schemas.openxmlformats.org/drawingml/2006/main" w="9525">
            <a:solidFill>
              <a:srgbClr val="FFFFFF"/>
            </a:solidFill>
            <a:prstDash val="solid"/>
          </a:ln>
        </p:spPr>
        <p:style>
          <a:lnRef xmlns:a="http://schemas.openxmlformats.org/drawingml/2006/main" idx="0"/>
          <a:fillRef xmlns:a="http://schemas.openxmlformats.org/drawingml/2006/main" idx="0"/>
          <a:effectRef xmlns:a="http://schemas.openxmlformats.org/drawingml/2006/main" idx="5"/>
          <a:fontRef xmlns:a="http://schemas.openxmlformats.org/drawingml/2006/main" idx="major"/>
        </p:style>
      </p:sp>
      <p:sp>
        <p:nvSpPr>
          <p:cNvPr id="31" name="setup-body-02">
            <a:extLst xmlns:a="http://schemas.openxmlformats.org/drawingml/2006/main">
              <a:ext uri="{FF2B5EF4-FFF2-40B4-BE49-F238E27FC236}">
                <a16:creationId xmlns:a16="http://schemas.microsoft.com/office/drawing/2014/main" id="{E22403A7-5618-4B5E-A9CE-94CBB71878A9}"/>
              </a:ext>
            </a:extLst>
          </p:cNvPr>
          <p:cNvSpPr>
            <a:spLocks xmlns:a="http://schemas.openxmlformats.org/drawingml/2006/main" noGrp="1"/>
          </p:cNvSpPr>
          <p:nvPr/>
        </p:nvSpPr>
        <p:spPr>
          <a:xfrm xmlns:a="http://schemas.openxmlformats.org/drawingml/2006/main">
            <a:off x="6667500" y="4724400"/>
            <a:ext cx="42100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466"/>
          </a:bodyPr>
          <a:lstStyle xmlns:a="http://schemas.openxmlformats.org/drawingml/2006/main"/>
          <a:p xmlns:a="http://schemas.openxmlformats.org/drawingml/2006/main">
            <a:pPr algn="l">
              <a:lnSpc>
                <a:spcPct val="120000"/>
              </a:lnSpc>
              <a:buNone/>
              <a:defRPr sz="1425" b="0">
                <a:solidFill>
                  <a:srgbClr val="64748B"/>
                </a:solidFill>
                <a:latin typeface="Inter"/>
                <a:ea typeface="Inter"/>
                <a:cs typeface="Inter"/>
              </a:defRPr>
            </a:pPr>
            <a:r>
              <a:rPr sz="1425" b="0">
                <a:solidFill>
                  <a:srgbClr val="64748B"/>
                </a:solidFill>
                <a:latin typeface="Inter"/>
                <a:ea typeface="Inter"/>
                <a:cs typeface="Inter"/>
              </a:rPr>
              <a:t>Unify every public page around one system: consistent pricing, honest feature labels, clearer brand and creator journeys, and responsive static delivery.</a:t>
            </a:r>
          </a:p>
        </p:txBody>
      </p:sp>
      <p:sp>
        <p:nvSpPr>
          <p:cNvPr id="32" name="footer-brand">
            <a:extLst xmlns:a="http://schemas.openxmlformats.org/drawingml/2006/main">
              <a:ext uri="{FF2B5EF4-FFF2-40B4-BE49-F238E27FC236}">
                <a16:creationId xmlns:a16="http://schemas.microsoft.com/office/drawing/2014/main" id="{5530F04D-C7AA-4889-81F1-F709F4F74FF2}"/>
              </a:ext>
            </a:extLst>
          </p:cNvPr>
          <p:cNvSpPr>
            <a:spLocks xmlns:a="http://schemas.openxmlformats.org/drawingml/2006/main" noGrp="1"/>
          </p:cNvSpPr>
          <p:nvPr/>
        </p:nvSpPr>
        <p:spPr>
          <a:xfrm xmlns:a="http://schemas.openxmlformats.org/drawingml/2006/main">
            <a:off x="533400" y="6457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75" b="1">
                <a:solidFill>
                  <a:srgbClr val="94A3B8"/>
                </a:solidFill>
                <a:latin typeface="Inter"/>
                <a:ea typeface="Inter"/>
                <a:cs typeface="Inter"/>
              </a:defRPr>
            </a:pPr>
            <a:r>
              <a:rPr sz="975" b="1">
                <a:solidFill>
                  <a:srgbClr val="94A3B8"/>
                </a:solidFill>
                <a:latin typeface="Inter"/>
                <a:ea typeface="Inter"/>
                <a:cs typeface="Inter"/>
              </a:rPr>
              <a:t>INFLUENCEES</a:t>
            </a:r>
          </a:p>
        </p:txBody>
      </p:sp>
      <p:sp>
        <p:nvSpPr>
          <p:cNvPr id="33" name="footer-page">
            <a:extLst xmlns:a="http://schemas.openxmlformats.org/drawingml/2006/main">
              <a:ext uri="{FF2B5EF4-FFF2-40B4-BE49-F238E27FC236}">
                <a16:creationId xmlns:a16="http://schemas.microsoft.com/office/drawing/2014/main" id="{B2B37671-DD53-46B2-8A3D-B23BA4F33659}"/>
              </a:ext>
            </a:extLst>
          </p:cNvPr>
          <p:cNvSpPr>
            <a:spLocks xmlns:a="http://schemas.openxmlformats.org/drawingml/2006/main" noGrp="1"/>
          </p:cNvSpPr>
          <p:nvPr/>
        </p:nvSpPr>
        <p:spPr>
          <a:xfrm xmlns:a="http://schemas.openxmlformats.org/drawingml/2006/main">
            <a:off x="10572750" y="6457950"/>
            <a:ext cx="1085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975" b="1">
                <a:solidFill>
                  <a:srgbClr val="94A3B8"/>
                </a:solidFill>
                <a:latin typeface="Inter"/>
                <a:ea typeface="Inter"/>
                <a:cs typeface="Inter"/>
              </a:defRPr>
            </a:pPr>
            <a:r>
              <a:rPr sz="975" b="1">
                <a:solidFill>
                  <a:srgbClr val="94A3B8"/>
                </a:solidFill>
                <a:latin typeface="Inter"/>
                <a:ea typeface="Inter"/>
                <a:cs typeface="Inter"/>
              </a:rPr>
              <a:t>02 / 10</a:t>
            </a:r>
          </a:p>
        </p:txBody>
      </p:sp>
    </p:spTree>
    <p:extLst>
      <p:ext uri="{BB962C8B-B14F-4D97-AF65-F5344CB8AC3E}">
        <p14:creationId xmlns:p14="http://schemas.microsoft.com/office/powerpoint/2010/main" val="3004880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A1F8A12-7970-4C10-962E-A17A4EC35944}"/>
              </a:ext>
            </a:extLst>
          </p:cNvPr>
          <p:cNvSpPr>
            <a:spLocks xmlns:a="http://schemas.openxmlformats.org/drawingml/2006/main" noGrp="1"/>
          </p:cNvSpPr>
          <p:nvPr/>
        </p:nvSpPr>
        <p:spPr>
          <a:xfrm xmlns:a="http://schemas.openxmlformats.org/drawingml/2006/main">
            <a:off x="566928"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50" b="1">
                <a:solidFill>
                  <a:srgbClr val="5A3EE0"/>
                </a:solidFill>
                <a:latin typeface="Arial"/>
                <a:ea typeface="Arial"/>
                <a:cs typeface="Arial"/>
              </a:rPr>
              <a:t>SOLUTION 01  ·  BD AGENT</a:t>
            </a:r>
          </a:p>
        </p:txBody>
      </p:sp>
      <p:sp>
        <p:nvSpPr>
          <p:cNvPr id="3" name="Text 1">
            <a:extLst xmlns:a="http://schemas.openxmlformats.org/drawingml/2006/main">
              <a:ext uri="{FF2B5EF4-FFF2-40B4-BE49-F238E27FC236}">
                <a16:creationId xmlns:a16="http://schemas.microsoft.com/office/drawing/2014/main" id="{8040FA4C-00B5-4637-887D-0DC92A21EDE7}"/>
              </a:ext>
            </a:extLst>
          </p:cNvPr>
          <p:cNvSpPr>
            <a:spLocks xmlns:a="http://schemas.openxmlformats.org/drawingml/2006/main" noGrp="1"/>
          </p:cNvSpPr>
          <p:nvPr/>
        </p:nvSpPr>
        <p:spPr>
          <a:xfrm xmlns:a="http://schemas.openxmlformats.org/drawingml/2006/main">
            <a:off x="566928" y="822960"/>
            <a:ext cx="104241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2000"/>
              </a:lnSpc>
              <a:buNone/>
            </a:pPr>
            <a:r>
              <a:rPr sz="2800" b="1">
                <a:solidFill>
                  <a:srgbClr val="0D0C0A"/>
                </a:solidFill>
                <a:latin typeface="Arial"/>
                <a:ea typeface="Arial"/>
                <a:cs typeface="Arial"/>
              </a:rPr>
              <a:t>An AI operator that finds brands and actually talks to them.</a:t>
            </a:r>
          </a:p>
        </p:txBody>
      </p:sp>
      <p:sp>
        <p:nvSpPr>
          <p:cNvPr id="4" name="Text 2">
            <a:extLst xmlns:a="http://schemas.openxmlformats.org/drawingml/2006/main">
              <a:ext uri="{FF2B5EF4-FFF2-40B4-BE49-F238E27FC236}">
                <a16:creationId xmlns:a16="http://schemas.microsoft.com/office/drawing/2014/main" id="{4C44AA20-2528-4DDB-8B88-0B5FB74C9916}"/>
              </a:ext>
            </a:extLst>
          </p:cNvPr>
          <p:cNvSpPr>
            <a:spLocks xmlns:a="http://schemas.openxmlformats.org/drawingml/2006/main" noGrp="1"/>
          </p:cNvSpPr>
          <p:nvPr/>
        </p:nvSpPr>
        <p:spPr>
          <a:xfrm xmlns:a="http://schemas.openxmlformats.org/drawingml/2006/main">
            <a:off x="566928" y="1965960"/>
            <a:ext cx="10607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0000"/>
              </a:lnSpc>
              <a:buNone/>
            </a:pPr>
            <a:r>
              <a:rPr sz="1400">
                <a:solidFill>
                  <a:srgbClr val="6B675F"/>
                </a:solidFill>
                <a:latin typeface="Arial"/>
                <a:ea typeface="Arial"/>
                <a:cs typeface="Arial"/>
              </a:rPr>
              <a:t>Not a message generator. A full pipeline that runs the whole outreach loop, with every step visible.</a:t>
            </a:r>
          </a:p>
        </p:txBody>
      </p:sp>
      <p:sp>
        <p:nvSpPr>
          <p:cNvPr id="5" name="Shape 3">
            <a:extLst xmlns:a="http://schemas.openxmlformats.org/drawingml/2006/main">
              <a:ext uri="{FF2B5EF4-FFF2-40B4-BE49-F238E27FC236}">
                <a16:creationId xmlns:a16="http://schemas.microsoft.com/office/drawing/2014/main" id="{14CC7F4A-993D-4AE0-84A4-B43A9EED36D5}"/>
              </a:ext>
            </a:extLst>
          </p:cNvPr>
          <p:cNvSpPr>
            <a:spLocks xmlns:a="http://schemas.openxmlformats.org/drawingml/2006/main" noGrp="1"/>
          </p:cNvSpPr>
          <p:nvPr/>
        </p:nvSpPr>
        <p:spPr>
          <a:xfrm xmlns:a="http://schemas.openxmlformats.org/drawingml/2006/main">
            <a:off x="566928" y="2743200"/>
            <a:ext cx="6903720" cy="1874520"/>
          </a:xfrm>
          <a:prstGeom xmlns:a="http://schemas.openxmlformats.org/drawingml/2006/main" prst="roundRect">
            <a:avLst>
              <a:gd name="adj" fmla="val 2195"/>
            </a:avLst>
          </a:prstGeom>
          <a:solidFill xmlns:a="http://schemas.openxmlformats.org/drawingml/2006/main">
            <a:srgbClr val="FFFFFF"/>
          </a:solidFill>
          <a:ln xmlns:a="http://schemas.openxmlformats.org/drawingml/2006/main" w="12700">
            <a:solidFill>
              <a:srgbClr val="E2DED6"/>
            </a:solidFill>
            <a:prstDash val="solid"/>
          </a:ln>
          <a:effectLst xmlns:a="http://schemas.openxmlformats.org/drawingml/2006/main">
            <a:outerShdw blurRad="76200" dist="25400" dir="5400000" sx="100000" sy="100000" kx="0" ky="0" algn="bl" rotWithShape="0">
              <a:srgbClr val="C9C4BA">
                <a:alpha val="55000"/>
              </a:srgbClr>
            </a:outerShdw>
          </a:effectLst>
        </p:spPr>
      </p:sp>
      <p:sp>
        <p:nvSpPr>
          <p:cNvPr id="6" name="Text 4">
            <a:extLst xmlns:a="http://schemas.openxmlformats.org/drawingml/2006/main">
              <a:ext uri="{FF2B5EF4-FFF2-40B4-BE49-F238E27FC236}">
                <a16:creationId xmlns:a16="http://schemas.microsoft.com/office/drawing/2014/main" id="{A1CA8A50-6876-4834-9811-7E09866B8019}"/>
              </a:ext>
            </a:extLst>
          </p:cNvPr>
          <p:cNvSpPr>
            <a:spLocks xmlns:a="http://schemas.openxmlformats.org/drawingml/2006/main" noGrp="1"/>
          </p:cNvSpPr>
          <p:nvPr/>
        </p:nvSpPr>
        <p:spPr>
          <a:xfrm xmlns:a="http://schemas.openxmlformats.org/drawingml/2006/main">
            <a:off x="886968" y="3017520"/>
            <a:ext cx="6309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9A968C"/>
                </a:solidFill>
                <a:latin typeface="Arial"/>
                <a:ea typeface="Arial"/>
                <a:cs typeface="Arial"/>
              </a:rPr>
              <a:t>ONE SWITCH, GLOBAL OR PER CONVERSATION</a:t>
            </a:r>
          </a:p>
        </p:txBody>
      </p:sp>
      <p:sp>
        <p:nvSpPr>
          <p:cNvPr id="7" name="Shape 5">
            <a:extLst xmlns:a="http://schemas.openxmlformats.org/drawingml/2006/main">
              <a:ext uri="{FF2B5EF4-FFF2-40B4-BE49-F238E27FC236}">
                <a16:creationId xmlns:a16="http://schemas.microsoft.com/office/drawing/2014/main" id="{C8DB5EC4-5A50-4F91-B8A2-9572BB07B3CF}"/>
              </a:ext>
            </a:extLst>
          </p:cNvPr>
          <p:cNvSpPr>
            <a:spLocks xmlns:a="http://schemas.openxmlformats.org/drawingml/2006/main" noGrp="1"/>
          </p:cNvSpPr>
          <p:nvPr/>
        </p:nvSpPr>
        <p:spPr>
          <a:xfrm xmlns:a="http://schemas.openxmlformats.org/drawingml/2006/main">
            <a:off x="886968" y="3520440"/>
            <a:ext cx="2788920" cy="566928"/>
          </a:xfrm>
          <a:prstGeom xmlns:a="http://schemas.openxmlformats.org/drawingml/2006/main" prst="roundRect">
            <a:avLst>
              <a:gd name="adj" fmla="val 12903"/>
            </a:avLst>
          </a:prstGeom>
          <a:solidFill xmlns:a="http://schemas.openxmlformats.org/drawingml/2006/main">
            <a:srgbClr val="FBF9F5"/>
          </a:solidFill>
          <a:ln xmlns:a="http://schemas.openxmlformats.org/drawingml/2006/main" w="12700">
            <a:solidFill>
              <a:srgbClr val="E2DED6"/>
            </a:solidFill>
            <a:prstDash val="solid"/>
          </a:ln>
        </p:spPr>
      </p:sp>
      <p:sp>
        <p:nvSpPr>
          <p:cNvPr id="8" name="Text 6">
            <a:extLst xmlns:a="http://schemas.openxmlformats.org/drawingml/2006/main">
              <a:ext uri="{FF2B5EF4-FFF2-40B4-BE49-F238E27FC236}">
                <a16:creationId xmlns:a16="http://schemas.microsoft.com/office/drawing/2014/main" id="{CA174FD9-6852-4FBB-B5A9-948C4C99D984}"/>
              </a:ext>
            </a:extLst>
          </p:cNvPr>
          <p:cNvSpPr>
            <a:spLocks xmlns:a="http://schemas.openxmlformats.org/drawingml/2006/main" noGrp="1"/>
          </p:cNvSpPr>
          <p:nvPr/>
        </p:nvSpPr>
        <p:spPr>
          <a:xfrm xmlns:a="http://schemas.openxmlformats.org/drawingml/2006/main">
            <a:off x="886968" y="3520440"/>
            <a:ext cx="27889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0000"/>
              </a:lnSpc>
              <a:buNone/>
            </a:pPr>
            <a:r>
              <a:rPr sz="1400" b="1">
                <a:solidFill>
                  <a:srgbClr val="0D0C0A"/>
                </a:solidFill>
                <a:latin typeface="Arial"/>
                <a:ea typeface="Arial"/>
                <a:cs typeface="Arial"/>
              </a:rPr>
              <a:t>Human approval
</a:t>
            </a:r>
            <a:r>
              <a:rPr sz="950">
                <a:solidFill>
                  <a:srgbClr val="6B675F"/>
                </a:solidFill>
                <a:latin typeface="Arial"/>
                <a:ea typeface="Arial"/>
                <a:cs typeface="Arial"/>
              </a:rPr>
              <a:t>agent drafts, you approve</a:t>
            </a:r>
          </a:p>
        </p:txBody>
      </p:sp>
      <p:sp>
        <p:nvSpPr>
          <p:cNvPr id="9" name="Text 7">
            <a:extLst xmlns:a="http://schemas.openxmlformats.org/drawingml/2006/main">
              <a:ext uri="{FF2B5EF4-FFF2-40B4-BE49-F238E27FC236}">
                <a16:creationId xmlns:a16="http://schemas.microsoft.com/office/drawing/2014/main" id="{EC73586B-9F4F-4F52-92C6-5F8A99746155}"/>
              </a:ext>
            </a:extLst>
          </p:cNvPr>
          <p:cNvSpPr>
            <a:spLocks xmlns:a="http://schemas.openxmlformats.org/drawingml/2006/main" noGrp="1"/>
          </p:cNvSpPr>
          <p:nvPr/>
        </p:nvSpPr>
        <p:spPr>
          <a:xfrm xmlns:a="http://schemas.openxmlformats.org/drawingml/2006/main">
            <a:off x="3675888" y="3520440"/>
            <a:ext cx="6400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7A5CFF"/>
                </a:solidFill>
                <a:latin typeface="Arial"/>
                <a:ea typeface="Arial"/>
                <a:cs typeface="Arial"/>
              </a:rPr>
              <a:t>→</a:t>
            </a:r>
          </a:p>
        </p:txBody>
      </p:sp>
      <p:sp>
        <p:nvSpPr>
          <p:cNvPr id="10" name="Shape 8">
            <a:extLst xmlns:a="http://schemas.openxmlformats.org/drawingml/2006/main">
              <a:ext uri="{FF2B5EF4-FFF2-40B4-BE49-F238E27FC236}">
                <a16:creationId xmlns:a16="http://schemas.microsoft.com/office/drawing/2014/main" id="{C71AA7CB-44E4-480D-922F-ED36BA7FE3E0}"/>
              </a:ext>
            </a:extLst>
          </p:cNvPr>
          <p:cNvSpPr>
            <a:spLocks xmlns:a="http://schemas.openxmlformats.org/drawingml/2006/main" noGrp="1"/>
          </p:cNvSpPr>
          <p:nvPr/>
        </p:nvSpPr>
        <p:spPr>
          <a:xfrm xmlns:a="http://schemas.openxmlformats.org/drawingml/2006/main">
            <a:off x="4315968" y="3520440"/>
            <a:ext cx="2788920" cy="566928"/>
          </a:xfrm>
          <a:prstGeom xmlns:a="http://schemas.openxmlformats.org/drawingml/2006/main" prst="roundRect">
            <a:avLst>
              <a:gd name="adj" fmla="val 12903"/>
            </a:avLst>
          </a:prstGeom>
          <a:solidFill xmlns:a="http://schemas.openxmlformats.org/drawingml/2006/main">
            <a:srgbClr val="0D0C0A"/>
          </a:solidFill>
          <a:ln xmlns:a="http://schemas.openxmlformats.org/drawingml/2006/main" w="12700">
            <a:solidFill>
              <a:srgbClr val="0D0C0A"/>
            </a:solidFill>
            <a:prstDash val="solid"/>
          </a:ln>
        </p:spPr>
      </p:sp>
      <p:sp>
        <p:nvSpPr>
          <p:cNvPr id="11" name="Text 9">
            <a:extLst xmlns:a="http://schemas.openxmlformats.org/drawingml/2006/main">
              <a:ext uri="{FF2B5EF4-FFF2-40B4-BE49-F238E27FC236}">
                <a16:creationId xmlns:a16="http://schemas.microsoft.com/office/drawing/2014/main" id="{B96ED1C5-4CF2-4969-90E0-825BB3CB4FA8}"/>
              </a:ext>
            </a:extLst>
          </p:cNvPr>
          <p:cNvSpPr>
            <a:spLocks xmlns:a="http://schemas.openxmlformats.org/drawingml/2006/main" noGrp="1"/>
          </p:cNvSpPr>
          <p:nvPr/>
        </p:nvSpPr>
        <p:spPr>
          <a:xfrm xmlns:a="http://schemas.openxmlformats.org/drawingml/2006/main">
            <a:off x="4315968" y="3520440"/>
            <a:ext cx="27889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0000"/>
              </a:lnSpc>
              <a:buNone/>
            </a:pPr>
            <a:r>
              <a:rPr sz="1400" b="1">
                <a:solidFill>
                  <a:srgbClr val="FFFFFF"/>
                </a:solidFill>
                <a:latin typeface="Arial"/>
                <a:ea typeface="Arial"/>
                <a:cs typeface="Arial"/>
              </a:rPr>
              <a:t>Fully autonomous
</a:t>
            </a:r>
            <a:r>
              <a:rPr sz="950">
                <a:solidFill>
                  <a:srgbClr val="B7B2C9"/>
                </a:solidFill>
                <a:latin typeface="Arial"/>
                <a:ea typeface="Arial"/>
                <a:cs typeface="Arial"/>
              </a:rPr>
              <a:t>agent sends and replies</a:t>
            </a:r>
          </a:p>
        </p:txBody>
      </p:sp>
      <p:sp>
        <p:nvSpPr>
          <p:cNvPr id="12" name="Text 10">
            <a:extLst xmlns:a="http://schemas.openxmlformats.org/drawingml/2006/main">
              <a:ext uri="{FF2B5EF4-FFF2-40B4-BE49-F238E27FC236}">
                <a16:creationId xmlns:a16="http://schemas.microsoft.com/office/drawing/2014/main" id="{23976E14-CBEC-45C7-B4FD-5D39F163426D}"/>
              </a:ext>
            </a:extLst>
          </p:cNvPr>
          <p:cNvSpPr>
            <a:spLocks xmlns:a="http://schemas.openxmlformats.org/drawingml/2006/main" noGrp="1"/>
          </p:cNvSpPr>
          <p:nvPr/>
        </p:nvSpPr>
        <p:spPr>
          <a:xfrm xmlns:a="http://schemas.openxmlformats.org/drawingml/2006/main">
            <a:off x="886968" y="4224528"/>
            <a:ext cx="6263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50" i="1">
                <a:solidFill>
                  <a:srgbClr val="6B675F"/>
                </a:solidFill>
                <a:latin typeface="Arial"/>
                <a:ea typeface="Arial"/>
                <a:cs typeface="Arial"/>
              </a:rPr>
              <a:t>Take over any thread and send a manual reply. Hand it back and the agent reads the whole conversation before it resumes.</a:t>
            </a:r>
          </a:p>
        </p:txBody>
      </p:sp>
      <p:sp>
        <p:nvSpPr>
          <p:cNvPr id="13" name="Text 11">
            <a:extLst xmlns:a="http://schemas.openxmlformats.org/drawingml/2006/main">
              <a:ext uri="{FF2B5EF4-FFF2-40B4-BE49-F238E27FC236}">
                <a16:creationId xmlns:a16="http://schemas.microsoft.com/office/drawing/2014/main" id="{586D9089-3DDF-4CA0-9885-44958AF9F610}"/>
              </a:ext>
            </a:extLst>
          </p:cNvPr>
          <p:cNvSpPr>
            <a:spLocks xmlns:a="http://schemas.openxmlformats.org/drawingml/2006/main" noGrp="1"/>
          </p:cNvSpPr>
          <p:nvPr/>
        </p:nvSpPr>
        <p:spPr>
          <a:xfrm xmlns:a="http://schemas.openxmlformats.org/drawingml/2006/main">
            <a:off x="7818120" y="2743200"/>
            <a:ext cx="3794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9A968C"/>
                </a:solidFill>
                <a:latin typeface="Arial"/>
                <a:ea typeface="Arial"/>
                <a:cs typeface="Arial"/>
              </a:rPr>
              <a:t>BUILT-IN GUARDRAILS</a:t>
            </a:r>
          </a:p>
        </p:txBody>
      </p:sp>
      <p:sp>
        <p:nvSpPr>
          <p:cNvPr id="14" name="Text 12">
            <a:extLst xmlns:a="http://schemas.openxmlformats.org/drawingml/2006/main">
              <a:ext uri="{FF2B5EF4-FFF2-40B4-BE49-F238E27FC236}">
                <a16:creationId xmlns:a16="http://schemas.microsoft.com/office/drawing/2014/main" id="{4B499EF4-E450-4277-A68A-B8E5265EC017}"/>
              </a:ext>
            </a:extLst>
          </p:cNvPr>
          <p:cNvSpPr>
            <a:spLocks xmlns:a="http://schemas.openxmlformats.org/drawingml/2006/main" noGrp="1"/>
          </p:cNvSpPr>
          <p:nvPr/>
        </p:nvSpPr>
        <p:spPr>
          <a:xfrm xmlns:a="http://schemas.openxmlformats.org/drawingml/2006/main">
            <a:off x="7818120" y="3145536"/>
            <a:ext cx="2011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7A5CFF"/>
                </a:solidFill>
                <a:latin typeface="Arial"/>
                <a:ea typeface="Arial"/>
                <a:cs typeface="Arial"/>
              </a:rPr>
              <a:t>■</a:t>
            </a:r>
          </a:p>
        </p:txBody>
      </p:sp>
      <p:sp>
        <p:nvSpPr>
          <p:cNvPr id="15" name="Text 13">
            <a:extLst xmlns:a="http://schemas.openxmlformats.org/drawingml/2006/main">
              <a:ext uri="{FF2B5EF4-FFF2-40B4-BE49-F238E27FC236}">
                <a16:creationId xmlns:a16="http://schemas.microsoft.com/office/drawing/2014/main" id="{313D26D8-DBB5-4E4B-965F-D62B36C47680}"/>
              </a:ext>
            </a:extLst>
          </p:cNvPr>
          <p:cNvSpPr>
            <a:spLocks xmlns:a="http://schemas.openxmlformats.org/drawingml/2006/main" noGrp="1"/>
          </p:cNvSpPr>
          <p:nvPr/>
        </p:nvSpPr>
        <p:spPr>
          <a:xfrm xmlns:a="http://schemas.openxmlformats.org/drawingml/2006/main">
            <a:off x="8055864" y="3127248"/>
            <a:ext cx="355701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150">
                <a:solidFill>
                  <a:srgbClr val="35322D"/>
                </a:solidFill>
                <a:latin typeface="Arial"/>
                <a:ea typeface="Arial"/>
                <a:cs typeface="Arial"/>
              </a:rPr>
              <a:t>Every claim links to stored evidence, with source and date</a:t>
            </a:r>
          </a:p>
        </p:txBody>
      </p:sp>
      <p:sp>
        <p:nvSpPr>
          <p:cNvPr id="16" name="Text 14">
            <a:extLst xmlns:a="http://schemas.openxmlformats.org/drawingml/2006/main">
              <a:ext uri="{FF2B5EF4-FFF2-40B4-BE49-F238E27FC236}">
                <a16:creationId xmlns:a16="http://schemas.microsoft.com/office/drawing/2014/main" id="{7E94073C-E749-43DA-8BE9-8F2A50BFEACC}"/>
              </a:ext>
            </a:extLst>
          </p:cNvPr>
          <p:cNvSpPr>
            <a:spLocks xmlns:a="http://schemas.openxmlformats.org/drawingml/2006/main" noGrp="1"/>
          </p:cNvSpPr>
          <p:nvPr/>
        </p:nvSpPr>
        <p:spPr>
          <a:xfrm xmlns:a="http://schemas.openxmlformats.org/drawingml/2006/main">
            <a:off x="7818120" y="3602736"/>
            <a:ext cx="2011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7A5CFF"/>
                </a:solidFill>
                <a:latin typeface="Arial"/>
                <a:ea typeface="Arial"/>
                <a:cs typeface="Arial"/>
              </a:rPr>
              <a:t>■</a:t>
            </a:r>
          </a:p>
        </p:txBody>
      </p:sp>
      <p:sp>
        <p:nvSpPr>
          <p:cNvPr id="17" name="Text 15">
            <a:extLst xmlns:a="http://schemas.openxmlformats.org/drawingml/2006/main">
              <a:ext uri="{FF2B5EF4-FFF2-40B4-BE49-F238E27FC236}">
                <a16:creationId xmlns:a16="http://schemas.microsoft.com/office/drawing/2014/main" id="{53871275-3017-4EB5-A93A-6C1561A7BF3E}"/>
              </a:ext>
            </a:extLst>
          </p:cNvPr>
          <p:cNvSpPr>
            <a:spLocks xmlns:a="http://schemas.openxmlformats.org/drawingml/2006/main" noGrp="1"/>
          </p:cNvSpPr>
          <p:nvPr/>
        </p:nvSpPr>
        <p:spPr>
          <a:xfrm xmlns:a="http://schemas.openxmlformats.org/drawingml/2006/main">
            <a:off x="8055864" y="3584448"/>
            <a:ext cx="355701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150">
                <a:solidFill>
                  <a:srgbClr val="35322D"/>
                </a:solidFill>
                <a:latin typeface="Arial"/>
                <a:ea typeface="Arial"/>
                <a:cs typeface="Arial"/>
              </a:rPr>
              <a:t>No fake familiarity, no guaranteed-ROI, no invented history</a:t>
            </a:r>
          </a:p>
        </p:txBody>
      </p:sp>
      <p:sp>
        <p:nvSpPr>
          <p:cNvPr id="18" name="Text 16">
            <a:extLst xmlns:a="http://schemas.openxmlformats.org/drawingml/2006/main">
              <a:ext uri="{FF2B5EF4-FFF2-40B4-BE49-F238E27FC236}">
                <a16:creationId xmlns:a16="http://schemas.microsoft.com/office/drawing/2014/main" id="{780FC5A7-012A-4C3C-8244-D60E28A55E01}"/>
              </a:ext>
            </a:extLst>
          </p:cNvPr>
          <p:cNvSpPr>
            <a:spLocks xmlns:a="http://schemas.openxmlformats.org/drawingml/2006/main" noGrp="1"/>
          </p:cNvSpPr>
          <p:nvPr/>
        </p:nvSpPr>
        <p:spPr>
          <a:xfrm xmlns:a="http://schemas.openxmlformats.org/drawingml/2006/main">
            <a:off x="7818120" y="4059936"/>
            <a:ext cx="2011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7A5CFF"/>
                </a:solidFill>
                <a:latin typeface="Arial"/>
                <a:ea typeface="Arial"/>
                <a:cs typeface="Arial"/>
              </a:rPr>
              <a:t>■</a:t>
            </a:r>
          </a:p>
        </p:txBody>
      </p:sp>
      <p:sp>
        <p:nvSpPr>
          <p:cNvPr id="19" name="Text 17">
            <a:extLst xmlns:a="http://schemas.openxmlformats.org/drawingml/2006/main">
              <a:ext uri="{FF2B5EF4-FFF2-40B4-BE49-F238E27FC236}">
                <a16:creationId xmlns:a16="http://schemas.microsoft.com/office/drawing/2014/main" id="{4F2524EE-9513-4E6B-BF76-19553AB3795A}"/>
              </a:ext>
            </a:extLst>
          </p:cNvPr>
          <p:cNvSpPr>
            <a:spLocks xmlns:a="http://schemas.openxmlformats.org/drawingml/2006/main" noGrp="1"/>
          </p:cNvSpPr>
          <p:nvPr/>
        </p:nvSpPr>
        <p:spPr>
          <a:xfrm xmlns:a="http://schemas.openxmlformats.org/drawingml/2006/main">
            <a:off x="8055864" y="4041648"/>
            <a:ext cx="355701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150">
                <a:solidFill>
                  <a:srgbClr val="35322D"/>
                </a:solidFill>
                <a:latin typeface="Arial"/>
                <a:ea typeface="Arial"/>
                <a:cs typeface="Arial"/>
              </a:rPr>
              <a:t>Sensitive or high-value replies escalate to a human</a:t>
            </a:r>
          </a:p>
        </p:txBody>
      </p:sp>
      <p:sp>
        <p:nvSpPr>
          <p:cNvPr id="20" name="Text 18">
            <a:extLst xmlns:a="http://schemas.openxmlformats.org/drawingml/2006/main">
              <a:ext uri="{FF2B5EF4-FFF2-40B4-BE49-F238E27FC236}">
                <a16:creationId xmlns:a16="http://schemas.microsoft.com/office/drawing/2014/main" id="{482FFF87-68EF-44B6-8344-39CFAC859746}"/>
              </a:ext>
            </a:extLst>
          </p:cNvPr>
          <p:cNvSpPr>
            <a:spLocks xmlns:a="http://schemas.openxmlformats.org/drawingml/2006/main" noGrp="1"/>
          </p:cNvSpPr>
          <p:nvPr/>
        </p:nvSpPr>
        <p:spPr>
          <a:xfrm xmlns:a="http://schemas.openxmlformats.org/drawingml/2006/main">
            <a:off x="7818120" y="4517136"/>
            <a:ext cx="2011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7A5CFF"/>
                </a:solidFill>
                <a:latin typeface="Arial"/>
                <a:ea typeface="Arial"/>
                <a:cs typeface="Arial"/>
              </a:rPr>
              <a:t>■</a:t>
            </a:r>
          </a:p>
        </p:txBody>
      </p:sp>
      <p:sp>
        <p:nvSpPr>
          <p:cNvPr id="21" name="Text 19">
            <a:extLst xmlns:a="http://schemas.openxmlformats.org/drawingml/2006/main">
              <a:ext uri="{FF2B5EF4-FFF2-40B4-BE49-F238E27FC236}">
                <a16:creationId xmlns:a16="http://schemas.microsoft.com/office/drawing/2014/main" id="{E17D1ACE-F359-4AA0-9A32-1C953C1C128C}"/>
              </a:ext>
            </a:extLst>
          </p:cNvPr>
          <p:cNvSpPr>
            <a:spLocks xmlns:a="http://schemas.openxmlformats.org/drawingml/2006/main" noGrp="1"/>
          </p:cNvSpPr>
          <p:nvPr/>
        </p:nvSpPr>
        <p:spPr>
          <a:xfrm xmlns:a="http://schemas.openxmlformats.org/drawingml/2006/main">
            <a:off x="8055864" y="4498848"/>
            <a:ext cx="355701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150">
                <a:solidFill>
                  <a:srgbClr val="35322D"/>
                </a:solidFill>
                <a:latin typeface="Arial"/>
                <a:ea typeface="Arial"/>
                <a:cs typeface="Arial"/>
              </a:rPr>
              <a:t>Follow-ups stop on a reply, a no, or an opt-out</a:t>
            </a:r>
          </a:p>
        </p:txBody>
      </p:sp>
      <p:sp>
        <p:nvSpPr>
          <p:cNvPr id="22" name="Text 20">
            <a:extLst xmlns:a="http://schemas.openxmlformats.org/drawingml/2006/main">
              <a:ext uri="{FF2B5EF4-FFF2-40B4-BE49-F238E27FC236}">
                <a16:creationId xmlns:a16="http://schemas.microsoft.com/office/drawing/2014/main" id="{0EBBF78C-2017-4E6D-BA9A-78D7FB2AE678}"/>
              </a:ext>
            </a:extLst>
          </p:cNvPr>
          <p:cNvSpPr>
            <a:spLocks xmlns:a="http://schemas.openxmlformats.org/drawingml/2006/main" noGrp="1"/>
          </p:cNvSpPr>
          <p:nvPr/>
        </p:nvSpPr>
        <p:spPr>
          <a:xfrm xmlns:a="http://schemas.openxmlformats.org/drawingml/2006/main">
            <a:off x="8351215" y="6382512"/>
            <a:ext cx="327355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b="1">
                <a:solidFill>
                  <a:srgbClr val="9A968C"/>
                </a:solidFill>
                <a:latin typeface="Arial"/>
                <a:ea typeface="Arial"/>
                <a:cs typeface="Arial"/>
              </a:rPr>
              <a:t>INFLUENCEES</a:t>
            </a:r>
            <a:r>
              <a:rPr sz="950" b="1">
                <a:solidFill>
                  <a:srgbClr val="6B675F"/>
                </a:solidFill>
                <a:latin typeface="Arial"/>
                <a:ea typeface="Arial"/>
                <a:cs typeface="Arial"/>
              </a:rPr>
              <a:t>   03 / 10</a:t>
            </a:r>
          </a:p>
        </p:txBody>
      </p:sp>
      <p:sp>
        <p:nvSpPr>
          <p:cNvPr id="23" name="white-canvas-3">
            <a:extLst xmlns:a="http://schemas.openxmlformats.org/drawingml/2006/main">
              <a:ext uri="{FF2B5EF4-FFF2-40B4-BE49-F238E27FC236}">
                <a16:creationId xmlns:a16="http://schemas.microsoft.com/office/drawing/2014/main" id="{991E30E5-F594-4640-9938-981B0D394B9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 name="section-badge">
            <a:extLst xmlns:a="http://schemas.openxmlformats.org/drawingml/2006/main">
              <a:ext uri="{FF2B5EF4-FFF2-40B4-BE49-F238E27FC236}">
                <a16:creationId xmlns:a16="http://schemas.microsoft.com/office/drawing/2014/main" id="{2F034B90-0F5F-48F2-BB3F-ABB5A1F99639}"/>
              </a:ext>
            </a:extLst>
          </p:cNvPr>
          <p:cNvSpPr>
            <a:spLocks xmlns:a="http://schemas.openxmlformats.org/drawingml/2006/main" noGrp="1"/>
          </p:cNvSpPr>
          <p:nvPr/>
        </p:nvSpPr>
        <p:spPr>
          <a:xfrm xmlns:a="http://schemas.openxmlformats.org/drawingml/2006/main">
            <a:off x="4191000" y="3238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1200" b="1">
                <a:solidFill>
                  <a:srgbClr val="7C5CFC"/>
                </a:solidFill>
                <a:latin typeface="Inter"/>
                <a:ea typeface="Inter"/>
                <a:cs typeface="Inter"/>
              </a:defRPr>
            </a:pPr>
            <a:r>
              <a:rPr sz="1200" b="1">
                <a:solidFill>
                  <a:srgbClr val="7C5CFC"/>
                </a:solidFill>
                <a:latin typeface="Inter"/>
                <a:ea typeface="Inter"/>
                <a:cs typeface="Inter"/>
              </a:rPr>
              <a:t>SOLUTION 01 · BD AGENT</a:t>
            </a:r>
          </a:p>
        </p:txBody>
      </p:sp>
      <p:sp>
        <p:nvSpPr>
          <p:cNvPr id="25" name="slide-title">
            <a:extLst xmlns:a="http://schemas.openxmlformats.org/drawingml/2006/main">
              <a:ext uri="{FF2B5EF4-FFF2-40B4-BE49-F238E27FC236}">
                <a16:creationId xmlns:a16="http://schemas.microsoft.com/office/drawing/2014/main" id="{AF68220B-5CC8-4755-95D1-4AFA033B49D2}"/>
              </a:ext>
            </a:extLst>
          </p:cNvPr>
          <p:cNvSpPr>
            <a:spLocks xmlns:a="http://schemas.openxmlformats.org/drawingml/2006/main" noGrp="1"/>
          </p:cNvSpPr>
          <p:nvPr/>
        </p:nvSpPr>
        <p:spPr>
          <a:xfrm xmlns:a="http://schemas.openxmlformats.org/drawingml/2006/main">
            <a:off x="952500" y="6858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3450" b="0">
                <a:solidFill>
                  <a:srgbClr val="0F172A"/>
                </a:solidFill>
                <a:latin typeface="Inter"/>
                <a:ea typeface="Inter"/>
                <a:cs typeface="Inter"/>
              </a:defRPr>
            </a:pPr>
            <a:r>
              <a:rPr sz="3450" b="0">
                <a:solidFill>
                  <a:srgbClr val="0F172A"/>
                </a:solidFill>
                <a:latin typeface="Inter"/>
                <a:ea typeface="Inter"/>
                <a:cs typeface="Inter"/>
              </a:rPr>
              <a:t>An AI operator that actually talks to brands.</a:t>
            </a:r>
          </a:p>
        </p:txBody>
      </p:sp>
      <p:sp>
        <p:nvSpPr>
          <p:cNvPr id="26" name="slide-subtitle">
            <a:extLst xmlns:a="http://schemas.openxmlformats.org/drawingml/2006/main">
              <a:ext uri="{FF2B5EF4-FFF2-40B4-BE49-F238E27FC236}">
                <a16:creationId xmlns:a16="http://schemas.microsoft.com/office/drawing/2014/main" id="{46DF6A60-E292-4E42-9E1D-3414BDB713BE}"/>
              </a:ext>
            </a:extLst>
          </p:cNvPr>
          <p:cNvSpPr>
            <a:spLocks xmlns:a="http://schemas.openxmlformats.org/drawingml/2006/main" noGrp="1"/>
          </p:cNvSpPr>
          <p:nvPr/>
        </p:nvSpPr>
        <p:spPr>
          <a:xfrm xmlns:a="http://schemas.openxmlformats.org/drawingml/2006/main">
            <a:off x="1333500" y="1352550"/>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22000"/>
              </a:lnSpc>
              <a:buNone/>
              <a:defRPr sz="1575" b="0">
                <a:solidFill>
                  <a:srgbClr val="64748B"/>
                </a:solidFill>
                <a:latin typeface="Inter"/>
                <a:ea typeface="Inter"/>
                <a:cs typeface="Inter"/>
              </a:defRPr>
            </a:pPr>
            <a:r>
              <a:rPr sz="1575" b="0">
                <a:solidFill>
                  <a:srgbClr val="64748B"/>
                </a:solidFill>
                <a:latin typeface="Inter"/>
                <a:ea typeface="Inter"/>
                <a:cs typeface="Inter"/>
              </a:rPr>
              <a:t>Not a message generator—a visible outreach loop with human control built in.</a:t>
            </a:r>
          </a:p>
        </p:txBody>
      </p:sp>
      <p:sp>
        <p:nvSpPr>
          <p:cNvPr id="27" name="autonomy-card">
            <a:extLst xmlns:a="http://schemas.openxmlformats.org/drawingml/2006/main">
              <a:ext uri="{FF2B5EF4-FFF2-40B4-BE49-F238E27FC236}">
                <a16:creationId xmlns:a16="http://schemas.microsoft.com/office/drawing/2014/main" id="{11698015-9DB7-4C82-AEEC-B9E203B0B041}"/>
              </a:ext>
            </a:extLst>
          </p:cNvPr>
          <p:cNvSpPr>
            <a:spLocks xmlns:a="http://schemas.openxmlformats.org/drawingml/2006/main" noGrp="1"/>
          </p:cNvSpPr>
          <p:nvPr/>
        </p:nvSpPr>
        <p:spPr>
          <a:xfrm xmlns:a="http://schemas.openxmlformats.org/drawingml/2006/main">
            <a:off x="704850" y="2362200"/>
            <a:ext cx="6419850" cy="3257550"/>
          </a:xfrm>
          <a:prstGeom xmlns:a="http://schemas.openxmlformats.org/drawingml/2006/main" prst="roundRect">
            <a:avLst>
              <a:gd name="adj" fmla="val 5848"/>
            </a:avLst>
          </a:prstGeom>
          <a:solidFill xmlns:a="http://schemas.openxmlformats.org/drawingml/2006/main">
            <a:srgbClr val="F7EEFB"/>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8" name="autonomy-label">
            <a:extLst xmlns:a="http://schemas.openxmlformats.org/drawingml/2006/main">
              <a:ext uri="{FF2B5EF4-FFF2-40B4-BE49-F238E27FC236}">
                <a16:creationId xmlns:a16="http://schemas.microsoft.com/office/drawing/2014/main" id="{3F00602D-67FB-48C2-B54F-51AA2826E06F}"/>
              </a:ext>
            </a:extLst>
          </p:cNvPr>
          <p:cNvSpPr>
            <a:spLocks xmlns:a="http://schemas.openxmlformats.org/drawingml/2006/main" noGrp="1"/>
          </p:cNvSpPr>
          <p:nvPr/>
        </p:nvSpPr>
        <p:spPr>
          <a:xfrm xmlns:a="http://schemas.openxmlformats.org/drawingml/2006/main">
            <a:off x="990600" y="2628900"/>
            <a:ext cx="581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1">
                <a:solidFill>
                  <a:srgbClr val="7C5CFC"/>
                </a:solidFill>
                <a:latin typeface="Inter"/>
                <a:ea typeface="Inter"/>
                <a:cs typeface="Inter"/>
              </a:defRPr>
            </a:pPr>
            <a:r>
              <a:rPr sz="1125" b="1">
                <a:solidFill>
                  <a:srgbClr val="7C5CFC"/>
                </a:solidFill>
                <a:latin typeface="Inter"/>
                <a:ea typeface="Inter"/>
                <a:cs typeface="Inter"/>
              </a:rPr>
              <a:t>ONE SWITCH, GLOBAL OR PER CONVERSATION</a:t>
            </a:r>
          </a:p>
        </p:txBody>
      </p:sp>
      <p:sp>
        <p:nvSpPr>
          <p:cNvPr id="29" name="autonomy-title">
            <a:extLst xmlns:a="http://schemas.openxmlformats.org/drawingml/2006/main">
              <a:ext uri="{FF2B5EF4-FFF2-40B4-BE49-F238E27FC236}">
                <a16:creationId xmlns:a16="http://schemas.microsoft.com/office/drawing/2014/main" id="{FAFE2346-0C23-4571-8440-EEB4B7798045}"/>
              </a:ext>
            </a:extLst>
          </p:cNvPr>
          <p:cNvSpPr>
            <a:spLocks xmlns:a="http://schemas.openxmlformats.org/drawingml/2006/main" noGrp="1"/>
          </p:cNvSpPr>
          <p:nvPr/>
        </p:nvSpPr>
        <p:spPr>
          <a:xfrm xmlns:a="http://schemas.openxmlformats.org/drawingml/2006/main">
            <a:off x="990600" y="3028950"/>
            <a:ext cx="581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325" b="1">
                <a:solidFill>
                  <a:srgbClr val="0F172A"/>
                </a:solidFill>
                <a:latin typeface="Inter"/>
                <a:ea typeface="Inter"/>
                <a:cs typeface="Inter"/>
              </a:defRPr>
            </a:pPr>
            <a:r>
              <a:rPr sz="2325" b="1">
                <a:solidFill>
                  <a:srgbClr val="0F172A"/>
                </a:solidFill>
                <a:latin typeface="Inter"/>
                <a:ea typeface="Inter"/>
                <a:cs typeface="Inter"/>
              </a:rPr>
              <a:t>Control how far the agent goes.</a:t>
            </a:r>
          </a:p>
        </p:txBody>
      </p:sp>
      <p:sp>
        <p:nvSpPr>
          <p:cNvPr id="30" name="mode-toggle">
            <a:extLst xmlns:a="http://schemas.openxmlformats.org/drawingml/2006/main">
              <a:ext uri="{FF2B5EF4-FFF2-40B4-BE49-F238E27FC236}">
                <a16:creationId xmlns:a16="http://schemas.microsoft.com/office/drawing/2014/main" id="{5B71FCCA-42C1-40E0-B177-9DD9CD9BAB77}"/>
              </a:ext>
            </a:extLst>
          </p:cNvPr>
          <p:cNvSpPr>
            <a:spLocks xmlns:a="http://schemas.openxmlformats.org/drawingml/2006/main" noGrp="1"/>
          </p:cNvSpPr>
          <p:nvPr/>
        </p:nvSpPr>
        <p:spPr>
          <a:xfrm xmlns:a="http://schemas.openxmlformats.org/drawingml/2006/main">
            <a:off x="990600" y="3752850"/>
            <a:ext cx="5810250" cy="685800"/>
          </a:xfrm>
          <a:prstGeom xmlns:a="http://schemas.openxmlformats.org/drawingml/2006/main" prst="roundRect">
            <a:avLst>
              <a:gd name="adj" fmla="val 50000"/>
            </a:avLst>
          </a:prstGeom>
          <a:solidFill xmlns:a="http://schemas.openxmlformats.org/drawingml/2006/main">
            <a:srgbClr val="FFFFFF">
              <a:alpha val="92000"/>
            </a:srgbClr>
          </a:solidFill>
          <a:ln xmlns:a="http://schemas.openxmlformats.org/drawingml/2006/main" w="9525">
            <a:solidFill>
              <a:srgbClr val="FFFFFF"/>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31" name="human-mode">
            <a:extLst xmlns:a="http://schemas.openxmlformats.org/drawingml/2006/main">
              <a:ext uri="{FF2B5EF4-FFF2-40B4-BE49-F238E27FC236}">
                <a16:creationId xmlns:a16="http://schemas.microsoft.com/office/drawing/2014/main" id="{1FB9EE8F-8D5E-4567-A5E8-9FFF2FB0D9C6}"/>
              </a:ext>
            </a:extLst>
          </p:cNvPr>
          <p:cNvSpPr>
            <a:spLocks xmlns:a="http://schemas.openxmlformats.org/drawingml/2006/main" noGrp="1"/>
          </p:cNvSpPr>
          <p:nvPr/>
        </p:nvSpPr>
        <p:spPr>
          <a:xfrm xmlns:a="http://schemas.openxmlformats.org/drawingml/2006/main">
            <a:off x="1066800" y="3829050"/>
            <a:ext cx="2743200" cy="5334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txBody>
          <a:bodyPr xmlns:a="http://schemas.openxmlformats.org/drawingml/2006/main" lIns="0" tIns="0" rIns="0" bIns="0" anchor="ctr"/>
          <a:lstStyle xmlns:a="http://schemas.openxmlformats.org/drawingml/2006/main"/>
          <a:p xmlns:a="http://schemas.openxmlformats.org/drawingml/2006/main">
            <a:pPr algn="ctr">
              <a:defRPr sz="1500" b="1">
                <a:solidFill>
                  <a:srgbClr val="1E293B"/>
                </a:solidFill>
                <a:latin typeface="Inter"/>
                <a:ea typeface="Inter"/>
                <a:cs typeface="Inter"/>
              </a:defRPr>
            </a:pPr>
            <a:r>
              <a:rPr sz="1500" b="1">
                <a:solidFill>
                  <a:srgbClr val="1E293B"/>
                </a:solidFill>
                <a:latin typeface="Inter"/>
                <a:ea typeface="Inter"/>
                <a:cs typeface="Inter"/>
              </a:rPr>
              <a:t>Human approval</a:t>
            </a:r>
          </a:p>
        </p:txBody>
      </p:sp>
      <p:sp>
        <p:nvSpPr>
          <p:cNvPr id="32" name="autonomous-mode">
            <a:extLst xmlns:a="http://schemas.openxmlformats.org/drawingml/2006/main">
              <a:ext uri="{FF2B5EF4-FFF2-40B4-BE49-F238E27FC236}">
                <a16:creationId xmlns:a16="http://schemas.microsoft.com/office/drawing/2014/main" id="{4637B5A6-90F1-4500-BDDE-CA43AD55194F}"/>
              </a:ext>
            </a:extLst>
          </p:cNvPr>
          <p:cNvSpPr>
            <a:spLocks xmlns:a="http://schemas.openxmlformats.org/drawingml/2006/main" noGrp="1"/>
          </p:cNvSpPr>
          <p:nvPr/>
        </p:nvSpPr>
        <p:spPr>
          <a:xfrm xmlns:a="http://schemas.openxmlformats.org/drawingml/2006/main">
            <a:off x="3905250" y="3829050"/>
            <a:ext cx="2819400" cy="533400"/>
          </a:xfrm>
          <a:prstGeom xmlns:a="http://schemas.openxmlformats.org/drawingml/2006/main" prst="roundRect">
            <a:avLst>
              <a:gd name="adj" fmla="val 50000"/>
            </a:avLst>
          </a:prstGeom>
          <a:solidFill xmlns:a="http://schemas.openxmlformats.org/drawingml/2006/main">
            <a:srgbClr val="0F172A"/>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txBody>
          <a:bodyPr xmlns:a="http://schemas.openxmlformats.org/drawingml/2006/main" lIns="0" tIns="0" rIns="0" bIns="0" anchor="ctr"/>
          <a:lstStyle xmlns:a="http://schemas.openxmlformats.org/drawingml/2006/main"/>
          <a:p xmlns:a="http://schemas.openxmlformats.org/drawingml/2006/main">
            <a:pPr algn="ctr">
              <a:defRPr sz="1500" b="1">
                <a:solidFill>
                  <a:srgbClr val="FFFFFF"/>
                </a:solidFill>
                <a:latin typeface="Inter"/>
                <a:ea typeface="Inter"/>
                <a:cs typeface="Inter"/>
              </a:defRPr>
            </a:pPr>
            <a:r>
              <a:rPr sz="1500" b="1">
                <a:solidFill>
                  <a:srgbClr val="FFFFFF"/>
                </a:solidFill>
                <a:latin typeface="Inter"/>
                <a:ea typeface="Inter"/>
                <a:cs typeface="Inter"/>
              </a:rPr>
              <a:t>Fully autonomous</a:t>
            </a:r>
          </a:p>
        </p:txBody>
      </p:sp>
      <p:sp>
        <p:nvSpPr>
          <p:cNvPr id="33" name="autonomy-detail">
            <a:extLst xmlns:a="http://schemas.openxmlformats.org/drawingml/2006/main">
              <a:ext uri="{FF2B5EF4-FFF2-40B4-BE49-F238E27FC236}">
                <a16:creationId xmlns:a16="http://schemas.microsoft.com/office/drawing/2014/main" id="{E3934BC2-23EA-471E-9F1E-C9E518B171B9}"/>
              </a:ext>
            </a:extLst>
          </p:cNvPr>
          <p:cNvSpPr>
            <a:spLocks xmlns:a="http://schemas.openxmlformats.org/drawingml/2006/main" noGrp="1"/>
          </p:cNvSpPr>
          <p:nvPr/>
        </p:nvSpPr>
        <p:spPr>
          <a:xfrm xmlns:a="http://schemas.openxmlformats.org/drawingml/2006/main">
            <a:off x="990600" y="4743450"/>
            <a:ext cx="5810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22000"/>
              </a:lnSpc>
              <a:buNone/>
              <a:defRPr sz="1500" b="0">
                <a:solidFill>
                  <a:srgbClr val="64748B"/>
                </a:solidFill>
                <a:latin typeface="Inter"/>
                <a:ea typeface="Inter"/>
                <a:cs typeface="Inter"/>
              </a:defRPr>
            </a:pPr>
            <a:r>
              <a:rPr sz="1500" b="0">
                <a:solidFill>
                  <a:srgbClr val="64748B"/>
                </a:solidFill>
                <a:latin typeface="Inter"/>
                <a:ea typeface="Inter"/>
                <a:cs typeface="Inter"/>
              </a:rPr>
              <a:t>Take over any thread, reply manually, then hand it back. The agent reads the full conversation before it resumes.</a:t>
            </a:r>
          </a:p>
        </p:txBody>
      </p:sp>
      <p:sp>
        <p:nvSpPr>
          <p:cNvPr id="34" name="guardrail-label">
            <a:extLst xmlns:a="http://schemas.openxmlformats.org/drawingml/2006/main">
              <a:ext uri="{FF2B5EF4-FFF2-40B4-BE49-F238E27FC236}">
                <a16:creationId xmlns:a16="http://schemas.microsoft.com/office/drawing/2014/main" id="{9D47623E-4846-4D13-BE76-304BA2D658E3}"/>
              </a:ext>
            </a:extLst>
          </p:cNvPr>
          <p:cNvSpPr>
            <a:spLocks xmlns:a="http://schemas.openxmlformats.org/drawingml/2006/main" noGrp="1"/>
          </p:cNvSpPr>
          <p:nvPr/>
        </p:nvSpPr>
        <p:spPr>
          <a:xfrm xmlns:a="http://schemas.openxmlformats.org/drawingml/2006/main">
            <a:off x="7524750" y="24765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1">
                <a:solidFill>
                  <a:srgbClr val="7C5CFC"/>
                </a:solidFill>
                <a:latin typeface="Inter"/>
                <a:ea typeface="Inter"/>
                <a:cs typeface="Inter"/>
              </a:defRPr>
            </a:pPr>
            <a:r>
              <a:rPr sz="1125" b="1">
                <a:solidFill>
                  <a:srgbClr val="7C5CFC"/>
                </a:solidFill>
                <a:latin typeface="Inter"/>
                <a:ea typeface="Inter"/>
                <a:cs typeface="Inter"/>
              </a:rPr>
              <a:t>BUILT-IN GUARDRAILS</a:t>
            </a:r>
          </a:p>
        </p:txBody>
      </p:sp>
      <p:sp>
        <p:nvSpPr>
          <p:cNvPr id="35" name="guard-card-0">
            <a:extLst xmlns:a="http://schemas.openxmlformats.org/drawingml/2006/main">
              <a:ext uri="{FF2B5EF4-FFF2-40B4-BE49-F238E27FC236}">
                <a16:creationId xmlns:a16="http://schemas.microsoft.com/office/drawing/2014/main" id="{97173761-EC60-4607-8904-0BD90541CDA7}"/>
              </a:ext>
            </a:extLst>
          </p:cNvPr>
          <p:cNvSpPr>
            <a:spLocks xmlns:a="http://schemas.openxmlformats.org/drawingml/2006/main" noGrp="1"/>
          </p:cNvSpPr>
          <p:nvPr/>
        </p:nvSpPr>
        <p:spPr>
          <a:xfrm xmlns:a="http://schemas.openxmlformats.org/drawingml/2006/main">
            <a:off x="7524750" y="2905125"/>
            <a:ext cx="4000500" cy="552450"/>
          </a:xfrm>
          <a:prstGeom xmlns:a="http://schemas.openxmlformats.org/drawingml/2006/main" prst="roundRect">
            <a:avLst>
              <a:gd name="adj" fmla="val 24138"/>
            </a:avLst>
          </a:prstGeom>
          <a:solidFill xmlns:a="http://schemas.openxmlformats.org/drawingml/2006/main">
            <a:srgbClr val="FBF7FF"/>
          </a:solidFill>
          <a:ln xmlns:a="http://schemas.openxmlformats.org/drawingml/2006/main" w="9525">
            <a:solidFill>
              <a:srgbClr val="FFFFFF"/>
            </a:solidFill>
            <a:prstDash val="solid"/>
          </a:ln>
        </p:spPr>
        <p:style>
          <a:lnRef xmlns:a="http://schemas.openxmlformats.org/drawingml/2006/main" idx="0"/>
          <a:fillRef xmlns:a="http://schemas.openxmlformats.org/drawingml/2006/main" idx="0"/>
          <a:effectRef xmlns:a="http://schemas.openxmlformats.org/drawingml/2006/main" idx="9"/>
          <a:fontRef xmlns:a="http://schemas.openxmlformats.org/drawingml/2006/main" idx="major"/>
        </p:style>
      </p:sp>
      <p:sp>
        <p:nvSpPr>
          <p:cNvPr id="36" name="guard-check-0">
            <a:extLst xmlns:a="http://schemas.openxmlformats.org/drawingml/2006/main">
              <a:ext uri="{FF2B5EF4-FFF2-40B4-BE49-F238E27FC236}">
                <a16:creationId xmlns:a16="http://schemas.microsoft.com/office/drawing/2014/main" id="{32576D6F-939E-46F0-BB25-BC0055A5380C}"/>
              </a:ext>
            </a:extLst>
          </p:cNvPr>
          <p:cNvSpPr>
            <a:spLocks xmlns:a="http://schemas.openxmlformats.org/drawingml/2006/main" noGrp="1"/>
          </p:cNvSpPr>
          <p:nvPr/>
        </p:nvSpPr>
        <p:spPr>
          <a:xfrm xmlns:a="http://schemas.openxmlformats.org/drawingml/2006/main">
            <a:off x="7696200" y="3057525"/>
            <a:ext cx="247650" cy="247650"/>
          </a:xfrm>
          <a:prstGeom xmlns:a="http://schemas.openxmlformats.org/drawingml/2006/main" prst="ellipse">
            <a:avLst/>
          </a:prstGeom>
          <a:solidFill xmlns:a="http://schemas.openxmlformats.org/drawingml/2006/main">
            <a:srgbClr val="B567C2"/>
          </a:solidFill>
          <a:ln xmlns:a="http://schemas.openxmlformats.org/drawingml/2006/main" w="0">
            <a:noFill/>
            <a:prstDash val="solid"/>
          </a:ln>
        </p:spPr>
      </p:sp>
      <p:sp>
        <p:nvSpPr>
          <p:cNvPr id="37" name="guard-text-0">
            <a:extLst xmlns:a="http://schemas.openxmlformats.org/drawingml/2006/main">
              <a:ext uri="{FF2B5EF4-FFF2-40B4-BE49-F238E27FC236}">
                <a16:creationId xmlns:a16="http://schemas.microsoft.com/office/drawing/2014/main" id="{760A4924-2EC1-40AF-8526-75B3B74BB87E}"/>
              </a:ext>
            </a:extLst>
          </p:cNvPr>
          <p:cNvSpPr>
            <a:spLocks xmlns:a="http://schemas.openxmlformats.org/drawingml/2006/main" noGrp="1"/>
          </p:cNvSpPr>
          <p:nvPr/>
        </p:nvSpPr>
        <p:spPr>
          <a:xfrm xmlns:a="http://schemas.openxmlformats.org/drawingml/2006/main">
            <a:off x="8096250" y="2990850"/>
            <a:ext cx="3219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0">
                <a:solidFill>
                  <a:srgbClr val="1E293B"/>
                </a:solidFill>
                <a:latin typeface="Inter"/>
                <a:ea typeface="Inter"/>
                <a:cs typeface="Inter"/>
              </a:defRPr>
            </a:pPr>
            <a:r>
              <a:rPr sz="1350" b="0">
                <a:solidFill>
                  <a:srgbClr val="1E293B"/>
                </a:solidFill>
                <a:latin typeface="Inter"/>
                <a:ea typeface="Inter"/>
                <a:cs typeface="Inter"/>
              </a:rPr>
              <a:t>Claims link to stored evidence</a:t>
            </a:r>
          </a:p>
        </p:txBody>
      </p:sp>
      <p:sp>
        <p:nvSpPr>
          <p:cNvPr id="38" name="guard-card-1">
            <a:extLst xmlns:a="http://schemas.openxmlformats.org/drawingml/2006/main">
              <a:ext uri="{FF2B5EF4-FFF2-40B4-BE49-F238E27FC236}">
                <a16:creationId xmlns:a16="http://schemas.microsoft.com/office/drawing/2014/main" id="{88FD4C05-74A3-4CF3-A274-87447EB42122}"/>
              </a:ext>
            </a:extLst>
          </p:cNvPr>
          <p:cNvSpPr>
            <a:spLocks xmlns:a="http://schemas.openxmlformats.org/drawingml/2006/main" noGrp="1"/>
          </p:cNvSpPr>
          <p:nvPr/>
        </p:nvSpPr>
        <p:spPr>
          <a:xfrm xmlns:a="http://schemas.openxmlformats.org/drawingml/2006/main">
            <a:off x="7524750" y="3590925"/>
            <a:ext cx="4000500" cy="552450"/>
          </a:xfrm>
          <a:prstGeom xmlns:a="http://schemas.openxmlformats.org/drawingml/2006/main" prst="roundRect">
            <a:avLst>
              <a:gd name="adj" fmla="val 24138"/>
            </a:avLst>
          </a:prstGeom>
          <a:solidFill xmlns:a="http://schemas.openxmlformats.org/drawingml/2006/main">
            <a:srgbClr val="FFF7F5"/>
          </a:solidFill>
          <a:ln xmlns:a="http://schemas.openxmlformats.org/drawingml/2006/main" w="9525">
            <a:solidFill>
              <a:srgbClr val="FFFFFF"/>
            </a:solidFill>
            <a:prstDash val="solid"/>
          </a:ln>
        </p:spPr>
        <p:style>
          <a:lnRef xmlns:a="http://schemas.openxmlformats.org/drawingml/2006/main" idx="0"/>
          <a:fillRef xmlns:a="http://schemas.openxmlformats.org/drawingml/2006/main" idx="0"/>
          <a:effectRef xmlns:a="http://schemas.openxmlformats.org/drawingml/2006/main" idx="9"/>
          <a:fontRef xmlns:a="http://schemas.openxmlformats.org/drawingml/2006/main" idx="major"/>
        </p:style>
      </p:sp>
      <p:sp>
        <p:nvSpPr>
          <p:cNvPr id="39" name="guard-check-1">
            <a:extLst xmlns:a="http://schemas.openxmlformats.org/drawingml/2006/main">
              <a:ext uri="{FF2B5EF4-FFF2-40B4-BE49-F238E27FC236}">
                <a16:creationId xmlns:a16="http://schemas.microsoft.com/office/drawing/2014/main" id="{39D8EDC5-22FE-490B-AC7E-EB2B165441FD}"/>
              </a:ext>
            </a:extLst>
          </p:cNvPr>
          <p:cNvSpPr>
            <a:spLocks xmlns:a="http://schemas.openxmlformats.org/drawingml/2006/main" noGrp="1"/>
          </p:cNvSpPr>
          <p:nvPr/>
        </p:nvSpPr>
        <p:spPr>
          <a:xfrm xmlns:a="http://schemas.openxmlformats.org/drawingml/2006/main">
            <a:off x="7696200" y="3743325"/>
            <a:ext cx="247650" cy="247650"/>
          </a:xfrm>
          <a:prstGeom xmlns:a="http://schemas.openxmlformats.org/drawingml/2006/main" prst="ellipse">
            <a:avLst/>
          </a:prstGeom>
          <a:solidFill xmlns:a="http://schemas.openxmlformats.org/drawingml/2006/main">
            <a:srgbClr val="F28482"/>
          </a:solidFill>
          <a:ln xmlns:a="http://schemas.openxmlformats.org/drawingml/2006/main" w="0">
            <a:noFill/>
            <a:prstDash val="solid"/>
          </a:ln>
        </p:spPr>
      </p:sp>
      <p:sp>
        <p:nvSpPr>
          <p:cNvPr id="40" name="guard-text-1">
            <a:extLst xmlns:a="http://schemas.openxmlformats.org/drawingml/2006/main">
              <a:ext uri="{FF2B5EF4-FFF2-40B4-BE49-F238E27FC236}">
                <a16:creationId xmlns:a16="http://schemas.microsoft.com/office/drawing/2014/main" id="{99B9B929-EB0D-4B37-A307-A737BD1A359C}"/>
              </a:ext>
            </a:extLst>
          </p:cNvPr>
          <p:cNvSpPr>
            <a:spLocks xmlns:a="http://schemas.openxmlformats.org/drawingml/2006/main" noGrp="1"/>
          </p:cNvSpPr>
          <p:nvPr/>
        </p:nvSpPr>
        <p:spPr>
          <a:xfrm xmlns:a="http://schemas.openxmlformats.org/drawingml/2006/main">
            <a:off x="8096250" y="3676650"/>
            <a:ext cx="3219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0">
                <a:solidFill>
                  <a:srgbClr val="1E293B"/>
                </a:solidFill>
                <a:latin typeface="Inter"/>
                <a:ea typeface="Inter"/>
                <a:cs typeface="Inter"/>
              </a:defRPr>
            </a:pPr>
            <a:r>
              <a:rPr sz="1350" b="0">
                <a:solidFill>
                  <a:srgbClr val="1E293B"/>
                </a:solidFill>
                <a:latin typeface="Inter"/>
                <a:ea typeface="Inter"/>
                <a:cs typeface="Inter"/>
              </a:rPr>
              <a:t>No fake familiarity or invented history</a:t>
            </a:r>
          </a:p>
        </p:txBody>
      </p:sp>
      <p:sp>
        <p:nvSpPr>
          <p:cNvPr id="41" name="guard-card-2">
            <a:extLst xmlns:a="http://schemas.openxmlformats.org/drawingml/2006/main">
              <a:ext uri="{FF2B5EF4-FFF2-40B4-BE49-F238E27FC236}">
                <a16:creationId xmlns:a16="http://schemas.microsoft.com/office/drawing/2014/main" id="{124290F7-3BCF-4BB7-A572-CB1CB3A2F095}"/>
              </a:ext>
            </a:extLst>
          </p:cNvPr>
          <p:cNvSpPr>
            <a:spLocks xmlns:a="http://schemas.openxmlformats.org/drawingml/2006/main" noGrp="1"/>
          </p:cNvSpPr>
          <p:nvPr/>
        </p:nvSpPr>
        <p:spPr>
          <a:xfrm xmlns:a="http://schemas.openxmlformats.org/drawingml/2006/main">
            <a:off x="7524750" y="4276725"/>
            <a:ext cx="4000500" cy="552450"/>
          </a:xfrm>
          <a:prstGeom xmlns:a="http://schemas.openxmlformats.org/drawingml/2006/main" prst="roundRect">
            <a:avLst>
              <a:gd name="adj" fmla="val 24138"/>
            </a:avLst>
          </a:prstGeom>
          <a:solidFill xmlns:a="http://schemas.openxmlformats.org/drawingml/2006/main">
            <a:srgbClr val="FBF7FF"/>
          </a:solidFill>
          <a:ln xmlns:a="http://schemas.openxmlformats.org/drawingml/2006/main" w="9525">
            <a:solidFill>
              <a:srgbClr val="FFFFFF"/>
            </a:solidFill>
            <a:prstDash val="solid"/>
          </a:ln>
        </p:spPr>
        <p:style>
          <a:lnRef xmlns:a="http://schemas.openxmlformats.org/drawingml/2006/main" idx="0"/>
          <a:fillRef xmlns:a="http://schemas.openxmlformats.org/drawingml/2006/main" idx="0"/>
          <a:effectRef xmlns:a="http://schemas.openxmlformats.org/drawingml/2006/main" idx="9"/>
          <a:fontRef xmlns:a="http://schemas.openxmlformats.org/drawingml/2006/main" idx="major"/>
        </p:style>
      </p:sp>
      <p:sp>
        <p:nvSpPr>
          <p:cNvPr id="42" name="guard-check-2">
            <a:extLst xmlns:a="http://schemas.openxmlformats.org/drawingml/2006/main">
              <a:ext uri="{FF2B5EF4-FFF2-40B4-BE49-F238E27FC236}">
                <a16:creationId xmlns:a16="http://schemas.microsoft.com/office/drawing/2014/main" id="{75D3E444-2944-4A0A-9D71-55E9D1243F2F}"/>
              </a:ext>
            </a:extLst>
          </p:cNvPr>
          <p:cNvSpPr>
            <a:spLocks xmlns:a="http://schemas.openxmlformats.org/drawingml/2006/main" noGrp="1"/>
          </p:cNvSpPr>
          <p:nvPr/>
        </p:nvSpPr>
        <p:spPr>
          <a:xfrm xmlns:a="http://schemas.openxmlformats.org/drawingml/2006/main">
            <a:off x="7696200" y="4429125"/>
            <a:ext cx="247650" cy="247650"/>
          </a:xfrm>
          <a:prstGeom xmlns:a="http://schemas.openxmlformats.org/drawingml/2006/main" prst="ellipse">
            <a:avLst/>
          </a:prstGeom>
          <a:solidFill xmlns:a="http://schemas.openxmlformats.org/drawingml/2006/main">
            <a:srgbClr val="B567C2"/>
          </a:solidFill>
          <a:ln xmlns:a="http://schemas.openxmlformats.org/drawingml/2006/main" w="0">
            <a:noFill/>
            <a:prstDash val="solid"/>
          </a:ln>
        </p:spPr>
      </p:sp>
      <p:sp>
        <p:nvSpPr>
          <p:cNvPr id="43" name="guard-text-2">
            <a:extLst xmlns:a="http://schemas.openxmlformats.org/drawingml/2006/main">
              <a:ext uri="{FF2B5EF4-FFF2-40B4-BE49-F238E27FC236}">
                <a16:creationId xmlns:a16="http://schemas.microsoft.com/office/drawing/2014/main" id="{F2ABD402-3DBA-4BC3-9E98-6ED1E87901AD}"/>
              </a:ext>
            </a:extLst>
          </p:cNvPr>
          <p:cNvSpPr>
            <a:spLocks xmlns:a="http://schemas.openxmlformats.org/drawingml/2006/main" noGrp="1"/>
          </p:cNvSpPr>
          <p:nvPr/>
        </p:nvSpPr>
        <p:spPr>
          <a:xfrm xmlns:a="http://schemas.openxmlformats.org/drawingml/2006/main">
            <a:off x="8096250" y="4362450"/>
            <a:ext cx="3219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0">
                <a:solidFill>
                  <a:srgbClr val="1E293B"/>
                </a:solidFill>
                <a:latin typeface="Inter"/>
                <a:ea typeface="Inter"/>
                <a:cs typeface="Inter"/>
              </a:defRPr>
            </a:pPr>
            <a:r>
              <a:rPr sz="1350" b="0">
                <a:solidFill>
                  <a:srgbClr val="1E293B"/>
                </a:solidFill>
                <a:latin typeface="Inter"/>
                <a:ea typeface="Inter"/>
                <a:cs typeface="Inter"/>
              </a:rPr>
              <a:t>Sensitive replies escalate to a human</a:t>
            </a:r>
          </a:p>
        </p:txBody>
      </p:sp>
      <p:sp>
        <p:nvSpPr>
          <p:cNvPr id="44" name="guard-card-3">
            <a:extLst xmlns:a="http://schemas.openxmlformats.org/drawingml/2006/main">
              <a:ext uri="{FF2B5EF4-FFF2-40B4-BE49-F238E27FC236}">
                <a16:creationId xmlns:a16="http://schemas.microsoft.com/office/drawing/2014/main" id="{DE6397B0-85BB-47D5-9A49-F45CE4D68CA1}"/>
              </a:ext>
            </a:extLst>
          </p:cNvPr>
          <p:cNvSpPr>
            <a:spLocks xmlns:a="http://schemas.openxmlformats.org/drawingml/2006/main" noGrp="1"/>
          </p:cNvSpPr>
          <p:nvPr/>
        </p:nvSpPr>
        <p:spPr>
          <a:xfrm xmlns:a="http://schemas.openxmlformats.org/drawingml/2006/main">
            <a:off x="7524750" y="4962525"/>
            <a:ext cx="4000500" cy="552450"/>
          </a:xfrm>
          <a:prstGeom xmlns:a="http://schemas.openxmlformats.org/drawingml/2006/main" prst="roundRect">
            <a:avLst>
              <a:gd name="adj" fmla="val 24138"/>
            </a:avLst>
          </a:prstGeom>
          <a:solidFill xmlns:a="http://schemas.openxmlformats.org/drawingml/2006/main">
            <a:srgbClr val="FFF7F5"/>
          </a:solidFill>
          <a:ln xmlns:a="http://schemas.openxmlformats.org/drawingml/2006/main" w="9525">
            <a:solidFill>
              <a:srgbClr val="FFFFFF"/>
            </a:solidFill>
            <a:prstDash val="solid"/>
          </a:ln>
        </p:spPr>
        <p:style>
          <a:lnRef xmlns:a="http://schemas.openxmlformats.org/drawingml/2006/main" idx="0"/>
          <a:fillRef xmlns:a="http://schemas.openxmlformats.org/drawingml/2006/main" idx="0"/>
          <a:effectRef xmlns:a="http://schemas.openxmlformats.org/drawingml/2006/main" idx="9"/>
          <a:fontRef xmlns:a="http://schemas.openxmlformats.org/drawingml/2006/main" idx="major"/>
        </p:style>
      </p:sp>
      <p:sp>
        <p:nvSpPr>
          <p:cNvPr id="45" name="guard-check-3">
            <a:extLst xmlns:a="http://schemas.openxmlformats.org/drawingml/2006/main">
              <a:ext uri="{FF2B5EF4-FFF2-40B4-BE49-F238E27FC236}">
                <a16:creationId xmlns:a16="http://schemas.microsoft.com/office/drawing/2014/main" id="{10D33C20-4A5A-46CB-8063-0E652B56F198}"/>
              </a:ext>
            </a:extLst>
          </p:cNvPr>
          <p:cNvSpPr>
            <a:spLocks xmlns:a="http://schemas.openxmlformats.org/drawingml/2006/main" noGrp="1"/>
          </p:cNvSpPr>
          <p:nvPr/>
        </p:nvSpPr>
        <p:spPr>
          <a:xfrm xmlns:a="http://schemas.openxmlformats.org/drawingml/2006/main">
            <a:off x="7696200" y="5114925"/>
            <a:ext cx="247650" cy="247650"/>
          </a:xfrm>
          <a:prstGeom xmlns:a="http://schemas.openxmlformats.org/drawingml/2006/main" prst="ellipse">
            <a:avLst/>
          </a:prstGeom>
          <a:solidFill xmlns:a="http://schemas.openxmlformats.org/drawingml/2006/main">
            <a:srgbClr val="F28482"/>
          </a:solidFill>
          <a:ln xmlns:a="http://schemas.openxmlformats.org/drawingml/2006/main" w="0">
            <a:noFill/>
            <a:prstDash val="solid"/>
          </a:ln>
        </p:spPr>
      </p:sp>
      <p:sp>
        <p:nvSpPr>
          <p:cNvPr id="46" name="guard-text-3">
            <a:extLst xmlns:a="http://schemas.openxmlformats.org/drawingml/2006/main">
              <a:ext uri="{FF2B5EF4-FFF2-40B4-BE49-F238E27FC236}">
                <a16:creationId xmlns:a16="http://schemas.microsoft.com/office/drawing/2014/main" id="{D2DC62D6-E91B-4D15-8AAA-ECE29BF17316}"/>
              </a:ext>
            </a:extLst>
          </p:cNvPr>
          <p:cNvSpPr>
            <a:spLocks xmlns:a="http://schemas.openxmlformats.org/drawingml/2006/main" noGrp="1"/>
          </p:cNvSpPr>
          <p:nvPr/>
        </p:nvSpPr>
        <p:spPr>
          <a:xfrm xmlns:a="http://schemas.openxmlformats.org/drawingml/2006/main">
            <a:off x="8096250" y="5048250"/>
            <a:ext cx="3219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0">
                <a:solidFill>
                  <a:srgbClr val="1E293B"/>
                </a:solidFill>
                <a:latin typeface="Inter"/>
                <a:ea typeface="Inter"/>
                <a:cs typeface="Inter"/>
              </a:defRPr>
            </a:pPr>
            <a:r>
              <a:rPr sz="1350" b="0">
                <a:solidFill>
                  <a:srgbClr val="1E293B"/>
                </a:solidFill>
                <a:latin typeface="Inter"/>
                <a:ea typeface="Inter"/>
                <a:cs typeface="Inter"/>
              </a:rPr>
              <a:t>Follow-ups stop on reply, no or opt-out</a:t>
            </a:r>
          </a:p>
        </p:txBody>
      </p:sp>
      <p:sp>
        <p:nvSpPr>
          <p:cNvPr id="47" name="footer-brand">
            <a:extLst xmlns:a="http://schemas.openxmlformats.org/drawingml/2006/main">
              <a:ext uri="{FF2B5EF4-FFF2-40B4-BE49-F238E27FC236}">
                <a16:creationId xmlns:a16="http://schemas.microsoft.com/office/drawing/2014/main" id="{DE35479A-A9C0-450A-992B-6159CA0D44B8}"/>
              </a:ext>
            </a:extLst>
          </p:cNvPr>
          <p:cNvSpPr>
            <a:spLocks xmlns:a="http://schemas.openxmlformats.org/drawingml/2006/main" noGrp="1"/>
          </p:cNvSpPr>
          <p:nvPr/>
        </p:nvSpPr>
        <p:spPr>
          <a:xfrm xmlns:a="http://schemas.openxmlformats.org/drawingml/2006/main">
            <a:off x="533400" y="6457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75" b="1">
                <a:solidFill>
                  <a:srgbClr val="94A3B8"/>
                </a:solidFill>
                <a:latin typeface="Inter"/>
                <a:ea typeface="Inter"/>
                <a:cs typeface="Inter"/>
              </a:defRPr>
            </a:pPr>
            <a:r>
              <a:rPr sz="975" b="1">
                <a:solidFill>
                  <a:srgbClr val="94A3B8"/>
                </a:solidFill>
                <a:latin typeface="Inter"/>
                <a:ea typeface="Inter"/>
                <a:cs typeface="Inter"/>
              </a:rPr>
              <a:t>INFLUENCEES</a:t>
            </a:r>
          </a:p>
        </p:txBody>
      </p:sp>
      <p:sp>
        <p:nvSpPr>
          <p:cNvPr id="48" name="footer-page">
            <a:extLst xmlns:a="http://schemas.openxmlformats.org/drawingml/2006/main">
              <a:ext uri="{FF2B5EF4-FFF2-40B4-BE49-F238E27FC236}">
                <a16:creationId xmlns:a16="http://schemas.microsoft.com/office/drawing/2014/main" id="{0891FC9F-9C63-49C2-83DA-2184C5EA5884}"/>
              </a:ext>
            </a:extLst>
          </p:cNvPr>
          <p:cNvSpPr>
            <a:spLocks xmlns:a="http://schemas.openxmlformats.org/drawingml/2006/main" noGrp="1"/>
          </p:cNvSpPr>
          <p:nvPr/>
        </p:nvSpPr>
        <p:spPr>
          <a:xfrm xmlns:a="http://schemas.openxmlformats.org/drawingml/2006/main">
            <a:off x="10572750" y="6457950"/>
            <a:ext cx="1085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975" b="1">
                <a:solidFill>
                  <a:srgbClr val="94A3B8"/>
                </a:solidFill>
                <a:latin typeface="Inter"/>
                <a:ea typeface="Inter"/>
                <a:cs typeface="Inter"/>
              </a:defRPr>
            </a:pPr>
            <a:r>
              <a:rPr sz="975" b="1">
                <a:solidFill>
                  <a:srgbClr val="94A3B8"/>
                </a:solidFill>
                <a:latin typeface="Inter"/>
                <a:ea typeface="Inter"/>
                <a:cs typeface="Inter"/>
              </a:rPr>
              <a:t>03 / 10</a:t>
            </a:r>
          </a:p>
        </p:txBody>
      </p:sp>
    </p:spTree>
    <p:extLst>
      <p:ext uri="{BB962C8B-B14F-4D97-AF65-F5344CB8AC3E}">
        <p14:creationId xmlns:p14="http://schemas.microsoft.com/office/powerpoint/2010/main" val="13849577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04348C5-0ED5-4E4E-9139-49B0FC1D3CB9}"/>
              </a:ext>
            </a:extLst>
          </p:cNvPr>
          <p:cNvSpPr>
            <a:spLocks xmlns:a="http://schemas.openxmlformats.org/drawingml/2006/main" noGrp="1"/>
          </p:cNvSpPr>
          <p:nvPr/>
        </p:nvSpPr>
        <p:spPr>
          <a:xfrm xmlns:a="http://schemas.openxmlformats.org/drawingml/2006/main">
            <a:off x="566928"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50" b="1">
                <a:solidFill>
                  <a:srgbClr val="5A3EE0"/>
                </a:solidFill>
                <a:latin typeface="Arial"/>
                <a:ea typeface="Arial"/>
                <a:cs typeface="Arial"/>
              </a:rPr>
              <a:t>SOLUTION 01  ·  HOW IT WORKS</a:t>
            </a:r>
          </a:p>
        </p:txBody>
      </p:sp>
      <p:sp>
        <p:nvSpPr>
          <p:cNvPr id="3" name="Text 1">
            <a:extLst xmlns:a="http://schemas.openxmlformats.org/drawingml/2006/main">
              <a:ext uri="{FF2B5EF4-FFF2-40B4-BE49-F238E27FC236}">
                <a16:creationId xmlns:a16="http://schemas.microsoft.com/office/drawing/2014/main" id="{474718FB-D48D-491E-8D62-411B2194DC13}"/>
              </a:ext>
            </a:extLst>
          </p:cNvPr>
          <p:cNvSpPr>
            <a:spLocks xmlns:a="http://schemas.openxmlformats.org/drawingml/2006/main" noGrp="1"/>
          </p:cNvSpPr>
          <p:nvPr/>
        </p:nvSpPr>
        <p:spPr>
          <a:xfrm xmlns:a="http://schemas.openxmlformats.org/drawingml/2006/main">
            <a:off x="566928" y="822960"/>
            <a:ext cx="106070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2000"/>
              </a:lnSpc>
              <a:buNone/>
            </a:pPr>
            <a:r>
              <a:rPr sz="2700" b="1">
                <a:solidFill>
                  <a:srgbClr val="0D0C0A"/>
                </a:solidFill>
                <a:latin typeface="Arial"/>
                <a:ea typeface="Arial"/>
                <a:cs typeface="Arial"/>
              </a:rPr>
              <a:t>One loop, from cold company to booked conversation.</a:t>
            </a:r>
          </a:p>
        </p:txBody>
      </p:sp>
      <p:sp>
        <p:nvSpPr>
          <p:cNvPr id="4" name="Shape 2">
            <a:extLst xmlns:a="http://schemas.openxmlformats.org/drawingml/2006/main">
              <a:ext uri="{FF2B5EF4-FFF2-40B4-BE49-F238E27FC236}">
                <a16:creationId xmlns:a16="http://schemas.microsoft.com/office/drawing/2014/main" id="{55B29921-6DD3-41C2-B784-B50FC0BA8A19}"/>
              </a:ext>
            </a:extLst>
          </p:cNvPr>
          <p:cNvSpPr>
            <a:spLocks xmlns:a="http://schemas.openxmlformats.org/drawingml/2006/main" noGrp="1"/>
          </p:cNvSpPr>
          <p:nvPr/>
        </p:nvSpPr>
        <p:spPr>
          <a:xfrm xmlns:a="http://schemas.openxmlformats.org/drawingml/2006/main">
            <a:off x="566928" y="2148840"/>
            <a:ext cx="1454288" cy="2148840"/>
          </a:xfrm>
          <a:prstGeom xmlns:a="http://schemas.openxmlformats.org/drawingml/2006/main" prst="roundRect">
            <a:avLst>
              <a:gd name="adj" fmla="val 2829"/>
            </a:avLst>
          </a:prstGeom>
          <a:solidFill xmlns:a="http://schemas.openxmlformats.org/drawingml/2006/main">
            <a:srgbClr val="FFFFFF"/>
          </a:solidFill>
          <a:ln xmlns:a="http://schemas.openxmlformats.org/drawingml/2006/main" w="12700">
            <a:solidFill>
              <a:srgbClr val="E2DED6"/>
            </a:solidFill>
            <a:prstDash val="solid"/>
          </a:ln>
          <a:effectLst xmlns:a="http://schemas.openxmlformats.org/drawingml/2006/main">
            <a:outerShdw blurRad="76200" dist="25400" dir="5400000" sx="100000" sy="100000" kx="0" ky="0" algn="bl" rotWithShape="0">
              <a:srgbClr val="C9C4BA">
                <a:alpha val="55000"/>
              </a:srgbClr>
            </a:outerShdw>
          </a:effectLst>
        </p:spPr>
      </p:sp>
      <p:sp>
        <p:nvSpPr>
          <p:cNvPr id="5" name="Shape 3">
            <a:extLst xmlns:a="http://schemas.openxmlformats.org/drawingml/2006/main">
              <a:ext uri="{FF2B5EF4-FFF2-40B4-BE49-F238E27FC236}">
                <a16:creationId xmlns:a16="http://schemas.microsoft.com/office/drawing/2014/main" id="{0399647A-F847-4C9D-AC8E-F0253BBC5021}"/>
              </a:ext>
            </a:extLst>
          </p:cNvPr>
          <p:cNvSpPr>
            <a:spLocks xmlns:a="http://schemas.openxmlformats.org/drawingml/2006/main" noGrp="1"/>
          </p:cNvSpPr>
          <p:nvPr/>
        </p:nvSpPr>
        <p:spPr>
          <a:xfrm xmlns:a="http://schemas.openxmlformats.org/drawingml/2006/main">
            <a:off x="1038040" y="2404872"/>
            <a:ext cx="512064" cy="512064"/>
          </a:xfrm>
          <a:prstGeom xmlns:a="http://schemas.openxmlformats.org/drawingml/2006/main" prst="ellipse">
            <a:avLst/>
          </a:prstGeom>
          <a:solidFill xmlns:a="http://schemas.openxmlformats.org/drawingml/2006/main">
            <a:srgbClr val="0D0C0A"/>
          </a:solidFill>
        </p:spPr>
      </p:sp>
      <p:sp>
        <p:nvSpPr>
          <p:cNvPr id="6" name="Text 4">
            <a:extLst xmlns:a="http://schemas.openxmlformats.org/drawingml/2006/main">
              <a:ext uri="{FF2B5EF4-FFF2-40B4-BE49-F238E27FC236}">
                <a16:creationId xmlns:a16="http://schemas.microsoft.com/office/drawing/2014/main" id="{760AE322-C5E2-4123-A2C9-E79C5AC3EC03}"/>
              </a:ext>
            </a:extLst>
          </p:cNvPr>
          <p:cNvSpPr>
            <a:spLocks xmlns:a="http://schemas.openxmlformats.org/drawingml/2006/main" noGrp="1"/>
          </p:cNvSpPr>
          <p:nvPr/>
        </p:nvSpPr>
        <p:spPr>
          <a:xfrm xmlns:a="http://schemas.openxmlformats.org/drawingml/2006/main">
            <a:off x="1038040" y="2404872"/>
            <a:ext cx="51206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Arial"/>
                <a:ea typeface="Arial"/>
                <a:cs typeface="Arial"/>
              </a:rPr>
              <a:t>1</a:t>
            </a:r>
          </a:p>
        </p:txBody>
      </p:sp>
      <p:sp>
        <p:nvSpPr>
          <p:cNvPr id="7" name="Text 5">
            <a:extLst xmlns:a="http://schemas.openxmlformats.org/drawingml/2006/main">
              <a:ext uri="{FF2B5EF4-FFF2-40B4-BE49-F238E27FC236}">
                <a16:creationId xmlns:a16="http://schemas.microsoft.com/office/drawing/2014/main" id="{28E29733-D0EC-4B28-9EF6-809349E3BE87}"/>
              </a:ext>
            </a:extLst>
          </p:cNvPr>
          <p:cNvSpPr>
            <a:spLocks xmlns:a="http://schemas.openxmlformats.org/drawingml/2006/main" noGrp="1"/>
          </p:cNvSpPr>
          <p:nvPr/>
        </p:nvSpPr>
        <p:spPr>
          <a:xfrm xmlns:a="http://schemas.openxmlformats.org/drawingml/2006/main">
            <a:off x="640080" y="3063240"/>
            <a:ext cx="130798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0D0C0A"/>
                </a:solidFill>
                <a:latin typeface="Arial"/>
                <a:ea typeface="Arial"/>
                <a:cs typeface="Arial"/>
              </a:rPr>
              <a:t>Discover</a:t>
            </a:r>
          </a:p>
        </p:txBody>
      </p:sp>
      <p:sp>
        <p:nvSpPr>
          <p:cNvPr id="8" name="Text 6">
            <a:extLst xmlns:a="http://schemas.openxmlformats.org/drawingml/2006/main">
              <a:ext uri="{FF2B5EF4-FFF2-40B4-BE49-F238E27FC236}">
                <a16:creationId xmlns:a16="http://schemas.microsoft.com/office/drawing/2014/main" id="{3ADC75F7-03FF-490A-AA1C-C62484BB3B1A}"/>
              </a:ext>
            </a:extLst>
          </p:cNvPr>
          <p:cNvSpPr>
            <a:spLocks xmlns:a="http://schemas.openxmlformats.org/drawingml/2006/main" noGrp="1"/>
          </p:cNvSpPr>
          <p:nvPr/>
        </p:nvSpPr>
        <p:spPr>
          <a:xfrm xmlns:a="http://schemas.openxmlformats.org/drawingml/2006/main">
            <a:off x="658368" y="3410712"/>
            <a:ext cx="127140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12000"/>
              </a:lnSpc>
              <a:buNone/>
            </a:pPr>
            <a:r>
              <a:rPr sz="950">
                <a:solidFill>
                  <a:srgbClr val="6B675F"/>
                </a:solidFill>
                <a:latin typeface="Arial"/>
                <a:ea typeface="Arial"/>
                <a:cs typeface="Arial"/>
              </a:rPr>
              <a:t>Find SG companies that fit the ICP</a:t>
            </a:r>
          </a:p>
        </p:txBody>
      </p:sp>
      <p:sp>
        <p:nvSpPr>
          <p:cNvPr id="9" name="Text 7">
            <a:extLst xmlns:a="http://schemas.openxmlformats.org/drawingml/2006/main">
              <a:ext uri="{FF2B5EF4-FFF2-40B4-BE49-F238E27FC236}">
                <a16:creationId xmlns:a16="http://schemas.microsoft.com/office/drawing/2014/main" id="{7B789F38-6293-4DE4-BAB5-F29D2B680649}"/>
              </a:ext>
            </a:extLst>
          </p:cNvPr>
          <p:cNvSpPr>
            <a:spLocks xmlns:a="http://schemas.openxmlformats.org/drawingml/2006/main" noGrp="1"/>
          </p:cNvSpPr>
          <p:nvPr/>
        </p:nvSpPr>
        <p:spPr>
          <a:xfrm xmlns:a="http://schemas.openxmlformats.org/drawingml/2006/main">
            <a:off x="2002928" y="2967228"/>
            <a:ext cx="182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9A968C"/>
                </a:solidFill>
                <a:latin typeface="Arial"/>
                <a:ea typeface="Arial"/>
                <a:cs typeface="Arial"/>
              </a:rPr>
              <a:t>›</a:t>
            </a:r>
          </a:p>
        </p:txBody>
      </p:sp>
      <p:sp>
        <p:nvSpPr>
          <p:cNvPr id="10" name="Shape 8">
            <a:extLst xmlns:a="http://schemas.openxmlformats.org/drawingml/2006/main">
              <a:ext uri="{FF2B5EF4-FFF2-40B4-BE49-F238E27FC236}">
                <a16:creationId xmlns:a16="http://schemas.microsoft.com/office/drawing/2014/main" id="{4DD92C9C-2B7A-43AB-A5A8-C62C4B0A1BA4}"/>
              </a:ext>
            </a:extLst>
          </p:cNvPr>
          <p:cNvSpPr>
            <a:spLocks xmlns:a="http://schemas.openxmlformats.org/drawingml/2006/main" noGrp="1"/>
          </p:cNvSpPr>
          <p:nvPr/>
        </p:nvSpPr>
        <p:spPr>
          <a:xfrm xmlns:a="http://schemas.openxmlformats.org/drawingml/2006/main">
            <a:off x="2167520" y="2148840"/>
            <a:ext cx="1454288" cy="2148840"/>
          </a:xfrm>
          <a:prstGeom xmlns:a="http://schemas.openxmlformats.org/drawingml/2006/main" prst="roundRect">
            <a:avLst>
              <a:gd name="adj" fmla="val 2829"/>
            </a:avLst>
          </a:prstGeom>
          <a:solidFill xmlns:a="http://schemas.openxmlformats.org/drawingml/2006/main">
            <a:srgbClr val="FFFFFF"/>
          </a:solidFill>
          <a:ln xmlns:a="http://schemas.openxmlformats.org/drawingml/2006/main" w="12700">
            <a:solidFill>
              <a:srgbClr val="E2DED6"/>
            </a:solidFill>
            <a:prstDash val="solid"/>
          </a:ln>
          <a:effectLst xmlns:a="http://schemas.openxmlformats.org/drawingml/2006/main">
            <a:outerShdw blurRad="76200" dist="25400" dir="5400000" sx="100000" sy="100000" kx="0" ky="0" algn="bl" rotWithShape="0">
              <a:srgbClr val="C9C4BA">
                <a:alpha val="55000"/>
              </a:srgbClr>
            </a:outerShdw>
          </a:effectLst>
        </p:spPr>
      </p:sp>
      <p:sp>
        <p:nvSpPr>
          <p:cNvPr id="11" name="Shape 9">
            <a:extLst xmlns:a="http://schemas.openxmlformats.org/drawingml/2006/main">
              <a:ext uri="{FF2B5EF4-FFF2-40B4-BE49-F238E27FC236}">
                <a16:creationId xmlns:a16="http://schemas.microsoft.com/office/drawing/2014/main" id="{4D1BD57A-3A26-4B8D-8B7E-4BC26ABA72EE}"/>
              </a:ext>
            </a:extLst>
          </p:cNvPr>
          <p:cNvSpPr>
            <a:spLocks xmlns:a="http://schemas.openxmlformats.org/drawingml/2006/main" noGrp="1"/>
          </p:cNvSpPr>
          <p:nvPr/>
        </p:nvSpPr>
        <p:spPr>
          <a:xfrm xmlns:a="http://schemas.openxmlformats.org/drawingml/2006/main">
            <a:off x="2638632" y="2404872"/>
            <a:ext cx="512064" cy="512064"/>
          </a:xfrm>
          <a:prstGeom xmlns:a="http://schemas.openxmlformats.org/drawingml/2006/main" prst="ellipse">
            <a:avLst/>
          </a:prstGeom>
          <a:solidFill xmlns:a="http://schemas.openxmlformats.org/drawingml/2006/main">
            <a:srgbClr val="0D0C0A"/>
          </a:solidFill>
        </p:spPr>
      </p:sp>
      <p:sp>
        <p:nvSpPr>
          <p:cNvPr id="12" name="Text 10">
            <a:extLst xmlns:a="http://schemas.openxmlformats.org/drawingml/2006/main">
              <a:ext uri="{FF2B5EF4-FFF2-40B4-BE49-F238E27FC236}">
                <a16:creationId xmlns:a16="http://schemas.microsoft.com/office/drawing/2014/main" id="{E92A68D1-EAD9-44F2-BAF9-546AB0881F5C}"/>
              </a:ext>
            </a:extLst>
          </p:cNvPr>
          <p:cNvSpPr>
            <a:spLocks xmlns:a="http://schemas.openxmlformats.org/drawingml/2006/main" noGrp="1"/>
          </p:cNvSpPr>
          <p:nvPr/>
        </p:nvSpPr>
        <p:spPr>
          <a:xfrm xmlns:a="http://schemas.openxmlformats.org/drawingml/2006/main">
            <a:off x="2638632" y="2404872"/>
            <a:ext cx="51206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Arial"/>
                <a:ea typeface="Arial"/>
                <a:cs typeface="Arial"/>
              </a:rPr>
              <a:t>2</a:t>
            </a:r>
          </a:p>
        </p:txBody>
      </p:sp>
      <p:sp>
        <p:nvSpPr>
          <p:cNvPr id="13" name="Text 11">
            <a:extLst xmlns:a="http://schemas.openxmlformats.org/drawingml/2006/main">
              <a:ext uri="{FF2B5EF4-FFF2-40B4-BE49-F238E27FC236}">
                <a16:creationId xmlns:a16="http://schemas.microsoft.com/office/drawing/2014/main" id="{EBB792F8-6946-472D-B6C6-98345BAD1E44}"/>
              </a:ext>
            </a:extLst>
          </p:cNvPr>
          <p:cNvSpPr>
            <a:spLocks xmlns:a="http://schemas.openxmlformats.org/drawingml/2006/main" noGrp="1"/>
          </p:cNvSpPr>
          <p:nvPr/>
        </p:nvSpPr>
        <p:spPr>
          <a:xfrm xmlns:a="http://schemas.openxmlformats.org/drawingml/2006/main">
            <a:off x="2240672" y="3063240"/>
            <a:ext cx="130798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0D0C0A"/>
                </a:solidFill>
                <a:latin typeface="Arial"/>
                <a:ea typeface="Arial"/>
                <a:cs typeface="Arial"/>
              </a:rPr>
              <a:t>Research</a:t>
            </a:r>
          </a:p>
        </p:txBody>
      </p:sp>
      <p:sp>
        <p:nvSpPr>
          <p:cNvPr id="14" name="Text 12">
            <a:extLst xmlns:a="http://schemas.openxmlformats.org/drawingml/2006/main">
              <a:ext uri="{FF2B5EF4-FFF2-40B4-BE49-F238E27FC236}">
                <a16:creationId xmlns:a16="http://schemas.microsoft.com/office/drawing/2014/main" id="{F5D70D23-8D10-42FF-8FD4-5439ED22C6F2}"/>
              </a:ext>
            </a:extLst>
          </p:cNvPr>
          <p:cNvSpPr>
            <a:spLocks xmlns:a="http://schemas.openxmlformats.org/drawingml/2006/main" noGrp="1"/>
          </p:cNvSpPr>
          <p:nvPr/>
        </p:nvSpPr>
        <p:spPr>
          <a:xfrm xmlns:a="http://schemas.openxmlformats.org/drawingml/2006/main">
            <a:off x="2258960" y="3410712"/>
            <a:ext cx="127140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12000"/>
              </a:lnSpc>
              <a:buNone/>
            </a:pPr>
            <a:r>
              <a:rPr sz="950">
                <a:solidFill>
                  <a:srgbClr val="6B675F"/>
                </a:solidFill>
                <a:latin typeface="Arial"/>
                <a:ea typeface="Arial"/>
                <a:cs typeface="Arial"/>
              </a:rPr>
              <a:t>Pull recent public activity + evidence</a:t>
            </a:r>
          </a:p>
        </p:txBody>
      </p:sp>
      <p:sp>
        <p:nvSpPr>
          <p:cNvPr id="15" name="Text 13">
            <a:extLst xmlns:a="http://schemas.openxmlformats.org/drawingml/2006/main">
              <a:ext uri="{FF2B5EF4-FFF2-40B4-BE49-F238E27FC236}">
                <a16:creationId xmlns:a16="http://schemas.microsoft.com/office/drawing/2014/main" id="{19BE9E4D-BD38-4E7A-A6E9-DA10FD7A513E}"/>
              </a:ext>
            </a:extLst>
          </p:cNvPr>
          <p:cNvSpPr>
            <a:spLocks xmlns:a="http://schemas.openxmlformats.org/drawingml/2006/main" noGrp="1"/>
          </p:cNvSpPr>
          <p:nvPr/>
        </p:nvSpPr>
        <p:spPr>
          <a:xfrm xmlns:a="http://schemas.openxmlformats.org/drawingml/2006/main">
            <a:off x="3603520" y="2967228"/>
            <a:ext cx="182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9A968C"/>
                </a:solidFill>
                <a:latin typeface="Arial"/>
                <a:ea typeface="Arial"/>
                <a:cs typeface="Arial"/>
              </a:rPr>
              <a:t>›</a:t>
            </a:r>
          </a:p>
        </p:txBody>
      </p:sp>
      <p:sp>
        <p:nvSpPr>
          <p:cNvPr id="16" name="Shape 14">
            <a:extLst xmlns:a="http://schemas.openxmlformats.org/drawingml/2006/main">
              <a:ext uri="{FF2B5EF4-FFF2-40B4-BE49-F238E27FC236}">
                <a16:creationId xmlns:a16="http://schemas.microsoft.com/office/drawing/2014/main" id="{73E0974C-563D-4FA5-BFBC-DA74E8FC0F01}"/>
              </a:ext>
            </a:extLst>
          </p:cNvPr>
          <p:cNvSpPr>
            <a:spLocks xmlns:a="http://schemas.openxmlformats.org/drawingml/2006/main" noGrp="1"/>
          </p:cNvSpPr>
          <p:nvPr/>
        </p:nvSpPr>
        <p:spPr>
          <a:xfrm xmlns:a="http://schemas.openxmlformats.org/drawingml/2006/main">
            <a:off x="3768112" y="2148840"/>
            <a:ext cx="1454288" cy="2148840"/>
          </a:xfrm>
          <a:prstGeom xmlns:a="http://schemas.openxmlformats.org/drawingml/2006/main" prst="roundRect">
            <a:avLst>
              <a:gd name="adj" fmla="val 2829"/>
            </a:avLst>
          </a:prstGeom>
          <a:solidFill xmlns:a="http://schemas.openxmlformats.org/drawingml/2006/main">
            <a:srgbClr val="FFFFFF"/>
          </a:solidFill>
          <a:ln xmlns:a="http://schemas.openxmlformats.org/drawingml/2006/main" w="12700">
            <a:solidFill>
              <a:srgbClr val="E2DED6"/>
            </a:solidFill>
            <a:prstDash val="solid"/>
          </a:ln>
          <a:effectLst xmlns:a="http://schemas.openxmlformats.org/drawingml/2006/main">
            <a:outerShdw blurRad="76200" dist="25400" dir="5400000" sx="100000" sy="100000" kx="0" ky="0" algn="bl" rotWithShape="0">
              <a:srgbClr val="C9C4BA">
                <a:alpha val="55000"/>
              </a:srgbClr>
            </a:outerShdw>
          </a:effectLst>
        </p:spPr>
      </p:sp>
      <p:sp>
        <p:nvSpPr>
          <p:cNvPr id="17" name="Shape 15">
            <a:extLst xmlns:a="http://schemas.openxmlformats.org/drawingml/2006/main">
              <a:ext uri="{FF2B5EF4-FFF2-40B4-BE49-F238E27FC236}">
                <a16:creationId xmlns:a16="http://schemas.microsoft.com/office/drawing/2014/main" id="{BD1B1FE8-AA01-4B98-BDEA-4FFA834DFB83}"/>
              </a:ext>
            </a:extLst>
          </p:cNvPr>
          <p:cNvSpPr>
            <a:spLocks xmlns:a="http://schemas.openxmlformats.org/drawingml/2006/main" noGrp="1"/>
          </p:cNvSpPr>
          <p:nvPr/>
        </p:nvSpPr>
        <p:spPr>
          <a:xfrm xmlns:a="http://schemas.openxmlformats.org/drawingml/2006/main">
            <a:off x="4239224" y="2404872"/>
            <a:ext cx="512064" cy="512064"/>
          </a:xfrm>
          <a:prstGeom xmlns:a="http://schemas.openxmlformats.org/drawingml/2006/main" prst="ellipse">
            <a:avLst/>
          </a:prstGeom>
          <a:solidFill xmlns:a="http://schemas.openxmlformats.org/drawingml/2006/main">
            <a:srgbClr val="0D0C0A"/>
          </a:solidFill>
        </p:spPr>
      </p:sp>
      <p:sp>
        <p:nvSpPr>
          <p:cNvPr id="18" name="Text 16">
            <a:extLst xmlns:a="http://schemas.openxmlformats.org/drawingml/2006/main">
              <a:ext uri="{FF2B5EF4-FFF2-40B4-BE49-F238E27FC236}">
                <a16:creationId xmlns:a16="http://schemas.microsoft.com/office/drawing/2014/main" id="{07E7829E-0D80-4DC8-A679-C7D0179C038D}"/>
              </a:ext>
            </a:extLst>
          </p:cNvPr>
          <p:cNvSpPr>
            <a:spLocks xmlns:a="http://schemas.openxmlformats.org/drawingml/2006/main" noGrp="1"/>
          </p:cNvSpPr>
          <p:nvPr/>
        </p:nvSpPr>
        <p:spPr>
          <a:xfrm xmlns:a="http://schemas.openxmlformats.org/drawingml/2006/main">
            <a:off x="4239224" y="2404872"/>
            <a:ext cx="51206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Arial"/>
                <a:ea typeface="Arial"/>
                <a:cs typeface="Arial"/>
              </a:rPr>
              <a:t>3</a:t>
            </a:r>
          </a:p>
        </p:txBody>
      </p:sp>
      <p:sp>
        <p:nvSpPr>
          <p:cNvPr id="19" name="Text 17">
            <a:extLst xmlns:a="http://schemas.openxmlformats.org/drawingml/2006/main">
              <a:ext uri="{FF2B5EF4-FFF2-40B4-BE49-F238E27FC236}">
                <a16:creationId xmlns:a16="http://schemas.microsoft.com/office/drawing/2014/main" id="{2AC3774D-688C-4B84-B5F2-77E5F5BBC12B}"/>
              </a:ext>
            </a:extLst>
          </p:cNvPr>
          <p:cNvSpPr>
            <a:spLocks xmlns:a="http://schemas.openxmlformats.org/drawingml/2006/main" noGrp="1"/>
          </p:cNvSpPr>
          <p:nvPr/>
        </p:nvSpPr>
        <p:spPr>
          <a:xfrm xmlns:a="http://schemas.openxmlformats.org/drawingml/2006/main">
            <a:off x="3841264" y="3063240"/>
            <a:ext cx="130798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0D0C0A"/>
                </a:solidFill>
                <a:latin typeface="Arial"/>
                <a:ea typeface="Arial"/>
                <a:cs typeface="Arial"/>
              </a:rPr>
              <a:t>Score</a:t>
            </a:r>
          </a:p>
        </p:txBody>
      </p:sp>
      <p:sp>
        <p:nvSpPr>
          <p:cNvPr id="20" name="Text 18">
            <a:extLst xmlns:a="http://schemas.openxmlformats.org/drawingml/2006/main">
              <a:ext uri="{FF2B5EF4-FFF2-40B4-BE49-F238E27FC236}">
                <a16:creationId xmlns:a16="http://schemas.microsoft.com/office/drawing/2014/main" id="{C6A42B0D-8AD9-48D2-8916-F093164570E9}"/>
              </a:ext>
            </a:extLst>
          </p:cNvPr>
          <p:cNvSpPr>
            <a:spLocks xmlns:a="http://schemas.openxmlformats.org/drawingml/2006/main" noGrp="1"/>
          </p:cNvSpPr>
          <p:nvPr/>
        </p:nvSpPr>
        <p:spPr>
          <a:xfrm xmlns:a="http://schemas.openxmlformats.org/drawingml/2006/main">
            <a:off x="3859552" y="3410712"/>
            <a:ext cx="127140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12000"/>
              </a:lnSpc>
              <a:buNone/>
            </a:pPr>
            <a:r>
              <a:rPr sz="950">
                <a:solidFill>
                  <a:srgbClr val="6B675F"/>
                </a:solidFill>
                <a:latin typeface="Arial"/>
                <a:ea typeface="Arial"/>
                <a:cs typeface="Arial"/>
              </a:rPr>
              <a:t>Fit score with a transparent reason</a:t>
            </a:r>
          </a:p>
        </p:txBody>
      </p:sp>
      <p:sp>
        <p:nvSpPr>
          <p:cNvPr id="21" name="Text 19">
            <a:extLst xmlns:a="http://schemas.openxmlformats.org/drawingml/2006/main">
              <a:ext uri="{FF2B5EF4-FFF2-40B4-BE49-F238E27FC236}">
                <a16:creationId xmlns:a16="http://schemas.microsoft.com/office/drawing/2014/main" id="{9556C2B3-8DB2-428E-8BF7-5FEAEFF1E0F5}"/>
              </a:ext>
            </a:extLst>
          </p:cNvPr>
          <p:cNvSpPr>
            <a:spLocks xmlns:a="http://schemas.openxmlformats.org/drawingml/2006/main" noGrp="1"/>
          </p:cNvSpPr>
          <p:nvPr/>
        </p:nvSpPr>
        <p:spPr>
          <a:xfrm xmlns:a="http://schemas.openxmlformats.org/drawingml/2006/main">
            <a:off x="5204112" y="2967228"/>
            <a:ext cx="182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9A968C"/>
                </a:solidFill>
                <a:latin typeface="Arial"/>
                <a:ea typeface="Arial"/>
                <a:cs typeface="Arial"/>
              </a:rPr>
              <a:t>›</a:t>
            </a:r>
          </a:p>
        </p:txBody>
      </p:sp>
      <p:sp>
        <p:nvSpPr>
          <p:cNvPr id="22" name="Shape 20">
            <a:extLst xmlns:a="http://schemas.openxmlformats.org/drawingml/2006/main">
              <a:ext uri="{FF2B5EF4-FFF2-40B4-BE49-F238E27FC236}">
                <a16:creationId xmlns:a16="http://schemas.microsoft.com/office/drawing/2014/main" id="{6514E644-CF4F-4F96-B28D-C5DC47277CB9}"/>
              </a:ext>
            </a:extLst>
          </p:cNvPr>
          <p:cNvSpPr>
            <a:spLocks xmlns:a="http://schemas.openxmlformats.org/drawingml/2006/main" noGrp="1"/>
          </p:cNvSpPr>
          <p:nvPr/>
        </p:nvSpPr>
        <p:spPr>
          <a:xfrm xmlns:a="http://schemas.openxmlformats.org/drawingml/2006/main">
            <a:off x="5368704" y="2148840"/>
            <a:ext cx="1454288" cy="2148840"/>
          </a:xfrm>
          <a:prstGeom xmlns:a="http://schemas.openxmlformats.org/drawingml/2006/main" prst="roundRect">
            <a:avLst>
              <a:gd name="adj" fmla="val 2829"/>
            </a:avLst>
          </a:prstGeom>
          <a:solidFill xmlns:a="http://schemas.openxmlformats.org/drawingml/2006/main">
            <a:srgbClr val="FFFFFF"/>
          </a:solidFill>
          <a:ln xmlns:a="http://schemas.openxmlformats.org/drawingml/2006/main" w="12700">
            <a:solidFill>
              <a:srgbClr val="E2DED6"/>
            </a:solidFill>
            <a:prstDash val="solid"/>
          </a:ln>
          <a:effectLst xmlns:a="http://schemas.openxmlformats.org/drawingml/2006/main">
            <a:outerShdw blurRad="76200" dist="25400" dir="5400000" sx="100000" sy="100000" kx="0" ky="0" algn="bl" rotWithShape="0">
              <a:srgbClr val="C9C4BA">
                <a:alpha val="55000"/>
              </a:srgbClr>
            </a:outerShdw>
          </a:effectLst>
        </p:spPr>
      </p:sp>
      <p:sp>
        <p:nvSpPr>
          <p:cNvPr id="23" name="Shape 21">
            <a:extLst xmlns:a="http://schemas.openxmlformats.org/drawingml/2006/main">
              <a:ext uri="{FF2B5EF4-FFF2-40B4-BE49-F238E27FC236}">
                <a16:creationId xmlns:a16="http://schemas.microsoft.com/office/drawing/2014/main" id="{7DB11027-E03C-4AF7-8C23-F61624C9B441}"/>
              </a:ext>
            </a:extLst>
          </p:cNvPr>
          <p:cNvSpPr>
            <a:spLocks xmlns:a="http://schemas.openxmlformats.org/drawingml/2006/main" noGrp="1"/>
          </p:cNvSpPr>
          <p:nvPr/>
        </p:nvSpPr>
        <p:spPr>
          <a:xfrm xmlns:a="http://schemas.openxmlformats.org/drawingml/2006/main">
            <a:off x="5839816" y="2404872"/>
            <a:ext cx="512064" cy="512064"/>
          </a:xfrm>
          <a:prstGeom xmlns:a="http://schemas.openxmlformats.org/drawingml/2006/main" prst="ellipse">
            <a:avLst/>
          </a:prstGeom>
          <a:solidFill xmlns:a="http://schemas.openxmlformats.org/drawingml/2006/main">
            <a:srgbClr val="0D0C0A"/>
          </a:solidFill>
        </p:spPr>
      </p:sp>
      <p:sp>
        <p:nvSpPr>
          <p:cNvPr id="24" name="Text 22">
            <a:extLst xmlns:a="http://schemas.openxmlformats.org/drawingml/2006/main">
              <a:ext uri="{FF2B5EF4-FFF2-40B4-BE49-F238E27FC236}">
                <a16:creationId xmlns:a16="http://schemas.microsoft.com/office/drawing/2014/main" id="{DB20CA8D-FC49-4767-959F-2D4F90043EF7}"/>
              </a:ext>
            </a:extLst>
          </p:cNvPr>
          <p:cNvSpPr>
            <a:spLocks xmlns:a="http://schemas.openxmlformats.org/drawingml/2006/main" noGrp="1"/>
          </p:cNvSpPr>
          <p:nvPr/>
        </p:nvSpPr>
        <p:spPr>
          <a:xfrm xmlns:a="http://schemas.openxmlformats.org/drawingml/2006/main">
            <a:off x="5839816" y="2404872"/>
            <a:ext cx="51206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Arial"/>
                <a:ea typeface="Arial"/>
                <a:cs typeface="Arial"/>
              </a:rPr>
              <a:t>4</a:t>
            </a:r>
          </a:p>
        </p:txBody>
      </p:sp>
      <p:sp>
        <p:nvSpPr>
          <p:cNvPr id="25" name="Text 23">
            <a:extLst xmlns:a="http://schemas.openxmlformats.org/drawingml/2006/main">
              <a:ext uri="{FF2B5EF4-FFF2-40B4-BE49-F238E27FC236}">
                <a16:creationId xmlns:a16="http://schemas.microsoft.com/office/drawing/2014/main" id="{D8936CC5-EE0E-46B4-BC96-DEB7343ED337}"/>
              </a:ext>
            </a:extLst>
          </p:cNvPr>
          <p:cNvSpPr>
            <a:spLocks xmlns:a="http://schemas.openxmlformats.org/drawingml/2006/main" noGrp="1"/>
          </p:cNvSpPr>
          <p:nvPr/>
        </p:nvSpPr>
        <p:spPr>
          <a:xfrm xmlns:a="http://schemas.openxmlformats.org/drawingml/2006/main">
            <a:off x="5441856" y="3063240"/>
            <a:ext cx="130798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0D0C0A"/>
                </a:solidFill>
                <a:latin typeface="Arial"/>
                <a:ea typeface="Arial"/>
                <a:cs typeface="Arial"/>
              </a:rPr>
              <a:t>Draft</a:t>
            </a:r>
          </a:p>
        </p:txBody>
      </p:sp>
      <p:sp>
        <p:nvSpPr>
          <p:cNvPr id="26" name="Text 24">
            <a:extLst xmlns:a="http://schemas.openxmlformats.org/drawingml/2006/main">
              <a:ext uri="{FF2B5EF4-FFF2-40B4-BE49-F238E27FC236}">
                <a16:creationId xmlns:a16="http://schemas.microsoft.com/office/drawing/2014/main" id="{9634126E-C267-4A09-9806-F64932C972B4}"/>
              </a:ext>
            </a:extLst>
          </p:cNvPr>
          <p:cNvSpPr>
            <a:spLocks xmlns:a="http://schemas.openxmlformats.org/drawingml/2006/main" noGrp="1"/>
          </p:cNvSpPr>
          <p:nvPr/>
        </p:nvSpPr>
        <p:spPr>
          <a:xfrm xmlns:a="http://schemas.openxmlformats.org/drawingml/2006/main">
            <a:off x="5460144" y="3410712"/>
            <a:ext cx="127140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12000"/>
              </a:lnSpc>
              <a:buNone/>
            </a:pPr>
            <a:r>
              <a:rPr sz="950">
                <a:solidFill>
                  <a:srgbClr val="6B675F"/>
                </a:solidFill>
                <a:latin typeface="Arial"/>
                <a:ea typeface="Arial"/>
                <a:cs typeface="Arial"/>
              </a:rPr>
              <a:t>One sourced observation, one ask</a:t>
            </a:r>
          </a:p>
        </p:txBody>
      </p:sp>
      <p:sp>
        <p:nvSpPr>
          <p:cNvPr id="27" name="Text 25">
            <a:extLst xmlns:a="http://schemas.openxmlformats.org/drawingml/2006/main">
              <a:ext uri="{FF2B5EF4-FFF2-40B4-BE49-F238E27FC236}">
                <a16:creationId xmlns:a16="http://schemas.microsoft.com/office/drawing/2014/main" id="{09E1D1B8-5F07-43F9-BDA2-41CD8027E51E}"/>
              </a:ext>
            </a:extLst>
          </p:cNvPr>
          <p:cNvSpPr>
            <a:spLocks xmlns:a="http://schemas.openxmlformats.org/drawingml/2006/main" noGrp="1"/>
          </p:cNvSpPr>
          <p:nvPr/>
        </p:nvSpPr>
        <p:spPr>
          <a:xfrm xmlns:a="http://schemas.openxmlformats.org/drawingml/2006/main">
            <a:off x="6804704" y="2967228"/>
            <a:ext cx="182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9A968C"/>
                </a:solidFill>
                <a:latin typeface="Arial"/>
                <a:ea typeface="Arial"/>
                <a:cs typeface="Arial"/>
              </a:rPr>
              <a:t>›</a:t>
            </a:r>
          </a:p>
        </p:txBody>
      </p:sp>
      <p:sp>
        <p:nvSpPr>
          <p:cNvPr id="28" name="Shape 26">
            <a:extLst xmlns:a="http://schemas.openxmlformats.org/drawingml/2006/main">
              <a:ext uri="{FF2B5EF4-FFF2-40B4-BE49-F238E27FC236}">
                <a16:creationId xmlns:a16="http://schemas.microsoft.com/office/drawing/2014/main" id="{8C069291-E8BC-40E3-8E6E-ABCCA72307E6}"/>
              </a:ext>
            </a:extLst>
          </p:cNvPr>
          <p:cNvSpPr>
            <a:spLocks xmlns:a="http://schemas.openxmlformats.org/drawingml/2006/main" noGrp="1"/>
          </p:cNvSpPr>
          <p:nvPr/>
        </p:nvSpPr>
        <p:spPr>
          <a:xfrm xmlns:a="http://schemas.openxmlformats.org/drawingml/2006/main">
            <a:off x="6969296" y="2148840"/>
            <a:ext cx="1454288" cy="2148840"/>
          </a:xfrm>
          <a:prstGeom xmlns:a="http://schemas.openxmlformats.org/drawingml/2006/main" prst="roundRect">
            <a:avLst>
              <a:gd name="adj" fmla="val 2829"/>
            </a:avLst>
          </a:prstGeom>
          <a:solidFill xmlns:a="http://schemas.openxmlformats.org/drawingml/2006/main">
            <a:srgbClr val="FFFFFF"/>
          </a:solidFill>
          <a:ln xmlns:a="http://schemas.openxmlformats.org/drawingml/2006/main" w="12700">
            <a:solidFill>
              <a:srgbClr val="E2DED6"/>
            </a:solidFill>
            <a:prstDash val="solid"/>
          </a:ln>
          <a:effectLst xmlns:a="http://schemas.openxmlformats.org/drawingml/2006/main">
            <a:outerShdw blurRad="76200" dist="25400" dir="5400000" sx="100000" sy="100000" kx="0" ky="0" algn="bl" rotWithShape="0">
              <a:srgbClr val="C9C4BA">
                <a:alpha val="55000"/>
              </a:srgbClr>
            </a:outerShdw>
          </a:effectLst>
        </p:spPr>
      </p:sp>
      <p:sp>
        <p:nvSpPr>
          <p:cNvPr id="29" name="Shape 27">
            <a:extLst xmlns:a="http://schemas.openxmlformats.org/drawingml/2006/main">
              <a:ext uri="{FF2B5EF4-FFF2-40B4-BE49-F238E27FC236}">
                <a16:creationId xmlns:a16="http://schemas.microsoft.com/office/drawing/2014/main" id="{B0B049BE-9E5F-4CC9-881C-E1535B46DEB1}"/>
              </a:ext>
            </a:extLst>
          </p:cNvPr>
          <p:cNvSpPr>
            <a:spLocks xmlns:a="http://schemas.openxmlformats.org/drawingml/2006/main" noGrp="1"/>
          </p:cNvSpPr>
          <p:nvPr/>
        </p:nvSpPr>
        <p:spPr>
          <a:xfrm xmlns:a="http://schemas.openxmlformats.org/drawingml/2006/main">
            <a:off x="7440407" y="2404872"/>
            <a:ext cx="512064" cy="512064"/>
          </a:xfrm>
          <a:prstGeom xmlns:a="http://schemas.openxmlformats.org/drawingml/2006/main" prst="ellipse">
            <a:avLst/>
          </a:prstGeom>
          <a:solidFill xmlns:a="http://schemas.openxmlformats.org/drawingml/2006/main">
            <a:srgbClr val="7A5CFF"/>
          </a:solidFill>
        </p:spPr>
      </p:sp>
      <p:sp>
        <p:nvSpPr>
          <p:cNvPr id="30" name="Text 28">
            <a:extLst xmlns:a="http://schemas.openxmlformats.org/drawingml/2006/main">
              <a:ext uri="{FF2B5EF4-FFF2-40B4-BE49-F238E27FC236}">
                <a16:creationId xmlns:a16="http://schemas.microsoft.com/office/drawing/2014/main" id="{0F197AFC-40E5-4162-B186-6BCD97A14244}"/>
              </a:ext>
            </a:extLst>
          </p:cNvPr>
          <p:cNvSpPr>
            <a:spLocks xmlns:a="http://schemas.openxmlformats.org/drawingml/2006/main" noGrp="1"/>
          </p:cNvSpPr>
          <p:nvPr/>
        </p:nvSpPr>
        <p:spPr>
          <a:xfrm xmlns:a="http://schemas.openxmlformats.org/drawingml/2006/main">
            <a:off x="7440407" y="2404872"/>
            <a:ext cx="51206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Arial"/>
                <a:ea typeface="Arial"/>
                <a:cs typeface="Arial"/>
              </a:rPr>
              <a:t>5</a:t>
            </a:r>
          </a:p>
        </p:txBody>
      </p:sp>
      <p:sp>
        <p:nvSpPr>
          <p:cNvPr id="31" name="Text 29">
            <a:extLst xmlns:a="http://schemas.openxmlformats.org/drawingml/2006/main">
              <a:ext uri="{FF2B5EF4-FFF2-40B4-BE49-F238E27FC236}">
                <a16:creationId xmlns:a16="http://schemas.microsoft.com/office/drawing/2014/main" id="{EA5C744D-0C80-4E79-9F1F-CD7E631269E2}"/>
              </a:ext>
            </a:extLst>
          </p:cNvPr>
          <p:cNvSpPr>
            <a:spLocks xmlns:a="http://schemas.openxmlformats.org/drawingml/2006/main" noGrp="1"/>
          </p:cNvSpPr>
          <p:nvPr/>
        </p:nvSpPr>
        <p:spPr>
          <a:xfrm xmlns:a="http://schemas.openxmlformats.org/drawingml/2006/main">
            <a:off x="7042448" y="3063240"/>
            <a:ext cx="130798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0D0C0A"/>
                </a:solidFill>
                <a:latin typeface="Arial"/>
                <a:ea typeface="Arial"/>
                <a:cs typeface="Arial"/>
              </a:rPr>
              <a:t>Send</a:t>
            </a:r>
          </a:p>
        </p:txBody>
      </p:sp>
      <p:sp>
        <p:nvSpPr>
          <p:cNvPr id="32" name="Text 30">
            <a:extLst xmlns:a="http://schemas.openxmlformats.org/drawingml/2006/main">
              <a:ext uri="{FF2B5EF4-FFF2-40B4-BE49-F238E27FC236}">
                <a16:creationId xmlns:a16="http://schemas.microsoft.com/office/drawing/2014/main" id="{639CBBC3-4210-4E79-BEB3-D4B3796A480D}"/>
              </a:ext>
            </a:extLst>
          </p:cNvPr>
          <p:cNvSpPr>
            <a:spLocks xmlns:a="http://schemas.openxmlformats.org/drawingml/2006/main" noGrp="1"/>
          </p:cNvSpPr>
          <p:nvPr/>
        </p:nvSpPr>
        <p:spPr>
          <a:xfrm xmlns:a="http://schemas.openxmlformats.org/drawingml/2006/main">
            <a:off x="7060736" y="3410712"/>
            <a:ext cx="127140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12000"/>
              </a:lnSpc>
              <a:buNone/>
            </a:pPr>
            <a:r>
              <a:rPr sz="950">
                <a:solidFill>
                  <a:srgbClr val="6B675F"/>
                </a:solidFill>
                <a:latin typeface="Arial"/>
                <a:ea typeface="Arial"/>
                <a:cs typeface="Arial"/>
              </a:rPr>
              <a:t>Approve, or autonomous send</a:t>
            </a:r>
          </a:p>
        </p:txBody>
      </p:sp>
      <p:sp>
        <p:nvSpPr>
          <p:cNvPr id="33" name="Text 31">
            <a:extLst xmlns:a="http://schemas.openxmlformats.org/drawingml/2006/main">
              <a:ext uri="{FF2B5EF4-FFF2-40B4-BE49-F238E27FC236}">
                <a16:creationId xmlns:a16="http://schemas.microsoft.com/office/drawing/2014/main" id="{039AA8B1-F4DB-41DD-9799-E6435CE750C1}"/>
              </a:ext>
            </a:extLst>
          </p:cNvPr>
          <p:cNvSpPr>
            <a:spLocks xmlns:a="http://schemas.openxmlformats.org/drawingml/2006/main" noGrp="1"/>
          </p:cNvSpPr>
          <p:nvPr/>
        </p:nvSpPr>
        <p:spPr>
          <a:xfrm xmlns:a="http://schemas.openxmlformats.org/drawingml/2006/main">
            <a:off x="8405295" y="2967228"/>
            <a:ext cx="182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9A968C"/>
                </a:solidFill>
                <a:latin typeface="Arial"/>
                <a:ea typeface="Arial"/>
                <a:cs typeface="Arial"/>
              </a:rPr>
              <a:t>›</a:t>
            </a:r>
          </a:p>
        </p:txBody>
      </p:sp>
      <p:sp>
        <p:nvSpPr>
          <p:cNvPr id="34" name="Shape 32">
            <a:extLst xmlns:a="http://schemas.openxmlformats.org/drawingml/2006/main">
              <a:ext uri="{FF2B5EF4-FFF2-40B4-BE49-F238E27FC236}">
                <a16:creationId xmlns:a16="http://schemas.microsoft.com/office/drawing/2014/main" id="{85636DE4-8726-4202-9DEB-086CDC0410B6}"/>
              </a:ext>
            </a:extLst>
          </p:cNvPr>
          <p:cNvSpPr>
            <a:spLocks xmlns:a="http://schemas.openxmlformats.org/drawingml/2006/main" noGrp="1"/>
          </p:cNvSpPr>
          <p:nvPr/>
        </p:nvSpPr>
        <p:spPr>
          <a:xfrm xmlns:a="http://schemas.openxmlformats.org/drawingml/2006/main">
            <a:off x="8569887" y="2148840"/>
            <a:ext cx="1454288" cy="2148840"/>
          </a:xfrm>
          <a:prstGeom xmlns:a="http://schemas.openxmlformats.org/drawingml/2006/main" prst="roundRect">
            <a:avLst>
              <a:gd name="adj" fmla="val 2829"/>
            </a:avLst>
          </a:prstGeom>
          <a:solidFill xmlns:a="http://schemas.openxmlformats.org/drawingml/2006/main">
            <a:srgbClr val="FFFFFF"/>
          </a:solidFill>
          <a:ln xmlns:a="http://schemas.openxmlformats.org/drawingml/2006/main" w="12700">
            <a:solidFill>
              <a:srgbClr val="E2DED6"/>
            </a:solidFill>
            <a:prstDash val="solid"/>
          </a:ln>
          <a:effectLst xmlns:a="http://schemas.openxmlformats.org/drawingml/2006/main">
            <a:outerShdw blurRad="76200" dist="25400" dir="5400000" sx="100000" sy="100000" kx="0" ky="0" algn="bl" rotWithShape="0">
              <a:srgbClr val="C9C4BA">
                <a:alpha val="55000"/>
              </a:srgbClr>
            </a:outerShdw>
          </a:effectLst>
        </p:spPr>
      </p:sp>
      <p:sp>
        <p:nvSpPr>
          <p:cNvPr id="35" name="Shape 33">
            <a:extLst xmlns:a="http://schemas.openxmlformats.org/drawingml/2006/main">
              <a:ext uri="{FF2B5EF4-FFF2-40B4-BE49-F238E27FC236}">
                <a16:creationId xmlns:a16="http://schemas.microsoft.com/office/drawing/2014/main" id="{2A1BCAE3-4B81-4C70-8231-F60EA63D8DBC}"/>
              </a:ext>
            </a:extLst>
          </p:cNvPr>
          <p:cNvSpPr>
            <a:spLocks xmlns:a="http://schemas.openxmlformats.org/drawingml/2006/main" noGrp="1"/>
          </p:cNvSpPr>
          <p:nvPr/>
        </p:nvSpPr>
        <p:spPr>
          <a:xfrm xmlns:a="http://schemas.openxmlformats.org/drawingml/2006/main">
            <a:off x="9040999" y="2404872"/>
            <a:ext cx="512064" cy="512064"/>
          </a:xfrm>
          <a:prstGeom xmlns:a="http://schemas.openxmlformats.org/drawingml/2006/main" prst="ellipse">
            <a:avLst/>
          </a:prstGeom>
          <a:solidFill xmlns:a="http://schemas.openxmlformats.org/drawingml/2006/main">
            <a:srgbClr val="0D0C0A"/>
          </a:solidFill>
        </p:spPr>
      </p:sp>
      <p:sp>
        <p:nvSpPr>
          <p:cNvPr id="36" name="Text 34">
            <a:extLst xmlns:a="http://schemas.openxmlformats.org/drawingml/2006/main">
              <a:ext uri="{FF2B5EF4-FFF2-40B4-BE49-F238E27FC236}">
                <a16:creationId xmlns:a16="http://schemas.microsoft.com/office/drawing/2014/main" id="{30FC69EB-CEB1-4C4F-91AA-0BCF637458B3}"/>
              </a:ext>
            </a:extLst>
          </p:cNvPr>
          <p:cNvSpPr>
            <a:spLocks xmlns:a="http://schemas.openxmlformats.org/drawingml/2006/main" noGrp="1"/>
          </p:cNvSpPr>
          <p:nvPr/>
        </p:nvSpPr>
        <p:spPr>
          <a:xfrm xmlns:a="http://schemas.openxmlformats.org/drawingml/2006/main">
            <a:off x="9040999" y="2404872"/>
            <a:ext cx="51206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Arial"/>
                <a:ea typeface="Arial"/>
                <a:cs typeface="Arial"/>
              </a:rPr>
              <a:t>6</a:t>
            </a:r>
          </a:p>
        </p:txBody>
      </p:sp>
      <p:sp>
        <p:nvSpPr>
          <p:cNvPr id="37" name="Text 35">
            <a:extLst xmlns:a="http://schemas.openxmlformats.org/drawingml/2006/main">
              <a:ext uri="{FF2B5EF4-FFF2-40B4-BE49-F238E27FC236}">
                <a16:creationId xmlns:a16="http://schemas.microsoft.com/office/drawing/2014/main" id="{150EABEE-CFCC-487E-B8E4-FEF919B68044}"/>
              </a:ext>
            </a:extLst>
          </p:cNvPr>
          <p:cNvSpPr>
            <a:spLocks xmlns:a="http://schemas.openxmlformats.org/drawingml/2006/main" noGrp="1"/>
          </p:cNvSpPr>
          <p:nvPr/>
        </p:nvSpPr>
        <p:spPr>
          <a:xfrm xmlns:a="http://schemas.openxmlformats.org/drawingml/2006/main">
            <a:off x="8643039" y="3063240"/>
            <a:ext cx="130798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0D0C0A"/>
                </a:solidFill>
                <a:latin typeface="Arial"/>
                <a:ea typeface="Arial"/>
                <a:cs typeface="Arial"/>
              </a:rPr>
              <a:t>Read reply</a:t>
            </a:r>
          </a:p>
        </p:txBody>
      </p:sp>
      <p:sp>
        <p:nvSpPr>
          <p:cNvPr id="38" name="Text 36">
            <a:extLst xmlns:a="http://schemas.openxmlformats.org/drawingml/2006/main">
              <a:ext uri="{FF2B5EF4-FFF2-40B4-BE49-F238E27FC236}">
                <a16:creationId xmlns:a16="http://schemas.microsoft.com/office/drawing/2014/main" id="{4A9DA2A6-DD78-4C9D-A5CA-E05CB05B5C6E}"/>
              </a:ext>
            </a:extLst>
          </p:cNvPr>
          <p:cNvSpPr>
            <a:spLocks xmlns:a="http://schemas.openxmlformats.org/drawingml/2006/main" noGrp="1"/>
          </p:cNvSpPr>
          <p:nvPr/>
        </p:nvSpPr>
        <p:spPr>
          <a:xfrm xmlns:a="http://schemas.openxmlformats.org/drawingml/2006/main">
            <a:off x="8661327" y="3410712"/>
            <a:ext cx="127140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12000"/>
              </a:lnSpc>
              <a:buNone/>
            </a:pPr>
            <a:r>
              <a:rPr sz="950">
                <a:solidFill>
                  <a:srgbClr val="6B675F"/>
                </a:solidFill>
                <a:latin typeface="Arial"/>
                <a:ea typeface="Arial"/>
                <a:cs typeface="Arial"/>
              </a:rPr>
              <a:t>Classify intent, update the thread</a:t>
            </a:r>
          </a:p>
        </p:txBody>
      </p:sp>
      <p:sp>
        <p:nvSpPr>
          <p:cNvPr id="39" name="Text 37">
            <a:extLst xmlns:a="http://schemas.openxmlformats.org/drawingml/2006/main">
              <a:ext uri="{FF2B5EF4-FFF2-40B4-BE49-F238E27FC236}">
                <a16:creationId xmlns:a16="http://schemas.microsoft.com/office/drawing/2014/main" id="{C6CEEAC1-3C5D-4954-AB09-F63314475ABC}"/>
              </a:ext>
            </a:extLst>
          </p:cNvPr>
          <p:cNvSpPr>
            <a:spLocks xmlns:a="http://schemas.openxmlformats.org/drawingml/2006/main" noGrp="1"/>
          </p:cNvSpPr>
          <p:nvPr/>
        </p:nvSpPr>
        <p:spPr>
          <a:xfrm xmlns:a="http://schemas.openxmlformats.org/drawingml/2006/main">
            <a:off x="10005887" y="2967228"/>
            <a:ext cx="182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9A968C"/>
                </a:solidFill>
                <a:latin typeface="Arial"/>
                <a:ea typeface="Arial"/>
                <a:cs typeface="Arial"/>
              </a:rPr>
              <a:t>›</a:t>
            </a:r>
          </a:p>
        </p:txBody>
      </p:sp>
      <p:sp>
        <p:nvSpPr>
          <p:cNvPr id="40" name="Shape 38">
            <a:extLst xmlns:a="http://schemas.openxmlformats.org/drawingml/2006/main">
              <a:ext uri="{FF2B5EF4-FFF2-40B4-BE49-F238E27FC236}">
                <a16:creationId xmlns:a16="http://schemas.microsoft.com/office/drawing/2014/main" id="{CC3F8CB1-107B-4D88-BA59-22780F270FFD}"/>
              </a:ext>
            </a:extLst>
          </p:cNvPr>
          <p:cNvSpPr>
            <a:spLocks xmlns:a="http://schemas.openxmlformats.org/drawingml/2006/main" noGrp="1"/>
          </p:cNvSpPr>
          <p:nvPr/>
        </p:nvSpPr>
        <p:spPr>
          <a:xfrm xmlns:a="http://schemas.openxmlformats.org/drawingml/2006/main">
            <a:off x="10170479" y="2148840"/>
            <a:ext cx="1454288" cy="2148840"/>
          </a:xfrm>
          <a:prstGeom xmlns:a="http://schemas.openxmlformats.org/drawingml/2006/main" prst="roundRect">
            <a:avLst>
              <a:gd name="adj" fmla="val 2829"/>
            </a:avLst>
          </a:prstGeom>
          <a:solidFill xmlns:a="http://schemas.openxmlformats.org/drawingml/2006/main">
            <a:srgbClr val="FFFFFF"/>
          </a:solidFill>
          <a:ln xmlns:a="http://schemas.openxmlformats.org/drawingml/2006/main" w="12700">
            <a:solidFill>
              <a:srgbClr val="E2DED6"/>
            </a:solidFill>
            <a:prstDash val="solid"/>
          </a:ln>
          <a:effectLst xmlns:a="http://schemas.openxmlformats.org/drawingml/2006/main">
            <a:outerShdw blurRad="76200" dist="25400" dir="5400000" sx="100000" sy="100000" kx="0" ky="0" algn="bl" rotWithShape="0">
              <a:srgbClr val="C9C4BA">
                <a:alpha val="55000"/>
              </a:srgbClr>
            </a:outerShdw>
          </a:effectLst>
        </p:spPr>
      </p:sp>
      <p:sp>
        <p:nvSpPr>
          <p:cNvPr id="41" name="Shape 39">
            <a:extLst xmlns:a="http://schemas.openxmlformats.org/drawingml/2006/main">
              <a:ext uri="{FF2B5EF4-FFF2-40B4-BE49-F238E27FC236}">
                <a16:creationId xmlns:a16="http://schemas.microsoft.com/office/drawing/2014/main" id="{CD139757-8E48-42BD-A337-E664F6B0E555}"/>
              </a:ext>
            </a:extLst>
          </p:cNvPr>
          <p:cNvSpPr>
            <a:spLocks xmlns:a="http://schemas.openxmlformats.org/drawingml/2006/main" noGrp="1"/>
          </p:cNvSpPr>
          <p:nvPr/>
        </p:nvSpPr>
        <p:spPr>
          <a:xfrm xmlns:a="http://schemas.openxmlformats.org/drawingml/2006/main">
            <a:off x="10641591" y="2404872"/>
            <a:ext cx="512064" cy="512064"/>
          </a:xfrm>
          <a:prstGeom xmlns:a="http://schemas.openxmlformats.org/drawingml/2006/main" prst="ellipse">
            <a:avLst/>
          </a:prstGeom>
          <a:solidFill xmlns:a="http://schemas.openxmlformats.org/drawingml/2006/main">
            <a:srgbClr val="0D0C0A"/>
          </a:solidFill>
        </p:spPr>
      </p:sp>
      <p:sp>
        <p:nvSpPr>
          <p:cNvPr id="42" name="Text 40">
            <a:extLst xmlns:a="http://schemas.openxmlformats.org/drawingml/2006/main">
              <a:ext uri="{FF2B5EF4-FFF2-40B4-BE49-F238E27FC236}">
                <a16:creationId xmlns:a16="http://schemas.microsoft.com/office/drawing/2014/main" id="{139BEB37-0989-4D23-BA57-08135E440668}"/>
              </a:ext>
            </a:extLst>
          </p:cNvPr>
          <p:cNvSpPr>
            <a:spLocks xmlns:a="http://schemas.openxmlformats.org/drawingml/2006/main" noGrp="1"/>
          </p:cNvSpPr>
          <p:nvPr/>
        </p:nvSpPr>
        <p:spPr>
          <a:xfrm xmlns:a="http://schemas.openxmlformats.org/drawingml/2006/main">
            <a:off x="10641591" y="2404872"/>
            <a:ext cx="51206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Arial"/>
                <a:ea typeface="Arial"/>
                <a:cs typeface="Arial"/>
              </a:rPr>
              <a:t>7</a:t>
            </a:r>
          </a:p>
        </p:txBody>
      </p:sp>
      <p:sp>
        <p:nvSpPr>
          <p:cNvPr id="43" name="Text 41">
            <a:extLst xmlns:a="http://schemas.openxmlformats.org/drawingml/2006/main">
              <a:ext uri="{FF2B5EF4-FFF2-40B4-BE49-F238E27FC236}">
                <a16:creationId xmlns:a16="http://schemas.microsoft.com/office/drawing/2014/main" id="{0ADAB11E-74C6-42FE-8F90-3F3313ED5BE6}"/>
              </a:ext>
            </a:extLst>
          </p:cNvPr>
          <p:cNvSpPr>
            <a:spLocks xmlns:a="http://schemas.openxmlformats.org/drawingml/2006/main" noGrp="1"/>
          </p:cNvSpPr>
          <p:nvPr/>
        </p:nvSpPr>
        <p:spPr>
          <a:xfrm xmlns:a="http://schemas.openxmlformats.org/drawingml/2006/main">
            <a:off x="10243631" y="3063240"/>
            <a:ext cx="130798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0D0C0A"/>
                </a:solidFill>
                <a:latin typeface="Arial"/>
                <a:ea typeface="Arial"/>
                <a:cs typeface="Arial"/>
              </a:rPr>
              <a:t>Follow up</a:t>
            </a:r>
          </a:p>
        </p:txBody>
      </p:sp>
      <p:sp>
        <p:nvSpPr>
          <p:cNvPr id="44" name="Text 42">
            <a:extLst xmlns:a="http://schemas.openxmlformats.org/drawingml/2006/main">
              <a:ext uri="{FF2B5EF4-FFF2-40B4-BE49-F238E27FC236}">
                <a16:creationId xmlns:a16="http://schemas.microsoft.com/office/drawing/2014/main" id="{47C71728-593E-49F1-9B44-0A95897F035E}"/>
              </a:ext>
            </a:extLst>
          </p:cNvPr>
          <p:cNvSpPr>
            <a:spLocks xmlns:a="http://schemas.openxmlformats.org/drawingml/2006/main" noGrp="1"/>
          </p:cNvSpPr>
          <p:nvPr/>
        </p:nvSpPr>
        <p:spPr>
          <a:xfrm xmlns:a="http://schemas.openxmlformats.org/drawingml/2006/main">
            <a:off x="10261919" y="3410712"/>
            <a:ext cx="127140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12000"/>
              </a:lnSpc>
              <a:buNone/>
            </a:pPr>
            <a:r>
              <a:rPr sz="950">
                <a:solidFill>
                  <a:srgbClr val="6B675F"/>
                </a:solidFill>
                <a:latin typeface="Arial"/>
                <a:ea typeface="Arial"/>
                <a:cs typeface="Arial"/>
              </a:rPr>
              <a:t>Non-repetitive, capped, opt-out aware</a:t>
            </a:r>
          </a:p>
        </p:txBody>
      </p:sp>
      <p:sp>
        <p:nvSpPr>
          <p:cNvPr id="45" name="Shape 43">
            <a:extLst xmlns:a="http://schemas.openxmlformats.org/drawingml/2006/main">
              <a:ext uri="{FF2B5EF4-FFF2-40B4-BE49-F238E27FC236}">
                <a16:creationId xmlns:a16="http://schemas.microsoft.com/office/drawing/2014/main" id="{93DFFAA8-35EA-4FE4-90CE-BC00268CD437}"/>
              </a:ext>
            </a:extLst>
          </p:cNvPr>
          <p:cNvSpPr>
            <a:spLocks xmlns:a="http://schemas.openxmlformats.org/drawingml/2006/main" noGrp="1"/>
          </p:cNvSpPr>
          <p:nvPr/>
        </p:nvSpPr>
        <p:spPr>
          <a:xfrm xmlns:a="http://schemas.openxmlformats.org/drawingml/2006/main">
            <a:off x="566928" y="4709160"/>
            <a:ext cx="11057839" cy="1417320"/>
          </a:xfrm>
          <a:prstGeom xmlns:a="http://schemas.openxmlformats.org/drawingml/2006/main" prst="roundRect">
            <a:avLst>
              <a:gd name="adj" fmla="val 2903"/>
            </a:avLst>
          </a:prstGeom>
          <a:solidFill xmlns:a="http://schemas.openxmlformats.org/drawingml/2006/main">
            <a:srgbClr val="FFFFFF"/>
          </a:solidFill>
          <a:ln xmlns:a="http://schemas.openxmlformats.org/drawingml/2006/main" w="12700">
            <a:solidFill>
              <a:srgbClr val="E2DED6"/>
            </a:solidFill>
            <a:prstDash val="solid"/>
          </a:ln>
          <a:effectLst xmlns:a="http://schemas.openxmlformats.org/drawingml/2006/main">
            <a:outerShdw blurRad="76200" dist="25400" dir="5400000" sx="100000" sy="100000" kx="0" ky="0" algn="bl" rotWithShape="0">
              <a:srgbClr val="C9C4BA">
                <a:alpha val="55000"/>
              </a:srgbClr>
            </a:outerShdw>
          </a:effectLst>
        </p:spPr>
      </p:sp>
      <p:sp>
        <p:nvSpPr>
          <p:cNvPr id="46" name="Text 44">
            <a:extLst xmlns:a="http://schemas.openxmlformats.org/drawingml/2006/main">
              <a:ext uri="{FF2B5EF4-FFF2-40B4-BE49-F238E27FC236}">
                <a16:creationId xmlns:a16="http://schemas.microsoft.com/office/drawing/2014/main" id="{874781D8-98E3-4E3A-9784-8F0D779D7E37}"/>
              </a:ext>
            </a:extLst>
          </p:cNvPr>
          <p:cNvSpPr>
            <a:spLocks xmlns:a="http://schemas.openxmlformats.org/drawingml/2006/main" noGrp="1"/>
          </p:cNvSpPr>
          <p:nvPr/>
        </p:nvSpPr>
        <p:spPr>
          <a:xfrm xmlns:a="http://schemas.openxmlformats.org/drawingml/2006/main">
            <a:off x="886968" y="4928616"/>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5A3EE0"/>
                </a:solidFill>
                <a:latin typeface="Arial"/>
                <a:ea typeface="Arial"/>
                <a:cs typeface="Arial"/>
              </a:rPr>
              <a:t>SAMPLE FIRST TOUCH</a:t>
            </a:r>
          </a:p>
        </p:txBody>
      </p:sp>
      <p:sp>
        <p:nvSpPr>
          <p:cNvPr id="47" name="Shape 45">
            <a:extLst xmlns:a="http://schemas.openxmlformats.org/drawingml/2006/main">
              <a:ext uri="{FF2B5EF4-FFF2-40B4-BE49-F238E27FC236}">
                <a16:creationId xmlns:a16="http://schemas.microsoft.com/office/drawing/2014/main" id="{76114CF6-5366-49A5-95EB-C4A8CB57A873}"/>
              </a:ext>
            </a:extLst>
          </p:cNvPr>
          <p:cNvSpPr>
            <a:spLocks xmlns:a="http://schemas.openxmlformats.org/drawingml/2006/main" noGrp="1"/>
          </p:cNvSpPr>
          <p:nvPr/>
        </p:nvSpPr>
        <p:spPr>
          <a:xfrm xmlns:a="http://schemas.openxmlformats.org/drawingml/2006/main">
            <a:off x="10207447" y="4910328"/>
            <a:ext cx="1144829" cy="237744"/>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2700">
            <a:solidFill>
              <a:srgbClr val="5A3EE0"/>
            </a:solidFill>
            <a:prstDash val="solid"/>
          </a:ln>
        </p:spPr>
      </p:sp>
      <p:sp>
        <p:nvSpPr>
          <p:cNvPr id="48" name="Text 46">
            <a:extLst xmlns:a="http://schemas.openxmlformats.org/drawingml/2006/main">
              <a:ext uri="{FF2B5EF4-FFF2-40B4-BE49-F238E27FC236}">
                <a16:creationId xmlns:a16="http://schemas.microsoft.com/office/drawing/2014/main" id="{70FEDEEE-FC71-4A11-83C4-D05BCAA7A161}"/>
              </a:ext>
            </a:extLst>
          </p:cNvPr>
          <p:cNvSpPr>
            <a:spLocks xmlns:a="http://schemas.openxmlformats.org/drawingml/2006/main" noGrp="1"/>
          </p:cNvSpPr>
          <p:nvPr/>
        </p:nvSpPr>
        <p:spPr>
          <a:xfrm xmlns:a="http://schemas.openxmlformats.org/drawingml/2006/main">
            <a:off x="10207447" y="4910328"/>
            <a:ext cx="1144829"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5A3EE0"/>
                </a:solidFill>
                <a:latin typeface="Arial"/>
                <a:ea typeface="Arial"/>
                <a:cs typeface="Arial"/>
              </a:rPr>
              <a:t>EVIDENCE-BOUND</a:t>
            </a:r>
          </a:p>
        </p:txBody>
      </p:sp>
      <p:sp>
        <p:nvSpPr>
          <p:cNvPr id="49" name="Text 47">
            <a:extLst xmlns:a="http://schemas.openxmlformats.org/drawingml/2006/main">
              <a:ext uri="{FF2B5EF4-FFF2-40B4-BE49-F238E27FC236}">
                <a16:creationId xmlns:a16="http://schemas.microsoft.com/office/drawing/2014/main" id="{6825B4A4-FFFD-4219-907F-A4B217D7A7F3}"/>
              </a:ext>
            </a:extLst>
          </p:cNvPr>
          <p:cNvSpPr>
            <a:spLocks xmlns:a="http://schemas.openxmlformats.org/drawingml/2006/main" noGrp="1"/>
          </p:cNvSpPr>
          <p:nvPr/>
        </p:nvSpPr>
        <p:spPr>
          <a:xfrm xmlns:a="http://schemas.openxmlformats.org/drawingml/2006/main">
            <a:off x="886968" y="5239512"/>
            <a:ext cx="10417759"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250" i="1">
                <a:solidFill>
                  <a:srgbClr val="35322D"/>
                </a:solidFill>
                <a:latin typeface="Arial"/>
                <a:ea typeface="Arial"/>
                <a:cs typeface="Arial"/>
              </a:rPr>
              <a:t>“Hi Wei Ling, saw Kōri put the Uji matcha line on the TikTok menu drop. If you’re lining up creators for it, Influencees can shortlist SG F&amp;B micro-creators by real engagement, tracked from IG/TikTok, and run a match score against the launch. Worth a 15-min look this week?”</a:t>
            </a:r>
          </a:p>
        </p:txBody>
      </p:sp>
      <p:sp>
        <p:nvSpPr>
          <p:cNvPr id="50" name="Text 48">
            <a:extLst xmlns:a="http://schemas.openxmlformats.org/drawingml/2006/main">
              <a:ext uri="{FF2B5EF4-FFF2-40B4-BE49-F238E27FC236}">
                <a16:creationId xmlns:a16="http://schemas.microsoft.com/office/drawing/2014/main" id="{A40C72D7-05C7-4D9B-80F6-FBFAD715B9AA}"/>
              </a:ext>
            </a:extLst>
          </p:cNvPr>
          <p:cNvSpPr>
            <a:spLocks xmlns:a="http://schemas.openxmlformats.org/drawingml/2006/main" noGrp="1"/>
          </p:cNvSpPr>
          <p:nvPr/>
        </p:nvSpPr>
        <p:spPr>
          <a:xfrm xmlns:a="http://schemas.openxmlformats.org/drawingml/2006/main">
            <a:off x="8351215" y="6382512"/>
            <a:ext cx="327355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b="1">
                <a:solidFill>
                  <a:srgbClr val="9A968C"/>
                </a:solidFill>
                <a:latin typeface="Arial"/>
                <a:ea typeface="Arial"/>
                <a:cs typeface="Arial"/>
              </a:rPr>
              <a:t>INFLUENCEES</a:t>
            </a:r>
            <a:r>
              <a:rPr sz="950" b="1">
                <a:solidFill>
                  <a:srgbClr val="6B675F"/>
                </a:solidFill>
                <a:latin typeface="Arial"/>
                <a:ea typeface="Arial"/>
                <a:cs typeface="Arial"/>
              </a:rPr>
              <a:t>   04 / 10</a:t>
            </a:r>
          </a:p>
        </p:txBody>
      </p:sp>
      <p:sp>
        <p:nvSpPr>
          <p:cNvPr id="51" name="white-canvas-4">
            <a:extLst xmlns:a="http://schemas.openxmlformats.org/drawingml/2006/main">
              <a:ext uri="{FF2B5EF4-FFF2-40B4-BE49-F238E27FC236}">
                <a16:creationId xmlns:a16="http://schemas.microsoft.com/office/drawing/2014/main" id="{89C0C135-F336-467E-8F34-6CE1637FAE2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2" name="section-badge">
            <a:extLst xmlns:a="http://schemas.openxmlformats.org/drawingml/2006/main">
              <a:ext uri="{FF2B5EF4-FFF2-40B4-BE49-F238E27FC236}">
                <a16:creationId xmlns:a16="http://schemas.microsoft.com/office/drawing/2014/main" id="{716337E0-55E3-49D1-836C-8B84C5D9A2F0}"/>
              </a:ext>
            </a:extLst>
          </p:cNvPr>
          <p:cNvSpPr>
            <a:spLocks xmlns:a="http://schemas.openxmlformats.org/drawingml/2006/main" noGrp="1"/>
          </p:cNvSpPr>
          <p:nvPr/>
        </p:nvSpPr>
        <p:spPr>
          <a:xfrm xmlns:a="http://schemas.openxmlformats.org/drawingml/2006/main">
            <a:off x="4191000" y="3238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1200" b="1">
                <a:solidFill>
                  <a:srgbClr val="7C5CFC"/>
                </a:solidFill>
                <a:latin typeface="Inter"/>
                <a:ea typeface="Inter"/>
                <a:cs typeface="Inter"/>
              </a:defRPr>
            </a:pPr>
            <a:r>
              <a:rPr sz="1200" b="1">
                <a:solidFill>
                  <a:srgbClr val="7C5CFC"/>
                </a:solidFill>
                <a:latin typeface="Inter"/>
                <a:ea typeface="Inter"/>
                <a:cs typeface="Inter"/>
              </a:rPr>
              <a:t>SOLUTION 01 · HOW IT WORKS</a:t>
            </a:r>
          </a:p>
        </p:txBody>
      </p:sp>
      <p:sp>
        <p:nvSpPr>
          <p:cNvPr id="53" name="slide-title">
            <a:extLst xmlns:a="http://schemas.openxmlformats.org/drawingml/2006/main">
              <a:ext uri="{FF2B5EF4-FFF2-40B4-BE49-F238E27FC236}">
                <a16:creationId xmlns:a16="http://schemas.microsoft.com/office/drawing/2014/main" id="{443C716D-0DBA-482E-A0D3-2DE8551C6119}"/>
              </a:ext>
            </a:extLst>
          </p:cNvPr>
          <p:cNvSpPr>
            <a:spLocks xmlns:a="http://schemas.openxmlformats.org/drawingml/2006/main" noGrp="1"/>
          </p:cNvSpPr>
          <p:nvPr/>
        </p:nvSpPr>
        <p:spPr>
          <a:xfrm xmlns:a="http://schemas.openxmlformats.org/drawingml/2006/main">
            <a:off x="952500" y="6858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3300" b="0">
                <a:solidFill>
                  <a:srgbClr val="0F172A"/>
                </a:solidFill>
                <a:latin typeface="Inter"/>
                <a:ea typeface="Inter"/>
                <a:cs typeface="Inter"/>
              </a:defRPr>
            </a:pPr>
            <a:r>
              <a:rPr sz="3300" b="0">
                <a:solidFill>
                  <a:srgbClr val="0F172A"/>
                </a:solidFill>
                <a:latin typeface="Inter"/>
                <a:ea typeface="Inter"/>
                <a:cs typeface="Inter"/>
              </a:rPr>
              <a:t>One loop, from cold company to real conversation.</a:t>
            </a:r>
          </a:p>
        </p:txBody>
      </p:sp>
      <p:sp>
        <p:nvSpPr>
          <p:cNvPr id="54" name="slide-subtitle">
            <a:extLst xmlns:a="http://schemas.openxmlformats.org/drawingml/2006/main">
              <a:ext uri="{FF2B5EF4-FFF2-40B4-BE49-F238E27FC236}">
                <a16:creationId xmlns:a16="http://schemas.microsoft.com/office/drawing/2014/main" id="{284E353E-78B4-4307-8544-B23BAD387111}"/>
              </a:ext>
            </a:extLst>
          </p:cNvPr>
          <p:cNvSpPr>
            <a:spLocks xmlns:a="http://schemas.openxmlformats.org/drawingml/2006/main" noGrp="1"/>
          </p:cNvSpPr>
          <p:nvPr/>
        </p:nvSpPr>
        <p:spPr>
          <a:xfrm xmlns:a="http://schemas.openxmlformats.org/drawingml/2006/main">
            <a:off x="1333500" y="1333500"/>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22000"/>
              </a:lnSpc>
              <a:buNone/>
              <a:defRPr sz="1575" b="0">
                <a:solidFill>
                  <a:srgbClr val="64748B"/>
                </a:solidFill>
                <a:latin typeface="Inter"/>
                <a:ea typeface="Inter"/>
                <a:cs typeface="Inter"/>
              </a:defRPr>
            </a:pPr>
            <a:r>
              <a:rPr sz="1575" b="0">
                <a:solidFill>
                  <a:srgbClr val="64748B"/>
                </a:solidFill>
                <a:latin typeface="Inter"/>
                <a:ea typeface="Inter"/>
                <a:cs typeface="Inter"/>
              </a:rPr>
              <a:t>Every step is visible, evidence-bound and controllable.</a:t>
            </a:r>
          </a:p>
        </p:txBody>
      </p:sp>
      <p:sp>
        <p:nvSpPr>
          <p:cNvPr id="55" name="step-card-1">
            <a:extLst xmlns:a="http://schemas.openxmlformats.org/drawingml/2006/main">
              <a:ext uri="{FF2B5EF4-FFF2-40B4-BE49-F238E27FC236}">
                <a16:creationId xmlns:a16="http://schemas.microsoft.com/office/drawing/2014/main" id="{AB9C042A-E2E3-47EE-8DA3-26E6631E775F}"/>
              </a:ext>
            </a:extLst>
          </p:cNvPr>
          <p:cNvSpPr>
            <a:spLocks xmlns:a="http://schemas.openxmlformats.org/drawingml/2006/main" noGrp="1"/>
          </p:cNvSpPr>
          <p:nvPr/>
        </p:nvSpPr>
        <p:spPr>
          <a:xfrm xmlns:a="http://schemas.openxmlformats.org/drawingml/2006/main">
            <a:off x="523875" y="2305050"/>
            <a:ext cx="1485900" cy="2209800"/>
          </a:xfrm>
          <a:prstGeom xmlns:a="http://schemas.openxmlformats.org/drawingml/2006/main" prst="roundRect">
            <a:avLst>
              <a:gd name="adj" fmla="val 12821"/>
            </a:avLst>
          </a:prstGeom>
          <a:solidFill xmlns:a="http://schemas.openxmlformats.org/drawingml/2006/main">
            <a:srgbClr val="FFF7E6"/>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6" name="number-1">
            <a:extLst xmlns:a="http://schemas.openxmlformats.org/drawingml/2006/main">
              <a:ext uri="{FF2B5EF4-FFF2-40B4-BE49-F238E27FC236}">
                <a16:creationId xmlns:a16="http://schemas.microsoft.com/office/drawing/2014/main" id="{F4B98DC8-1BBB-4470-A393-341C57490DE3}"/>
              </a:ext>
            </a:extLst>
          </p:cNvPr>
          <p:cNvSpPr>
            <a:spLocks xmlns:a="http://schemas.openxmlformats.org/drawingml/2006/main" noGrp="1"/>
          </p:cNvSpPr>
          <p:nvPr/>
        </p:nvSpPr>
        <p:spPr>
          <a:xfrm xmlns:a="http://schemas.openxmlformats.org/drawingml/2006/main">
            <a:off x="695325" y="2495550"/>
            <a:ext cx="361950" cy="361950"/>
          </a:xfrm>
          <a:prstGeom xmlns:a="http://schemas.openxmlformats.org/drawingml/2006/main" prst="ellipse">
            <a:avLst/>
          </a:prstGeom>
          <a:solidFill xmlns:a="http://schemas.openxmlformats.org/drawingml/2006/main">
            <a:srgbClr val="0F172A"/>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Inter"/>
                <a:ea typeface="Inter"/>
                <a:cs typeface="Inter"/>
              </a:defRPr>
            </a:pPr>
            <a:r>
              <a:rPr sz="1350" b="1">
                <a:solidFill>
                  <a:srgbClr val="FFFFFF"/>
                </a:solidFill>
                <a:latin typeface="Inter"/>
                <a:ea typeface="Inter"/>
                <a:cs typeface="Inter"/>
              </a:rPr>
              <a:t>1</a:t>
            </a:r>
          </a:p>
        </p:txBody>
      </p:sp>
      <p:sp>
        <p:nvSpPr>
          <p:cNvPr id="57" name="step-title-1">
            <a:extLst xmlns:a="http://schemas.openxmlformats.org/drawingml/2006/main">
              <a:ext uri="{FF2B5EF4-FFF2-40B4-BE49-F238E27FC236}">
                <a16:creationId xmlns:a16="http://schemas.microsoft.com/office/drawing/2014/main" id="{B01543AD-AA51-439E-9E6E-B06212223F1F}"/>
              </a:ext>
            </a:extLst>
          </p:cNvPr>
          <p:cNvSpPr>
            <a:spLocks xmlns:a="http://schemas.openxmlformats.org/drawingml/2006/main" noGrp="1"/>
          </p:cNvSpPr>
          <p:nvPr/>
        </p:nvSpPr>
        <p:spPr>
          <a:xfrm xmlns:a="http://schemas.openxmlformats.org/drawingml/2006/main">
            <a:off x="695325" y="30480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650" b="1">
                <a:solidFill>
                  <a:srgbClr val="0F172A"/>
                </a:solidFill>
                <a:latin typeface="Inter"/>
                <a:ea typeface="Inter"/>
                <a:cs typeface="Inter"/>
              </a:defRPr>
            </a:pPr>
            <a:r>
              <a:rPr sz="1650" b="1">
                <a:solidFill>
                  <a:srgbClr val="0F172A"/>
                </a:solidFill>
                <a:latin typeface="Inter"/>
                <a:ea typeface="Inter"/>
                <a:cs typeface="Inter"/>
              </a:rPr>
              <a:t>Discover</a:t>
            </a:r>
          </a:p>
        </p:txBody>
      </p:sp>
      <p:sp>
        <p:nvSpPr>
          <p:cNvPr id="58" name="step-body-1">
            <a:extLst xmlns:a="http://schemas.openxmlformats.org/drawingml/2006/main">
              <a:ext uri="{FF2B5EF4-FFF2-40B4-BE49-F238E27FC236}">
                <a16:creationId xmlns:a16="http://schemas.microsoft.com/office/drawing/2014/main" id="{AE843F6F-387B-4149-9367-4CA4AD41AE5C}"/>
              </a:ext>
            </a:extLst>
          </p:cNvPr>
          <p:cNvSpPr>
            <a:spLocks xmlns:a="http://schemas.openxmlformats.org/drawingml/2006/main" noGrp="1"/>
          </p:cNvSpPr>
          <p:nvPr/>
        </p:nvSpPr>
        <p:spPr>
          <a:xfrm xmlns:a="http://schemas.openxmlformats.org/drawingml/2006/main">
            <a:off x="695325" y="3524250"/>
            <a:ext cx="1143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8000"/>
              </a:lnSpc>
              <a:buNone/>
              <a:defRPr sz="1275" b="0">
                <a:solidFill>
                  <a:srgbClr val="64748B"/>
                </a:solidFill>
                <a:latin typeface="Inter"/>
                <a:ea typeface="Inter"/>
                <a:cs typeface="Inter"/>
              </a:defRPr>
            </a:pPr>
            <a:r>
              <a:rPr sz="1275" b="0">
                <a:solidFill>
                  <a:srgbClr val="64748B"/>
                </a:solidFill>
                <a:latin typeface="Inter"/>
                <a:ea typeface="Inter"/>
                <a:cs typeface="Inter"/>
              </a:rPr>
              <a:t>Find SG companies that fit the ICP</a:t>
            </a:r>
          </a:p>
        </p:txBody>
      </p:sp>
      <p:sp>
        <p:nvSpPr>
          <p:cNvPr id="59" name="step-card-2">
            <a:extLst xmlns:a="http://schemas.openxmlformats.org/drawingml/2006/main">
              <a:ext uri="{FF2B5EF4-FFF2-40B4-BE49-F238E27FC236}">
                <a16:creationId xmlns:a16="http://schemas.microsoft.com/office/drawing/2014/main" id="{CE510E3E-CDEC-433B-8C03-65CF7EF6D4B0}"/>
              </a:ext>
            </a:extLst>
          </p:cNvPr>
          <p:cNvSpPr>
            <a:spLocks xmlns:a="http://schemas.openxmlformats.org/drawingml/2006/main" noGrp="1"/>
          </p:cNvSpPr>
          <p:nvPr/>
        </p:nvSpPr>
        <p:spPr>
          <a:xfrm xmlns:a="http://schemas.openxmlformats.org/drawingml/2006/main">
            <a:off x="2181225" y="2305050"/>
            <a:ext cx="1485900" cy="2209800"/>
          </a:xfrm>
          <a:prstGeom xmlns:a="http://schemas.openxmlformats.org/drawingml/2006/main" prst="roundRect">
            <a:avLst>
              <a:gd name="adj" fmla="val 12821"/>
            </a:avLst>
          </a:prstGeom>
          <a:solidFill xmlns:a="http://schemas.openxmlformats.org/drawingml/2006/main">
            <a:srgbClr val="F7EEFB"/>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0" name="number-2">
            <a:extLst xmlns:a="http://schemas.openxmlformats.org/drawingml/2006/main">
              <a:ext uri="{FF2B5EF4-FFF2-40B4-BE49-F238E27FC236}">
                <a16:creationId xmlns:a16="http://schemas.microsoft.com/office/drawing/2014/main" id="{57A34E41-AA5D-4A93-9908-76CFAD747C4E}"/>
              </a:ext>
            </a:extLst>
          </p:cNvPr>
          <p:cNvSpPr>
            <a:spLocks xmlns:a="http://schemas.openxmlformats.org/drawingml/2006/main" noGrp="1"/>
          </p:cNvSpPr>
          <p:nvPr/>
        </p:nvSpPr>
        <p:spPr>
          <a:xfrm xmlns:a="http://schemas.openxmlformats.org/drawingml/2006/main">
            <a:off x="2352675" y="2495550"/>
            <a:ext cx="361950" cy="361950"/>
          </a:xfrm>
          <a:prstGeom xmlns:a="http://schemas.openxmlformats.org/drawingml/2006/main" prst="ellipse">
            <a:avLst/>
          </a:prstGeom>
          <a:solidFill xmlns:a="http://schemas.openxmlformats.org/drawingml/2006/main">
            <a:srgbClr val="0F172A"/>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Inter"/>
                <a:ea typeface="Inter"/>
                <a:cs typeface="Inter"/>
              </a:defRPr>
            </a:pPr>
            <a:r>
              <a:rPr sz="1350" b="1">
                <a:solidFill>
                  <a:srgbClr val="FFFFFF"/>
                </a:solidFill>
                <a:latin typeface="Inter"/>
                <a:ea typeface="Inter"/>
                <a:cs typeface="Inter"/>
              </a:rPr>
              <a:t>2</a:t>
            </a:r>
          </a:p>
        </p:txBody>
      </p:sp>
      <p:sp>
        <p:nvSpPr>
          <p:cNvPr id="61" name="step-title-2">
            <a:extLst xmlns:a="http://schemas.openxmlformats.org/drawingml/2006/main">
              <a:ext uri="{FF2B5EF4-FFF2-40B4-BE49-F238E27FC236}">
                <a16:creationId xmlns:a16="http://schemas.microsoft.com/office/drawing/2014/main" id="{4444D6FF-C522-424F-87F4-4CE376CE62E5}"/>
              </a:ext>
            </a:extLst>
          </p:cNvPr>
          <p:cNvSpPr>
            <a:spLocks xmlns:a="http://schemas.openxmlformats.org/drawingml/2006/main" noGrp="1"/>
          </p:cNvSpPr>
          <p:nvPr/>
        </p:nvSpPr>
        <p:spPr>
          <a:xfrm xmlns:a="http://schemas.openxmlformats.org/drawingml/2006/main">
            <a:off x="2352675" y="30480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650" b="1">
                <a:solidFill>
                  <a:srgbClr val="0F172A"/>
                </a:solidFill>
                <a:latin typeface="Inter"/>
                <a:ea typeface="Inter"/>
                <a:cs typeface="Inter"/>
              </a:defRPr>
            </a:pPr>
            <a:r>
              <a:rPr sz="1650" b="1">
                <a:solidFill>
                  <a:srgbClr val="0F172A"/>
                </a:solidFill>
                <a:latin typeface="Inter"/>
                <a:ea typeface="Inter"/>
                <a:cs typeface="Inter"/>
              </a:rPr>
              <a:t>Research</a:t>
            </a:r>
          </a:p>
        </p:txBody>
      </p:sp>
      <p:sp>
        <p:nvSpPr>
          <p:cNvPr id="62" name="step-body-2">
            <a:extLst xmlns:a="http://schemas.openxmlformats.org/drawingml/2006/main">
              <a:ext uri="{FF2B5EF4-FFF2-40B4-BE49-F238E27FC236}">
                <a16:creationId xmlns:a16="http://schemas.microsoft.com/office/drawing/2014/main" id="{EA003043-FE6A-424B-8FEF-48CD9AA76C6B}"/>
              </a:ext>
            </a:extLst>
          </p:cNvPr>
          <p:cNvSpPr>
            <a:spLocks xmlns:a="http://schemas.openxmlformats.org/drawingml/2006/main" noGrp="1"/>
          </p:cNvSpPr>
          <p:nvPr/>
        </p:nvSpPr>
        <p:spPr>
          <a:xfrm xmlns:a="http://schemas.openxmlformats.org/drawingml/2006/main">
            <a:off x="2352675" y="3524250"/>
            <a:ext cx="1143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8000"/>
              </a:lnSpc>
              <a:buNone/>
              <a:defRPr sz="1275" b="0">
                <a:solidFill>
                  <a:srgbClr val="64748B"/>
                </a:solidFill>
                <a:latin typeface="Inter"/>
                <a:ea typeface="Inter"/>
                <a:cs typeface="Inter"/>
              </a:defRPr>
            </a:pPr>
            <a:r>
              <a:rPr sz="1275" b="0">
                <a:solidFill>
                  <a:srgbClr val="64748B"/>
                </a:solidFill>
                <a:latin typeface="Inter"/>
                <a:ea typeface="Inter"/>
                <a:cs typeface="Inter"/>
              </a:rPr>
              <a:t>Pull recent public activity and evidence</a:t>
            </a:r>
          </a:p>
        </p:txBody>
      </p:sp>
      <p:sp>
        <p:nvSpPr>
          <p:cNvPr id="63" name="step-card-3">
            <a:extLst xmlns:a="http://schemas.openxmlformats.org/drawingml/2006/main">
              <a:ext uri="{FF2B5EF4-FFF2-40B4-BE49-F238E27FC236}">
                <a16:creationId xmlns:a16="http://schemas.microsoft.com/office/drawing/2014/main" id="{EAE27D79-0506-4A37-8119-ED367A0FBE45}"/>
              </a:ext>
            </a:extLst>
          </p:cNvPr>
          <p:cNvSpPr>
            <a:spLocks xmlns:a="http://schemas.openxmlformats.org/drawingml/2006/main" noGrp="1"/>
          </p:cNvSpPr>
          <p:nvPr/>
        </p:nvSpPr>
        <p:spPr>
          <a:xfrm xmlns:a="http://schemas.openxmlformats.org/drawingml/2006/main">
            <a:off x="3838575" y="2305050"/>
            <a:ext cx="1485900" cy="2209800"/>
          </a:xfrm>
          <a:prstGeom xmlns:a="http://schemas.openxmlformats.org/drawingml/2006/main" prst="roundRect">
            <a:avLst>
              <a:gd name="adj" fmla="val 12821"/>
            </a:avLst>
          </a:prstGeom>
          <a:solidFill xmlns:a="http://schemas.openxmlformats.org/drawingml/2006/main">
            <a:srgbClr val="EEF3FF"/>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4" name="number-3">
            <a:extLst xmlns:a="http://schemas.openxmlformats.org/drawingml/2006/main">
              <a:ext uri="{FF2B5EF4-FFF2-40B4-BE49-F238E27FC236}">
                <a16:creationId xmlns:a16="http://schemas.microsoft.com/office/drawing/2014/main" id="{5F537505-6662-468D-BD87-D7873B057447}"/>
              </a:ext>
            </a:extLst>
          </p:cNvPr>
          <p:cNvSpPr>
            <a:spLocks xmlns:a="http://schemas.openxmlformats.org/drawingml/2006/main" noGrp="1"/>
          </p:cNvSpPr>
          <p:nvPr/>
        </p:nvSpPr>
        <p:spPr>
          <a:xfrm xmlns:a="http://schemas.openxmlformats.org/drawingml/2006/main">
            <a:off x="4010025" y="2495550"/>
            <a:ext cx="361950" cy="361950"/>
          </a:xfrm>
          <a:prstGeom xmlns:a="http://schemas.openxmlformats.org/drawingml/2006/main" prst="ellipse">
            <a:avLst/>
          </a:prstGeom>
          <a:solidFill xmlns:a="http://schemas.openxmlformats.org/drawingml/2006/main">
            <a:srgbClr val="0F172A"/>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Inter"/>
                <a:ea typeface="Inter"/>
                <a:cs typeface="Inter"/>
              </a:defRPr>
            </a:pPr>
            <a:r>
              <a:rPr sz="1350" b="1">
                <a:solidFill>
                  <a:srgbClr val="FFFFFF"/>
                </a:solidFill>
                <a:latin typeface="Inter"/>
                <a:ea typeface="Inter"/>
                <a:cs typeface="Inter"/>
              </a:rPr>
              <a:t>3</a:t>
            </a:r>
          </a:p>
        </p:txBody>
      </p:sp>
      <p:sp>
        <p:nvSpPr>
          <p:cNvPr id="65" name="step-title-3">
            <a:extLst xmlns:a="http://schemas.openxmlformats.org/drawingml/2006/main">
              <a:ext uri="{FF2B5EF4-FFF2-40B4-BE49-F238E27FC236}">
                <a16:creationId xmlns:a16="http://schemas.microsoft.com/office/drawing/2014/main" id="{D42C06D2-5665-443E-A145-FC11388E9811}"/>
              </a:ext>
            </a:extLst>
          </p:cNvPr>
          <p:cNvSpPr>
            <a:spLocks xmlns:a="http://schemas.openxmlformats.org/drawingml/2006/main" noGrp="1"/>
          </p:cNvSpPr>
          <p:nvPr/>
        </p:nvSpPr>
        <p:spPr>
          <a:xfrm xmlns:a="http://schemas.openxmlformats.org/drawingml/2006/main">
            <a:off x="4010025" y="30480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650" b="1">
                <a:solidFill>
                  <a:srgbClr val="0F172A"/>
                </a:solidFill>
                <a:latin typeface="Inter"/>
                <a:ea typeface="Inter"/>
                <a:cs typeface="Inter"/>
              </a:defRPr>
            </a:pPr>
            <a:r>
              <a:rPr sz="1650" b="1">
                <a:solidFill>
                  <a:srgbClr val="0F172A"/>
                </a:solidFill>
                <a:latin typeface="Inter"/>
                <a:ea typeface="Inter"/>
                <a:cs typeface="Inter"/>
              </a:rPr>
              <a:t>Score</a:t>
            </a:r>
          </a:p>
        </p:txBody>
      </p:sp>
      <p:sp>
        <p:nvSpPr>
          <p:cNvPr id="66" name="step-body-3">
            <a:extLst xmlns:a="http://schemas.openxmlformats.org/drawingml/2006/main">
              <a:ext uri="{FF2B5EF4-FFF2-40B4-BE49-F238E27FC236}">
                <a16:creationId xmlns:a16="http://schemas.microsoft.com/office/drawing/2014/main" id="{266795B5-94DB-4CAB-9069-94DEA6D8729B}"/>
              </a:ext>
            </a:extLst>
          </p:cNvPr>
          <p:cNvSpPr>
            <a:spLocks xmlns:a="http://schemas.openxmlformats.org/drawingml/2006/main" noGrp="1"/>
          </p:cNvSpPr>
          <p:nvPr/>
        </p:nvSpPr>
        <p:spPr>
          <a:xfrm xmlns:a="http://schemas.openxmlformats.org/drawingml/2006/main">
            <a:off x="4010025" y="3524250"/>
            <a:ext cx="1143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203"/>
          </a:bodyPr>
          <a:lstStyle xmlns:a="http://schemas.openxmlformats.org/drawingml/2006/main"/>
          <a:p xmlns:a="http://schemas.openxmlformats.org/drawingml/2006/main">
            <a:pPr algn="l">
              <a:lnSpc>
                <a:spcPct val="118000"/>
              </a:lnSpc>
              <a:buNone/>
              <a:defRPr sz="1275" b="0">
                <a:solidFill>
                  <a:srgbClr val="64748B"/>
                </a:solidFill>
                <a:latin typeface="Inter"/>
                <a:ea typeface="Inter"/>
                <a:cs typeface="Inter"/>
              </a:defRPr>
            </a:pPr>
            <a:r>
              <a:rPr sz="1275" b="0">
                <a:solidFill>
                  <a:srgbClr val="64748B"/>
                </a:solidFill>
                <a:latin typeface="Inter"/>
                <a:ea typeface="Inter"/>
                <a:cs typeface="Inter"/>
              </a:rPr>
              <a:t>Explain the fit with a transparent reason</a:t>
            </a:r>
          </a:p>
        </p:txBody>
      </p:sp>
      <p:sp>
        <p:nvSpPr>
          <p:cNvPr id="67" name="step-card-4">
            <a:extLst xmlns:a="http://schemas.openxmlformats.org/drawingml/2006/main">
              <a:ext uri="{FF2B5EF4-FFF2-40B4-BE49-F238E27FC236}">
                <a16:creationId xmlns:a16="http://schemas.microsoft.com/office/drawing/2014/main" id="{AF4F94B0-7563-42E3-B2AA-7BD0B49CDD0C}"/>
              </a:ext>
            </a:extLst>
          </p:cNvPr>
          <p:cNvSpPr>
            <a:spLocks xmlns:a="http://schemas.openxmlformats.org/drawingml/2006/main" noGrp="1"/>
          </p:cNvSpPr>
          <p:nvPr/>
        </p:nvSpPr>
        <p:spPr>
          <a:xfrm xmlns:a="http://schemas.openxmlformats.org/drawingml/2006/main">
            <a:off x="5495925" y="2305050"/>
            <a:ext cx="1485900" cy="2209800"/>
          </a:xfrm>
          <a:prstGeom xmlns:a="http://schemas.openxmlformats.org/drawingml/2006/main" prst="roundRect">
            <a:avLst>
              <a:gd name="adj" fmla="val 12821"/>
            </a:avLst>
          </a:prstGeom>
          <a:solidFill xmlns:a="http://schemas.openxmlformats.org/drawingml/2006/main">
            <a:srgbClr val="FFF7E6"/>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8" name="number-4">
            <a:extLst xmlns:a="http://schemas.openxmlformats.org/drawingml/2006/main">
              <a:ext uri="{FF2B5EF4-FFF2-40B4-BE49-F238E27FC236}">
                <a16:creationId xmlns:a16="http://schemas.microsoft.com/office/drawing/2014/main" id="{7E8EF4E7-035F-4E57-8532-7EC159932EF2}"/>
              </a:ext>
            </a:extLst>
          </p:cNvPr>
          <p:cNvSpPr>
            <a:spLocks xmlns:a="http://schemas.openxmlformats.org/drawingml/2006/main" noGrp="1"/>
          </p:cNvSpPr>
          <p:nvPr/>
        </p:nvSpPr>
        <p:spPr>
          <a:xfrm xmlns:a="http://schemas.openxmlformats.org/drawingml/2006/main">
            <a:off x="5667375" y="2495550"/>
            <a:ext cx="361950" cy="361950"/>
          </a:xfrm>
          <a:prstGeom xmlns:a="http://schemas.openxmlformats.org/drawingml/2006/main" prst="ellipse">
            <a:avLst/>
          </a:prstGeom>
          <a:solidFill xmlns:a="http://schemas.openxmlformats.org/drawingml/2006/main">
            <a:srgbClr val="0F172A"/>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Inter"/>
                <a:ea typeface="Inter"/>
                <a:cs typeface="Inter"/>
              </a:defRPr>
            </a:pPr>
            <a:r>
              <a:rPr sz="1350" b="1">
                <a:solidFill>
                  <a:srgbClr val="FFFFFF"/>
                </a:solidFill>
                <a:latin typeface="Inter"/>
                <a:ea typeface="Inter"/>
                <a:cs typeface="Inter"/>
              </a:rPr>
              <a:t>4</a:t>
            </a:r>
          </a:p>
        </p:txBody>
      </p:sp>
      <p:sp>
        <p:nvSpPr>
          <p:cNvPr id="69" name="step-title-4">
            <a:extLst xmlns:a="http://schemas.openxmlformats.org/drawingml/2006/main">
              <a:ext uri="{FF2B5EF4-FFF2-40B4-BE49-F238E27FC236}">
                <a16:creationId xmlns:a16="http://schemas.microsoft.com/office/drawing/2014/main" id="{BD0472C1-ABDA-4421-8783-407F92026621}"/>
              </a:ext>
            </a:extLst>
          </p:cNvPr>
          <p:cNvSpPr>
            <a:spLocks xmlns:a="http://schemas.openxmlformats.org/drawingml/2006/main" noGrp="1"/>
          </p:cNvSpPr>
          <p:nvPr/>
        </p:nvSpPr>
        <p:spPr>
          <a:xfrm xmlns:a="http://schemas.openxmlformats.org/drawingml/2006/main">
            <a:off x="5667375" y="30480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650" b="1">
                <a:solidFill>
                  <a:srgbClr val="0F172A"/>
                </a:solidFill>
                <a:latin typeface="Inter"/>
                <a:ea typeface="Inter"/>
                <a:cs typeface="Inter"/>
              </a:defRPr>
            </a:pPr>
            <a:r>
              <a:rPr sz="1650" b="1">
                <a:solidFill>
                  <a:srgbClr val="0F172A"/>
                </a:solidFill>
                <a:latin typeface="Inter"/>
                <a:ea typeface="Inter"/>
                <a:cs typeface="Inter"/>
              </a:rPr>
              <a:t>Draft</a:t>
            </a:r>
          </a:p>
        </p:txBody>
      </p:sp>
      <p:sp>
        <p:nvSpPr>
          <p:cNvPr id="70" name="step-body-4">
            <a:extLst xmlns:a="http://schemas.openxmlformats.org/drawingml/2006/main">
              <a:ext uri="{FF2B5EF4-FFF2-40B4-BE49-F238E27FC236}">
                <a16:creationId xmlns:a16="http://schemas.microsoft.com/office/drawing/2014/main" id="{38F4AD8D-185C-4AAA-8FCA-A962B67D44D0}"/>
              </a:ext>
            </a:extLst>
          </p:cNvPr>
          <p:cNvSpPr>
            <a:spLocks xmlns:a="http://schemas.openxmlformats.org/drawingml/2006/main" noGrp="1"/>
          </p:cNvSpPr>
          <p:nvPr/>
        </p:nvSpPr>
        <p:spPr>
          <a:xfrm xmlns:a="http://schemas.openxmlformats.org/drawingml/2006/main">
            <a:off x="5667375" y="3524250"/>
            <a:ext cx="1143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8000"/>
              </a:lnSpc>
              <a:buNone/>
              <a:defRPr sz="1275" b="0">
                <a:solidFill>
                  <a:srgbClr val="64748B"/>
                </a:solidFill>
                <a:latin typeface="Inter"/>
                <a:ea typeface="Inter"/>
                <a:cs typeface="Inter"/>
              </a:defRPr>
            </a:pPr>
            <a:r>
              <a:rPr sz="1275" b="0">
                <a:solidFill>
                  <a:srgbClr val="64748B"/>
                </a:solidFill>
                <a:latin typeface="Inter"/>
                <a:ea typeface="Inter"/>
                <a:cs typeface="Inter"/>
              </a:rPr>
              <a:t>Use one sourced observation and one ask</a:t>
            </a:r>
          </a:p>
        </p:txBody>
      </p:sp>
      <p:sp>
        <p:nvSpPr>
          <p:cNvPr id="71" name="step-card-5">
            <a:extLst xmlns:a="http://schemas.openxmlformats.org/drawingml/2006/main">
              <a:ext uri="{FF2B5EF4-FFF2-40B4-BE49-F238E27FC236}">
                <a16:creationId xmlns:a16="http://schemas.microsoft.com/office/drawing/2014/main" id="{F32DB2A2-8DA7-4C92-AF72-D996FBBBDC56}"/>
              </a:ext>
            </a:extLst>
          </p:cNvPr>
          <p:cNvSpPr>
            <a:spLocks xmlns:a="http://schemas.openxmlformats.org/drawingml/2006/main" noGrp="1"/>
          </p:cNvSpPr>
          <p:nvPr/>
        </p:nvSpPr>
        <p:spPr>
          <a:xfrm xmlns:a="http://schemas.openxmlformats.org/drawingml/2006/main">
            <a:off x="7153275" y="2305050"/>
            <a:ext cx="1485900" cy="2209800"/>
          </a:xfrm>
          <a:prstGeom xmlns:a="http://schemas.openxmlformats.org/drawingml/2006/main" prst="roundRect">
            <a:avLst>
              <a:gd name="adj" fmla="val 12821"/>
            </a:avLst>
          </a:prstGeom>
          <a:solidFill xmlns:a="http://schemas.openxmlformats.org/drawingml/2006/main">
            <a:srgbClr val="F7EEFB"/>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2" name="number-5">
            <a:extLst xmlns:a="http://schemas.openxmlformats.org/drawingml/2006/main">
              <a:ext uri="{FF2B5EF4-FFF2-40B4-BE49-F238E27FC236}">
                <a16:creationId xmlns:a16="http://schemas.microsoft.com/office/drawing/2014/main" id="{2C6F0817-54A8-42F5-A43A-08672615BA25}"/>
              </a:ext>
            </a:extLst>
          </p:cNvPr>
          <p:cNvSpPr>
            <a:spLocks xmlns:a="http://schemas.openxmlformats.org/drawingml/2006/main" noGrp="1"/>
          </p:cNvSpPr>
          <p:nvPr/>
        </p:nvSpPr>
        <p:spPr>
          <a:xfrm xmlns:a="http://schemas.openxmlformats.org/drawingml/2006/main">
            <a:off x="7324725" y="2495550"/>
            <a:ext cx="361950" cy="361950"/>
          </a:xfrm>
          <a:prstGeom xmlns:a="http://schemas.openxmlformats.org/drawingml/2006/main" prst="ellipse">
            <a:avLst/>
          </a:prstGeom>
          <a:solidFill xmlns:a="http://schemas.openxmlformats.org/drawingml/2006/main">
            <a:srgbClr val="7C5CFC"/>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Inter"/>
                <a:ea typeface="Inter"/>
                <a:cs typeface="Inter"/>
              </a:defRPr>
            </a:pPr>
            <a:r>
              <a:rPr sz="1350" b="1">
                <a:solidFill>
                  <a:srgbClr val="FFFFFF"/>
                </a:solidFill>
                <a:latin typeface="Inter"/>
                <a:ea typeface="Inter"/>
                <a:cs typeface="Inter"/>
              </a:rPr>
              <a:t>5</a:t>
            </a:r>
          </a:p>
        </p:txBody>
      </p:sp>
      <p:sp>
        <p:nvSpPr>
          <p:cNvPr id="73" name="step-title-5">
            <a:extLst xmlns:a="http://schemas.openxmlformats.org/drawingml/2006/main">
              <a:ext uri="{FF2B5EF4-FFF2-40B4-BE49-F238E27FC236}">
                <a16:creationId xmlns:a16="http://schemas.microsoft.com/office/drawing/2014/main" id="{F060EA59-D6C5-46E3-B030-3DA5E53E64A2}"/>
              </a:ext>
            </a:extLst>
          </p:cNvPr>
          <p:cNvSpPr>
            <a:spLocks xmlns:a="http://schemas.openxmlformats.org/drawingml/2006/main" noGrp="1"/>
          </p:cNvSpPr>
          <p:nvPr/>
        </p:nvSpPr>
        <p:spPr>
          <a:xfrm xmlns:a="http://schemas.openxmlformats.org/drawingml/2006/main">
            <a:off x="7324725" y="30480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650" b="1">
                <a:solidFill>
                  <a:srgbClr val="0F172A"/>
                </a:solidFill>
                <a:latin typeface="Inter"/>
                <a:ea typeface="Inter"/>
                <a:cs typeface="Inter"/>
              </a:defRPr>
            </a:pPr>
            <a:r>
              <a:rPr sz="1650" b="1">
                <a:solidFill>
                  <a:srgbClr val="0F172A"/>
                </a:solidFill>
                <a:latin typeface="Inter"/>
                <a:ea typeface="Inter"/>
                <a:cs typeface="Inter"/>
              </a:rPr>
              <a:t>Send</a:t>
            </a:r>
          </a:p>
        </p:txBody>
      </p:sp>
      <p:sp>
        <p:nvSpPr>
          <p:cNvPr id="74" name="step-body-5">
            <a:extLst xmlns:a="http://schemas.openxmlformats.org/drawingml/2006/main">
              <a:ext uri="{FF2B5EF4-FFF2-40B4-BE49-F238E27FC236}">
                <a16:creationId xmlns:a16="http://schemas.microsoft.com/office/drawing/2014/main" id="{BD6015A6-9ACE-476E-AA65-8899D431396E}"/>
              </a:ext>
            </a:extLst>
          </p:cNvPr>
          <p:cNvSpPr>
            <a:spLocks xmlns:a="http://schemas.openxmlformats.org/drawingml/2006/main" noGrp="1"/>
          </p:cNvSpPr>
          <p:nvPr/>
        </p:nvSpPr>
        <p:spPr>
          <a:xfrm xmlns:a="http://schemas.openxmlformats.org/drawingml/2006/main">
            <a:off x="7324725" y="3524250"/>
            <a:ext cx="1143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8000"/>
              </a:lnSpc>
              <a:buNone/>
              <a:defRPr sz="1275" b="0">
                <a:solidFill>
                  <a:srgbClr val="64748B"/>
                </a:solidFill>
                <a:latin typeface="Inter"/>
                <a:ea typeface="Inter"/>
                <a:cs typeface="Inter"/>
              </a:defRPr>
            </a:pPr>
            <a:r>
              <a:rPr sz="1275" b="0">
                <a:solidFill>
                  <a:srgbClr val="64748B"/>
                </a:solidFill>
                <a:latin typeface="Inter"/>
                <a:ea typeface="Inter"/>
                <a:cs typeface="Inter"/>
              </a:rPr>
              <a:t>Approve it—or let the agent send</a:t>
            </a:r>
          </a:p>
        </p:txBody>
      </p:sp>
      <p:sp>
        <p:nvSpPr>
          <p:cNvPr id="75" name="step-card-6">
            <a:extLst xmlns:a="http://schemas.openxmlformats.org/drawingml/2006/main">
              <a:ext uri="{FF2B5EF4-FFF2-40B4-BE49-F238E27FC236}">
                <a16:creationId xmlns:a16="http://schemas.microsoft.com/office/drawing/2014/main" id="{E70D79A5-FD85-4551-9378-F0D740913588}"/>
              </a:ext>
            </a:extLst>
          </p:cNvPr>
          <p:cNvSpPr>
            <a:spLocks xmlns:a="http://schemas.openxmlformats.org/drawingml/2006/main" noGrp="1"/>
          </p:cNvSpPr>
          <p:nvPr/>
        </p:nvSpPr>
        <p:spPr>
          <a:xfrm xmlns:a="http://schemas.openxmlformats.org/drawingml/2006/main">
            <a:off x="8810625" y="2305050"/>
            <a:ext cx="1485900" cy="2209800"/>
          </a:xfrm>
          <a:prstGeom xmlns:a="http://schemas.openxmlformats.org/drawingml/2006/main" prst="roundRect">
            <a:avLst>
              <a:gd name="adj" fmla="val 12821"/>
            </a:avLst>
          </a:prstGeom>
          <a:solidFill xmlns:a="http://schemas.openxmlformats.org/drawingml/2006/main">
            <a:srgbClr val="EEF3FF"/>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6" name="number-6">
            <a:extLst xmlns:a="http://schemas.openxmlformats.org/drawingml/2006/main">
              <a:ext uri="{FF2B5EF4-FFF2-40B4-BE49-F238E27FC236}">
                <a16:creationId xmlns:a16="http://schemas.microsoft.com/office/drawing/2014/main" id="{CED35202-4CE6-40B3-8B2F-C1C71D763D54}"/>
              </a:ext>
            </a:extLst>
          </p:cNvPr>
          <p:cNvSpPr>
            <a:spLocks xmlns:a="http://schemas.openxmlformats.org/drawingml/2006/main" noGrp="1"/>
          </p:cNvSpPr>
          <p:nvPr/>
        </p:nvSpPr>
        <p:spPr>
          <a:xfrm xmlns:a="http://schemas.openxmlformats.org/drawingml/2006/main">
            <a:off x="8982075" y="2495550"/>
            <a:ext cx="361950" cy="361950"/>
          </a:xfrm>
          <a:prstGeom xmlns:a="http://schemas.openxmlformats.org/drawingml/2006/main" prst="ellipse">
            <a:avLst/>
          </a:prstGeom>
          <a:solidFill xmlns:a="http://schemas.openxmlformats.org/drawingml/2006/main">
            <a:srgbClr val="0F172A"/>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Inter"/>
                <a:ea typeface="Inter"/>
                <a:cs typeface="Inter"/>
              </a:defRPr>
            </a:pPr>
            <a:r>
              <a:rPr sz="1350" b="1">
                <a:solidFill>
                  <a:srgbClr val="FFFFFF"/>
                </a:solidFill>
                <a:latin typeface="Inter"/>
                <a:ea typeface="Inter"/>
                <a:cs typeface="Inter"/>
              </a:rPr>
              <a:t>6</a:t>
            </a:r>
          </a:p>
        </p:txBody>
      </p:sp>
      <p:sp>
        <p:nvSpPr>
          <p:cNvPr id="77" name="step-title-6">
            <a:extLst xmlns:a="http://schemas.openxmlformats.org/drawingml/2006/main">
              <a:ext uri="{FF2B5EF4-FFF2-40B4-BE49-F238E27FC236}">
                <a16:creationId xmlns:a16="http://schemas.microsoft.com/office/drawing/2014/main" id="{9095BBD2-D607-4BB3-AEEB-5FCF48996094}"/>
              </a:ext>
            </a:extLst>
          </p:cNvPr>
          <p:cNvSpPr>
            <a:spLocks xmlns:a="http://schemas.openxmlformats.org/drawingml/2006/main" noGrp="1"/>
          </p:cNvSpPr>
          <p:nvPr/>
        </p:nvSpPr>
        <p:spPr>
          <a:xfrm xmlns:a="http://schemas.openxmlformats.org/drawingml/2006/main">
            <a:off x="8982075" y="30480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650" b="1">
                <a:solidFill>
                  <a:srgbClr val="0F172A"/>
                </a:solidFill>
                <a:latin typeface="Inter"/>
                <a:ea typeface="Inter"/>
                <a:cs typeface="Inter"/>
              </a:defRPr>
            </a:pPr>
            <a:r>
              <a:rPr sz="1650" b="1">
                <a:solidFill>
                  <a:srgbClr val="0F172A"/>
                </a:solidFill>
                <a:latin typeface="Inter"/>
                <a:ea typeface="Inter"/>
                <a:cs typeface="Inter"/>
              </a:rPr>
              <a:t>Read reply</a:t>
            </a:r>
          </a:p>
        </p:txBody>
      </p:sp>
      <p:sp>
        <p:nvSpPr>
          <p:cNvPr id="78" name="step-body-6">
            <a:extLst xmlns:a="http://schemas.openxmlformats.org/drawingml/2006/main">
              <a:ext uri="{FF2B5EF4-FFF2-40B4-BE49-F238E27FC236}">
                <a16:creationId xmlns:a16="http://schemas.microsoft.com/office/drawing/2014/main" id="{740B5730-8124-4476-8795-0F0008BFDBA3}"/>
              </a:ext>
            </a:extLst>
          </p:cNvPr>
          <p:cNvSpPr>
            <a:spLocks xmlns:a="http://schemas.openxmlformats.org/drawingml/2006/main" noGrp="1"/>
          </p:cNvSpPr>
          <p:nvPr/>
        </p:nvSpPr>
        <p:spPr>
          <a:xfrm xmlns:a="http://schemas.openxmlformats.org/drawingml/2006/main">
            <a:off x="8982075" y="3524250"/>
            <a:ext cx="1143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8000"/>
              </a:lnSpc>
              <a:buNone/>
              <a:defRPr sz="1275" b="0">
                <a:solidFill>
                  <a:srgbClr val="64748B"/>
                </a:solidFill>
                <a:latin typeface="Inter"/>
                <a:ea typeface="Inter"/>
                <a:cs typeface="Inter"/>
              </a:defRPr>
            </a:pPr>
            <a:r>
              <a:rPr sz="1275" b="0">
                <a:solidFill>
                  <a:srgbClr val="64748B"/>
                </a:solidFill>
                <a:latin typeface="Inter"/>
                <a:ea typeface="Inter"/>
                <a:cs typeface="Inter"/>
              </a:rPr>
              <a:t>Classify intent and update the thread</a:t>
            </a:r>
          </a:p>
        </p:txBody>
      </p:sp>
      <p:sp>
        <p:nvSpPr>
          <p:cNvPr id="79" name="step-card-7">
            <a:extLst xmlns:a="http://schemas.openxmlformats.org/drawingml/2006/main">
              <a:ext uri="{FF2B5EF4-FFF2-40B4-BE49-F238E27FC236}">
                <a16:creationId xmlns:a16="http://schemas.microsoft.com/office/drawing/2014/main" id="{7AAA88DC-1C8E-4811-A1C4-D87FA69CDE4B}"/>
              </a:ext>
            </a:extLst>
          </p:cNvPr>
          <p:cNvSpPr>
            <a:spLocks xmlns:a="http://schemas.openxmlformats.org/drawingml/2006/main" noGrp="1"/>
          </p:cNvSpPr>
          <p:nvPr/>
        </p:nvSpPr>
        <p:spPr>
          <a:xfrm xmlns:a="http://schemas.openxmlformats.org/drawingml/2006/main">
            <a:off x="10467975" y="2305050"/>
            <a:ext cx="1485900" cy="2209800"/>
          </a:xfrm>
          <a:prstGeom xmlns:a="http://schemas.openxmlformats.org/drawingml/2006/main" prst="roundRect">
            <a:avLst>
              <a:gd name="adj" fmla="val 12821"/>
            </a:avLst>
          </a:prstGeom>
          <a:solidFill xmlns:a="http://schemas.openxmlformats.org/drawingml/2006/main">
            <a:srgbClr val="FFF7E6"/>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0" name="number-7">
            <a:extLst xmlns:a="http://schemas.openxmlformats.org/drawingml/2006/main">
              <a:ext uri="{FF2B5EF4-FFF2-40B4-BE49-F238E27FC236}">
                <a16:creationId xmlns:a16="http://schemas.microsoft.com/office/drawing/2014/main" id="{7B14A7DD-D2E0-4EDD-879D-81E0C4FAED63}"/>
              </a:ext>
            </a:extLst>
          </p:cNvPr>
          <p:cNvSpPr>
            <a:spLocks xmlns:a="http://schemas.openxmlformats.org/drawingml/2006/main" noGrp="1"/>
          </p:cNvSpPr>
          <p:nvPr/>
        </p:nvSpPr>
        <p:spPr>
          <a:xfrm xmlns:a="http://schemas.openxmlformats.org/drawingml/2006/main">
            <a:off x="10639425" y="2495550"/>
            <a:ext cx="361950" cy="361950"/>
          </a:xfrm>
          <a:prstGeom xmlns:a="http://schemas.openxmlformats.org/drawingml/2006/main" prst="ellipse">
            <a:avLst/>
          </a:prstGeom>
          <a:solidFill xmlns:a="http://schemas.openxmlformats.org/drawingml/2006/main">
            <a:srgbClr val="0F172A"/>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Inter"/>
                <a:ea typeface="Inter"/>
                <a:cs typeface="Inter"/>
              </a:defRPr>
            </a:pPr>
            <a:r>
              <a:rPr sz="1350" b="1">
                <a:solidFill>
                  <a:srgbClr val="FFFFFF"/>
                </a:solidFill>
                <a:latin typeface="Inter"/>
                <a:ea typeface="Inter"/>
                <a:cs typeface="Inter"/>
              </a:rPr>
              <a:t>7</a:t>
            </a:r>
          </a:p>
        </p:txBody>
      </p:sp>
      <p:sp>
        <p:nvSpPr>
          <p:cNvPr id="81" name="step-title-7">
            <a:extLst xmlns:a="http://schemas.openxmlformats.org/drawingml/2006/main">
              <a:ext uri="{FF2B5EF4-FFF2-40B4-BE49-F238E27FC236}">
                <a16:creationId xmlns:a16="http://schemas.microsoft.com/office/drawing/2014/main" id="{86DE8B71-1DE0-405C-959A-599F1C6CA64B}"/>
              </a:ext>
            </a:extLst>
          </p:cNvPr>
          <p:cNvSpPr>
            <a:spLocks xmlns:a="http://schemas.openxmlformats.org/drawingml/2006/main" noGrp="1"/>
          </p:cNvSpPr>
          <p:nvPr/>
        </p:nvSpPr>
        <p:spPr>
          <a:xfrm xmlns:a="http://schemas.openxmlformats.org/drawingml/2006/main">
            <a:off x="10639425" y="30480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650" b="1">
                <a:solidFill>
                  <a:srgbClr val="0F172A"/>
                </a:solidFill>
                <a:latin typeface="Inter"/>
                <a:ea typeface="Inter"/>
                <a:cs typeface="Inter"/>
              </a:defRPr>
            </a:pPr>
            <a:r>
              <a:rPr sz="1650" b="1">
                <a:solidFill>
                  <a:srgbClr val="0F172A"/>
                </a:solidFill>
                <a:latin typeface="Inter"/>
                <a:ea typeface="Inter"/>
                <a:cs typeface="Inter"/>
              </a:rPr>
              <a:t>Follow up</a:t>
            </a:r>
          </a:p>
        </p:txBody>
      </p:sp>
      <p:sp>
        <p:nvSpPr>
          <p:cNvPr id="82" name="step-body-7">
            <a:extLst xmlns:a="http://schemas.openxmlformats.org/drawingml/2006/main">
              <a:ext uri="{FF2B5EF4-FFF2-40B4-BE49-F238E27FC236}">
                <a16:creationId xmlns:a16="http://schemas.microsoft.com/office/drawing/2014/main" id="{F09D330F-8B3B-43FD-ABC1-61A0328BDAD2}"/>
              </a:ext>
            </a:extLst>
          </p:cNvPr>
          <p:cNvSpPr>
            <a:spLocks xmlns:a="http://schemas.openxmlformats.org/drawingml/2006/main" noGrp="1"/>
          </p:cNvSpPr>
          <p:nvPr/>
        </p:nvSpPr>
        <p:spPr>
          <a:xfrm xmlns:a="http://schemas.openxmlformats.org/drawingml/2006/main">
            <a:off x="10639425" y="3524250"/>
            <a:ext cx="1143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8000"/>
              </a:lnSpc>
              <a:buNone/>
              <a:defRPr sz="1275" b="0">
                <a:solidFill>
                  <a:srgbClr val="64748B"/>
                </a:solidFill>
                <a:latin typeface="Inter"/>
                <a:ea typeface="Inter"/>
                <a:cs typeface="Inter"/>
              </a:defRPr>
            </a:pPr>
            <a:r>
              <a:rPr sz="1275" b="0">
                <a:solidFill>
                  <a:srgbClr val="64748B"/>
                </a:solidFill>
                <a:latin typeface="Inter"/>
                <a:ea typeface="Inter"/>
                <a:cs typeface="Inter"/>
              </a:rPr>
              <a:t>Stay useful, capped and opt-out aware</a:t>
            </a:r>
          </a:p>
        </p:txBody>
      </p:sp>
      <p:sp>
        <p:nvSpPr>
          <p:cNvPr id="83" name="sample-message-card">
            <a:extLst xmlns:a="http://schemas.openxmlformats.org/drawingml/2006/main">
              <a:ext uri="{FF2B5EF4-FFF2-40B4-BE49-F238E27FC236}">
                <a16:creationId xmlns:a16="http://schemas.microsoft.com/office/drawing/2014/main" id="{5C97F992-6F9A-427C-9D22-04F739F48B50}"/>
              </a:ext>
            </a:extLst>
          </p:cNvPr>
          <p:cNvSpPr>
            <a:spLocks xmlns:a="http://schemas.openxmlformats.org/drawingml/2006/main" noGrp="1"/>
          </p:cNvSpPr>
          <p:nvPr/>
        </p:nvSpPr>
        <p:spPr>
          <a:xfrm xmlns:a="http://schemas.openxmlformats.org/drawingml/2006/main">
            <a:off x="933450" y="4914900"/>
            <a:ext cx="10325100" cy="1143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84" name="sample-label">
            <a:extLst xmlns:a="http://schemas.openxmlformats.org/drawingml/2006/main">
              <a:ext uri="{FF2B5EF4-FFF2-40B4-BE49-F238E27FC236}">
                <a16:creationId xmlns:a16="http://schemas.microsoft.com/office/drawing/2014/main" id="{7522DB1F-2EF9-4F66-92C2-87C4C0EE4874}"/>
              </a:ext>
            </a:extLst>
          </p:cNvPr>
          <p:cNvSpPr>
            <a:spLocks xmlns:a="http://schemas.openxmlformats.org/drawingml/2006/main" noGrp="1"/>
          </p:cNvSpPr>
          <p:nvPr/>
        </p:nvSpPr>
        <p:spPr>
          <a:xfrm xmlns:a="http://schemas.openxmlformats.org/drawingml/2006/main">
            <a:off x="1162050" y="51054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1">
                <a:solidFill>
                  <a:srgbClr val="7C5CFC"/>
                </a:solidFill>
                <a:latin typeface="Inter"/>
                <a:ea typeface="Inter"/>
                <a:cs typeface="Inter"/>
              </a:defRPr>
            </a:pPr>
            <a:r>
              <a:rPr sz="1050" b="1">
                <a:solidFill>
                  <a:srgbClr val="7C5CFC"/>
                </a:solidFill>
                <a:latin typeface="Inter"/>
                <a:ea typeface="Inter"/>
                <a:cs typeface="Inter"/>
              </a:rPr>
              <a:t>SAMPLE FIRST TOUCH</a:t>
            </a:r>
          </a:p>
        </p:txBody>
      </p:sp>
      <p:sp>
        <p:nvSpPr>
          <p:cNvPr id="85" name="evidence-pill">
            <a:extLst xmlns:a="http://schemas.openxmlformats.org/drawingml/2006/main">
              <a:ext uri="{FF2B5EF4-FFF2-40B4-BE49-F238E27FC236}">
                <a16:creationId xmlns:a16="http://schemas.microsoft.com/office/drawing/2014/main" id="{38874FA6-988D-4D13-A77D-6077663414FE}"/>
              </a:ext>
            </a:extLst>
          </p:cNvPr>
          <p:cNvSpPr>
            <a:spLocks xmlns:a="http://schemas.openxmlformats.org/drawingml/2006/main" noGrp="1"/>
          </p:cNvSpPr>
          <p:nvPr/>
        </p:nvSpPr>
        <p:spPr>
          <a:xfrm xmlns:a="http://schemas.openxmlformats.org/drawingml/2006/main">
            <a:off x="9353550" y="5067300"/>
            <a:ext cx="1619250" cy="304800"/>
          </a:xfrm>
          <a:prstGeom xmlns:a="http://schemas.openxmlformats.org/drawingml/2006/main" prst="roundRect">
            <a:avLst>
              <a:gd name="adj" fmla="val 50000"/>
            </a:avLst>
          </a:prstGeom>
          <a:solidFill xmlns:a="http://schemas.openxmlformats.org/drawingml/2006/main">
            <a:srgbClr val="FBF7FF"/>
          </a:solidFill>
          <a:ln xmlns:a="http://schemas.openxmlformats.org/drawingml/2006/main" w="9525">
            <a:solidFill>
              <a:srgbClr val="E9D5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B567C2"/>
                </a:solidFill>
                <a:latin typeface="Inter"/>
                <a:ea typeface="Inter"/>
                <a:cs typeface="Inter"/>
              </a:defRPr>
            </a:pPr>
            <a:r>
              <a:rPr sz="1050" b="1">
                <a:solidFill>
                  <a:srgbClr val="B567C2"/>
                </a:solidFill>
                <a:latin typeface="Inter"/>
                <a:ea typeface="Inter"/>
                <a:cs typeface="Inter"/>
              </a:rPr>
              <a:t>EVIDENCE-BOUND</a:t>
            </a:r>
          </a:p>
        </p:txBody>
      </p:sp>
      <p:sp>
        <p:nvSpPr>
          <p:cNvPr id="86" name="sample-message">
            <a:extLst xmlns:a="http://schemas.openxmlformats.org/drawingml/2006/main">
              <a:ext uri="{FF2B5EF4-FFF2-40B4-BE49-F238E27FC236}">
                <a16:creationId xmlns:a16="http://schemas.microsoft.com/office/drawing/2014/main" id="{D6184B56-6E16-4BC2-BA11-D778B82F2285}"/>
              </a:ext>
            </a:extLst>
          </p:cNvPr>
          <p:cNvSpPr>
            <a:spLocks xmlns:a="http://schemas.openxmlformats.org/drawingml/2006/main" noGrp="1"/>
          </p:cNvSpPr>
          <p:nvPr/>
        </p:nvSpPr>
        <p:spPr>
          <a:xfrm xmlns:a="http://schemas.openxmlformats.org/drawingml/2006/main">
            <a:off x="1162050" y="5467350"/>
            <a:ext cx="96678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238"/>
          </a:bodyPr>
          <a:lstStyle xmlns:a="http://schemas.openxmlformats.org/drawingml/2006/main"/>
          <a:p xmlns:a="http://schemas.openxmlformats.org/drawingml/2006/main">
            <a:pPr algn="l">
              <a:lnSpc>
                <a:spcPct val="118000"/>
              </a:lnSpc>
              <a:buNone/>
              <a:defRPr sz="1350" b="0">
                <a:solidFill>
                  <a:srgbClr val="1E293B"/>
                </a:solidFill>
                <a:latin typeface="Inter"/>
                <a:ea typeface="Inter"/>
                <a:cs typeface="Inter"/>
              </a:defRPr>
            </a:pPr>
            <a:r>
              <a:rPr sz="1350" b="0">
                <a:solidFill>
                  <a:srgbClr val="1E293B"/>
                </a:solidFill>
                <a:latin typeface="Inter"/>
                <a:ea typeface="Inter"/>
                <a:cs typeface="Inter"/>
              </a:rPr>
              <a:t>Hi Wei Ling—saw Kōri put the Uji matcha line on its TikTok menu drop. If you’re lining up creators, Influencees can shortlist SG F&amp;B micro-creators by real engagement and match them against the launch. Worth a 15-minute look?</a:t>
            </a:r>
          </a:p>
        </p:txBody>
      </p:sp>
      <p:sp>
        <p:nvSpPr>
          <p:cNvPr id="87" name="footer-brand">
            <a:extLst xmlns:a="http://schemas.openxmlformats.org/drawingml/2006/main">
              <a:ext uri="{FF2B5EF4-FFF2-40B4-BE49-F238E27FC236}">
                <a16:creationId xmlns:a16="http://schemas.microsoft.com/office/drawing/2014/main" id="{C9FFA6EB-F672-4B36-82CD-1BC8CF0FA074}"/>
              </a:ext>
            </a:extLst>
          </p:cNvPr>
          <p:cNvSpPr>
            <a:spLocks xmlns:a="http://schemas.openxmlformats.org/drawingml/2006/main" noGrp="1"/>
          </p:cNvSpPr>
          <p:nvPr/>
        </p:nvSpPr>
        <p:spPr>
          <a:xfrm xmlns:a="http://schemas.openxmlformats.org/drawingml/2006/main">
            <a:off x="533400" y="6457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75" b="1">
                <a:solidFill>
                  <a:srgbClr val="94A3B8"/>
                </a:solidFill>
                <a:latin typeface="Inter"/>
                <a:ea typeface="Inter"/>
                <a:cs typeface="Inter"/>
              </a:defRPr>
            </a:pPr>
            <a:r>
              <a:rPr sz="975" b="1">
                <a:solidFill>
                  <a:srgbClr val="94A3B8"/>
                </a:solidFill>
                <a:latin typeface="Inter"/>
                <a:ea typeface="Inter"/>
                <a:cs typeface="Inter"/>
              </a:rPr>
              <a:t>INFLUENCEES</a:t>
            </a:r>
          </a:p>
        </p:txBody>
      </p:sp>
      <p:sp>
        <p:nvSpPr>
          <p:cNvPr id="88" name="footer-page">
            <a:extLst xmlns:a="http://schemas.openxmlformats.org/drawingml/2006/main">
              <a:ext uri="{FF2B5EF4-FFF2-40B4-BE49-F238E27FC236}">
                <a16:creationId xmlns:a16="http://schemas.microsoft.com/office/drawing/2014/main" id="{D4785D3A-F8CA-40ED-9AB5-28CD5ACE5555}"/>
              </a:ext>
            </a:extLst>
          </p:cNvPr>
          <p:cNvSpPr>
            <a:spLocks xmlns:a="http://schemas.openxmlformats.org/drawingml/2006/main" noGrp="1"/>
          </p:cNvSpPr>
          <p:nvPr/>
        </p:nvSpPr>
        <p:spPr>
          <a:xfrm xmlns:a="http://schemas.openxmlformats.org/drawingml/2006/main">
            <a:off x="10572750" y="6457950"/>
            <a:ext cx="1085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975" b="1">
                <a:solidFill>
                  <a:srgbClr val="94A3B8"/>
                </a:solidFill>
                <a:latin typeface="Inter"/>
                <a:ea typeface="Inter"/>
                <a:cs typeface="Inter"/>
              </a:defRPr>
            </a:pPr>
            <a:r>
              <a:rPr sz="975" b="1">
                <a:solidFill>
                  <a:srgbClr val="94A3B8"/>
                </a:solidFill>
                <a:latin typeface="Inter"/>
                <a:ea typeface="Inter"/>
                <a:cs typeface="Inter"/>
              </a:rPr>
              <a:t>04 / 10</a:t>
            </a:r>
          </a:p>
        </p:txBody>
      </p:sp>
    </p:spTree>
    <p:extLst>
      <p:ext uri="{BB962C8B-B14F-4D97-AF65-F5344CB8AC3E}">
        <p14:creationId xmlns:p14="http://schemas.microsoft.com/office/powerpoint/2010/main" val="20205039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06C64C0-E7E2-4392-B879-C908C54389B3}"/>
              </a:ext>
            </a:extLst>
          </p:cNvPr>
          <p:cNvSpPr>
            <a:spLocks xmlns:a="http://schemas.openxmlformats.org/drawingml/2006/main" noGrp="1"/>
          </p:cNvSpPr>
          <p:nvPr/>
        </p:nvSpPr>
        <p:spPr>
          <a:xfrm xmlns:a="http://schemas.openxmlformats.org/drawingml/2006/main">
            <a:off x="566928"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50" b="1">
                <a:solidFill>
                  <a:srgbClr val="5A3EE0"/>
                </a:solidFill>
                <a:latin typeface="Arial"/>
                <a:ea typeface="Arial"/>
                <a:cs typeface="Arial"/>
              </a:rPr>
              <a:t>SOLUTION 01  ·  THE DASHBOARD</a:t>
            </a:r>
          </a:p>
        </p:txBody>
      </p:sp>
      <p:sp>
        <p:nvSpPr>
          <p:cNvPr id="3" name="Text 1">
            <a:extLst xmlns:a="http://schemas.openxmlformats.org/drawingml/2006/main">
              <a:ext uri="{FF2B5EF4-FFF2-40B4-BE49-F238E27FC236}">
                <a16:creationId xmlns:a16="http://schemas.microsoft.com/office/drawing/2014/main" id="{DA1465E3-A28A-4285-BC64-90D507D78001}"/>
              </a:ext>
            </a:extLst>
          </p:cNvPr>
          <p:cNvSpPr>
            <a:spLocks xmlns:a="http://schemas.openxmlformats.org/drawingml/2006/main" noGrp="1"/>
          </p:cNvSpPr>
          <p:nvPr/>
        </p:nvSpPr>
        <p:spPr>
          <a:xfrm xmlns:a="http://schemas.openxmlformats.org/drawingml/2006/main">
            <a:off x="566928" y="822960"/>
            <a:ext cx="106070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2000"/>
              </a:lnSpc>
              <a:buNone/>
            </a:pPr>
            <a:r>
              <a:rPr sz="2700" b="1">
                <a:solidFill>
                  <a:srgbClr val="0D0C0A"/>
                </a:solidFill>
                <a:latin typeface="Arial"/>
                <a:ea typeface="Arial"/>
                <a:cs typeface="Arial"/>
              </a:rPr>
              <a:t>Everything the operator does is visible in one place.</a:t>
            </a:r>
          </a:p>
        </p:txBody>
      </p:sp>
      <p:sp>
        <p:nvSpPr>
          <p:cNvPr id="4" name="Shape 2">
            <a:extLst xmlns:a="http://schemas.openxmlformats.org/drawingml/2006/main">
              <a:ext uri="{FF2B5EF4-FFF2-40B4-BE49-F238E27FC236}">
                <a16:creationId xmlns:a16="http://schemas.microsoft.com/office/drawing/2014/main" id="{55660B2D-CCB4-41DC-8BAB-CE4C00FFFDB2}"/>
              </a:ext>
            </a:extLst>
          </p:cNvPr>
          <p:cNvSpPr>
            <a:spLocks xmlns:a="http://schemas.openxmlformats.org/drawingml/2006/main" noGrp="1"/>
          </p:cNvSpPr>
          <p:nvPr/>
        </p:nvSpPr>
        <p:spPr>
          <a:xfrm xmlns:a="http://schemas.openxmlformats.org/drawingml/2006/main">
            <a:off x="566928" y="1965960"/>
            <a:ext cx="6720840" cy="4160520"/>
          </a:xfrm>
          <a:prstGeom xmlns:a="http://schemas.openxmlformats.org/drawingml/2006/main" prst="roundRect">
            <a:avLst>
              <a:gd name="adj" fmla="val 1099"/>
            </a:avLst>
          </a:prstGeom>
          <a:solidFill xmlns:a="http://schemas.openxmlformats.org/drawingml/2006/main">
            <a:srgbClr val="FBF9F5"/>
          </a:solidFill>
          <a:ln xmlns:a="http://schemas.openxmlformats.org/drawingml/2006/main" w="15875">
            <a:solidFill>
              <a:srgbClr val="CBC5B9"/>
            </a:solidFill>
            <a:prstDash val="dash"/>
          </a:ln>
        </p:spPr>
      </p:sp>
      <p:sp>
        <p:nvSpPr>
          <p:cNvPr id="5" name="Text 3">
            <a:extLst xmlns:a="http://schemas.openxmlformats.org/drawingml/2006/main">
              <a:ext uri="{FF2B5EF4-FFF2-40B4-BE49-F238E27FC236}">
                <a16:creationId xmlns:a16="http://schemas.microsoft.com/office/drawing/2014/main" id="{B19C037A-1F7A-47C7-BF34-03DCF113A2C7}"/>
              </a:ext>
            </a:extLst>
          </p:cNvPr>
          <p:cNvSpPr>
            <a:spLocks xmlns:a="http://schemas.openxmlformats.org/drawingml/2006/main" noGrp="1"/>
          </p:cNvSpPr>
          <p:nvPr/>
        </p:nvSpPr>
        <p:spPr>
          <a:xfrm xmlns:a="http://schemas.openxmlformats.org/drawingml/2006/main">
            <a:off x="566928" y="3543300"/>
            <a:ext cx="6720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E2DED6"/>
                </a:solidFill>
                <a:latin typeface="Arial"/>
                <a:ea typeface="Arial"/>
                <a:cs typeface="Arial"/>
              </a:rPr>
              <a:t>◻</a:t>
            </a:r>
          </a:p>
        </p:txBody>
      </p:sp>
      <p:sp>
        <p:nvSpPr>
          <p:cNvPr id="6" name="Text 4">
            <a:extLst xmlns:a="http://schemas.openxmlformats.org/drawingml/2006/main">
              <a:ext uri="{FF2B5EF4-FFF2-40B4-BE49-F238E27FC236}">
                <a16:creationId xmlns:a16="http://schemas.microsoft.com/office/drawing/2014/main" id="{6C14982A-7492-4354-8992-1AC89577EABC}"/>
              </a:ext>
            </a:extLst>
          </p:cNvPr>
          <p:cNvSpPr>
            <a:spLocks xmlns:a="http://schemas.openxmlformats.org/drawingml/2006/main" noGrp="1"/>
          </p:cNvSpPr>
          <p:nvPr/>
        </p:nvSpPr>
        <p:spPr>
          <a:xfrm xmlns:a="http://schemas.openxmlformats.org/drawingml/2006/main">
            <a:off x="658368" y="3973068"/>
            <a:ext cx="6537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5A3EE0"/>
                </a:solidFill>
                <a:latin typeface="Arial"/>
                <a:ea typeface="Arial"/>
                <a:cs typeface="Arial"/>
              </a:rPr>
              <a:t>SHARED INBOX</a:t>
            </a:r>
          </a:p>
        </p:txBody>
      </p:sp>
      <p:sp>
        <p:nvSpPr>
          <p:cNvPr id="7" name="Text 5">
            <a:extLst xmlns:a="http://schemas.openxmlformats.org/drawingml/2006/main">
              <a:ext uri="{FF2B5EF4-FFF2-40B4-BE49-F238E27FC236}">
                <a16:creationId xmlns:a16="http://schemas.microsoft.com/office/drawing/2014/main" id="{BCAE966D-2CBB-4D62-AD49-D32DC9051F49}"/>
              </a:ext>
            </a:extLst>
          </p:cNvPr>
          <p:cNvSpPr>
            <a:spLocks xmlns:a="http://schemas.openxmlformats.org/drawingml/2006/main" noGrp="1"/>
          </p:cNvSpPr>
          <p:nvPr/>
        </p:nvSpPr>
        <p:spPr>
          <a:xfrm xmlns:a="http://schemas.openxmlformats.org/drawingml/2006/main">
            <a:off x="676656" y="4265676"/>
            <a:ext cx="6501384"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05000"/>
              </a:lnSpc>
              <a:buNone/>
            </a:pPr>
            <a:r>
              <a:rPr sz="950">
                <a:solidFill>
                  <a:srgbClr val="9A968C"/>
                </a:solidFill>
                <a:latin typeface="Arial"/>
                <a:ea typeface="Arial"/>
                <a:cs typeface="Arial"/>
              </a:rPr>
              <a:t>Conversation list · full thread · company context and agent controls. Drop your inbox screenshot here.</a:t>
            </a:r>
          </a:p>
        </p:txBody>
      </p:sp>
      <p:sp>
        <p:nvSpPr>
          <p:cNvPr id="8" name="Shape 6">
            <a:extLst xmlns:a="http://schemas.openxmlformats.org/drawingml/2006/main">
              <a:ext uri="{FF2B5EF4-FFF2-40B4-BE49-F238E27FC236}">
                <a16:creationId xmlns:a16="http://schemas.microsoft.com/office/drawing/2014/main" id="{784CABFD-6A5E-4726-9D72-281D606A6F7B}"/>
              </a:ext>
            </a:extLst>
          </p:cNvPr>
          <p:cNvSpPr>
            <a:spLocks xmlns:a="http://schemas.openxmlformats.org/drawingml/2006/main" noGrp="1"/>
          </p:cNvSpPr>
          <p:nvPr/>
        </p:nvSpPr>
        <p:spPr>
          <a:xfrm xmlns:a="http://schemas.openxmlformats.org/drawingml/2006/main">
            <a:off x="7543800" y="1965960"/>
            <a:ext cx="4069080" cy="1874520"/>
          </a:xfrm>
          <a:prstGeom xmlns:a="http://schemas.openxmlformats.org/drawingml/2006/main" prst="roundRect">
            <a:avLst>
              <a:gd name="adj" fmla="val 2439"/>
            </a:avLst>
          </a:prstGeom>
          <a:solidFill xmlns:a="http://schemas.openxmlformats.org/drawingml/2006/main">
            <a:srgbClr val="FBF9F5"/>
          </a:solidFill>
          <a:ln xmlns:a="http://schemas.openxmlformats.org/drawingml/2006/main" w="15875">
            <a:solidFill>
              <a:srgbClr val="CBC5B9"/>
            </a:solidFill>
            <a:prstDash val="dash"/>
          </a:ln>
        </p:spPr>
      </p:sp>
      <p:sp>
        <p:nvSpPr>
          <p:cNvPr id="9" name="Text 7">
            <a:extLst xmlns:a="http://schemas.openxmlformats.org/drawingml/2006/main">
              <a:ext uri="{FF2B5EF4-FFF2-40B4-BE49-F238E27FC236}">
                <a16:creationId xmlns:a16="http://schemas.microsoft.com/office/drawing/2014/main" id="{B3D747D5-7FB3-4926-96FE-B1B82240819A}"/>
              </a:ext>
            </a:extLst>
          </p:cNvPr>
          <p:cNvSpPr>
            <a:spLocks xmlns:a="http://schemas.openxmlformats.org/drawingml/2006/main" noGrp="1"/>
          </p:cNvSpPr>
          <p:nvPr/>
        </p:nvSpPr>
        <p:spPr>
          <a:xfrm xmlns:a="http://schemas.openxmlformats.org/drawingml/2006/main">
            <a:off x="7543800" y="2400300"/>
            <a:ext cx="4069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E2DED6"/>
                </a:solidFill>
                <a:latin typeface="Arial"/>
                <a:ea typeface="Arial"/>
                <a:cs typeface="Arial"/>
              </a:rPr>
              <a:t>◻</a:t>
            </a:r>
          </a:p>
        </p:txBody>
      </p:sp>
      <p:sp>
        <p:nvSpPr>
          <p:cNvPr id="10" name="Text 8">
            <a:extLst xmlns:a="http://schemas.openxmlformats.org/drawingml/2006/main">
              <a:ext uri="{FF2B5EF4-FFF2-40B4-BE49-F238E27FC236}">
                <a16:creationId xmlns:a16="http://schemas.microsoft.com/office/drawing/2014/main" id="{7C386596-BEE8-46B6-8F86-059B34EA480B}"/>
              </a:ext>
            </a:extLst>
          </p:cNvPr>
          <p:cNvSpPr>
            <a:spLocks xmlns:a="http://schemas.openxmlformats.org/drawingml/2006/main" noGrp="1"/>
          </p:cNvSpPr>
          <p:nvPr/>
        </p:nvSpPr>
        <p:spPr>
          <a:xfrm xmlns:a="http://schemas.openxmlformats.org/drawingml/2006/main">
            <a:off x="7635240" y="2830068"/>
            <a:ext cx="3886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5A3EE0"/>
                </a:solidFill>
                <a:latin typeface="Arial"/>
                <a:ea typeface="Arial"/>
                <a:cs typeface="Arial"/>
              </a:rPr>
              <a:t>OVERVIEW</a:t>
            </a:r>
          </a:p>
        </p:txBody>
      </p:sp>
      <p:sp>
        <p:nvSpPr>
          <p:cNvPr id="11" name="Text 9">
            <a:extLst xmlns:a="http://schemas.openxmlformats.org/drawingml/2006/main">
              <a:ext uri="{FF2B5EF4-FFF2-40B4-BE49-F238E27FC236}">
                <a16:creationId xmlns:a16="http://schemas.microsoft.com/office/drawing/2014/main" id="{8B01085A-FD9A-4007-8164-E6CCB7474CDA}"/>
              </a:ext>
            </a:extLst>
          </p:cNvPr>
          <p:cNvSpPr>
            <a:spLocks xmlns:a="http://schemas.openxmlformats.org/drawingml/2006/main" noGrp="1"/>
          </p:cNvSpPr>
          <p:nvPr/>
        </p:nvSpPr>
        <p:spPr>
          <a:xfrm xmlns:a="http://schemas.openxmlformats.org/drawingml/2006/main">
            <a:off x="7653528" y="3122676"/>
            <a:ext cx="3849624"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05000"/>
              </a:lnSpc>
              <a:buNone/>
            </a:pPr>
            <a:r>
              <a:rPr sz="950">
                <a:solidFill>
                  <a:srgbClr val="9A968C"/>
                </a:solidFill>
                <a:latin typeface="Arial"/>
                <a:ea typeface="Arial"/>
                <a:cs typeface="Arial"/>
              </a:rPr>
              <a:t>Leads, reply rate, awaiting approval, activity feed.</a:t>
            </a:r>
          </a:p>
        </p:txBody>
      </p:sp>
      <p:sp>
        <p:nvSpPr>
          <p:cNvPr id="12" name="Shape 10">
            <a:extLst xmlns:a="http://schemas.openxmlformats.org/drawingml/2006/main">
              <a:ext uri="{FF2B5EF4-FFF2-40B4-BE49-F238E27FC236}">
                <a16:creationId xmlns:a16="http://schemas.microsoft.com/office/drawing/2014/main" id="{35454609-200B-4BCD-9D69-74D667E65B6C}"/>
              </a:ext>
            </a:extLst>
          </p:cNvPr>
          <p:cNvSpPr>
            <a:spLocks xmlns:a="http://schemas.openxmlformats.org/drawingml/2006/main" noGrp="1"/>
          </p:cNvSpPr>
          <p:nvPr/>
        </p:nvSpPr>
        <p:spPr>
          <a:xfrm xmlns:a="http://schemas.openxmlformats.org/drawingml/2006/main">
            <a:off x="7543800" y="3977640"/>
            <a:ext cx="4069080" cy="2148840"/>
          </a:xfrm>
          <a:prstGeom xmlns:a="http://schemas.openxmlformats.org/drawingml/2006/main" prst="roundRect">
            <a:avLst>
              <a:gd name="adj" fmla="val 2128"/>
            </a:avLst>
          </a:prstGeom>
          <a:solidFill xmlns:a="http://schemas.openxmlformats.org/drawingml/2006/main">
            <a:srgbClr val="FBF9F5"/>
          </a:solidFill>
          <a:ln xmlns:a="http://schemas.openxmlformats.org/drawingml/2006/main" w="15875">
            <a:solidFill>
              <a:srgbClr val="CBC5B9"/>
            </a:solidFill>
            <a:prstDash val="dash"/>
          </a:ln>
        </p:spPr>
      </p:sp>
      <p:sp>
        <p:nvSpPr>
          <p:cNvPr id="13" name="Text 11">
            <a:extLst xmlns:a="http://schemas.openxmlformats.org/drawingml/2006/main">
              <a:ext uri="{FF2B5EF4-FFF2-40B4-BE49-F238E27FC236}">
                <a16:creationId xmlns:a16="http://schemas.microsoft.com/office/drawing/2014/main" id="{31752263-FE4B-4F56-9680-8234D29C8669}"/>
              </a:ext>
            </a:extLst>
          </p:cNvPr>
          <p:cNvSpPr>
            <a:spLocks xmlns:a="http://schemas.openxmlformats.org/drawingml/2006/main" noGrp="1"/>
          </p:cNvSpPr>
          <p:nvPr/>
        </p:nvSpPr>
        <p:spPr>
          <a:xfrm xmlns:a="http://schemas.openxmlformats.org/drawingml/2006/main">
            <a:off x="7543800" y="4549140"/>
            <a:ext cx="4069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E2DED6"/>
                </a:solidFill>
                <a:latin typeface="Arial"/>
                <a:ea typeface="Arial"/>
                <a:cs typeface="Arial"/>
              </a:rPr>
              <a:t>◻</a:t>
            </a:r>
          </a:p>
        </p:txBody>
      </p:sp>
      <p:sp>
        <p:nvSpPr>
          <p:cNvPr id="14" name="Text 12">
            <a:extLst xmlns:a="http://schemas.openxmlformats.org/drawingml/2006/main">
              <a:ext uri="{FF2B5EF4-FFF2-40B4-BE49-F238E27FC236}">
                <a16:creationId xmlns:a16="http://schemas.microsoft.com/office/drawing/2014/main" id="{FAA72404-E4C1-4FA1-89EB-55C341E69099}"/>
              </a:ext>
            </a:extLst>
          </p:cNvPr>
          <p:cNvSpPr>
            <a:spLocks xmlns:a="http://schemas.openxmlformats.org/drawingml/2006/main" noGrp="1"/>
          </p:cNvSpPr>
          <p:nvPr/>
        </p:nvSpPr>
        <p:spPr>
          <a:xfrm xmlns:a="http://schemas.openxmlformats.org/drawingml/2006/main">
            <a:off x="7635240" y="4978908"/>
            <a:ext cx="3886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5A3EE0"/>
                </a:solidFill>
                <a:latin typeface="Arial"/>
                <a:ea typeface="Arial"/>
                <a:cs typeface="Arial"/>
              </a:rPr>
              <a:t>LEAD DETAIL</a:t>
            </a:r>
          </a:p>
        </p:txBody>
      </p:sp>
      <p:sp>
        <p:nvSpPr>
          <p:cNvPr id="15" name="Text 13">
            <a:extLst xmlns:a="http://schemas.openxmlformats.org/drawingml/2006/main">
              <a:ext uri="{FF2B5EF4-FFF2-40B4-BE49-F238E27FC236}">
                <a16:creationId xmlns:a16="http://schemas.microsoft.com/office/drawing/2014/main" id="{27DFF59F-B060-4745-81AA-AD3A44066B43}"/>
              </a:ext>
            </a:extLst>
          </p:cNvPr>
          <p:cNvSpPr>
            <a:spLocks xmlns:a="http://schemas.openxmlformats.org/drawingml/2006/main" noGrp="1"/>
          </p:cNvSpPr>
          <p:nvPr/>
        </p:nvSpPr>
        <p:spPr>
          <a:xfrm xmlns:a="http://schemas.openxmlformats.org/drawingml/2006/main">
            <a:off x="7653528" y="5271516"/>
            <a:ext cx="3849624"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05000"/>
              </a:lnSpc>
              <a:buNone/>
            </a:pPr>
            <a:r>
              <a:rPr sz="950">
                <a:solidFill>
                  <a:srgbClr val="9A968C"/>
                </a:solidFill>
                <a:latin typeface="Arial"/>
                <a:ea typeface="Arial"/>
                <a:cs typeface="Arial"/>
              </a:rPr>
              <a:t>Fit score breakdown + evidence with source and date.</a:t>
            </a:r>
          </a:p>
        </p:txBody>
      </p:sp>
      <p:sp>
        <p:nvSpPr>
          <p:cNvPr id="16" name="Text 14">
            <a:extLst xmlns:a="http://schemas.openxmlformats.org/drawingml/2006/main">
              <a:ext uri="{FF2B5EF4-FFF2-40B4-BE49-F238E27FC236}">
                <a16:creationId xmlns:a16="http://schemas.microsoft.com/office/drawing/2014/main" id="{FE0B93AE-8A85-425E-9551-FDA0B00522BE}"/>
              </a:ext>
            </a:extLst>
          </p:cNvPr>
          <p:cNvSpPr>
            <a:spLocks xmlns:a="http://schemas.openxmlformats.org/drawingml/2006/main" noGrp="1"/>
          </p:cNvSpPr>
          <p:nvPr/>
        </p:nvSpPr>
        <p:spPr>
          <a:xfrm xmlns:a="http://schemas.openxmlformats.org/drawingml/2006/main">
            <a:off x="566928" y="6263640"/>
            <a:ext cx="868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6B675F"/>
                </a:solidFill>
                <a:latin typeface="Arial"/>
                <a:ea typeface="Arial"/>
                <a:cs typeface="Arial"/>
              </a:rPr>
              <a:t>Controls:</a:t>
            </a:r>
          </a:p>
        </p:txBody>
      </p:sp>
      <p:sp>
        <p:nvSpPr>
          <p:cNvPr id="17" name="Shape 15">
            <a:extLst xmlns:a="http://schemas.openxmlformats.org/drawingml/2006/main">
              <a:ext uri="{FF2B5EF4-FFF2-40B4-BE49-F238E27FC236}">
                <a16:creationId xmlns:a16="http://schemas.microsoft.com/office/drawing/2014/main" id="{BB39181D-91D0-43C2-89C4-18BBB82E67F7}"/>
              </a:ext>
            </a:extLst>
          </p:cNvPr>
          <p:cNvSpPr>
            <a:spLocks xmlns:a="http://schemas.openxmlformats.org/drawingml/2006/main" noGrp="1"/>
          </p:cNvSpPr>
          <p:nvPr/>
        </p:nvSpPr>
        <p:spPr>
          <a:xfrm xmlns:a="http://schemas.openxmlformats.org/drawingml/2006/main">
            <a:off x="1435608" y="6245352"/>
            <a:ext cx="1040587" cy="27432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2700">
            <a:solidFill>
              <a:srgbClr val="E2DED6"/>
            </a:solidFill>
            <a:prstDash val="solid"/>
          </a:ln>
        </p:spPr>
      </p:sp>
      <p:sp>
        <p:nvSpPr>
          <p:cNvPr id="18" name="Text 16">
            <a:extLst xmlns:a="http://schemas.openxmlformats.org/drawingml/2006/main">
              <a:ext uri="{FF2B5EF4-FFF2-40B4-BE49-F238E27FC236}">
                <a16:creationId xmlns:a16="http://schemas.microsoft.com/office/drawing/2014/main" id="{CF3BB2BC-4A5B-460B-A021-81D2B342AB66}"/>
              </a:ext>
            </a:extLst>
          </p:cNvPr>
          <p:cNvSpPr>
            <a:spLocks xmlns:a="http://schemas.openxmlformats.org/drawingml/2006/main" noGrp="1"/>
          </p:cNvSpPr>
          <p:nvPr/>
        </p:nvSpPr>
        <p:spPr>
          <a:xfrm xmlns:a="http://schemas.openxmlformats.org/drawingml/2006/main">
            <a:off x="1435608" y="6245352"/>
            <a:ext cx="1040587"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35322D"/>
                </a:solidFill>
                <a:latin typeface="Arial"/>
                <a:ea typeface="Arial"/>
                <a:cs typeface="Arial"/>
              </a:rPr>
              <a:t>Global mode</a:t>
            </a:r>
          </a:p>
        </p:txBody>
      </p:sp>
      <p:sp>
        <p:nvSpPr>
          <p:cNvPr id="19" name="Shape 17">
            <a:extLst xmlns:a="http://schemas.openxmlformats.org/drawingml/2006/main">
              <a:ext uri="{FF2B5EF4-FFF2-40B4-BE49-F238E27FC236}">
                <a16:creationId xmlns:a16="http://schemas.microsoft.com/office/drawing/2014/main" id="{B2883C0A-FFC7-4063-AC88-5D2B4163832C}"/>
              </a:ext>
            </a:extLst>
          </p:cNvPr>
          <p:cNvSpPr>
            <a:spLocks xmlns:a="http://schemas.openxmlformats.org/drawingml/2006/main" noGrp="1"/>
          </p:cNvSpPr>
          <p:nvPr/>
        </p:nvSpPr>
        <p:spPr>
          <a:xfrm xmlns:a="http://schemas.openxmlformats.org/drawingml/2006/main">
            <a:off x="2604211" y="6245352"/>
            <a:ext cx="1611173" cy="27432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2700">
            <a:solidFill>
              <a:srgbClr val="E2DED6"/>
            </a:solidFill>
            <a:prstDash val="solid"/>
          </a:ln>
        </p:spPr>
      </p:sp>
      <p:sp>
        <p:nvSpPr>
          <p:cNvPr id="20" name="Text 18">
            <a:extLst xmlns:a="http://schemas.openxmlformats.org/drawingml/2006/main">
              <a:ext uri="{FF2B5EF4-FFF2-40B4-BE49-F238E27FC236}">
                <a16:creationId xmlns:a16="http://schemas.microsoft.com/office/drawing/2014/main" id="{F1C192D4-9EE3-4F91-A3A5-69A4B2EF5844}"/>
              </a:ext>
            </a:extLst>
          </p:cNvPr>
          <p:cNvSpPr>
            <a:spLocks xmlns:a="http://schemas.openxmlformats.org/drawingml/2006/main" noGrp="1"/>
          </p:cNvSpPr>
          <p:nvPr/>
        </p:nvSpPr>
        <p:spPr>
          <a:xfrm xmlns:a="http://schemas.openxmlformats.org/drawingml/2006/main">
            <a:off x="2604211" y="6245352"/>
            <a:ext cx="1611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35322D"/>
                </a:solidFill>
                <a:latin typeface="Arial"/>
                <a:ea typeface="Arial"/>
                <a:cs typeface="Arial"/>
              </a:rPr>
              <a:t>Per-thread override</a:t>
            </a:r>
          </a:p>
        </p:txBody>
      </p:sp>
      <p:sp>
        <p:nvSpPr>
          <p:cNvPr id="21" name="Shape 19">
            <a:extLst xmlns:a="http://schemas.openxmlformats.org/drawingml/2006/main">
              <a:ext uri="{FF2B5EF4-FFF2-40B4-BE49-F238E27FC236}">
                <a16:creationId xmlns:a16="http://schemas.microsoft.com/office/drawing/2014/main" id="{C226EE26-B4D5-46C3-A2C5-CE6AAE996852}"/>
              </a:ext>
            </a:extLst>
          </p:cNvPr>
          <p:cNvSpPr>
            <a:spLocks xmlns:a="http://schemas.openxmlformats.org/drawingml/2006/main" noGrp="1"/>
          </p:cNvSpPr>
          <p:nvPr/>
        </p:nvSpPr>
        <p:spPr>
          <a:xfrm xmlns:a="http://schemas.openxmlformats.org/drawingml/2006/main">
            <a:off x="4343400" y="6245352"/>
            <a:ext cx="1254557" cy="27432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2700">
            <a:solidFill>
              <a:srgbClr val="E2DED6"/>
            </a:solidFill>
            <a:prstDash val="solid"/>
          </a:ln>
        </p:spPr>
      </p:sp>
      <p:sp>
        <p:nvSpPr>
          <p:cNvPr id="22" name="Text 20">
            <a:extLst xmlns:a="http://schemas.openxmlformats.org/drawingml/2006/main">
              <a:ext uri="{FF2B5EF4-FFF2-40B4-BE49-F238E27FC236}">
                <a16:creationId xmlns:a16="http://schemas.microsoft.com/office/drawing/2014/main" id="{991C4BF5-8918-4E93-AB8D-5CB20111A638}"/>
              </a:ext>
            </a:extLst>
          </p:cNvPr>
          <p:cNvSpPr>
            <a:spLocks xmlns:a="http://schemas.openxmlformats.org/drawingml/2006/main" noGrp="1"/>
          </p:cNvSpPr>
          <p:nvPr/>
        </p:nvSpPr>
        <p:spPr>
          <a:xfrm xmlns:a="http://schemas.openxmlformats.org/drawingml/2006/main">
            <a:off x="4343400" y="6245352"/>
            <a:ext cx="1254557"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35322D"/>
                </a:solidFill>
                <a:latin typeface="Arial"/>
                <a:ea typeface="Arial"/>
                <a:cs typeface="Arial"/>
              </a:rPr>
              <a:t>Approval queue</a:t>
            </a:r>
          </a:p>
        </p:txBody>
      </p:sp>
      <p:sp>
        <p:nvSpPr>
          <p:cNvPr id="23" name="Shape 21">
            <a:extLst xmlns:a="http://schemas.openxmlformats.org/drawingml/2006/main">
              <a:ext uri="{FF2B5EF4-FFF2-40B4-BE49-F238E27FC236}">
                <a16:creationId xmlns:a16="http://schemas.microsoft.com/office/drawing/2014/main" id="{692390FA-8F51-45C5-95F9-160AB0C6220C}"/>
              </a:ext>
            </a:extLst>
          </p:cNvPr>
          <p:cNvSpPr>
            <a:spLocks xmlns:a="http://schemas.openxmlformats.org/drawingml/2006/main" noGrp="1"/>
          </p:cNvSpPr>
          <p:nvPr/>
        </p:nvSpPr>
        <p:spPr>
          <a:xfrm xmlns:a="http://schemas.openxmlformats.org/drawingml/2006/main">
            <a:off x="5725973" y="6245352"/>
            <a:ext cx="1539850" cy="27432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2700">
            <a:solidFill>
              <a:srgbClr val="E2DED6"/>
            </a:solidFill>
            <a:prstDash val="solid"/>
          </a:ln>
        </p:spPr>
      </p:sp>
      <p:sp>
        <p:nvSpPr>
          <p:cNvPr id="24" name="Text 22">
            <a:extLst xmlns:a="http://schemas.openxmlformats.org/drawingml/2006/main">
              <a:ext uri="{FF2B5EF4-FFF2-40B4-BE49-F238E27FC236}">
                <a16:creationId xmlns:a16="http://schemas.microsoft.com/office/drawing/2014/main" id="{55FDC4C2-6719-4657-9254-9AC9ED5D0C04}"/>
              </a:ext>
            </a:extLst>
          </p:cNvPr>
          <p:cNvSpPr>
            <a:spLocks xmlns:a="http://schemas.openxmlformats.org/drawingml/2006/main" noGrp="1"/>
          </p:cNvSpPr>
          <p:nvPr/>
        </p:nvSpPr>
        <p:spPr>
          <a:xfrm xmlns:a="http://schemas.openxmlformats.org/drawingml/2006/main">
            <a:off x="5725973" y="6245352"/>
            <a:ext cx="153985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35322D"/>
                </a:solidFill>
                <a:latin typeface="Arial"/>
                <a:ea typeface="Arial"/>
                <a:cs typeface="Arial"/>
              </a:rPr>
              <a:t>Take over / return</a:t>
            </a:r>
          </a:p>
        </p:txBody>
      </p:sp>
      <p:sp>
        <p:nvSpPr>
          <p:cNvPr id="25" name="Shape 23">
            <a:extLst xmlns:a="http://schemas.openxmlformats.org/drawingml/2006/main">
              <a:ext uri="{FF2B5EF4-FFF2-40B4-BE49-F238E27FC236}">
                <a16:creationId xmlns:a16="http://schemas.microsoft.com/office/drawing/2014/main" id="{4F0DEFA1-6AA4-4452-B01D-134D1D48A931}"/>
              </a:ext>
            </a:extLst>
          </p:cNvPr>
          <p:cNvSpPr>
            <a:spLocks xmlns:a="http://schemas.openxmlformats.org/drawingml/2006/main" noGrp="1"/>
          </p:cNvSpPr>
          <p:nvPr/>
        </p:nvSpPr>
        <p:spPr>
          <a:xfrm xmlns:a="http://schemas.openxmlformats.org/drawingml/2006/main">
            <a:off x="7393838" y="6245352"/>
            <a:ext cx="1397203" cy="27432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2700">
            <a:solidFill>
              <a:srgbClr val="E2DED6"/>
            </a:solidFill>
            <a:prstDash val="solid"/>
          </a:ln>
        </p:spPr>
      </p:sp>
      <p:sp>
        <p:nvSpPr>
          <p:cNvPr id="26" name="Text 24">
            <a:extLst xmlns:a="http://schemas.openxmlformats.org/drawingml/2006/main">
              <a:ext uri="{FF2B5EF4-FFF2-40B4-BE49-F238E27FC236}">
                <a16:creationId xmlns:a16="http://schemas.microsoft.com/office/drawing/2014/main" id="{D5B7AC14-83EA-46E2-8D0B-72150A53934E}"/>
              </a:ext>
            </a:extLst>
          </p:cNvPr>
          <p:cNvSpPr>
            <a:spLocks xmlns:a="http://schemas.openxmlformats.org/drawingml/2006/main" noGrp="1"/>
          </p:cNvSpPr>
          <p:nvPr/>
        </p:nvSpPr>
        <p:spPr>
          <a:xfrm xmlns:a="http://schemas.openxmlformats.org/drawingml/2006/main">
            <a:off x="7393838" y="6245352"/>
            <a:ext cx="139720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35322D"/>
                </a:solidFill>
                <a:latin typeface="Arial"/>
                <a:ea typeface="Arial"/>
                <a:cs typeface="Arial"/>
              </a:rPr>
              <a:t>Activity history</a:t>
            </a:r>
          </a:p>
        </p:txBody>
      </p:sp>
      <p:sp>
        <p:nvSpPr>
          <p:cNvPr id="27" name="Text 25">
            <a:extLst xmlns:a="http://schemas.openxmlformats.org/drawingml/2006/main">
              <a:ext uri="{FF2B5EF4-FFF2-40B4-BE49-F238E27FC236}">
                <a16:creationId xmlns:a16="http://schemas.microsoft.com/office/drawing/2014/main" id="{45DD96B7-14C1-4CCC-BA69-BDFA6770876D}"/>
              </a:ext>
            </a:extLst>
          </p:cNvPr>
          <p:cNvSpPr>
            <a:spLocks xmlns:a="http://schemas.openxmlformats.org/drawingml/2006/main" noGrp="1"/>
          </p:cNvSpPr>
          <p:nvPr/>
        </p:nvSpPr>
        <p:spPr>
          <a:xfrm xmlns:a="http://schemas.openxmlformats.org/drawingml/2006/main">
            <a:off x="8351215" y="6382512"/>
            <a:ext cx="327355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b="1">
                <a:solidFill>
                  <a:srgbClr val="9A968C"/>
                </a:solidFill>
                <a:latin typeface="Arial"/>
                <a:ea typeface="Arial"/>
                <a:cs typeface="Arial"/>
              </a:rPr>
              <a:t>INFLUENCEES</a:t>
            </a:r>
            <a:r>
              <a:rPr sz="950" b="1">
                <a:solidFill>
                  <a:srgbClr val="6B675F"/>
                </a:solidFill>
                <a:latin typeface="Arial"/>
                <a:ea typeface="Arial"/>
                <a:cs typeface="Arial"/>
              </a:rPr>
              <a:t>   05 / 10</a:t>
            </a:r>
          </a:p>
        </p:txBody>
      </p:sp>
      <p:sp>
        <p:nvSpPr>
          <p:cNvPr id="28" name="white-canvas-5">
            <a:extLst xmlns:a="http://schemas.openxmlformats.org/drawingml/2006/main">
              <a:ext uri="{FF2B5EF4-FFF2-40B4-BE49-F238E27FC236}">
                <a16:creationId xmlns:a16="http://schemas.microsoft.com/office/drawing/2014/main" id="{1F9EF0D0-6648-441E-85FB-A976EBC4AB0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 name="section-badge">
            <a:extLst xmlns:a="http://schemas.openxmlformats.org/drawingml/2006/main">
              <a:ext uri="{FF2B5EF4-FFF2-40B4-BE49-F238E27FC236}">
                <a16:creationId xmlns:a16="http://schemas.microsoft.com/office/drawing/2014/main" id="{54E21C1D-08E4-4A66-90A6-7C27EE0D0B8A}"/>
              </a:ext>
            </a:extLst>
          </p:cNvPr>
          <p:cNvSpPr>
            <a:spLocks xmlns:a="http://schemas.openxmlformats.org/drawingml/2006/main" noGrp="1"/>
          </p:cNvSpPr>
          <p:nvPr/>
        </p:nvSpPr>
        <p:spPr>
          <a:xfrm xmlns:a="http://schemas.openxmlformats.org/drawingml/2006/main">
            <a:off x="4191000" y="3238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1200" b="1">
                <a:solidFill>
                  <a:srgbClr val="7C5CFC"/>
                </a:solidFill>
                <a:latin typeface="Inter"/>
                <a:ea typeface="Inter"/>
                <a:cs typeface="Inter"/>
              </a:defRPr>
            </a:pPr>
            <a:r>
              <a:rPr sz="1200" b="1">
                <a:solidFill>
                  <a:srgbClr val="7C5CFC"/>
                </a:solidFill>
                <a:latin typeface="Inter"/>
                <a:ea typeface="Inter"/>
                <a:cs typeface="Inter"/>
              </a:rPr>
              <a:t>SOLUTION 01 · THE DASHBOARD</a:t>
            </a:r>
          </a:p>
        </p:txBody>
      </p:sp>
      <p:sp>
        <p:nvSpPr>
          <p:cNvPr id="30" name="slide-title">
            <a:extLst xmlns:a="http://schemas.openxmlformats.org/drawingml/2006/main">
              <a:ext uri="{FF2B5EF4-FFF2-40B4-BE49-F238E27FC236}">
                <a16:creationId xmlns:a16="http://schemas.microsoft.com/office/drawing/2014/main" id="{905474D2-9916-41DC-AAC7-B7309CAB318F}"/>
              </a:ext>
            </a:extLst>
          </p:cNvPr>
          <p:cNvSpPr>
            <a:spLocks xmlns:a="http://schemas.openxmlformats.org/drawingml/2006/main" noGrp="1"/>
          </p:cNvSpPr>
          <p:nvPr/>
        </p:nvSpPr>
        <p:spPr>
          <a:xfrm xmlns:a="http://schemas.openxmlformats.org/drawingml/2006/main">
            <a:off x="952500" y="6858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3300" b="0">
                <a:solidFill>
                  <a:srgbClr val="0F172A"/>
                </a:solidFill>
                <a:latin typeface="Inter"/>
                <a:ea typeface="Inter"/>
                <a:cs typeface="Inter"/>
              </a:defRPr>
            </a:pPr>
            <a:r>
              <a:rPr sz="3300" b="0">
                <a:solidFill>
                  <a:srgbClr val="0F172A"/>
                </a:solidFill>
                <a:latin typeface="Inter"/>
                <a:ea typeface="Inter"/>
                <a:cs typeface="Inter"/>
              </a:rPr>
              <a:t>Everything the operator does is visible in one place.</a:t>
            </a:r>
          </a:p>
        </p:txBody>
      </p:sp>
      <p:sp>
        <p:nvSpPr>
          <p:cNvPr id="31" name="slide-subtitle">
            <a:extLst xmlns:a="http://schemas.openxmlformats.org/drawingml/2006/main">
              <a:ext uri="{FF2B5EF4-FFF2-40B4-BE49-F238E27FC236}">
                <a16:creationId xmlns:a16="http://schemas.microsoft.com/office/drawing/2014/main" id="{305A9C3C-1D5D-47F4-8E7C-791DB1BA4DCD}"/>
              </a:ext>
            </a:extLst>
          </p:cNvPr>
          <p:cNvSpPr>
            <a:spLocks xmlns:a="http://schemas.openxmlformats.org/drawingml/2006/main" noGrp="1"/>
          </p:cNvSpPr>
          <p:nvPr/>
        </p:nvSpPr>
        <p:spPr>
          <a:xfrm xmlns:a="http://schemas.openxmlformats.org/drawingml/2006/main">
            <a:off x="1333500" y="1333500"/>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22000"/>
              </a:lnSpc>
              <a:buNone/>
              <a:defRPr sz="1575" b="0">
                <a:solidFill>
                  <a:srgbClr val="64748B"/>
                </a:solidFill>
                <a:latin typeface="Inter"/>
                <a:ea typeface="Inter"/>
                <a:cs typeface="Inter"/>
              </a:defRPr>
            </a:pPr>
            <a:r>
              <a:rPr sz="1575" b="0">
                <a:solidFill>
                  <a:srgbClr val="64748B"/>
                </a:solidFill>
                <a:latin typeface="Inter"/>
                <a:ea typeface="Inter"/>
                <a:cs typeface="Inter"/>
              </a:rPr>
              <a:t>One control centre for leads, messages, evidence and agent ownership.</a:t>
            </a:r>
          </a:p>
        </p:txBody>
      </p:sp>
      <p:sp>
        <p:nvSpPr>
          <p:cNvPr id="32" name="dashboard-shell">
            <a:extLst xmlns:a="http://schemas.openxmlformats.org/drawingml/2006/main">
              <a:ext uri="{FF2B5EF4-FFF2-40B4-BE49-F238E27FC236}">
                <a16:creationId xmlns:a16="http://schemas.microsoft.com/office/drawing/2014/main" id="{E8B80FFA-309A-469D-B400-2A630C1F0930}"/>
              </a:ext>
            </a:extLst>
          </p:cNvPr>
          <p:cNvSpPr>
            <a:spLocks xmlns:a="http://schemas.openxmlformats.org/drawingml/2006/main" noGrp="1"/>
          </p:cNvSpPr>
          <p:nvPr/>
        </p:nvSpPr>
        <p:spPr>
          <a:xfrm xmlns:a="http://schemas.openxmlformats.org/drawingml/2006/main">
            <a:off x="590550" y="2209800"/>
            <a:ext cx="11010900" cy="3810000"/>
          </a:xfrm>
          <a:prstGeom xmlns:a="http://schemas.openxmlformats.org/drawingml/2006/main" prst="roundRect">
            <a:avLst>
              <a:gd name="adj" fmla="val 5000"/>
            </a:avLst>
          </a:prstGeom>
          <a:solidFill xmlns:a="http://schemas.openxmlformats.org/drawingml/2006/main">
            <a:srgbClr val="F4F8F9"/>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3" name="dash-panel-0">
            <a:extLst xmlns:a="http://schemas.openxmlformats.org/drawingml/2006/main">
              <a:ext uri="{FF2B5EF4-FFF2-40B4-BE49-F238E27FC236}">
                <a16:creationId xmlns:a16="http://schemas.microsoft.com/office/drawing/2014/main" id="{A50B6E69-6D79-4C30-8DD8-2A60B693C99E}"/>
              </a:ext>
            </a:extLst>
          </p:cNvPr>
          <p:cNvSpPr>
            <a:spLocks xmlns:a="http://schemas.openxmlformats.org/drawingml/2006/main" noGrp="1"/>
          </p:cNvSpPr>
          <p:nvPr/>
        </p:nvSpPr>
        <p:spPr>
          <a:xfrm xmlns:a="http://schemas.openxmlformats.org/drawingml/2006/main">
            <a:off x="819150" y="2571750"/>
            <a:ext cx="2362200" cy="3086100"/>
          </a:xfrm>
          <a:prstGeom xmlns:a="http://schemas.openxmlformats.org/drawingml/2006/main" prst="roundRect">
            <a:avLst>
              <a:gd name="adj" fmla="val 6452"/>
            </a:avLst>
          </a:prstGeom>
          <a:solidFill xmlns:a="http://schemas.openxmlformats.org/drawingml/2006/main">
            <a:srgbClr val="FFFFFF">
              <a:alpha val="92000"/>
            </a:srgbClr>
          </a:solidFill>
          <a:ln xmlns:a="http://schemas.openxmlformats.org/drawingml/2006/main" w="9525">
            <a:solidFill>
              <a:srgbClr val="FFFFFF"/>
            </a:solidFill>
            <a:prstDash val="solid"/>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34" name="dash-panel-title-0">
            <a:extLst xmlns:a="http://schemas.openxmlformats.org/drawingml/2006/main">
              <a:ext uri="{FF2B5EF4-FFF2-40B4-BE49-F238E27FC236}">
                <a16:creationId xmlns:a16="http://schemas.microsoft.com/office/drawing/2014/main" id="{B94A935A-1AD1-4BB6-9731-5C454DC71D39}"/>
              </a:ext>
            </a:extLst>
          </p:cNvPr>
          <p:cNvSpPr>
            <a:spLocks xmlns:a="http://schemas.openxmlformats.org/drawingml/2006/main" noGrp="1"/>
          </p:cNvSpPr>
          <p:nvPr/>
        </p:nvSpPr>
        <p:spPr>
          <a:xfrm xmlns:a="http://schemas.openxmlformats.org/drawingml/2006/main">
            <a:off x="990600" y="2724150"/>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a:solidFill>
                  <a:srgbClr val="1E293B"/>
                </a:solidFill>
                <a:latin typeface="Inter"/>
                <a:ea typeface="Inter"/>
                <a:cs typeface="Inter"/>
              </a:defRPr>
            </a:pPr>
            <a:r>
              <a:rPr sz="1350" b="1">
                <a:solidFill>
                  <a:srgbClr val="1E293B"/>
                </a:solidFill>
                <a:latin typeface="Inter"/>
                <a:ea typeface="Inter"/>
                <a:cs typeface="Inter"/>
              </a:rPr>
              <a:t>Shared inbox</a:t>
            </a:r>
          </a:p>
        </p:txBody>
      </p:sp>
      <p:sp>
        <p:nvSpPr>
          <p:cNvPr id="35" name="dash-panel-1">
            <a:extLst xmlns:a="http://schemas.openxmlformats.org/drawingml/2006/main">
              <a:ext uri="{FF2B5EF4-FFF2-40B4-BE49-F238E27FC236}">
                <a16:creationId xmlns:a16="http://schemas.microsoft.com/office/drawing/2014/main" id="{4D3C919D-1207-4522-B75E-6D3B297CA9A8}"/>
              </a:ext>
            </a:extLst>
          </p:cNvPr>
          <p:cNvSpPr>
            <a:spLocks xmlns:a="http://schemas.openxmlformats.org/drawingml/2006/main" noGrp="1"/>
          </p:cNvSpPr>
          <p:nvPr/>
        </p:nvSpPr>
        <p:spPr>
          <a:xfrm xmlns:a="http://schemas.openxmlformats.org/drawingml/2006/main">
            <a:off x="3333750" y="2571750"/>
            <a:ext cx="4762500" cy="3086100"/>
          </a:xfrm>
          <a:prstGeom xmlns:a="http://schemas.openxmlformats.org/drawingml/2006/main" prst="roundRect">
            <a:avLst>
              <a:gd name="adj" fmla="val 4938"/>
            </a:avLst>
          </a:prstGeom>
          <a:solidFill xmlns:a="http://schemas.openxmlformats.org/drawingml/2006/main">
            <a:srgbClr val="FFFFFF">
              <a:alpha val="92000"/>
            </a:srgbClr>
          </a:solidFill>
          <a:ln xmlns:a="http://schemas.openxmlformats.org/drawingml/2006/main" w="9525">
            <a:solidFill>
              <a:srgbClr val="FFFFFF"/>
            </a:solidFill>
            <a:prstDash val="solid"/>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36" name="dash-panel-title-1">
            <a:extLst xmlns:a="http://schemas.openxmlformats.org/drawingml/2006/main">
              <a:ext uri="{FF2B5EF4-FFF2-40B4-BE49-F238E27FC236}">
                <a16:creationId xmlns:a16="http://schemas.microsoft.com/office/drawing/2014/main" id="{2012A9FE-2C0D-4DE3-9146-F1765526FD6B}"/>
              </a:ext>
            </a:extLst>
          </p:cNvPr>
          <p:cNvSpPr>
            <a:spLocks xmlns:a="http://schemas.openxmlformats.org/drawingml/2006/main" noGrp="1"/>
          </p:cNvSpPr>
          <p:nvPr/>
        </p:nvSpPr>
        <p:spPr>
          <a:xfrm xmlns:a="http://schemas.openxmlformats.org/drawingml/2006/main">
            <a:off x="3505200" y="2724150"/>
            <a:ext cx="441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a:solidFill>
                  <a:srgbClr val="1E293B"/>
                </a:solidFill>
                <a:latin typeface="Inter"/>
                <a:ea typeface="Inter"/>
                <a:cs typeface="Inter"/>
              </a:defRPr>
            </a:pPr>
            <a:r>
              <a:rPr sz="1350" b="1">
                <a:solidFill>
                  <a:srgbClr val="1E293B"/>
                </a:solidFill>
                <a:latin typeface="Inter"/>
                <a:ea typeface="Inter"/>
                <a:cs typeface="Inter"/>
              </a:rPr>
              <a:t>Conversation</a:t>
            </a:r>
          </a:p>
        </p:txBody>
      </p:sp>
      <p:sp>
        <p:nvSpPr>
          <p:cNvPr id="37" name="dash-panel-2">
            <a:extLst xmlns:a="http://schemas.openxmlformats.org/drawingml/2006/main">
              <a:ext uri="{FF2B5EF4-FFF2-40B4-BE49-F238E27FC236}">
                <a16:creationId xmlns:a16="http://schemas.microsoft.com/office/drawing/2014/main" id="{9064623F-3168-4007-B850-662EEB2664B3}"/>
              </a:ext>
            </a:extLst>
          </p:cNvPr>
          <p:cNvSpPr>
            <a:spLocks xmlns:a="http://schemas.openxmlformats.org/drawingml/2006/main" noGrp="1"/>
          </p:cNvSpPr>
          <p:nvPr/>
        </p:nvSpPr>
        <p:spPr>
          <a:xfrm xmlns:a="http://schemas.openxmlformats.org/drawingml/2006/main">
            <a:off x="8248650" y="2571750"/>
            <a:ext cx="3124200" cy="3086100"/>
          </a:xfrm>
          <a:prstGeom xmlns:a="http://schemas.openxmlformats.org/drawingml/2006/main" prst="roundRect">
            <a:avLst>
              <a:gd name="adj" fmla="val 4938"/>
            </a:avLst>
          </a:prstGeom>
          <a:solidFill xmlns:a="http://schemas.openxmlformats.org/drawingml/2006/main">
            <a:srgbClr val="FFFFFF">
              <a:alpha val="92000"/>
            </a:srgbClr>
          </a:solidFill>
          <a:ln xmlns:a="http://schemas.openxmlformats.org/drawingml/2006/main" w="9525">
            <a:solidFill>
              <a:srgbClr val="FFFFFF"/>
            </a:solidFill>
            <a:prstDash val="solid"/>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sp>
        <p:nvSpPr>
          <p:cNvPr id="38" name="dash-panel-title-2">
            <a:extLst xmlns:a="http://schemas.openxmlformats.org/drawingml/2006/main">
              <a:ext uri="{FF2B5EF4-FFF2-40B4-BE49-F238E27FC236}">
                <a16:creationId xmlns:a16="http://schemas.microsoft.com/office/drawing/2014/main" id="{8049F977-8901-4922-828B-225ABCB5ED1D}"/>
              </a:ext>
            </a:extLst>
          </p:cNvPr>
          <p:cNvSpPr>
            <a:spLocks xmlns:a="http://schemas.openxmlformats.org/drawingml/2006/main" noGrp="1"/>
          </p:cNvSpPr>
          <p:nvPr/>
        </p:nvSpPr>
        <p:spPr>
          <a:xfrm xmlns:a="http://schemas.openxmlformats.org/drawingml/2006/main">
            <a:off x="8420100" y="2724150"/>
            <a:ext cx="278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a:solidFill>
                  <a:srgbClr val="1E293B"/>
                </a:solidFill>
                <a:latin typeface="Inter"/>
                <a:ea typeface="Inter"/>
                <a:cs typeface="Inter"/>
              </a:defRPr>
            </a:pPr>
            <a:r>
              <a:rPr sz="1350" b="1">
                <a:solidFill>
                  <a:srgbClr val="1E293B"/>
                </a:solidFill>
                <a:latin typeface="Inter"/>
                <a:ea typeface="Inter"/>
                <a:cs typeface="Inter"/>
              </a:rPr>
              <a:t>Agent context</a:t>
            </a:r>
          </a:p>
        </p:txBody>
      </p:sp>
      <p:sp>
        <p:nvSpPr>
          <p:cNvPr id="39" name="company-row-0">
            <a:extLst xmlns:a="http://schemas.openxmlformats.org/drawingml/2006/main">
              <a:ext uri="{FF2B5EF4-FFF2-40B4-BE49-F238E27FC236}">
                <a16:creationId xmlns:a16="http://schemas.microsoft.com/office/drawing/2014/main" id="{CAAD7708-58D5-45EF-B100-E68E76FA8BA4}"/>
              </a:ext>
            </a:extLst>
          </p:cNvPr>
          <p:cNvSpPr>
            <a:spLocks xmlns:a="http://schemas.openxmlformats.org/drawingml/2006/main" noGrp="1"/>
          </p:cNvSpPr>
          <p:nvPr/>
        </p:nvSpPr>
        <p:spPr>
          <a:xfrm xmlns:a="http://schemas.openxmlformats.org/drawingml/2006/main">
            <a:off x="962025" y="3105150"/>
            <a:ext cx="2076450" cy="438150"/>
          </a:xfrm>
          <a:prstGeom xmlns:a="http://schemas.openxmlformats.org/drawingml/2006/main" prst="roundRect">
            <a:avLst>
              <a:gd name="adj" fmla="val 21739"/>
            </a:avLst>
          </a:prstGeom>
          <a:solidFill xmlns:a="http://schemas.openxmlformats.org/drawingml/2006/main">
            <a:srgbClr val="FBF7FF"/>
          </a:solidFill>
          <a:ln xmlns:a="http://schemas.openxmlformats.org/drawingml/2006/main" w="9525">
            <a:solidFill>
              <a:srgbClr val="E9D5FF"/>
            </a:solidFill>
            <a:prstDash val="solid"/>
          </a:ln>
        </p:spPr>
      </p:sp>
      <p:sp>
        <p:nvSpPr>
          <p:cNvPr id="40" name="company-avatar-0">
            <a:extLst xmlns:a="http://schemas.openxmlformats.org/drawingml/2006/main">
              <a:ext uri="{FF2B5EF4-FFF2-40B4-BE49-F238E27FC236}">
                <a16:creationId xmlns:a16="http://schemas.microsoft.com/office/drawing/2014/main" id="{A8597448-AEC3-465B-9783-A71A9D227338}"/>
              </a:ext>
            </a:extLst>
          </p:cNvPr>
          <p:cNvSpPr>
            <a:spLocks xmlns:a="http://schemas.openxmlformats.org/drawingml/2006/main" noGrp="1"/>
          </p:cNvSpPr>
          <p:nvPr/>
        </p:nvSpPr>
        <p:spPr>
          <a:xfrm xmlns:a="http://schemas.openxmlformats.org/drawingml/2006/main">
            <a:off x="1066800" y="3190875"/>
            <a:ext cx="266700" cy="266700"/>
          </a:xfrm>
          <a:prstGeom xmlns:a="http://schemas.openxmlformats.org/drawingml/2006/main" prst="ellipse">
            <a:avLst/>
          </a:prstGeom>
          <a:solidFill xmlns:a="http://schemas.openxmlformats.org/drawingml/2006/main">
            <a:srgbClr val="B567C2"/>
          </a:solidFill>
          <a:ln xmlns:a="http://schemas.openxmlformats.org/drawingml/2006/main" w="0">
            <a:noFill/>
            <a:prstDash val="solid"/>
          </a:ln>
        </p:spPr>
      </p:sp>
      <p:sp>
        <p:nvSpPr>
          <p:cNvPr id="41" name="company-name-0">
            <a:extLst xmlns:a="http://schemas.openxmlformats.org/drawingml/2006/main">
              <a:ext uri="{FF2B5EF4-FFF2-40B4-BE49-F238E27FC236}">
                <a16:creationId xmlns:a16="http://schemas.microsoft.com/office/drawing/2014/main" id="{1C0CBEA8-A34A-42A4-94B0-30758B628258}"/>
              </a:ext>
            </a:extLst>
          </p:cNvPr>
          <p:cNvSpPr>
            <a:spLocks xmlns:a="http://schemas.openxmlformats.org/drawingml/2006/main" noGrp="1"/>
          </p:cNvSpPr>
          <p:nvPr/>
        </p:nvSpPr>
        <p:spPr>
          <a:xfrm xmlns:a="http://schemas.openxmlformats.org/drawingml/2006/main">
            <a:off x="1428750" y="3162300"/>
            <a:ext cx="1409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00" b="1">
                <a:solidFill>
                  <a:srgbClr val="1E293B"/>
                </a:solidFill>
                <a:latin typeface="Inter"/>
                <a:ea typeface="Inter"/>
                <a:cs typeface="Inter"/>
              </a:defRPr>
            </a:pPr>
            <a:r>
              <a:rPr sz="1200" b="1">
                <a:solidFill>
                  <a:srgbClr val="1E293B"/>
                </a:solidFill>
                <a:latin typeface="Inter"/>
                <a:ea typeface="Inter"/>
                <a:cs typeface="Inter"/>
              </a:rPr>
              <a:t>Kōri</a:t>
            </a:r>
          </a:p>
        </p:txBody>
      </p:sp>
      <p:sp>
        <p:nvSpPr>
          <p:cNvPr id="42" name="company-row-1">
            <a:extLst xmlns:a="http://schemas.openxmlformats.org/drawingml/2006/main">
              <a:ext uri="{FF2B5EF4-FFF2-40B4-BE49-F238E27FC236}">
                <a16:creationId xmlns:a16="http://schemas.microsoft.com/office/drawing/2014/main" id="{106DFD80-70F8-42FF-9238-A011AFA2C0CD}"/>
              </a:ext>
            </a:extLst>
          </p:cNvPr>
          <p:cNvSpPr>
            <a:spLocks xmlns:a="http://schemas.openxmlformats.org/drawingml/2006/main" noGrp="1"/>
          </p:cNvSpPr>
          <p:nvPr/>
        </p:nvSpPr>
        <p:spPr>
          <a:xfrm xmlns:a="http://schemas.openxmlformats.org/drawingml/2006/main">
            <a:off x="962025" y="3657600"/>
            <a:ext cx="2076450" cy="438150"/>
          </a:xfrm>
          <a:prstGeom xmlns:a="http://schemas.openxmlformats.org/drawingml/2006/main" prst="roundRect">
            <a:avLst>
              <a:gd name="adj" fmla="val 21739"/>
            </a:avLst>
          </a:prstGeom>
          <a:solidFill xmlns:a="http://schemas.openxmlformats.org/drawingml/2006/main">
            <a:srgbClr val="F8FAFC"/>
          </a:solidFill>
          <a:ln xmlns:a="http://schemas.openxmlformats.org/drawingml/2006/main" w="9525">
            <a:solidFill>
              <a:srgbClr val="F1F5F9"/>
            </a:solidFill>
            <a:prstDash val="solid"/>
          </a:ln>
        </p:spPr>
      </p:sp>
      <p:sp>
        <p:nvSpPr>
          <p:cNvPr id="43" name="company-avatar-1">
            <a:extLst xmlns:a="http://schemas.openxmlformats.org/drawingml/2006/main">
              <a:ext uri="{FF2B5EF4-FFF2-40B4-BE49-F238E27FC236}">
                <a16:creationId xmlns:a16="http://schemas.microsoft.com/office/drawing/2014/main" id="{8C772E9E-4BD3-45F9-B060-4759CFBB5F27}"/>
              </a:ext>
            </a:extLst>
          </p:cNvPr>
          <p:cNvSpPr>
            <a:spLocks xmlns:a="http://schemas.openxmlformats.org/drawingml/2006/main" noGrp="1"/>
          </p:cNvSpPr>
          <p:nvPr/>
        </p:nvSpPr>
        <p:spPr>
          <a:xfrm xmlns:a="http://schemas.openxmlformats.org/drawingml/2006/main">
            <a:off x="1066800" y="3743325"/>
            <a:ext cx="266700" cy="266700"/>
          </a:xfrm>
          <a:prstGeom xmlns:a="http://schemas.openxmlformats.org/drawingml/2006/main" prst="ellipse">
            <a:avLst/>
          </a:prstGeom>
          <a:solidFill xmlns:a="http://schemas.openxmlformats.org/drawingml/2006/main">
            <a:srgbClr val="F28482"/>
          </a:solidFill>
          <a:ln xmlns:a="http://schemas.openxmlformats.org/drawingml/2006/main" w="0">
            <a:noFill/>
            <a:prstDash val="solid"/>
          </a:ln>
        </p:spPr>
      </p:sp>
      <p:sp>
        <p:nvSpPr>
          <p:cNvPr id="44" name="company-name-1">
            <a:extLst xmlns:a="http://schemas.openxmlformats.org/drawingml/2006/main">
              <a:ext uri="{FF2B5EF4-FFF2-40B4-BE49-F238E27FC236}">
                <a16:creationId xmlns:a16="http://schemas.microsoft.com/office/drawing/2014/main" id="{A90104DC-40A6-4743-B55E-2F36C89A07F0}"/>
              </a:ext>
            </a:extLst>
          </p:cNvPr>
          <p:cNvSpPr>
            <a:spLocks xmlns:a="http://schemas.openxmlformats.org/drawingml/2006/main" noGrp="1"/>
          </p:cNvSpPr>
          <p:nvPr/>
        </p:nvSpPr>
        <p:spPr>
          <a:xfrm xmlns:a="http://schemas.openxmlformats.org/drawingml/2006/main">
            <a:off x="1428750" y="3714750"/>
            <a:ext cx="1409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00" b="0">
                <a:solidFill>
                  <a:srgbClr val="1E293B"/>
                </a:solidFill>
                <a:latin typeface="Inter"/>
                <a:ea typeface="Inter"/>
                <a:cs typeface="Inter"/>
              </a:defRPr>
            </a:pPr>
            <a:r>
              <a:rPr sz="1200" b="0">
                <a:solidFill>
                  <a:srgbClr val="1E293B"/>
                </a:solidFill>
                <a:latin typeface="Inter"/>
                <a:ea typeface="Inter"/>
                <a:cs typeface="Inter"/>
              </a:rPr>
              <a:t>Luma Beauty</a:t>
            </a:r>
          </a:p>
        </p:txBody>
      </p:sp>
      <p:sp>
        <p:nvSpPr>
          <p:cNvPr id="45" name="company-row-2">
            <a:extLst xmlns:a="http://schemas.openxmlformats.org/drawingml/2006/main">
              <a:ext uri="{FF2B5EF4-FFF2-40B4-BE49-F238E27FC236}">
                <a16:creationId xmlns:a16="http://schemas.microsoft.com/office/drawing/2014/main" id="{13037A9B-0C5B-4EAA-B87B-F55DA6F74120}"/>
              </a:ext>
            </a:extLst>
          </p:cNvPr>
          <p:cNvSpPr>
            <a:spLocks xmlns:a="http://schemas.openxmlformats.org/drawingml/2006/main" noGrp="1"/>
          </p:cNvSpPr>
          <p:nvPr/>
        </p:nvSpPr>
        <p:spPr>
          <a:xfrm xmlns:a="http://schemas.openxmlformats.org/drawingml/2006/main">
            <a:off x="962025" y="4210050"/>
            <a:ext cx="2076450" cy="438150"/>
          </a:xfrm>
          <a:prstGeom xmlns:a="http://schemas.openxmlformats.org/drawingml/2006/main" prst="roundRect">
            <a:avLst>
              <a:gd name="adj" fmla="val 21739"/>
            </a:avLst>
          </a:prstGeom>
          <a:solidFill xmlns:a="http://schemas.openxmlformats.org/drawingml/2006/main">
            <a:srgbClr val="F8FAFC"/>
          </a:solidFill>
          <a:ln xmlns:a="http://schemas.openxmlformats.org/drawingml/2006/main" w="9525">
            <a:solidFill>
              <a:srgbClr val="F1F5F9"/>
            </a:solidFill>
            <a:prstDash val="solid"/>
          </a:ln>
        </p:spPr>
      </p:sp>
      <p:sp>
        <p:nvSpPr>
          <p:cNvPr id="46" name="company-avatar-2">
            <a:extLst xmlns:a="http://schemas.openxmlformats.org/drawingml/2006/main">
              <a:ext uri="{FF2B5EF4-FFF2-40B4-BE49-F238E27FC236}">
                <a16:creationId xmlns:a16="http://schemas.microsoft.com/office/drawing/2014/main" id="{C1C7997E-2A11-4510-9D30-AA75624FEB92}"/>
              </a:ext>
            </a:extLst>
          </p:cNvPr>
          <p:cNvSpPr>
            <a:spLocks xmlns:a="http://schemas.openxmlformats.org/drawingml/2006/main" noGrp="1"/>
          </p:cNvSpPr>
          <p:nvPr/>
        </p:nvSpPr>
        <p:spPr>
          <a:xfrm xmlns:a="http://schemas.openxmlformats.org/drawingml/2006/main">
            <a:off x="1066800" y="4295775"/>
            <a:ext cx="266700" cy="266700"/>
          </a:xfrm>
          <a:prstGeom xmlns:a="http://schemas.openxmlformats.org/drawingml/2006/main" prst="ellipse">
            <a:avLst/>
          </a:prstGeom>
          <a:solidFill xmlns:a="http://schemas.openxmlformats.org/drawingml/2006/main">
            <a:srgbClr val="F5C344"/>
          </a:solidFill>
          <a:ln xmlns:a="http://schemas.openxmlformats.org/drawingml/2006/main" w="0">
            <a:noFill/>
            <a:prstDash val="solid"/>
          </a:ln>
        </p:spPr>
      </p:sp>
      <p:sp>
        <p:nvSpPr>
          <p:cNvPr id="47" name="company-name-2">
            <a:extLst xmlns:a="http://schemas.openxmlformats.org/drawingml/2006/main">
              <a:ext uri="{FF2B5EF4-FFF2-40B4-BE49-F238E27FC236}">
                <a16:creationId xmlns:a16="http://schemas.microsoft.com/office/drawing/2014/main" id="{9032E843-111D-4D49-B71C-09D7DA555D7C}"/>
              </a:ext>
            </a:extLst>
          </p:cNvPr>
          <p:cNvSpPr>
            <a:spLocks xmlns:a="http://schemas.openxmlformats.org/drawingml/2006/main" noGrp="1"/>
          </p:cNvSpPr>
          <p:nvPr/>
        </p:nvSpPr>
        <p:spPr>
          <a:xfrm xmlns:a="http://schemas.openxmlformats.org/drawingml/2006/main">
            <a:off x="1428750" y="4267200"/>
            <a:ext cx="1409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00" b="0">
                <a:solidFill>
                  <a:srgbClr val="1E293B"/>
                </a:solidFill>
                <a:latin typeface="Inter"/>
                <a:ea typeface="Inter"/>
                <a:cs typeface="Inter"/>
              </a:defRPr>
            </a:pPr>
            <a:r>
              <a:rPr sz="1200" b="0">
                <a:solidFill>
                  <a:srgbClr val="1E293B"/>
                </a:solidFill>
                <a:latin typeface="Inter"/>
                <a:ea typeface="Inter"/>
                <a:cs typeface="Inter"/>
              </a:rPr>
              <a:t>Pulse SG</a:t>
            </a:r>
          </a:p>
        </p:txBody>
      </p:sp>
      <p:sp>
        <p:nvSpPr>
          <p:cNvPr id="48" name="company-row-3">
            <a:extLst xmlns:a="http://schemas.openxmlformats.org/drawingml/2006/main">
              <a:ext uri="{FF2B5EF4-FFF2-40B4-BE49-F238E27FC236}">
                <a16:creationId xmlns:a16="http://schemas.microsoft.com/office/drawing/2014/main" id="{A36F959D-7F00-482F-9352-D1F72530B65C}"/>
              </a:ext>
            </a:extLst>
          </p:cNvPr>
          <p:cNvSpPr>
            <a:spLocks xmlns:a="http://schemas.openxmlformats.org/drawingml/2006/main" noGrp="1"/>
          </p:cNvSpPr>
          <p:nvPr/>
        </p:nvSpPr>
        <p:spPr>
          <a:xfrm xmlns:a="http://schemas.openxmlformats.org/drawingml/2006/main">
            <a:off x="962025" y="4762500"/>
            <a:ext cx="2076450" cy="438150"/>
          </a:xfrm>
          <a:prstGeom xmlns:a="http://schemas.openxmlformats.org/drawingml/2006/main" prst="roundRect">
            <a:avLst>
              <a:gd name="adj" fmla="val 21739"/>
            </a:avLst>
          </a:prstGeom>
          <a:solidFill xmlns:a="http://schemas.openxmlformats.org/drawingml/2006/main">
            <a:srgbClr val="F8FAFC"/>
          </a:solidFill>
          <a:ln xmlns:a="http://schemas.openxmlformats.org/drawingml/2006/main" w="9525">
            <a:solidFill>
              <a:srgbClr val="F1F5F9"/>
            </a:solidFill>
            <a:prstDash val="solid"/>
          </a:ln>
        </p:spPr>
      </p:sp>
      <p:sp>
        <p:nvSpPr>
          <p:cNvPr id="49" name="company-avatar-3">
            <a:extLst xmlns:a="http://schemas.openxmlformats.org/drawingml/2006/main">
              <a:ext uri="{FF2B5EF4-FFF2-40B4-BE49-F238E27FC236}">
                <a16:creationId xmlns:a16="http://schemas.microsoft.com/office/drawing/2014/main" id="{0B4A7C14-2267-489D-B6BB-FC672B7A44B3}"/>
              </a:ext>
            </a:extLst>
          </p:cNvPr>
          <p:cNvSpPr>
            <a:spLocks xmlns:a="http://schemas.openxmlformats.org/drawingml/2006/main" noGrp="1"/>
          </p:cNvSpPr>
          <p:nvPr/>
        </p:nvSpPr>
        <p:spPr>
          <a:xfrm xmlns:a="http://schemas.openxmlformats.org/drawingml/2006/main">
            <a:off x="1066800" y="4848225"/>
            <a:ext cx="266700" cy="266700"/>
          </a:xfrm>
          <a:prstGeom xmlns:a="http://schemas.openxmlformats.org/drawingml/2006/main" prst="ellipse">
            <a:avLst/>
          </a:prstGeom>
          <a:solidFill xmlns:a="http://schemas.openxmlformats.org/drawingml/2006/main">
            <a:srgbClr val="7C5CFC"/>
          </a:solidFill>
          <a:ln xmlns:a="http://schemas.openxmlformats.org/drawingml/2006/main" w="0">
            <a:noFill/>
            <a:prstDash val="solid"/>
          </a:ln>
        </p:spPr>
      </p:sp>
      <p:sp>
        <p:nvSpPr>
          <p:cNvPr id="50" name="company-name-3">
            <a:extLst xmlns:a="http://schemas.openxmlformats.org/drawingml/2006/main">
              <a:ext uri="{FF2B5EF4-FFF2-40B4-BE49-F238E27FC236}">
                <a16:creationId xmlns:a16="http://schemas.microsoft.com/office/drawing/2014/main" id="{54390ADB-4E53-4455-9585-5B9071FC5853}"/>
              </a:ext>
            </a:extLst>
          </p:cNvPr>
          <p:cNvSpPr>
            <a:spLocks xmlns:a="http://schemas.openxmlformats.org/drawingml/2006/main" noGrp="1"/>
          </p:cNvSpPr>
          <p:nvPr/>
        </p:nvSpPr>
        <p:spPr>
          <a:xfrm xmlns:a="http://schemas.openxmlformats.org/drawingml/2006/main">
            <a:off x="1428750" y="4819650"/>
            <a:ext cx="1409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00" b="0">
                <a:solidFill>
                  <a:srgbClr val="1E293B"/>
                </a:solidFill>
                <a:latin typeface="Inter"/>
                <a:ea typeface="Inter"/>
                <a:cs typeface="Inter"/>
              </a:defRPr>
            </a:pPr>
            <a:r>
              <a:rPr sz="1200" b="0">
                <a:solidFill>
                  <a:srgbClr val="1E293B"/>
                </a:solidFill>
                <a:latin typeface="Inter"/>
                <a:ea typeface="Inter"/>
                <a:cs typeface="Inter"/>
              </a:rPr>
              <a:t>Nori Finance</a:t>
            </a:r>
          </a:p>
        </p:txBody>
      </p:sp>
      <p:sp>
        <p:nvSpPr>
          <p:cNvPr id="51" name="message-bubble-0">
            <a:extLst xmlns:a="http://schemas.openxmlformats.org/drawingml/2006/main">
              <a:ext uri="{FF2B5EF4-FFF2-40B4-BE49-F238E27FC236}">
                <a16:creationId xmlns:a16="http://schemas.microsoft.com/office/drawing/2014/main" id="{A18A4A64-DEBF-44A5-85C2-1E32A1C40594}"/>
              </a:ext>
            </a:extLst>
          </p:cNvPr>
          <p:cNvSpPr>
            <a:spLocks xmlns:a="http://schemas.openxmlformats.org/drawingml/2006/main" noGrp="1"/>
          </p:cNvSpPr>
          <p:nvPr/>
        </p:nvSpPr>
        <p:spPr>
          <a:xfrm xmlns:a="http://schemas.openxmlformats.org/drawingml/2006/main">
            <a:off x="3562350" y="3162300"/>
            <a:ext cx="3028950" cy="590550"/>
          </a:xfrm>
          <a:prstGeom xmlns:a="http://schemas.openxmlformats.org/drawingml/2006/main" prst="roundRect">
            <a:avLst>
              <a:gd name="adj" fmla="val 22581"/>
            </a:avLst>
          </a:prstGeom>
          <a:solidFill xmlns:a="http://schemas.openxmlformats.org/drawingml/2006/main">
            <a:srgbClr val="F8FAFC"/>
          </a:solidFill>
          <a:ln xmlns:a="http://schemas.openxmlformats.org/drawingml/2006/main" w="9525">
            <a:solidFill>
              <a:srgbClr val="FFFFFF"/>
            </a:solidFill>
            <a:prstDash val="solid"/>
          </a:ln>
        </p:spPr>
        <p:style>
          <a:lnRef xmlns:a="http://schemas.openxmlformats.org/drawingml/2006/main" idx="0"/>
          <a:fillRef xmlns:a="http://schemas.openxmlformats.org/drawingml/2006/main" idx="0"/>
          <a:effectRef xmlns:a="http://schemas.openxmlformats.org/drawingml/2006/main" idx="12"/>
          <a:fontRef xmlns:a="http://schemas.openxmlformats.org/drawingml/2006/main" idx="major"/>
        </p:style>
      </p:sp>
      <p:sp>
        <p:nvSpPr>
          <p:cNvPr id="52" name="message-text-0">
            <a:extLst xmlns:a="http://schemas.openxmlformats.org/drawingml/2006/main">
              <a:ext uri="{FF2B5EF4-FFF2-40B4-BE49-F238E27FC236}">
                <a16:creationId xmlns:a16="http://schemas.microsoft.com/office/drawing/2014/main" id="{B5B649A1-460E-4BBA-BB77-5F7899753590}"/>
              </a:ext>
            </a:extLst>
          </p:cNvPr>
          <p:cNvSpPr>
            <a:spLocks xmlns:a="http://schemas.openxmlformats.org/drawingml/2006/main" noGrp="1"/>
          </p:cNvSpPr>
          <p:nvPr/>
        </p:nvSpPr>
        <p:spPr>
          <a:xfrm xmlns:a="http://schemas.openxmlformats.org/drawingml/2006/main">
            <a:off x="3695700" y="3248025"/>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779"/>
          </a:bodyPr>
          <a:lstStyle xmlns:a="http://schemas.openxmlformats.org/drawingml/2006/main"/>
          <a:p xmlns:a="http://schemas.openxmlformats.org/drawingml/2006/main">
            <a:pPr algn="l">
              <a:lnSpc>
                <a:spcPct val="116000"/>
              </a:lnSpc>
              <a:buNone/>
              <a:defRPr sz="1200" b="0">
                <a:solidFill>
                  <a:srgbClr val="1E293B"/>
                </a:solidFill>
                <a:latin typeface="Inter"/>
                <a:ea typeface="Inter"/>
                <a:cs typeface="Inter"/>
              </a:defRPr>
            </a:pPr>
            <a:r>
              <a:rPr sz="1200" b="0">
                <a:solidFill>
                  <a:srgbClr val="1E293B"/>
                </a:solidFill>
                <a:latin typeface="Inter"/>
                <a:ea typeface="Inter"/>
                <a:cs typeface="Inter"/>
              </a:rPr>
              <a:t>Saw your Uji matcha launch—there’s a strong SG creator angle here.</a:t>
            </a:r>
          </a:p>
        </p:txBody>
      </p:sp>
      <p:sp>
        <p:nvSpPr>
          <p:cNvPr id="53" name="message-bubble-1">
            <a:extLst xmlns:a="http://schemas.openxmlformats.org/drawingml/2006/main">
              <a:ext uri="{FF2B5EF4-FFF2-40B4-BE49-F238E27FC236}">
                <a16:creationId xmlns:a16="http://schemas.microsoft.com/office/drawing/2014/main" id="{FF363830-2873-4A3A-B06D-2FBC8307D470}"/>
              </a:ext>
            </a:extLst>
          </p:cNvPr>
          <p:cNvSpPr>
            <a:spLocks xmlns:a="http://schemas.openxmlformats.org/drawingml/2006/main" noGrp="1"/>
          </p:cNvSpPr>
          <p:nvPr/>
        </p:nvSpPr>
        <p:spPr>
          <a:xfrm xmlns:a="http://schemas.openxmlformats.org/drawingml/2006/main">
            <a:off x="4991100" y="3924300"/>
            <a:ext cx="2838450" cy="590550"/>
          </a:xfrm>
          <a:prstGeom xmlns:a="http://schemas.openxmlformats.org/drawingml/2006/main" prst="roundRect">
            <a:avLst>
              <a:gd name="adj" fmla="val 22581"/>
            </a:avLst>
          </a:prstGeom>
          <a:solidFill xmlns:a="http://schemas.openxmlformats.org/drawingml/2006/main">
            <a:srgbClr val="FBF7FF"/>
          </a:solidFill>
          <a:ln xmlns:a="http://schemas.openxmlformats.org/drawingml/2006/main" w="9525">
            <a:solidFill>
              <a:srgbClr val="FFFFFF"/>
            </a:solidFill>
            <a:prstDash val="solid"/>
          </a:ln>
        </p:spPr>
        <p:style>
          <a:lnRef xmlns:a="http://schemas.openxmlformats.org/drawingml/2006/main" idx="0"/>
          <a:fillRef xmlns:a="http://schemas.openxmlformats.org/drawingml/2006/main" idx="0"/>
          <a:effectRef xmlns:a="http://schemas.openxmlformats.org/drawingml/2006/main" idx="12"/>
          <a:fontRef xmlns:a="http://schemas.openxmlformats.org/drawingml/2006/main" idx="major"/>
        </p:style>
      </p:sp>
      <p:sp>
        <p:nvSpPr>
          <p:cNvPr id="54" name="message-text-1">
            <a:extLst xmlns:a="http://schemas.openxmlformats.org/drawingml/2006/main">
              <a:ext uri="{FF2B5EF4-FFF2-40B4-BE49-F238E27FC236}">
                <a16:creationId xmlns:a16="http://schemas.microsoft.com/office/drawing/2014/main" id="{773D486B-A35A-4E2E-9842-C81BD5273860}"/>
              </a:ext>
            </a:extLst>
          </p:cNvPr>
          <p:cNvSpPr>
            <a:spLocks xmlns:a="http://schemas.openxmlformats.org/drawingml/2006/main" noGrp="1"/>
          </p:cNvSpPr>
          <p:nvPr/>
        </p:nvSpPr>
        <p:spPr>
          <a:xfrm xmlns:a="http://schemas.openxmlformats.org/drawingml/2006/main">
            <a:off x="5124450" y="4010025"/>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779"/>
          </a:bodyPr>
          <a:lstStyle xmlns:a="http://schemas.openxmlformats.org/drawingml/2006/main"/>
          <a:p xmlns:a="http://schemas.openxmlformats.org/drawingml/2006/main">
            <a:pPr algn="l">
              <a:lnSpc>
                <a:spcPct val="116000"/>
              </a:lnSpc>
              <a:buNone/>
              <a:defRPr sz="1200" b="0">
                <a:solidFill>
                  <a:srgbClr val="1E293B"/>
                </a:solidFill>
                <a:latin typeface="Inter"/>
                <a:ea typeface="Inter"/>
                <a:cs typeface="Inter"/>
              </a:defRPr>
            </a:pPr>
            <a:r>
              <a:rPr sz="1200" b="0">
                <a:solidFill>
                  <a:srgbClr val="1E293B"/>
                </a:solidFill>
                <a:latin typeface="Inter"/>
                <a:ea typeface="Inter"/>
                <a:cs typeface="Inter"/>
              </a:rPr>
              <a:t>Interesting. How would you shortlist creators for the launch?</a:t>
            </a:r>
          </a:p>
        </p:txBody>
      </p:sp>
      <p:sp>
        <p:nvSpPr>
          <p:cNvPr id="55" name="message-bubble-2">
            <a:extLst xmlns:a="http://schemas.openxmlformats.org/drawingml/2006/main">
              <a:ext uri="{FF2B5EF4-FFF2-40B4-BE49-F238E27FC236}">
                <a16:creationId xmlns:a16="http://schemas.microsoft.com/office/drawing/2014/main" id="{985AE901-D30C-4F78-8CA0-7EA37D374317}"/>
              </a:ext>
            </a:extLst>
          </p:cNvPr>
          <p:cNvSpPr>
            <a:spLocks xmlns:a="http://schemas.openxmlformats.org/drawingml/2006/main" noGrp="1"/>
          </p:cNvSpPr>
          <p:nvPr/>
        </p:nvSpPr>
        <p:spPr>
          <a:xfrm xmlns:a="http://schemas.openxmlformats.org/drawingml/2006/main">
            <a:off x="3562350" y="4686300"/>
            <a:ext cx="3352800" cy="590550"/>
          </a:xfrm>
          <a:prstGeom xmlns:a="http://schemas.openxmlformats.org/drawingml/2006/main" prst="roundRect">
            <a:avLst>
              <a:gd name="adj" fmla="val 22581"/>
            </a:avLst>
          </a:prstGeom>
          <a:solidFill xmlns:a="http://schemas.openxmlformats.org/drawingml/2006/main">
            <a:srgbClr val="FFF7F5"/>
          </a:solidFill>
          <a:ln xmlns:a="http://schemas.openxmlformats.org/drawingml/2006/main" w="9525">
            <a:solidFill>
              <a:srgbClr val="FFFFFF"/>
            </a:solidFill>
            <a:prstDash val="solid"/>
          </a:ln>
        </p:spPr>
        <p:style>
          <a:lnRef xmlns:a="http://schemas.openxmlformats.org/drawingml/2006/main" idx="0"/>
          <a:fillRef xmlns:a="http://schemas.openxmlformats.org/drawingml/2006/main" idx="0"/>
          <a:effectRef xmlns:a="http://schemas.openxmlformats.org/drawingml/2006/main" idx="12"/>
          <a:fontRef xmlns:a="http://schemas.openxmlformats.org/drawingml/2006/main" idx="major"/>
        </p:style>
      </p:sp>
      <p:sp>
        <p:nvSpPr>
          <p:cNvPr id="56" name="message-text-2">
            <a:extLst xmlns:a="http://schemas.openxmlformats.org/drawingml/2006/main">
              <a:ext uri="{FF2B5EF4-FFF2-40B4-BE49-F238E27FC236}">
                <a16:creationId xmlns:a16="http://schemas.microsoft.com/office/drawing/2014/main" id="{CA9DDE45-2B48-4174-BA4B-C5BBF8AC706B}"/>
              </a:ext>
            </a:extLst>
          </p:cNvPr>
          <p:cNvSpPr>
            <a:spLocks xmlns:a="http://schemas.openxmlformats.org/drawingml/2006/main" noGrp="1"/>
          </p:cNvSpPr>
          <p:nvPr/>
        </p:nvSpPr>
        <p:spPr>
          <a:xfrm xmlns:a="http://schemas.openxmlformats.org/drawingml/2006/main">
            <a:off x="3695700" y="4772025"/>
            <a:ext cx="3086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184"/>
          </a:bodyPr>
          <a:lstStyle xmlns:a="http://schemas.openxmlformats.org/drawingml/2006/main"/>
          <a:p xmlns:a="http://schemas.openxmlformats.org/drawingml/2006/main">
            <a:pPr algn="l">
              <a:lnSpc>
                <a:spcPct val="116000"/>
              </a:lnSpc>
              <a:buNone/>
              <a:defRPr sz="1200" b="0">
                <a:solidFill>
                  <a:srgbClr val="1E293B"/>
                </a:solidFill>
                <a:latin typeface="Inter"/>
                <a:ea typeface="Inter"/>
                <a:cs typeface="Inter"/>
              </a:defRPr>
            </a:pPr>
            <a:r>
              <a:rPr sz="1200" b="0">
                <a:solidFill>
                  <a:srgbClr val="1E293B"/>
                </a:solidFill>
                <a:latin typeface="Inter"/>
                <a:ea typeface="Inter"/>
                <a:cs typeface="Inter"/>
              </a:rPr>
              <a:t>We’d score local relevance, real engagement and campaign fit, then show the evidence behind each match.</a:t>
            </a:r>
          </a:p>
        </p:txBody>
      </p:sp>
      <p:sp>
        <p:nvSpPr>
          <p:cNvPr id="57" name="context-label-0">
            <a:extLst xmlns:a="http://schemas.openxmlformats.org/drawingml/2006/main">
              <a:ext uri="{FF2B5EF4-FFF2-40B4-BE49-F238E27FC236}">
                <a16:creationId xmlns:a16="http://schemas.microsoft.com/office/drawing/2014/main" id="{D5F3339C-912D-41E7-BB00-0CA990302E60}"/>
              </a:ext>
            </a:extLst>
          </p:cNvPr>
          <p:cNvSpPr>
            <a:spLocks xmlns:a="http://schemas.openxmlformats.org/drawingml/2006/main" noGrp="1"/>
          </p:cNvSpPr>
          <p:nvPr/>
        </p:nvSpPr>
        <p:spPr>
          <a:xfrm xmlns:a="http://schemas.openxmlformats.org/drawingml/2006/main">
            <a:off x="8439150" y="3105150"/>
            <a:ext cx="1162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75" b="1">
                <a:solidFill>
                  <a:srgbClr val="7C5CFC"/>
                </a:solidFill>
                <a:latin typeface="Inter"/>
                <a:ea typeface="Inter"/>
                <a:cs typeface="Inter"/>
              </a:defRPr>
            </a:pPr>
            <a:r>
              <a:rPr sz="975" b="1">
                <a:solidFill>
                  <a:srgbClr val="7C5CFC"/>
                </a:solidFill>
                <a:latin typeface="Inter"/>
                <a:ea typeface="Inter"/>
                <a:cs typeface="Inter"/>
              </a:rPr>
              <a:t>FIT SCORE</a:t>
            </a:r>
          </a:p>
        </p:txBody>
      </p:sp>
      <p:sp>
        <p:nvSpPr>
          <p:cNvPr id="58" name="context-value-0">
            <a:extLst xmlns:a="http://schemas.openxmlformats.org/drawingml/2006/main">
              <a:ext uri="{FF2B5EF4-FFF2-40B4-BE49-F238E27FC236}">
                <a16:creationId xmlns:a16="http://schemas.microsoft.com/office/drawing/2014/main" id="{F1968F49-0C96-4062-9A35-B3F7A2450DA9}"/>
              </a:ext>
            </a:extLst>
          </p:cNvPr>
          <p:cNvSpPr>
            <a:spLocks xmlns:a="http://schemas.openxmlformats.org/drawingml/2006/main" noGrp="1"/>
          </p:cNvSpPr>
          <p:nvPr/>
        </p:nvSpPr>
        <p:spPr>
          <a:xfrm xmlns:a="http://schemas.openxmlformats.org/drawingml/2006/main">
            <a:off x="8439150" y="33147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a:solidFill>
                  <a:srgbClr val="1E293B"/>
                </a:solidFill>
                <a:latin typeface="Inter"/>
                <a:ea typeface="Inter"/>
                <a:cs typeface="Inter"/>
              </a:defRPr>
            </a:pPr>
            <a:r>
              <a:rPr sz="1350" b="1">
                <a:solidFill>
                  <a:srgbClr val="1E293B"/>
                </a:solidFill>
                <a:latin typeface="Inter"/>
                <a:ea typeface="Inter"/>
                <a:cs typeface="Inter"/>
              </a:rPr>
              <a:t>89%</a:t>
            </a:r>
          </a:p>
        </p:txBody>
      </p:sp>
      <p:sp>
        <p:nvSpPr>
          <p:cNvPr id="59" name="context-label-1">
            <a:extLst xmlns:a="http://schemas.openxmlformats.org/drawingml/2006/main">
              <a:ext uri="{FF2B5EF4-FFF2-40B4-BE49-F238E27FC236}">
                <a16:creationId xmlns:a16="http://schemas.microsoft.com/office/drawing/2014/main" id="{E2B772F7-EF85-40BE-9B61-C75F4E2A7C26}"/>
              </a:ext>
            </a:extLst>
          </p:cNvPr>
          <p:cNvSpPr>
            <a:spLocks xmlns:a="http://schemas.openxmlformats.org/drawingml/2006/main" noGrp="1"/>
          </p:cNvSpPr>
          <p:nvPr/>
        </p:nvSpPr>
        <p:spPr>
          <a:xfrm xmlns:a="http://schemas.openxmlformats.org/drawingml/2006/main">
            <a:off x="8439150" y="3695700"/>
            <a:ext cx="1162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75" b="1">
                <a:solidFill>
                  <a:srgbClr val="7C5CFC"/>
                </a:solidFill>
                <a:latin typeface="Inter"/>
                <a:ea typeface="Inter"/>
                <a:cs typeface="Inter"/>
              </a:defRPr>
            </a:pPr>
            <a:r>
              <a:rPr sz="975" b="1">
                <a:solidFill>
                  <a:srgbClr val="7C5CFC"/>
                </a:solidFill>
                <a:latin typeface="Inter"/>
                <a:ea typeface="Inter"/>
                <a:cs typeface="Inter"/>
              </a:rPr>
              <a:t>MODE</a:t>
            </a:r>
          </a:p>
        </p:txBody>
      </p:sp>
      <p:sp>
        <p:nvSpPr>
          <p:cNvPr id="60" name="context-value-1">
            <a:extLst xmlns:a="http://schemas.openxmlformats.org/drawingml/2006/main">
              <a:ext uri="{FF2B5EF4-FFF2-40B4-BE49-F238E27FC236}">
                <a16:creationId xmlns:a16="http://schemas.microsoft.com/office/drawing/2014/main" id="{ED193321-B473-4B54-9486-FA03F029C5E5}"/>
              </a:ext>
            </a:extLst>
          </p:cNvPr>
          <p:cNvSpPr>
            <a:spLocks xmlns:a="http://schemas.openxmlformats.org/drawingml/2006/main" noGrp="1"/>
          </p:cNvSpPr>
          <p:nvPr/>
        </p:nvSpPr>
        <p:spPr>
          <a:xfrm xmlns:a="http://schemas.openxmlformats.org/drawingml/2006/main">
            <a:off x="8439150" y="39052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a:solidFill>
                  <a:srgbClr val="1E293B"/>
                </a:solidFill>
                <a:latin typeface="Inter"/>
                <a:ea typeface="Inter"/>
                <a:cs typeface="Inter"/>
              </a:defRPr>
            </a:pPr>
            <a:r>
              <a:rPr sz="1350" b="1">
                <a:solidFill>
                  <a:srgbClr val="1E293B"/>
                </a:solidFill>
                <a:latin typeface="Inter"/>
                <a:ea typeface="Inter"/>
                <a:cs typeface="Inter"/>
              </a:rPr>
              <a:t>Human approval</a:t>
            </a:r>
          </a:p>
        </p:txBody>
      </p:sp>
      <p:sp>
        <p:nvSpPr>
          <p:cNvPr id="61" name="context-label-2">
            <a:extLst xmlns:a="http://schemas.openxmlformats.org/drawingml/2006/main">
              <a:ext uri="{FF2B5EF4-FFF2-40B4-BE49-F238E27FC236}">
                <a16:creationId xmlns:a16="http://schemas.microsoft.com/office/drawing/2014/main" id="{64CB242E-71C6-48F6-9B3D-00AFA7520D92}"/>
              </a:ext>
            </a:extLst>
          </p:cNvPr>
          <p:cNvSpPr>
            <a:spLocks xmlns:a="http://schemas.openxmlformats.org/drawingml/2006/main" noGrp="1"/>
          </p:cNvSpPr>
          <p:nvPr/>
        </p:nvSpPr>
        <p:spPr>
          <a:xfrm xmlns:a="http://schemas.openxmlformats.org/drawingml/2006/main">
            <a:off x="8439150" y="4286250"/>
            <a:ext cx="1162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75" b="1">
                <a:solidFill>
                  <a:srgbClr val="7C5CFC"/>
                </a:solidFill>
                <a:latin typeface="Inter"/>
                <a:ea typeface="Inter"/>
                <a:cs typeface="Inter"/>
              </a:defRPr>
            </a:pPr>
            <a:r>
              <a:rPr sz="975" b="1">
                <a:solidFill>
                  <a:srgbClr val="7C5CFC"/>
                </a:solidFill>
                <a:latin typeface="Inter"/>
                <a:ea typeface="Inter"/>
                <a:cs typeface="Inter"/>
              </a:rPr>
              <a:t>NEXT STEP</a:t>
            </a:r>
          </a:p>
        </p:txBody>
      </p:sp>
      <p:sp>
        <p:nvSpPr>
          <p:cNvPr id="62" name="context-value-2">
            <a:extLst xmlns:a="http://schemas.openxmlformats.org/drawingml/2006/main">
              <a:ext uri="{FF2B5EF4-FFF2-40B4-BE49-F238E27FC236}">
                <a16:creationId xmlns:a16="http://schemas.microsoft.com/office/drawing/2014/main" id="{63F721F3-1478-4191-AC3F-EB1F4E3F8526}"/>
              </a:ext>
            </a:extLst>
          </p:cNvPr>
          <p:cNvSpPr>
            <a:spLocks xmlns:a="http://schemas.openxmlformats.org/drawingml/2006/main" noGrp="1"/>
          </p:cNvSpPr>
          <p:nvPr/>
        </p:nvSpPr>
        <p:spPr>
          <a:xfrm xmlns:a="http://schemas.openxmlformats.org/drawingml/2006/main">
            <a:off x="8439150" y="44958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a:solidFill>
                  <a:srgbClr val="1E293B"/>
                </a:solidFill>
                <a:latin typeface="Inter"/>
                <a:ea typeface="Inter"/>
                <a:cs typeface="Inter"/>
              </a:defRPr>
            </a:pPr>
            <a:r>
              <a:rPr sz="1350" b="1">
                <a:solidFill>
                  <a:srgbClr val="1E293B"/>
                </a:solidFill>
                <a:latin typeface="Inter"/>
                <a:ea typeface="Inter"/>
                <a:cs typeface="Inter"/>
              </a:rPr>
              <a:t>Answer product question</a:t>
            </a:r>
          </a:p>
        </p:txBody>
      </p:sp>
      <p:sp>
        <p:nvSpPr>
          <p:cNvPr id="63" name="takeover-button">
            <a:extLst xmlns:a="http://schemas.openxmlformats.org/drawingml/2006/main">
              <a:ext uri="{FF2B5EF4-FFF2-40B4-BE49-F238E27FC236}">
                <a16:creationId xmlns:a16="http://schemas.microsoft.com/office/drawing/2014/main" id="{27A879F4-F47A-4882-810C-D0835CFC2B47}"/>
              </a:ext>
            </a:extLst>
          </p:cNvPr>
          <p:cNvSpPr>
            <a:spLocks xmlns:a="http://schemas.openxmlformats.org/drawingml/2006/main" noGrp="1"/>
          </p:cNvSpPr>
          <p:nvPr/>
        </p:nvSpPr>
        <p:spPr>
          <a:xfrm xmlns:a="http://schemas.openxmlformats.org/drawingml/2006/main">
            <a:off x="8439150" y="5048250"/>
            <a:ext cx="133350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0F172A"/>
            </a:solidFill>
            <a:prstDash val="solid"/>
          </a:ln>
        </p:spPr>
        <p:style>
          <a:lnRef xmlns:a="http://schemas.openxmlformats.org/drawingml/2006/main" idx="0"/>
          <a:fillRef xmlns:a="http://schemas.openxmlformats.org/drawingml/2006/main" idx="0"/>
          <a:effectRef xmlns:a="http://schemas.openxmlformats.org/drawingml/2006/main" idx="13"/>
          <a:fontRef xmlns:a="http://schemas.openxmlformats.org/drawingml/2006/main" idx="major"/>
        </p:style>
        <p:txBody>
          <a:bodyPr xmlns:a="http://schemas.openxmlformats.org/drawingml/2006/main" lIns="0" tIns="0" rIns="0" bIns="0" anchor="ctr"/>
          <a:lstStyle xmlns:a="http://schemas.openxmlformats.org/drawingml/2006/main"/>
          <a:p xmlns:a="http://schemas.openxmlformats.org/drawingml/2006/main">
            <a:pPr algn="ctr">
              <a:defRPr sz="1125" b="1">
                <a:solidFill>
                  <a:srgbClr val="1E293B"/>
                </a:solidFill>
                <a:latin typeface="Inter"/>
                <a:ea typeface="Inter"/>
                <a:cs typeface="Inter"/>
              </a:defRPr>
            </a:pPr>
            <a:r>
              <a:rPr sz="1125" b="1">
                <a:solidFill>
                  <a:srgbClr val="1E293B"/>
                </a:solidFill>
                <a:latin typeface="Inter"/>
                <a:ea typeface="Inter"/>
                <a:cs typeface="Inter"/>
              </a:rPr>
              <a:t>Take over</a:t>
            </a:r>
          </a:p>
        </p:txBody>
      </p:sp>
      <p:sp>
        <p:nvSpPr>
          <p:cNvPr id="64" name="footer-brand">
            <a:extLst xmlns:a="http://schemas.openxmlformats.org/drawingml/2006/main">
              <a:ext uri="{FF2B5EF4-FFF2-40B4-BE49-F238E27FC236}">
                <a16:creationId xmlns:a16="http://schemas.microsoft.com/office/drawing/2014/main" id="{F54A3C75-B4A7-4448-BF7C-26C0FC0F4D68}"/>
              </a:ext>
            </a:extLst>
          </p:cNvPr>
          <p:cNvSpPr>
            <a:spLocks xmlns:a="http://schemas.openxmlformats.org/drawingml/2006/main" noGrp="1"/>
          </p:cNvSpPr>
          <p:nvPr/>
        </p:nvSpPr>
        <p:spPr>
          <a:xfrm xmlns:a="http://schemas.openxmlformats.org/drawingml/2006/main">
            <a:off x="533400" y="6457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75" b="1">
                <a:solidFill>
                  <a:srgbClr val="94A3B8"/>
                </a:solidFill>
                <a:latin typeface="Inter"/>
                <a:ea typeface="Inter"/>
                <a:cs typeface="Inter"/>
              </a:defRPr>
            </a:pPr>
            <a:r>
              <a:rPr sz="975" b="1">
                <a:solidFill>
                  <a:srgbClr val="94A3B8"/>
                </a:solidFill>
                <a:latin typeface="Inter"/>
                <a:ea typeface="Inter"/>
                <a:cs typeface="Inter"/>
              </a:rPr>
              <a:t>INFLUENCEES</a:t>
            </a:r>
          </a:p>
        </p:txBody>
      </p:sp>
      <p:sp>
        <p:nvSpPr>
          <p:cNvPr id="65" name="footer-page">
            <a:extLst xmlns:a="http://schemas.openxmlformats.org/drawingml/2006/main">
              <a:ext uri="{FF2B5EF4-FFF2-40B4-BE49-F238E27FC236}">
                <a16:creationId xmlns:a16="http://schemas.microsoft.com/office/drawing/2014/main" id="{F176D4F0-833B-49D4-A757-FB9D30FBF4F0}"/>
              </a:ext>
            </a:extLst>
          </p:cNvPr>
          <p:cNvSpPr>
            <a:spLocks xmlns:a="http://schemas.openxmlformats.org/drawingml/2006/main" noGrp="1"/>
          </p:cNvSpPr>
          <p:nvPr/>
        </p:nvSpPr>
        <p:spPr>
          <a:xfrm xmlns:a="http://schemas.openxmlformats.org/drawingml/2006/main">
            <a:off x="10572750" y="6457950"/>
            <a:ext cx="1085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975" b="1">
                <a:solidFill>
                  <a:srgbClr val="94A3B8"/>
                </a:solidFill>
                <a:latin typeface="Inter"/>
                <a:ea typeface="Inter"/>
                <a:cs typeface="Inter"/>
              </a:defRPr>
            </a:pPr>
            <a:r>
              <a:rPr sz="975" b="1">
                <a:solidFill>
                  <a:srgbClr val="94A3B8"/>
                </a:solidFill>
                <a:latin typeface="Inter"/>
                <a:ea typeface="Inter"/>
                <a:cs typeface="Inter"/>
              </a:rPr>
              <a:t>05 / 10</a:t>
            </a:r>
          </a:p>
        </p:txBody>
      </p:sp>
    </p:spTree>
    <p:extLst>
      <p:ext uri="{BB962C8B-B14F-4D97-AF65-F5344CB8AC3E}">
        <p14:creationId xmlns:p14="http://schemas.microsoft.com/office/powerpoint/2010/main" val="20023886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57F4DC5-E2C3-4F79-86BA-7D0C10744A48}"/>
              </a:ext>
            </a:extLst>
          </p:cNvPr>
          <p:cNvSpPr>
            <a:spLocks xmlns:a="http://schemas.openxmlformats.org/drawingml/2006/main" noGrp="1"/>
          </p:cNvSpPr>
          <p:nvPr/>
        </p:nvSpPr>
        <p:spPr>
          <a:xfrm xmlns:a="http://schemas.openxmlformats.org/drawingml/2006/main">
            <a:off x="566928"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50" b="1">
                <a:solidFill>
                  <a:srgbClr val="5A3EE0"/>
                </a:solidFill>
                <a:latin typeface="Arial"/>
                <a:ea typeface="Arial"/>
                <a:cs typeface="Arial"/>
              </a:rPr>
              <a:t>SOLUTION 01  ·  FROM DEMO TO LIVE</a:t>
            </a:r>
          </a:p>
        </p:txBody>
      </p:sp>
      <p:sp>
        <p:nvSpPr>
          <p:cNvPr id="3" name="Text 1">
            <a:extLst xmlns:a="http://schemas.openxmlformats.org/drawingml/2006/main">
              <a:ext uri="{FF2B5EF4-FFF2-40B4-BE49-F238E27FC236}">
                <a16:creationId xmlns:a16="http://schemas.microsoft.com/office/drawing/2014/main" id="{A164A758-FC9C-477A-9B71-3A9CA4603F97}"/>
              </a:ext>
            </a:extLst>
          </p:cNvPr>
          <p:cNvSpPr>
            <a:spLocks xmlns:a="http://schemas.openxmlformats.org/drawingml/2006/main" noGrp="1"/>
          </p:cNvSpPr>
          <p:nvPr/>
        </p:nvSpPr>
        <p:spPr>
          <a:xfrm xmlns:a="http://schemas.openxmlformats.org/drawingml/2006/main">
            <a:off x="566928" y="822960"/>
            <a:ext cx="106070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2000"/>
              </a:lnSpc>
              <a:buNone/>
            </a:pPr>
            <a:r>
              <a:rPr sz="2700" b="1">
                <a:solidFill>
                  <a:srgbClr val="0D0C0A"/>
                </a:solidFill>
                <a:latin typeface="Arial"/>
                <a:ea typeface="Arial"/>
                <a:cs typeface="Arial"/>
              </a:rPr>
              <a:t>It runs today on seeded data. Here's what makes it live.</a:t>
            </a:r>
          </a:p>
        </p:txBody>
      </p:sp>
      <p:sp>
        <p:nvSpPr>
          <p:cNvPr id="4" name="Text 2">
            <a:extLst xmlns:a="http://schemas.openxmlformats.org/drawingml/2006/main">
              <a:ext uri="{FF2B5EF4-FFF2-40B4-BE49-F238E27FC236}">
                <a16:creationId xmlns:a16="http://schemas.microsoft.com/office/drawing/2014/main" id="{53D5D6C6-1013-4A9C-B4B7-E680DA464799}"/>
              </a:ext>
            </a:extLst>
          </p:cNvPr>
          <p:cNvSpPr>
            <a:spLocks xmlns:a="http://schemas.openxmlformats.org/drawingml/2006/main" noGrp="1"/>
          </p:cNvSpPr>
          <p:nvPr/>
        </p:nvSpPr>
        <p:spPr>
          <a:xfrm xmlns:a="http://schemas.openxmlformats.org/drawingml/2006/main">
            <a:off x="566928" y="1828800"/>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5000"/>
              </a:lnSpc>
              <a:buNone/>
            </a:pPr>
            <a:r>
              <a:rPr sz="1300">
                <a:solidFill>
                  <a:srgbClr val="6B675F"/>
                </a:solidFill>
                <a:latin typeface="Arial"/>
                <a:ea typeface="Arial"/>
                <a:cs typeface="Arial"/>
              </a:rPr>
              <a:t>The demo simulates the full experience, companies, messages, replies, state changes, with no external calls, so it never breaks mid-pitch. Each layer swaps to a real integration behind a clean boundary.</a:t>
            </a:r>
          </a:p>
        </p:txBody>
      </p:sp>
      <p:sp>
        <p:nvSpPr>
          <p:cNvPr id="5" name="Shape 3">
            <a:extLst xmlns:a="http://schemas.openxmlformats.org/drawingml/2006/main">
              <a:ext uri="{FF2B5EF4-FFF2-40B4-BE49-F238E27FC236}">
                <a16:creationId xmlns:a16="http://schemas.microsoft.com/office/drawing/2014/main" id="{1C7AC36A-CF76-4F83-A0C4-5EC5C5A94ABD}"/>
              </a:ext>
            </a:extLst>
          </p:cNvPr>
          <p:cNvSpPr>
            <a:spLocks xmlns:a="http://schemas.openxmlformats.org/drawingml/2006/main" noGrp="1"/>
          </p:cNvSpPr>
          <p:nvPr/>
        </p:nvSpPr>
        <p:spPr>
          <a:xfrm xmlns:a="http://schemas.openxmlformats.org/drawingml/2006/main">
            <a:off x="566928" y="2697480"/>
            <a:ext cx="11057839" cy="658368"/>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700">
            <a:solidFill>
              <a:srgbClr val="E2DED6"/>
            </a:solidFill>
            <a:prstDash val="solid"/>
          </a:ln>
          <a:effectLst xmlns:a="http://schemas.openxmlformats.org/drawingml/2006/main">
            <a:outerShdw blurRad="76200" dist="25400" dir="5400000" sx="100000" sy="100000" kx="0" ky="0" algn="bl" rotWithShape="0">
              <a:srgbClr val="C9C4BA">
                <a:alpha val="55000"/>
              </a:srgbClr>
            </a:outerShdw>
          </a:effectLst>
        </p:spPr>
      </p:sp>
      <p:sp>
        <p:nvSpPr>
          <p:cNvPr id="6" name="Text 4">
            <a:extLst xmlns:a="http://schemas.openxmlformats.org/drawingml/2006/main">
              <a:ext uri="{FF2B5EF4-FFF2-40B4-BE49-F238E27FC236}">
                <a16:creationId xmlns:a16="http://schemas.microsoft.com/office/drawing/2014/main" id="{B76DEA8D-3668-455F-A29D-92971D17F815}"/>
              </a:ext>
            </a:extLst>
          </p:cNvPr>
          <p:cNvSpPr>
            <a:spLocks xmlns:a="http://schemas.openxmlformats.org/drawingml/2006/main" noGrp="1"/>
          </p:cNvSpPr>
          <p:nvPr/>
        </p:nvSpPr>
        <p:spPr>
          <a:xfrm xmlns:a="http://schemas.openxmlformats.org/drawingml/2006/main">
            <a:off x="859536" y="2697480"/>
            <a:ext cx="2651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D0C0A"/>
                </a:solidFill>
                <a:latin typeface="Arial"/>
                <a:ea typeface="Arial"/>
                <a:cs typeface="Arial"/>
              </a:rPr>
              <a:t>Discovery + research</a:t>
            </a:r>
          </a:p>
        </p:txBody>
      </p:sp>
      <p:sp>
        <p:nvSpPr>
          <p:cNvPr id="7" name="Shape 5">
            <a:extLst xmlns:a="http://schemas.openxmlformats.org/drawingml/2006/main">
              <a:ext uri="{FF2B5EF4-FFF2-40B4-BE49-F238E27FC236}">
                <a16:creationId xmlns:a16="http://schemas.microsoft.com/office/drawing/2014/main" id="{36614734-0E9C-46A7-BB0A-53ACD3BA85A3}"/>
              </a:ext>
            </a:extLst>
          </p:cNvPr>
          <p:cNvSpPr>
            <a:spLocks xmlns:a="http://schemas.openxmlformats.org/drawingml/2006/main" noGrp="1"/>
          </p:cNvSpPr>
          <p:nvPr/>
        </p:nvSpPr>
        <p:spPr>
          <a:xfrm xmlns:a="http://schemas.openxmlformats.org/drawingml/2006/main">
            <a:off x="3630168" y="2825496"/>
            <a:ext cx="0" cy="402336"/>
          </a:xfrm>
          <a:prstGeom xmlns:a="http://schemas.openxmlformats.org/drawingml/2006/main" prst="line">
            <a:avLst/>
          </a:prstGeom>
          <a:noFill xmlns:a="http://schemas.openxmlformats.org/drawingml/2006/main"/>
          <a:ln xmlns:a="http://schemas.openxmlformats.org/drawingml/2006/main" w="12700">
            <a:solidFill>
              <a:srgbClr val="E2DED6"/>
            </a:solidFill>
            <a:prstDash val="solid"/>
          </a:ln>
        </p:spPr>
      </p:sp>
      <p:sp>
        <p:nvSpPr>
          <p:cNvPr id="8" name="Text 6">
            <a:extLst xmlns:a="http://schemas.openxmlformats.org/drawingml/2006/main">
              <a:ext uri="{FF2B5EF4-FFF2-40B4-BE49-F238E27FC236}">
                <a16:creationId xmlns:a16="http://schemas.microsoft.com/office/drawing/2014/main" id="{28415D1B-0242-4CBA-9696-F26A06C226A3}"/>
              </a:ext>
            </a:extLst>
          </p:cNvPr>
          <p:cNvSpPr>
            <a:spLocks xmlns:a="http://schemas.openxmlformats.org/drawingml/2006/main" noGrp="1"/>
          </p:cNvSpPr>
          <p:nvPr/>
        </p:nvSpPr>
        <p:spPr>
          <a:xfrm xmlns:a="http://schemas.openxmlformats.org/drawingml/2006/main">
            <a:off x="3858768" y="2697480"/>
            <a:ext cx="639439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150">
                <a:solidFill>
                  <a:srgbClr val="6B675F"/>
                </a:solidFill>
                <a:latin typeface="Arial"/>
                <a:ea typeface="Arial"/>
                <a:cs typeface="Arial"/>
              </a:rPr>
              <a:t>Bright Data for LinkedIn company, profile and post data; company sites; public news; job posts</a:t>
            </a:r>
          </a:p>
        </p:txBody>
      </p:sp>
      <p:sp>
        <p:nvSpPr>
          <p:cNvPr id="9" name="Text 7">
            <a:extLst xmlns:a="http://schemas.openxmlformats.org/drawingml/2006/main">
              <a:ext uri="{FF2B5EF4-FFF2-40B4-BE49-F238E27FC236}">
                <a16:creationId xmlns:a16="http://schemas.microsoft.com/office/drawing/2014/main" id="{7289C4F8-C5D3-4B0F-88AC-307B0AF6E0A4}"/>
              </a:ext>
            </a:extLst>
          </p:cNvPr>
          <p:cNvSpPr>
            <a:spLocks xmlns:a="http://schemas.openxmlformats.org/drawingml/2006/main" noGrp="1"/>
          </p:cNvSpPr>
          <p:nvPr/>
        </p:nvSpPr>
        <p:spPr>
          <a:xfrm xmlns:a="http://schemas.openxmlformats.org/drawingml/2006/main">
            <a:off x="10207447" y="2697480"/>
            <a:ext cx="12801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5A3EE0"/>
                </a:solidFill>
                <a:latin typeface="Arial"/>
                <a:ea typeface="Arial"/>
                <a:cs typeface="Arial"/>
              </a:rPr>
              <a:t>SWAPPABLE</a:t>
            </a:r>
          </a:p>
        </p:txBody>
      </p:sp>
      <p:sp>
        <p:nvSpPr>
          <p:cNvPr id="10" name="Shape 8">
            <a:extLst xmlns:a="http://schemas.openxmlformats.org/drawingml/2006/main">
              <a:ext uri="{FF2B5EF4-FFF2-40B4-BE49-F238E27FC236}">
                <a16:creationId xmlns:a16="http://schemas.microsoft.com/office/drawing/2014/main" id="{81944CA6-7251-4699-BEDA-EE04CEC6DF9A}"/>
              </a:ext>
            </a:extLst>
          </p:cNvPr>
          <p:cNvSpPr>
            <a:spLocks xmlns:a="http://schemas.openxmlformats.org/drawingml/2006/main" noGrp="1"/>
          </p:cNvSpPr>
          <p:nvPr/>
        </p:nvSpPr>
        <p:spPr>
          <a:xfrm xmlns:a="http://schemas.openxmlformats.org/drawingml/2006/main">
            <a:off x="566928" y="3429000"/>
            <a:ext cx="11057839" cy="658368"/>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700">
            <a:solidFill>
              <a:srgbClr val="E2DED6"/>
            </a:solidFill>
            <a:prstDash val="solid"/>
          </a:ln>
          <a:effectLst xmlns:a="http://schemas.openxmlformats.org/drawingml/2006/main">
            <a:outerShdw blurRad="76200" dist="25400" dir="5400000" sx="100000" sy="100000" kx="0" ky="0" algn="bl" rotWithShape="0">
              <a:srgbClr val="C9C4BA">
                <a:alpha val="55000"/>
              </a:srgbClr>
            </a:outerShdw>
          </a:effectLst>
        </p:spPr>
      </p:sp>
      <p:sp>
        <p:nvSpPr>
          <p:cNvPr id="11" name="Text 9">
            <a:extLst xmlns:a="http://schemas.openxmlformats.org/drawingml/2006/main">
              <a:ext uri="{FF2B5EF4-FFF2-40B4-BE49-F238E27FC236}">
                <a16:creationId xmlns:a16="http://schemas.microsoft.com/office/drawing/2014/main" id="{82E579DF-04B5-4417-A997-29C31E52AE4C}"/>
              </a:ext>
            </a:extLst>
          </p:cNvPr>
          <p:cNvSpPr>
            <a:spLocks xmlns:a="http://schemas.openxmlformats.org/drawingml/2006/main" noGrp="1"/>
          </p:cNvSpPr>
          <p:nvPr/>
        </p:nvSpPr>
        <p:spPr>
          <a:xfrm xmlns:a="http://schemas.openxmlformats.org/drawingml/2006/main">
            <a:off x="859536" y="3429000"/>
            <a:ext cx="2651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D0C0A"/>
                </a:solidFill>
                <a:latin typeface="Arial"/>
                <a:ea typeface="Arial"/>
                <a:cs typeface="Arial"/>
              </a:rPr>
              <a:t>Orchestration</a:t>
            </a:r>
          </a:p>
        </p:txBody>
      </p:sp>
      <p:sp>
        <p:nvSpPr>
          <p:cNvPr id="12" name="Shape 10">
            <a:extLst xmlns:a="http://schemas.openxmlformats.org/drawingml/2006/main">
              <a:ext uri="{FF2B5EF4-FFF2-40B4-BE49-F238E27FC236}">
                <a16:creationId xmlns:a16="http://schemas.microsoft.com/office/drawing/2014/main" id="{F506DD35-F49C-4C21-BB1F-0FDCCB9E53BF}"/>
              </a:ext>
            </a:extLst>
          </p:cNvPr>
          <p:cNvSpPr>
            <a:spLocks xmlns:a="http://schemas.openxmlformats.org/drawingml/2006/main" noGrp="1"/>
          </p:cNvSpPr>
          <p:nvPr/>
        </p:nvSpPr>
        <p:spPr>
          <a:xfrm xmlns:a="http://schemas.openxmlformats.org/drawingml/2006/main">
            <a:off x="3630168" y="3557016"/>
            <a:ext cx="0" cy="402336"/>
          </a:xfrm>
          <a:prstGeom xmlns:a="http://schemas.openxmlformats.org/drawingml/2006/main" prst="line">
            <a:avLst/>
          </a:prstGeom>
          <a:noFill xmlns:a="http://schemas.openxmlformats.org/drawingml/2006/main"/>
          <a:ln xmlns:a="http://schemas.openxmlformats.org/drawingml/2006/main" w="12700">
            <a:solidFill>
              <a:srgbClr val="E2DED6"/>
            </a:solidFill>
            <a:prstDash val="solid"/>
          </a:ln>
        </p:spPr>
      </p:sp>
      <p:sp>
        <p:nvSpPr>
          <p:cNvPr id="13" name="Text 11">
            <a:extLst xmlns:a="http://schemas.openxmlformats.org/drawingml/2006/main">
              <a:ext uri="{FF2B5EF4-FFF2-40B4-BE49-F238E27FC236}">
                <a16:creationId xmlns:a16="http://schemas.microsoft.com/office/drawing/2014/main" id="{DF0B6B49-5F1B-4133-A67C-BC233C300BE2}"/>
              </a:ext>
            </a:extLst>
          </p:cNvPr>
          <p:cNvSpPr>
            <a:spLocks xmlns:a="http://schemas.openxmlformats.org/drawingml/2006/main" noGrp="1"/>
          </p:cNvSpPr>
          <p:nvPr/>
        </p:nvSpPr>
        <p:spPr>
          <a:xfrm xmlns:a="http://schemas.openxmlformats.org/drawingml/2006/main">
            <a:off x="3858768" y="3429000"/>
            <a:ext cx="639439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150">
                <a:solidFill>
                  <a:srgbClr val="6B675F"/>
                </a:solidFill>
                <a:latin typeface="Arial"/>
                <a:ea typeface="Arial"/>
                <a:cs typeface="Arial"/>
              </a:rPr>
              <a:t>n8n, a custom agent service, or a hybrid: dashboard owns state, agent owns decisions</a:t>
            </a:r>
          </a:p>
        </p:txBody>
      </p:sp>
      <p:sp>
        <p:nvSpPr>
          <p:cNvPr id="14" name="Text 12">
            <a:extLst xmlns:a="http://schemas.openxmlformats.org/drawingml/2006/main">
              <a:ext uri="{FF2B5EF4-FFF2-40B4-BE49-F238E27FC236}">
                <a16:creationId xmlns:a16="http://schemas.microsoft.com/office/drawing/2014/main" id="{100D0D54-ADD5-461F-BE86-9D14E0E97ECF}"/>
              </a:ext>
            </a:extLst>
          </p:cNvPr>
          <p:cNvSpPr>
            <a:spLocks xmlns:a="http://schemas.openxmlformats.org/drawingml/2006/main" noGrp="1"/>
          </p:cNvSpPr>
          <p:nvPr/>
        </p:nvSpPr>
        <p:spPr>
          <a:xfrm xmlns:a="http://schemas.openxmlformats.org/drawingml/2006/main">
            <a:off x="10207447" y="3429000"/>
            <a:ext cx="12801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5A3EE0"/>
                </a:solidFill>
                <a:latin typeface="Arial"/>
                <a:ea typeface="Arial"/>
                <a:cs typeface="Arial"/>
              </a:rPr>
              <a:t>YOUR CALL</a:t>
            </a:r>
          </a:p>
        </p:txBody>
      </p:sp>
      <p:sp>
        <p:nvSpPr>
          <p:cNvPr id="15" name="Shape 13">
            <a:extLst xmlns:a="http://schemas.openxmlformats.org/drawingml/2006/main">
              <a:ext uri="{FF2B5EF4-FFF2-40B4-BE49-F238E27FC236}">
                <a16:creationId xmlns:a16="http://schemas.microsoft.com/office/drawing/2014/main" id="{3E5320B9-2DD4-42B2-B3AD-B54F1F8CDA69}"/>
              </a:ext>
            </a:extLst>
          </p:cNvPr>
          <p:cNvSpPr>
            <a:spLocks xmlns:a="http://schemas.openxmlformats.org/drawingml/2006/main" noGrp="1"/>
          </p:cNvSpPr>
          <p:nvPr/>
        </p:nvSpPr>
        <p:spPr>
          <a:xfrm xmlns:a="http://schemas.openxmlformats.org/drawingml/2006/main">
            <a:off x="566928" y="4160520"/>
            <a:ext cx="11057839" cy="658368"/>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700">
            <a:solidFill>
              <a:srgbClr val="E2DED6"/>
            </a:solidFill>
            <a:prstDash val="solid"/>
          </a:ln>
          <a:effectLst xmlns:a="http://schemas.openxmlformats.org/drawingml/2006/main">
            <a:outerShdw blurRad="76200" dist="25400" dir="5400000" sx="100000" sy="100000" kx="0" ky="0" algn="bl" rotWithShape="0">
              <a:srgbClr val="C9C4BA">
                <a:alpha val="55000"/>
              </a:srgbClr>
            </a:outerShdw>
          </a:effectLst>
        </p:spPr>
      </p:sp>
      <p:sp>
        <p:nvSpPr>
          <p:cNvPr id="16" name="Text 14">
            <a:extLst xmlns:a="http://schemas.openxmlformats.org/drawingml/2006/main">
              <a:ext uri="{FF2B5EF4-FFF2-40B4-BE49-F238E27FC236}">
                <a16:creationId xmlns:a16="http://schemas.microsoft.com/office/drawing/2014/main" id="{FAEA1899-8CA6-4579-8D85-9BDDFA3C8EB2}"/>
              </a:ext>
            </a:extLst>
          </p:cNvPr>
          <p:cNvSpPr>
            <a:spLocks xmlns:a="http://schemas.openxmlformats.org/drawingml/2006/main" noGrp="1"/>
          </p:cNvSpPr>
          <p:nvPr/>
        </p:nvSpPr>
        <p:spPr>
          <a:xfrm xmlns:a="http://schemas.openxmlformats.org/drawingml/2006/main">
            <a:off x="859536" y="4160520"/>
            <a:ext cx="2651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D0C0A"/>
                </a:solidFill>
                <a:latin typeface="Arial"/>
                <a:ea typeface="Arial"/>
                <a:cs typeface="Arial"/>
              </a:rPr>
              <a:t>Messaging channel</a:t>
            </a:r>
          </a:p>
        </p:txBody>
      </p:sp>
      <p:sp>
        <p:nvSpPr>
          <p:cNvPr id="17" name="Shape 15">
            <a:extLst xmlns:a="http://schemas.openxmlformats.org/drawingml/2006/main">
              <a:ext uri="{FF2B5EF4-FFF2-40B4-BE49-F238E27FC236}">
                <a16:creationId xmlns:a16="http://schemas.microsoft.com/office/drawing/2014/main" id="{3A33FE3C-C5D1-4C11-8456-9B5805CA3854}"/>
              </a:ext>
            </a:extLst>
          </p:cNvPr>
          <p:cNvSpPr>
            <a:spLocks xmlns:a="http://schemas.openxmlformats.org/drawingml/2006/main" noGrp="1"/>
          </p:cNvSpPr>
          <p:nvPr/>
        </p:nvSpPr>
        <p:spPr>
          <a:xfrm xmlns:a="http://schemas.openxmlformats.org/drawingml/2006/main">
            <a:off x="3630168" y="4288536"/>
            <a:ext cx="0" cy="402336"/>
          </a:xfrm>
          <a:prstGeom xmlns:a="http://schemas.openxmlformats.org/drawingml/2006/main" prst="line">
            <a:avLst/>
          </a:prstGeom>
          <a:noFill xmlns:a="http://schemas.openxmlformats.org/drawingml/2006/main"/>
          <a:ln xmlns:a="http://schemas.openxmlformats.org/drawingml/2006/main" w="12700">
            <a:solidFill>
              <a:srgbClr val="E2DED6"/>
            </a:solidFill>
            <a:prstDash val="solid"/>
          </a:ln>
        </p:spPr>
      </p:sp>
      <p:sp>
        <p:nvSpPr>
          <p:cNvPr id="18" name="Text 16">
            <a:extLst xmlns:a="http://schemas.openxmlformats.org/drawingml/2006/main">
              <a:ext uri="{FF2B5EF4-FFF2-40B4-BE49-F238E27FC236}">
                <a16:creationId xmlns:a16="http://schemas.microsoft.com/office/drawing/2014/main" id="{88B5947D-1657-4414-9EDA-49AB8DB6D027}"/>
              </a:ext>
            </a:extLst>
          </p:cNvPr>
          <p:cNvSpPr>
            <a:spLocks xmlns:a="http://schemas.openxmlformats.org/drawingml/2006/main" noGrp="1"/>
          </p:cNvSpPr>
          <p:nvPr/>
        </p:nvSpPr>
        <p:spPr>
          <a:xfrm xmlns:a="http://schemas.openxmlformats.org/drawingml/2006/main">
            <a:off x="3858768" y="4160520"/>
            <a:ext cx="639439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150">
                <a:solidFill>
                  <a:srgbClr val="6B675F"/>
                </a:solidFill>
                <a:latin typeface="Arial"/>
                <a:ea typeface="Arial"/>
                <a:cs typeface="Arial"/>
              </a:rPr>
              <a:t>Adapter interface: Mock/demo today; Email or LinkedIn assisted / connected next</a:t>
            </a:r>
          </a:p>
        </p:txBody>
      </p:sp>
      <p:sp>
        <p:nvSpPr>
          <p:cNvPr id="19" name="Text 17">
            <a:extLst xmlns:a="http://schemas.openxmlformats.org/drawingml/2006/main">
              <a:ext uri="{FF2B5EF4-FFF2-40B4-BE49-F238E27FC236}">
                <a16:creationId xmlns:a16="http://schemas.microsoft.com/office/drawing/2014/main" id="{82EB0453-5D9A-4934-944F-543B57EBE0EB}"/>
              </a:ext>
            </a:extLst>
          </p:cNvPr>
          <p:cNvSpPr>
            <a:spLocks xmlns:a="http://schemas.openxmlformats.org/drawingml/2006/main" noGrp="1"/>
          </p:cNvSpPr>
          <p:nvPr/>
        </p:nvSpPr>
        <p:spPr>
          <a:xfrm xmlns:a="http://schemas.openxmlformats.org/drawingml/2006/main">
            <a:off x="10207447" y="4160520"/>
            <a:ext cx="12801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5A3EE0"/>
                </a:solidFill>
                <a:latin typeface="Arial"/>
                <a:ea typeface="Arial"/>
                <a:cs typeface="Arial"/>
              </a:rPr>
              <a:t>ADAPTER</a:t>
            </a:r>
          </a:p>
        </p:txBody>
      </p:sp>
      <p:sp>
        <p:nvSpPr>
          <p:cNvPr id="20" name="Shape 18">
            <a:extLst xmlns:a="http://schemas.openxmlformats.org/drawingml/2006/main">
              <a:ext uri="{FF2B5EF4-FFF2-40B4-BE49-F238E27FC236}">
                <a16:creationId xmlns:a16="http://schemas.microsoft.com/office/drawing/2014/main" id="{D7AEB3FF-54DF-4A69-87E9-DA954CF976A6}"/>
              </a:ext>
            </a:extLst>
          </p:cNvPr>
          <p:cNvSpPr>
            <a:spLocks xmlns:a="http://schemas.openxmlformats.org/drawingml/2006/main" noGrp="1"/>
          </p:cNvSpPr>
          <p:nvPr/>
        </p:nvSpPr>
        <p:spPr>
          <a:xfrm xmlns:a="http://schemas.openxmlformats.org/drawingml/2006/main">
            <a:off x="566928" y="4892040"/>
            <a:ext cx="11057839" cy="658368"/>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700">
            <a:solidFill>
              <a:srgbClr val="E2DED6"/>
            </a:solidFill>
            <a:prstDash val="solid"/>
          </a:ln>
          <a:effectLst xmlns:a="http://schemas.openxmlformats.org/drawingml/2006/main">
            <a:outerShdw blurRad="76200" dist="25400" dir="5400000" sx="100000" sy="100000" kx="0" ky="0" algn="bl" rotWithShape="0">
              <a:srgbClr val="C9C4BA">
                <a:alpha val="55000"/>
              </a:srgbClr>
            </a:outerShdw>
          </a:effectLst>
        </p:spPr>
      </p:sp>
      <p:sp>
        <p:nvSpPr>
          <p:cNvPr id="21" name="Text 19">
            <a:extLst xmlns:a="http://schemas.openxmlformats.org/drawingml/2006/main">
              <a:ext uri="{FF2B5EF4-FFF2-40B4-BE49-F238E27FC236}">
                <a16:creationId xmlns:a16="http://schemas.microsoft.com/office/drawing/2014/main" id="{B7500E21-7E8D-4E08-9E5F-F417E5713029}"/>
              </a:ext>
            </a:extLst>
          </p:cNvPr>
          <p:cNvSpPr>
            <a:spLocks xmlns:a="http://schemas.openxmlformats.org/drawingml/2006/main" noGrp="1"/>
          </p:cNvSpPr>
          <p:nvPr/>
        </p:nvSpPr>
        <p:spPr>
          <a:xfrm xmlns:a="http://schemas.openxmlformats.org/drawingml/2006/main">
            <a:off x="859536" y="4892040"/>
            <a:ext cx="2651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D0C0A"/>
                </a:solidFill>
                <a:latin typeface="Arial"/>
                <a:ea typeface="Arial"/>
                <a:cs typeface="Arial"/>
              </a:rPr>
              <a:t>Reasoning</a:t>
            </a:r>
          </a:p>
        </p:txBody>
      </p:sp>
      <p:sp>
        <p:nvSpPr>
          <p:cNvPr id="22" name="Shape 20">
            <a:extLst xmlns:a="http://schemas.openxmlformats.org/drawingml/2006/main">
              <a:ext uri="{FF2B5EF4-FFF2-40B4-BE49-F238E27FC236}">
                <a16:creationId xmlns:a16="http://schemas.microsoft.com/office/drawing/2014/main" id="{F32B553F-7A6F-4E8B-87FA-D960898AE9B9}"/>
              </a:ext>
            </a:extLst>
          </p:cNvPr>
          <p:cNvSpPr>
            <a:spLocks xmlns:a="http://schemas.openxmlformats.org/drawingml/2006/main" noGrp="1"/>
          </p:cNvSpPr>
          <p:nvPr/>
        </p:nvSpPr>
        <p:spPr>
          <a:xfrm xmlns:a="http://schemas.openxmlformats.org/drawingml/2006/main">
            <a:off x="3630168" y="5020056"/>
            <a:ext cx="0" cy="402336"/>
          </a:xfrm>
          <a:prstGeom xmlns:a="http://schemas.openxmlformats.org/drawingml/2006/main" prst="line">
            <a:avLst/>
          </a:prstGeom>
          <a:noFill xmlns:a="http://schemas.openxmlformats.org/drawingml/2006/main"/>
          <a:ln xmlns:a="http://schemas.openxmlformats.org/drawingml/2006/main" w="12700">
            <a:solidFill>
              <a:srgbClr val="E2DED6"/>
            </a:solidFill>
            <a:prstDash val="solid"/>
          </a:ln>
        </p:spPr>
      </p:sp>
      <p:sp>
        <p:nvSpPr>
          <p:cNvPr id="23" name="Text 21">
            <a:extLst xmlns:a="http://schemas.openxmlformats.org/drawingml/2006/main">
              <a:ext uri="{FF2B5EF4-FFF2-40B4-BE49-F238E27FC236}">
                <a16:creationId xmlns:a16="http://schemas.microsoft.com/office/drawing/2014/main" id="{4B3DAD34-3329-42E5-B3EC-EA664A0B0B81}"/>
              </a:ext>
            </a:extLst>
          </p:cNvPr>
          <p:cNvSpPr>
            <a:spLocks xmlns:a="http://schemas.openxmlformats.org/drawingml/2006/main" noGrp="1"/>
          </p:cNvSpPr>
          <p:nvPr/>
        </p:nvSpPr>
        <p:spPr>
          <a:xfrm xmlns:a="http://schemas.openxmlformats.org/drawingml/2006/main">
            <a:off x="3858768" y="4892040"/>
            <a:ext cx="639439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150">
                <a:solidFill>
                  <a:srgbClr val="6B675F"/>
                </a:solidFill>
                <a:latin typeface="Arial"/>
                <a:ea typeface="Arial"/>
                <a:cs typeface="Arial"/>
              </a:rPr>
              <a:t>Business-brain rules plus LLM drafting, gated by claim, tone and duplicate checks</a:t>
            </a:r>
          </a:p>
        </p:txBody>
      </p:sp>
      <p:sp>
        <p:nvSpPr>
          <p:cNvPr id="24" name="Text 22">
            <a:extLst xmlns:a="http://schemas.openxmlformats.org/drawingml/2006/main">
              <a:ext uri="{FF2B5EF4-FFF2-40B4-BE49-F238E27FC236}">
                <a16:creationId xmlns:a16="http://schemas.microsoft.com/office/drawing/2014/main" id="{E9BC0618-2892-4146-B611-6B3BE68F5467}"/>
              </a:ext>
            </a:extLst>
          </p:cNvPr>
          <p:cNvSpPr>
            <a:spLocks xmlns:a="http://schemas.openxmlformats.org/drawingml/2006/main" noGrp="1"/>
          </p:cNvSpPr>
          <p:nvPr/>
        </p:nvSpPr>
        <p:spPr>
          <a:xfrm xmlns:a="http://schemas.openxmlformats.org/drawingml/2006/main">
            <a:off x="10207447" y="4892040"/>
            <a:ext cx="12801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5A3EE0"/>
                </a:solidFill>
                <a:latin typeface="Arial"/>
                <a:ea typeface="Arial"/>
                <a:cs typeface="Arial"/>
              </a:rPr>
              <a:t>GUARDED</a:t>
            </a:r>
          </a:p>
        </p:txBody>
      </p:sp>
      <p:sp>
        <p:nvSpPr>
          <p:cNvPr id="25" name="Shape 23">
            <a:extLst xmlns:a="http://schemas.openxmlformats.org/drawingml/2006/main">
              <a:ext uri="{FF2B5EF4-FFF2-40B4-BE49-F238E27FC236}">
                <a16:creationId xmlns:a16="http://schemas.microsoft.com/office/drawing/2014/main" id="{1BDCFF5E-E12D-46A4-BED2-8A719DF84E19}"/>
              </a:ext>
            </a:extLst>
          </p:cNvPr>
          <p:cNvSpPr>
            <a:spLocks xmlns:a="http://schemas.openxmlformats.org/drawingml/2006/main" noGrp="1"/>
          </p:cNvSpPr>
          <p:nvPr/>
        </p:nvSpPr>
        <p:spPr>
          <a:xfrm xmlns:a="http://schemas.openxmlformats.org/drawingml/2006/main">
            <a:off x="566928" y="5623560"/>
            <a:ext cx="11057839" cy="658368"/>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700">
            <a:solidFill>
              <a:srgbClr val="E2DED6"/>
            </a:solidFill>
            <a:prstDash val="solid"/>
          </a:ln>
          <a:effectLst xmlns:a="http://schemas.openxmlformats.org/drawingml/2006/main">
            <a:outerShdw blurRad="76200" dist="25400" dir="5400000" sx="100000" sy="100000" kx="0" ky="0" algn="bl" rotWithShape="0">
              <a:srgbClr val="C9C4BA">
                <a:alpha val="55000"/>
              </a:srgbClr>
            </a:outerShdw>
          </a:effectLst>
        </p:spPr>
      </p:sp>
      <p:sp>
        <p:nvSpPr>
          <p:cNvPr id="26" name="Text 24">
            <a:extLst xmlns:a="http://schemas.openxmlformats.org/drawingml/2006/main">
              <a:ext uri="{FF2B5EF4-FFF2-40B4-BE49-F238E27FC236}">
                <a16:creationId xmlns:a16="http://schemas.microsoft.com/office/drawing/2014/main" id="{5CD273BC-F2B3-4738-A988-86910DE3A34D}"/>
              </a:ext>
            </a:extLst>
          </p:cNvPr>
          <p:cNvSpPr>
            <a:spLocks xmlns:a="http://schemas.openxmlformats.org/drawingml/2006/main" noGrp="1"/>
          </p:cNvSpPr>
          <p:nvPr/>
        </p:nvSpPr>
        <p:spPr>
          <a:xfrm xmlns:a="http://schemas.openxmlformats.org/drawingml/2006/main">
            <a:off x="859536" y="5623560"/>
            <a:ext cx="2651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D0C0A"/>
                </a:solidFill>
                <a:latin typeface="Arial"/>
                <a:ea typeface="Arial"/>
                <a:cs typeface="Arial"/>
              </a:rPr>
              <a:t>State + memory</a:t>
            </a:r>
          </a:p>
        </p:txBody>
      </p:sp>
      <p:sp>
        <p:nvSpPr>
          <p:cNvPr id="27" name="Shape 25">
            <a:extLst xmlns:a="http://schemas.openxmlformats.org/drawingml/2006/main">
              <a:ext uri="{FF2B5EF4-FFF2-40B4-BE49-F238E27FC236}">
                <a16:creationId xmlns:a16="http://schemas.microsoft.com/office/drawing/2014/main" id="{3192F814-B57D-4F1A-9DBF-527AE14F21B2}"/>
              </a:ext>
            </a:extLst>
          </p:cNvPr>
          <p:cNvSpPr>
            <a:spLocks xmlns:a="http://schemas.openxmlformats.org/drawingml/2006/main" noGrp="1"/>
          </p:cNvSpPr>
          <p:nvPr/>
        </p:nvSpPr>
        <p:spPr>
          <a:xfrm xmlns:a="http://schemas.openxmlformats.org/drawingml/2006/main">
            <a:off x="3630168" y="5751576"/>
            <a:ext cx="0" cy="402336"/>
          </a:xfrm>
          <a:prstGeom xmlns:a="http://schemas.openxmlformats.org/drawingml/2006/main" prst="line">
            <a:avLst/>
          </a:prstGeom>
          <a:noFill xmlns:a="http://schemas.openxmlformats.org/drawingml/2006/main"/>
          <a:ln xmlns:a="http://schemas.openxmlformats.org/drawingml/2006/main" w="12700">
            <a:solidFill>
              <a:srgbClr val="E2DED6"/>
            </a:solidFill>
            <a:prstDash val="solid"/>
          </a:ln>
        </p:spPr>
      </p:sp>
      <p:sp>
        <p:nvSpPr>
          <p:cNvPr id="28" name="Text 26">
            <a:extLst xmlns:a="http://schemas.openxmlformats.org/drawingml/2006/main">
              <a:ext uri="{FF2B5EF4-FFF2-40B4-BE49-F238E27FC236}">
                <a16:creationId xmlns:a16="http://schemas.microsoft.com/office/drawing/2014/main" id="{885BAC4F-3692-4A44-8916-E3138BA323B3}"/>
              </a:ext>
            </a:extLst>
          </p:cNvPr>
          <p:cNvSpPr>
            <a:spLocks xmlns:a="http://schemas.openxmlformats.org/drawingml/2006/main" noGrp="1"/>
          </p:cNvSpPr>
          <p:nvPr/>
        </p:nvSpPr>
        <p:spPr>
          <a:xfrm xmlns:a="http://schemas.openxmlformats.org/drawingml/2006/main">
            <a:off x="3858768" y="5623560"/>
            <a:ext cx="639439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150">
                <a:solidFill>
                  <a:srgbClr val="6B675F"/>
                </a:solidFill>
                <a:latin typeface="Arial"/>
                <a:ea typeface="Arial"/>
                <a:cs typeface="Arial"/>
              </a:rPr>
              <a:t>Pipeline stage and thread-ownership tracked separately, with a full activity log</a:t>
            </a:r>
          </a:p>
        </p:txBody>
      </p:sp>
      <p:sp>
        <p:nvSpPr>
          <p:cNvPr id="29" name="Text 27">
            <a:extLst xmlns:a="http://schemas.openxmlformats.org/drawingml/2006/main">
              <a:ext uri="{FF2B5EF4-FFF2-40B4-BE49-F238E27FC236}">
                <a16:creationId xmlns:a16="http://schemas.microsoft.com/office/drawing/2014/main" id="{75AC9D56-DE44-4B7E-AEEE-12C37EBE9ECF}"/>
              </a:ext>
            </a:extLst>
          </p:cNvPr>
          <p:cNvSpPr>
            <a:spLocks xmlns:a="http://schemas.openxmlformats.org/drawingml/2006/main" noGrp="1"/>
          </p:cNvSpPr>
          <p:nvPr/>
        </p:nvSpPr>
        <p:spPr>
          <a:xfrm xmlns:a="http://schemas.openxmlformats.org/drawingml/2006/main">
            <a:off x="10207447" y="5623560"/>
            <a:ext cx="12801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5A3EE0"/>
                </a:solidFill>
                <a:latin typeface="Arial"/>
                <a:ea typeface="Arial"/>
                <a:cs typeface="Arial"/>
              </a:rPr>
              <a:t>AUDITED</a:t>
            </a:r>
          </a:p>
        </p:txBody>
      </p:sp>
      <p:sp>
        <p:nvSpPr>
          <p:cNvPr id="30" name="Text 28">
            <a:extLst xmlns:a="http://schemas.openxmlformats.org/drawingml/2006/main">
              <a:ext uri="{FF2B5EF4-FFF2-40B4-BE49-F238E27FC236}">
                <a16:creationId xmlns:a16="http://schemas.microsoft.com/office/drawing/2014/main" id="{78E2B468-42AB-417F-9C42-E609C3CAE3C3}"/>
              </a:ext>
            </a:extLst>
          </p:cNvPr>
          <p:cNvSpPr>
            <a:spLocks xmlns:a="http://schemas.openxmlformats.org/drawingml/2006/main" noGrp="1"/>
          </p:cNvSpPr>
          <p:nvPr/>
        </p:nvSpPr>
        <p:spPr>
          <a:xfrm xmlns:a="http://schemas.openxmlformats.org/drawingml/2006/main">
            <a:off x="8351215" y="6382512"/>
            <a:ext cx="327355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b="1">
                <a:solidFill>
                  <a:srgbClr val="9A968C"/>
                </a:solidFill>
                <a:latin typeface="Arial"/>
                <a:ea typeface="Arial"/>
                <a:cs typeface="Arial"/>
              </a:rPr>
              <a:t>INFLUENCEES</a:t>
            </a:r>
            <a:r>
              <a:rPr sz="950" b="1">
                <a:solidFill>
                  <a:srgbClr val="6B675F"/>
                </a:solidFill>
                <a:latin typeface="Arial"/>
                <a:ea typeface="Arial"/>
                <a:cs typeface="Arial"/>
              </a:rPr>
              <a:t>   06 / 10</a:t>
            </a:r>
          </a:p>
        </p:txBody>
      </p:sp>
      <p:sp>
        <p:nvSpPr>
          <p:cNvPr id="31" name="white-canvas-6">
            <a:extLst xmlns:a="http://schemas.openxmlformats.org/drawingml/2006/main">
              <a:ext uri="{FF2B5EF4-FFF2-40B4-BE49-F238E27FC236}">
                <a16:creationId xmlns:a16="http://schemas.microsoft.com/office/drawing/2014/main" id="{88035C8E-85A8-4F58-8CE7-D36D34A03D9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 name="section-badge">
            <a:extLst xmlns:a="http://schemas.openxmlformats.org/drawingml/2006/main">
              <a:ext uri="{FF2B5EF4-FFF2-40B4-BE49-F238E27FC236}">
                <a16:creationId xmlns:a16="http://schemas.microsoft.com/office/drawing/2014/main" id="{9ED8247F-ACE1-47B4-9E95-7D335C16F1E2}"/>
              </a:ext>
            </a:extLst>
          </p:cNvPr>
          <p:cNvSpPr>
            <a:spLocks xmlns:a="http://schemas.openxmlformats.org/drawingml/2006/main" noGrp="1"/>
          </p:cNvSpPr>
          <p:nvPr/>
        </p:nvSpPr>
        <p:spPr>
          <a:xfrm xmlns:a="http://schemas.openxmlformats.org/drawingml/2006/main">
            <a:off x="4191000" y="3238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1200" b="1">
                <a:solidFill>
                  <a:srgbClr val="7C5CFC"/>
                </a:solidFill>
                <a:latin typeface="Inter"/>
                <a:ea typeface="Inter"/>
                <a:cs typeface="Inter"/>
              </a:defRPr>
            </a:pPr>
            <a:r>
              <a:rPr sz="1200" b="1">
                <a:solidFill>
                  <a:srgbClr val="7C5CFC"/>
                </a:solidFill>
                <a:latin typeface="Inter"/>
                <a:ea typeface="Inter"/>
                <a:cs typeface="Inter"/>
              </a:rPr>
              <a:t>SOLUTION 01 · FROM DEMO TO LIVE</a:t>
            </a:r>
          </a:p>
        </p:txBody>
      </p:sp>
      <p:sp>
        <p:nvSpPr>
          <p:cNvPr id="33" name="slide-title">
            <a:extLst xmlns:a="http://schemas.openxmlformats.org/drawingml/2006/main">
              <a:ext uri="{FF2B5EF4-FFF2-40B4-BE49-F238E27FC236}">
                <a16:creationId xmlns:a16="http://schemas.microsoft.com/office/drawing/2014/main" id="{4F1A4FDD-B742-4AB0-901A-9AE36DD4311A}"/>
              </a:ext>
            </a:extLst>
          </p:cNvPr>
          <p:cNvSpPr>
            <a:spLocks xmlns:a="http://schemas.openxmlformats.org/drawingml/2006/main" noGrp="1"/>
          </p:cNvSpPr>
          <p:nvPr/>
        </p:nvSpPr>
        <p:spPr>
          <a:xfrm xmlns:a="http://schemas.openxmlformats.org/drawingml/2006/main">
            <a:off x="952500" y="6858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3450" b="0">
                <a:solidFill>
                  <a:srgbClr val="0F172A"/>
                </a:solidFill>
                <a:latin typeface="Inter"/>
                <a:ea typeface="Inter"/>
                <a:cs typeface="Inter"/>
              </a:defRPr>
            </a:pPr>
            <a:r>
              <a:rPr sz="3450" b="0">
                <a:solidFill>
                  <a:srgbClr val="0F172A"/>
                </a:solidFill>
                <a:latin typeface="Inter"/>
                <a:ea typeface="Inter"/>
                <a:cs typeface="Inter"/>
              </a:rPr>
              <a:t>Seeded today. Swappable tomorrow.</a:t>
            </a:r>
          </a:p>
        </p:txBody>
      </p:sp>
      <p:sp>
        <p:nvSpPr>
          <p:cNvPr id="34" name="slide-subtitle">
            <a:extLst xmlns:a="http://schemas.openxmlformats.org/drawingml/2006/main">
              <a:ext uri="{FF2B5EF4-FFF2-40B4-BE49-F238E27FC236}">
                <a16:creationId xmlns:a16="http://schemas.microsoft.com/office/drawing/2014/main" id="{A7AA307A-E7C6-42A9-91DC-4FB01C785E61}"/>
              </a:ext>
            </a:extLst>
          </p:cNvPr>
          <p:cNvSpPr>
            <a:spLocks xmlns:a="http://schemas.openxmlformats.org/drawingml/2006/main" noGrp="1"/>
          </p:cNvSpPr>
          <p:nvPr/>
        </p:nvSpPr>
        <p:spPr>
          <a:xfrm xmlns:a="http://schemas.openxmlformats.org/drawingml/2006/main">
            <a:off x="1333500" y="1333500"/>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22000"/>
              </a:lnSpc>
              <a:buNone/>
              <a:defRPr sz="1575" b="0">
                <a:solidFill>
                  <a:srgbClr val="64748B"/>
                </a:solidFill>
                <a:latin typeface="Inter"/>
                <a:ea typeface="Inter"/>
                <a:cs typeface="Inter"/>
              </a:defRPr>
            </a:pPr>
            <a:r>
              <a:rPr sz="1575" b="0">
                <a:solidFill>
                  <a:srgbClr val="64748B"/>
                </a:solidFill>
                <a:latin typeface="Inter"/>
                <a:ea typeface="Inter"/>
                <a:cs typeface="Inter"/>
              </a:rPr>
              <a:t>The demo remains reliable while each layer can connect to a real service behind a clean boundary.</a:t>
            </a:r>
          </a:p>
        </p:txBody>
      </p:sp>
      <p:sp>
        <p:nvSpPr>
          <p:cNvPr id="35" name="layer-row-0">
            <a:extLst xmlns:a="http://schemas.openxmlformats.org/drawingml/2006/main">
              <a:ext uri="{FF2B5EF4-FFF2-40B4-BE49-F238E27FC236}">
                <a16:creationId xmlns:a16="http://schemas.microsoft.com/office/drawing/2014/main" id="{017F25C5-08EB-4BD7-BC49-24B0249CB7DB}"/>
              </a:ext>
            </a:extLst>
          </p:cNvPr>
          <p:cNvSpPr>
            <a:spLocks xmlns:a="http://schemas.openxmlformats.org/drawingml/2006/main" noGrp="1"/>
          </p:cNvSpPr>
          <p:nvPr/>
        </p:nvSpPr>
        <p:spPr>
          <a:xfrm xmlns:a="http://schemas.openxmlformats.org/drawingml/2006/main">
            <a:off x="800100" y="2286000"/>
            <a:ext cx="10591800" cy="609600"/>
          </a:xfrm>
          <a:prstGeom xmlns:a="http://schemas.openxmlformats.org/drawingml/2006/main" prst="roundRect">
            <a:avLst>
              <a:gd name="adj" fmla="val 21875"/>
            </a:avLst>
          </a:prstGeom>
          <a:solidFill xmlns:a="http://schemas.openxmlformats.org/drawingml/2006/main">
            <a:srgbClr val="FFF9F0"/>
          </a:solidFill>
          <a:ln xmlns:a="http://schemas.openxmlformats.org/drawingml/2006/main" w="9525">
            <a:solidFill>
              <a:srgbClr val="FFFFFF"/>
            </a:solidFill>
            <a:prstDash val="solid"/>
          </a:ln>
        </p:spPr>
        <p:style>
          <a:lnRef xmlns:a="http://schemas.openxmlformats.org/drawingml/2006/main" idx="0"/>
          <a:fillRef xmlns:a="http://schemas.openxmlformats.org/drawingml/2006/main" idx="0"/>
          <a:effectRef xmlns:a="http://schemas.openxmlformats.org/drawingml/2006/main" idx="14"/>
          <a:fontRef xmlns:a="http://schemas.openxmlformats.org/drawingml/2006/main" idx="major"/>
        </p:style>
      </p:sp>
      <p:sp>
        <p:nvSpPr>
          <p:cNvPr id="36" name="layer-title-0">
            <a:extLst xmlns:a="http://schemas.openxmlformats.org/drawingml/2006/main">
              <a:ext uri="{FF2B5EF4-FFF2-40B4-BE49-F238E27FC236}">
                <a16:creationId xmlns:a16="http://schemas.microsoft.com/office/drawing/2014/main" id="{BF50E543-A547-4D11-9919-7D1F0D7CE276}"/>
              </a:ext>
            </a:extLst>
          </p:cNvPr>
          <p:cNvSpPr>
            <a:spLocks xmlns:a="http://schemas.openxmlformats.org/drawingml/2006/main" noGrp="1"/>
          </p:cNvSpPr>
          <p:nvPr/>
        </p:nvSpPr>
        <p:spPr>
          <a:xfrm xmlns:a="http://schemas.openxmlformats.org/drawingml/2006/main">
            <a:off x="1028700" y="2400300"/>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425" b="1">
                <a:solidFill>
                  <a:srgbClr val="1E293B"/>
                </a:solidFill>
                <a:latin typeface="Inter"/>
                <a:ea typeface="Inter"/>
                <a:cs typeface="Inter"/>
              </a:defRPr>
            </a:pPr>
            <a:r>
              <a:rPr sz="1425" b="1">
                <a:solidFill>
                  <a:srgbClr val="1E293B"/>
                </a:solidFill>
                <a:latin typeface="Inter"/>
                <a:ea typeface="Inter"/>
                <a:cs typeface="Inter"/>
              </a:rPr>
              <a:t>Discovery + research</a:t>
            </a:r>
          </a:p>
        </p:txBody>
      </p:sp>
      <p:sp>
        <p:nvSpPr>
          <p:cNvPr id="37" name="layer-body-0">
            <a:extLst xmlns:a="http://schemas.openxmlformats.org/drawingml/2006/main">
              <a:ext uri="{FF2B5EF4-FFF2-40B4-BE49-F238E27FC236}">
                <a16:creationId xmlns:a16="http://schemas.microsoft.com/office/drawing/2014/main" id="{E16340E1-29C7-480C-9388-0D495B5EF84C}"/>
              </a:ext>
            </a:extLst>
          </p:cNvPr>
          <p:cNvSpPr>
            <a:spLocks xmlns:a="http://schemas.openxmlformats.org/drawingml/2006/main" noGrp="1"/>
          </p:cNvSpPr>
          <p:nvPr/>
        </p:nvSpPr>
        <p:spPr>
          <a:xfrm xmlns:a="http://schemas.openxmlformats.org/drawingml/2006/main">
            <a:off x="3381375" y="2381250"/>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815"/>
          </a:bodyPr>
          <a:lstStyle xmlns:a="http://schemas.openxmlformats.org/drawingml/2006/main"/>
          <a:p xmlns:a="http://schemas.openxmlformats.org/drawingml/2006/main">
            <a:pPr algn="l">
              <a:lnSpc>
                <a:spcPct val="114000"/>
              </a:lnSpc>
              <a:buNone/>
              <a:defRPr sz="1275" b="0">
                <a:solidFill>
                  <a:srgbClr val="64748B"/>
                </a:solidFill>
                <a:latin typeface="Inter"/>
                <a:ea typeface="Inter"/>
                <a:cs typeface="Inter"/>
              </a:defRPr>
            </a:pPr>
            <a:r>
              <a:rPr sz="1275" b="0">
                <a:solidFill>
                  <a:srgbClr val="64748B"/>
                </a:solidFill>
                <a:latin typeface="Inter"/>
                <a:ea typeface="Inter"/>
                <a:cs typeface="Inter"/>
              </a:rPr>
              <a:t>Bright Data for LinkedIn company, profile and post data—plus company sites, public news and jobs.</a:t>
            </a:r>
          </a:p>
        </p:txBody>
      </p:sp>
      <p:sp>
        <p:nvSpPr>
          <p:cNvPr id="38" name="layer-pill-0">
            <a:extLst xmlns:a="http://schemas.openxmlformats.org/drawingml/2006/main">
              <a:ext uri="{FF2B5EF4-FFF2-40B4-BE49-F238E27FC236}">
                <a16:creationId xmlns:a16="http://schemas.microsoft.com/office/drawing/2014/main" id="{E8AE060C-1FF5-44FB-980D-B89982C4D369}"/>
              </a:ext>
            </a:extLst>
          </p:cNvPr>
          <p:cNvSpPr>
            <a:spLocks xmlns:a="http://schemas.openxmlformats.org/drawingml/2006/main" noGrp="1"/>
          </p:cNvSpPr>
          <p:nvPr/>
        </p:nvSpPr>
        <p:spPr>
          <a:xfrm xmlns:a="http://schemas.openxmlformats.org/drawingml/2006/main">
            <a:off x="9867900" y="2438400"/>
            <a:ext cx="1257300"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FDE68A"/>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A16207"/>
                </a:solidFill>
                <a:latin typeface="Inter"/>
                <a:ea typeface="Inter"/>
                <a:cs typeface="Inter"/>
              </a:defRPr>
            </a:pPr>
            <a:r>
              <a:rPr sz="975" b="1">
                <a:solidFill>
                  <a:srgbClr val="A16207"/>
                </a:solidFill>
                <a:latin typeface="Inter"/>
                <a:ea typeface="Inter"/>
                <a:cs typeface="Inter"/>
              </a:rPr>
              <a:t>SWAPPABLE</a:t>
            </a:r>
          </a:p>
        </p:txBody>
      </p:sp>
      <p:sp>
        <p:nvSpPr>
          <p:cNvPr id="39" name="layer-row-1">
            <a:extLst xmlns:a="http://schemas.openxmlformats.org/drawingml/2006/main">
              <a:ext uri="{FF2B5EF4-FFF2-40B4-BE49-F238E27FC236}">
                <a16:creationId xmlns:a16="http://schemas.microsoft.com/office/drawing/2014/main" id="{03BEB74A-C5A0-4D00-981F-67C281620D6B}"/>
              </a:ext>
            </a:extLst>
          </p:cNvPr>
          <p:cNvSpPr>
            <a:spLocks xmlns:a="http://schemas.openxmlformats.org/drawingml/2006/main" noGrp="1"/>
          </p:cNvSpPr>
          <p:nvPr/>
        </p:nvSpPr>
        <p:spPr>
          <a:xfrm xmlns:a="http://schemas.openxmlformats.org/drawingml/2006/main">
            <a:off x="800100" y="3019425"/>
            <a:ext cx="10591800" cy="609600"/>
          </a:xfrm>
          <a:prstGeom xmlns:a="http://schemas.openxmlformats.org/drawingml/2006/main" prst="roundRect">
            <a:avLst>
              <a:gd name="adj" fmla="val 21875"/>
            </a:avLst>
          </a:prstGeom>
          <a:solidFill xmlns:a="http://schemas.openxmlformats.org/drawingml/2006/main">
            <a:srgbClr val="FBF7FF"/>
          </a:solidFill>
          <a:ln xmlns:a="http://schemas.openxmlformats.org/drawingml/2006/main" w="9525">
            <a:solidFill>
              <a:srgbClr val="FFFFFF"/>
            </a:solidFill>
            <a:prstDash val="solid"/>
          </a:ln>
        </p:spPr>
        <p:style>
          <a:lnRef xmlns:a="http://schemas.openxmlformats.org/drawingml/2006/main" idx="0"/>
          <a:fillRef xmlns:a="http://schemas.openxmlformats.org/drawingml/2006/main" idx="0"/>
          <a:effectRef xmlns:a="http://schemas.openxmlformats.org/drawingml/2006/main" idx="14"/>
          <a:fontRef xmlns:a="http://schemas.openxmlformats.org/drawingml/2006/main" idx="major"/>
        </p:style>
      </p:sp>
      <p:sp>
        <p:nvSpPr>
          <p:cNvPr id="40" name="layer-title-1">
            <a:extLst xmlns:a="http://schemas.openxmlformats.org/drawingml/2006/main">
              <a:ext uri="{FF2B5EF4-FFF2-40B4-BE49-F238E27FC236}">
                <a16:creationId xmlns:a16="http://schemas.microsoft.com/office/drawing/2014/main" id="{227D0C95-C3F2-46A7-9CF0-2B8DAB6DA061}"/>
              </a:ext>
            </a:extLst>
          </p:cNvPr>
          <p:cNvSpPr>
            <a:spLocks xmlns:a="http://schemas.openxmlformats.org/drawingml/2006/main" noGrp="1"/>
          </p:cNvSpPr>
          <p:nvPr/>
        </p:nvSpPr>
        <p:spPr>
          <a:xfrm xmlns:a="http://schemas.openxmlformats.org/drawingml/2006/main">
            <a:off x="1028700" y="31337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425" b="1">
                <a:solidFill>
                  <a:srgbClr val="1E293B"/>
                </a:solidFill>
                <a:latin typeface="Inter"/>
                <a:ea typeface="Inter"/>
                <a:cs typeface="Inter"/>
              </a:defRPr>
            </a:pPr>
            <a:r>
              <a:rPr sz="1425" b="1">
                <a:solidFill>
                  <a:srgbClr val="1E293B"/>
                </a:solidFill>
                <a:latin typeface="Inter"/>
                <a:ea typeface="Inter"/>
                <a:cs typeface="Inter"/>
              </a:rPr>
              <a:t>Orchestration</a:t>
            </a:r>
          </a:p>
        </p:txBody>
      </p:sp>
      <p:sp>
        <p:nvSpPr>
          <p:cNvPr id="41" name="layer-body-1">
            <a:extLst xmlns:a="http://schemas.openxmlformats.org/drawingml/2006/main">
              <a:ext uri="{FF2B5EF4-FFF2-40B4-BE49-F238E27FC236}">
                <a16:creationId xmlns:a16="http://schemas.microsoft.com/office/drawing/2014/main" id="{DCAD4F1B-6BE2-4BBC-8DDB-532979AAF4AB}"/>
              </a:ext>
            </a:extLst>
          </p:cNvPr>
          <p:cNvSpPr>
            <a:spLocks xmlns:a="http://schemas.openxmlformats.org/drawingml/2006/main" noGrp="1"/>
          </p:cNvSpPr>
          <p:nvPr/>
        </p:nvSpPr>
        <p:spPr>
          <a:xfrm xmlns:a="http://schemas.openxmlformats.org/drawingml/2006/main">
            <a:off x="3381375" y="3114675"/>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4000"/>
              </a:lnSpc>
              <a:buNone/>
              <a:defRPr sz="1275" b="0">
                <a:solidFill>
                  <a:srgbClr val="64748B"/>
                </a:solidFill>
                <a:latin typeface="Inter"/>
                <a:ea typeface="Inter"/>
                <a:cs typeface="Inter"/>
              </a:defRPr>
            </a:pPr>
            <a:r>
              <a:rPr sz="1275" b="0">
                <a:solidFill>
                  <a:srgbClr val="64748B"/>
                </a:solidFill>
                <a:latin typeface="Inter"/>
                <a:ea typeface="Inter"/>
                <a:cs typeface="Inter"/>
              </a:rPr>
              <a:t>n8n, a custom agent service or a hybrid. The dashboard owns state; the agent owns decisions.</a:t>
            </a:r>
          </a:p>
        </p:txBody>
      </p:sp>
      <p:sp>
        <p:nvSpPr>
          <p:cNvPr id="42" name="layer-pill-1">
            <a:extLst xmlns:a="http://schemas.openxmlformats.org/drawingml/2006/main">
              <a:ext uri="{FF2B5EF4-FFF2-40B4-BE49-F238E27FC236}">
                <a16:creationId xmlns:a16="http://schemas.microsoft.com/office/drawing/2014/main" id="{BAEE1981-6FE2-4929-9777-2CCE8700B93B}"/>
              </a:ext>
            </a:extLst>
          </p:cNvPr>
          <p:cNvSpPr>
            <a:spLocks xmlns:a="http://schemas.openxmlformats.org/drawingml/2006/main" noGrp="1"/>
          </p:cNvSpPr>
          <p:nvPr/>
        </p:nvSpPr>
        <p:spPr>
          <a:xfrm xmlns:a="http://schemas.openxmlformats.org/drawingml/2006/main">
            <a:off x="9867900" y="3171825"/>
            <a:ext cx="1257300"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E9D5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B567C2"/>
                </a:solidFill>
                <a:latin typeface="Inter"/>
                <a:ea typeface="Inter"/>
                <a:cs typeface="Inter"/>
              </a:defRPr>
            </a:pPr>
            <a:r>
              <a:rPr sz="975" b="1">
                <a:solidFill>
                  <a:srgbClr val="B567C2"/>
                </a:solidFill>
                <a:latin typeface="Inter"/>
                <a:ea typeface="Inter"/>
                <a:cs typeface="Inter"/>
              </a:rPr>
              <a:t>YOUR CALL</a:t>
            </a:r>
          </a:p>
        </p:txBody>
      </p:sp>
      <p:sp>
        <p:nvSpPr>
          <p:cNvPr id="43" name="layer-row-2">
            <a:extLst xmlns:a="http://schemas.openxmlformats.org/drawingml/2006/main">
              <a:ext uri="{FF2B5EF4-FFF2-40B4-BE49-F238E27FC236}">
                <a16:creationId xmlns:a16="http://schemas.microsoft.com/office/drawing/2014/main" id="{73936DB3-3FB4-4865-85D2-86686D13F552}"/>
              </a:ext>
            </a:extLst>
          </p:cNvPr>
          <p:cNvSpPr>
            <a:spLocks xmlns:a="http://schemas.openxmlformats.org/drawingml/2006/main" noGrp="1"/>
          </p:cNvSpPr>
          <p:nvPr/>
        </p:nvSpPr>
        <p:spPr>
          <a:xfrm xmlns:a="http://schemas.openxmlformats.org/drawingml/2006/main">
            <a:off x="800100" y="3752850"/>
            <a:ext cx="10591800" cy="609600"/>
          </a:xfrm>
          <a:prstGeom xmlns:a="http://schemas.openxmlformats.org/drawingml/2006/main" prst="roundRect">
            <a:avLst>
              <a:gd name="adj" fmla="val 21875"/>
            </a:avLst>
          </a:prstGeom>
          <a:solidFill xmlns:a="http://schemas.openxmlformats.org/drawingml/2006/main">
            <a:srgbClr val="FFF9F0"/>
          </a:solidFill>
          <a:ln xmlns:a="http://schemas.openxmlformats.org/drawingml/2006/main" w="9525">
            <a:solidFill>
              <a:srgbClr val="FFFFFF"/>
            </a:solidFill>
            <a:prstDash val="solid"/>
          </a:ln>
        </p:spPr>
        <p:style>
          <a:lnRef xmlns:a="http://schemas.openxmlformats.org/drawingml/2006/main" idx="0"/>
          <a:fillRef xmlns:a="http://schemas.openxmlformats.org/drawingml/2006/main" idx="0"/>
          <a:effectRef xmlns:a="http://schemas.openxmlformats.org/drawingml/2006/main" idx="14"/>
          <a:fontRef xmlns:a="http://schemas.openxmlformats.org/drawingml/2006/main" idx="major"/>
        </p:style>
      </p:sp>
      <p:sp>
        <p:nvSpPr>
          <p:cNvPr id="44" name="layer-title-2">
            <a:extLst xmlns:a="http://schemas.openxmlformats.org/drawingml/2006/main">
              <a:ext uri="{FF2B5EF4-FFF2-40B4-BE49-F238E27FC236}">
                <a16:creationId xmlns:a16="http://schemas.microsoft.com/office/drawing/2014/main" id="{634FEB9C-E42D-434D-94B8-3A0A34D51BEB}"/>
              </a:ext>
            </a:extLst>
          </p:cNvPr>
          <p:cNvSpPr>
            <a:spLocks xmlns:a="http://schemas.openxmlformats.org/drawingml/2006/main" noGrp="1"/>
          </p:cNvSpPr>
          <p:nvPr/>
        </p:nvSpPr>
        <p:spPr>
          <a:xfrm xmlns:a="http://schemas.openxmlformats.org/drawingml/2006/main">
            <a:off x="1028700" y="3867150"/>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425" b="1">
                <a:solidFill>
                  <a:srgbClr val="1E293B"/>
                </a:solidFill>
                <a:latin typeface="Inter"/>
                <a:ea typeface="Inter"/>
                <a:cs typeface="Inter"/>
              </a:defRPr>
            </a:pPr>
            <a:r>
              <a:rPr sz="1425" b="1">
                <a:solidFill>
                  <a:srgbClr val="1E293B"/>
                </a:solidFill>
                <a:latin typeface="Inter"/>
                <a:ea typeface="Inter"/>
                <a:cs typeface="Inter"/>
              </a:rPr>
              <a:t>Messaging channel</a:t>
            </a:r>
          </a:p>
        </p:txBody>
      </p:sp>
      <p:sp>
        <p:nvSpPr>
          <p:cNvPr id="45" name="layer-body-2">
            <a:extLst xmlns:a="http://schemas.openxmlformats.org/drawingml/2006/main">
              <a:ext uri="{FF2B5EF4-FFF2-40B4-BE49-F238E27FC236}">
                <a16:creationId xmlns:a16="http://schemas.microsoft.com/office/drawing/2014/main" id="{CCBEE156-C4F7-484D-8E74-D2BBE71C7344}"/>
              </a:ext>
            </a:extLst>
          </p:cNvPr>
          <p:cNvSpPr>
            <a:spLocks xmlns:a="http://schemas.openxmlformats.org/drawingml/2006/main" noGrp="1"/>
          </p:cNvSpPr>
          <p:nvPr/>
        </p:nvSpPr>
        <p:spPr>
          <a:xfrm xmlns:a="http://schemas.openxmlformats.org/drawingml/2006/main">
            <a:off x="3381375" y="3848100"/>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4000"/>
              </a:lnSpc>
              <a:buNone/>
              <a:defRPr sz="1275" b="0">
                <a:solidFill>
                  <a:srgbClr val="64748B"/>
                </a:solidFill>
                <a:latin typeface="Inter"/>
                <a:ea typeface="Inter"/>
                <a:cs typeface="Inter"/>
              </a:defRPr>
            </a:pPr>
            <a:r>
              <a:rPr sz="1275" b="0">
                <a:solidFill>
                  <a:srgbClr val="64748B"/>
                </a:solidFill>
                <a:latin typeface="Inter"/>
                <a:ea typeface="Inter"/>
                <a:cs typeface="Inter"/>
              </a:rPr>
              <a:t>Mock/demo now; email, assisted LinkedIn or a selected connected sender later.</a:t>
            </a:r>
          </a:p>
        </p:txBody>
      </p:sp>
      <p:sp>
        <p:nvSpPr>
          <p:cNvPr id="46" name="layer-pill-2">
            <a:extLst xmlns:a="http://schemas.openxmlformats.org/drawingml/2006/main">
              <a:ext uri="{FF2B5EF4-FFF2-40B4-BE49-F238E27FC236}">
                <a16:creationId xmlns:a16="http://schemas.microsoft.com/office/drawing/2014/main" id="{4B635D50-3AAD-4439-9E87-20AA6B9E4292}"/>
              </a:ext>
            </a:extLst>
          </p:cNvPr>
          <p:cNvSpPr>
            <a:spLocks xmlns:a="http://schemas.openxmlformats.org/drawingml/2006/main" noGrp="1"/>
          </p:cNvSpPr>
          <p:nvPr/>
        </p:nvSpPr>
        <p:spPr>
          <a:xfrm xmlns:a="http://schemas.openxmlformats.org/drawingml/2006/main">
            <a:off x="9867900" y="3905250"/>
            <a:ext cx="1257300"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FDE68A"/>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A16207"/>
                </a:solidFill>
                <a:latin typeface="Inter"/>
                <a:ea typeface="Inter"/>
                <a:cs typeface="Inter"/>
              </a:defRPr>
            </a:pPr>
            <a:r>
              <a:rPr sz="975" b="1">
                <a:solidFill>
                  <a:srgbClr val="A16207"/>
                </a:solidFill>
                <a:latin typeface="Inter"/>
                <a:ea typeface="Inter"/>
                <a:cs typeface="Inter"/>
              </a:rPr>
              <a:t>ADAPTER</a:t>
            </a:r>
          </a:p>
        </p:txBody>
      </p:sp>
      <p:sp>
        <p:nvSpPr>
          <p:cNvPr id="47" name="layer-row-3">
            <a:extLst xmlns:a="http://schemas.openxmlformats.org/drawingml/2006/main">
              <a:ext uri="{FF2B5EF4-FFF2-40B4-BE49-F238E27FC236}">
                <a16:creationId xmlns:a16="http://schemas.microsoft.com/office/drawing/2014/main" id="{BFA459AF-F171-4A4F-BB1D-DAB374B4BA0A}"/>
              </a:ext>
            </a:extLst>
          </p:cNvPr>
          <p:cNvSpPr>
            <a:spLocks xmlns:a="http://schemas.openxmlformats.org/drawingml/2006/main" noGrp="1"/>
          </p:cNvSpPr>
          <p:nvPr/>
        </p:nvSpPr>
        <p:spPr>
          <a:xfrm xmlns:a="http://schemas.openxmlformats.org/drawingml/2006/main">
            <a:off x="800100" y="4486275"/>
            <a:ext cx="10591800" cy="609600"/>
          </a:xfrm>
          <a:prstGeom xmlns:a="http://schemas.openxmlformats.org/drawingml/2006/main" prst="roundRect">
            <a:avLst>
              <a:gd name="adj" fmla="val 21875"/>
            </a:avLst>
          </a:prstGeom>
          <a:solidFill xmlns:a="http://schemas.openxmlformats.org/drawingml/2006/main">
            <a:srgbClr val="FBF7FF"/>
          </a:solidFill>
          <a:ln xmlns:a="http://schemas.openxmlformats.org/drawingml/2006/main" w="9525">
            <a:solidFill>
              <a:srgbClr val="FFFFFF"/>
            </a:solidFill>
            <a:prstDash val="solid"/>
          </a:ln>
        </p:spPr>
        <p:style>
          <a:lnRef xmlns:a="http://schemas.openxmlformats.org/drawingml/2006/main" idx="0"/>
          <a:fillRef xmlns:a="http://schemas.openxmlformats.org/drawingml/2006/main" idx="0"/>
          <a:effectRef xmlns:a="http://schemas.openxmlformats.org/drawingml/2006/main" idx="14"/>
          <a:fontRef xmlns:a="http://schemas.openxmlformats.org/drawingml/2006/main" idx="major"/>
        </p:style>
      </p:sp>
      <p:sp>
        <p:nvSpPr>
          <p:cNvPr id="48" name="layer-title-3">
            <a:extLst xmlns:a="http://schemas.openxmlformats.org/drawingml/2006/main">
              <a:ext uri="{FF2B5EF4-FFF2-40B4-BE49-F238E27FC236}">
                <a16:creationId xmlns:a16="http://schemas.microsoft.com/office/drawing/2014/main" id="{E769B56B-E38E-48E6-8370-DAE885F925BD}"/>
              </a:ext>
            </a:extLst>
          </p:cNvPr>
          <p:cNvSpPr>
            <a:spLocks xmlns:a="http://schemas.openxmlformats.org/drawingml/2006/main" noGrp="1"/>
          </p:cNvSpPr>
          <p:nvPr/>
        </p:nvSpPr>
        <p:spPr>
          <a:xfrm xmlns:a="http://schemas.openxmlformats.org/drawingml/2006/main">
            <a:off x="1028700" y="460057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425" b="1">
                <a:solidFill>
                  <a:srgbClr val="1E293B"/>
                </a:solidFill>
                <a:latin typeface="Inter"/>
                <a:ea typeface="Inter"/>
                <a:cs typeface="Inter"/>
              </a:defRPr>
            </a:pPr>
            <a:r>
              <a:rPr sz="1425" b="1">
                <a:solidFill>
                  <a:srgbClr val="1E293B"/>
                </a:solidFill>
                <a:latin typeface="Inter"/>
                <a:ea typeface="Inter"/>
                <a:cs typeface="Inter"/>
              </a:rPr>
              <a:t>Reasoning</a:t>
            </a:r>
          </a:p>
        </p:txBody>
      </p:sp>
      <p:sp>
        <p:nvSpPr>
          <p:cNvPr id="49" name="layer-body-3">
            <a:extLst xmlns:a="http://schemas.openxmlformats.org/drawingml/2006/main">
              <a:ext uri="{FF2B5EF4-FFF2-40B4-BE49-F238E27FC236}">
                <a16:creationId xmlns:a16="http://schemas.microsoft.com/office/drawing/2014/main" id="{1E826DB0-DF9D-4E8B-9DD2-DFAF9E5F79E8}"/>
              </a:ext>
            </a:extLst>
          </p:cNvPr>
          <p:cNvSpPr>
            <a:spLocks xmlns:a="http://schemas.openxmlformats.org/drawingml/2006/main" noGrp="1"/>
          </p:cNvSpPr>
          <p:nvPr/>
        </p:nvSpPr>
        <p:spPr>
          <a:xfrm xmlns:a="http://schemas.openxmlformats.org/drawingml/2006/main">
            <a:off x="3381375" y="4581525"/>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4000"/>
              </a:lnSpc>
              <a:buNone/>
              <a:defRPr sz="1275" b="0">
                <a:solidFill>
                  <a:srgbClr val="64748B"/>
                </a:solidFill>
                <a:latin typeface="Inter"/>
                <a:ea typeface="Inter"/>
                <a:cs typeface="Inter"/>
              </a:defRPr>
            </a:pPr>
            <a:r>
              <a:rPr sz="1275" b="0">
                <a:solidFill>
                  <a:srgbClr val="64748B"/>
                </a:solidFill>
                <a:latin typeface="Inter"/>
                <a:ea typeface="Inter"/>
                <a:cs typeface="Inter"/>
              </a:rPr>
              <a:t>Business-brain rules plus LLM drafting, gated by claim, tone and duplicate checks.</a:t>
            </a:r>
          </a:p>
        </p:txBody>
      </p:sp>
      <p:sp>
        <p:nvSpPr>
          <p:cNvPr id="50" name="layer-pill-3">
            <a:extLst xmlns:a="http://schemas.openxmlformats.org/drawingml/2006/main">
              <a:ext uri="{FF2B5EF4-FFF2-40B4-BE49-F238E27FC236}">
                <a16:creationId xmlns:a16="http://schemas.microsoft.com/office/drawing/2014/main" id="{EFDC92EC-8826-4EDB-91AD-F747B93FB987}"/>
              </a:ext>
            </a:extLst>
          </p:cNvPr>
          <p:cNvSpPr>
            <a:spLocks xmlns:a="http://schemas.openxmlformats.org/drawingml/2006/main" noGrp="1"/>
          </p:cNvSpPr>
          <p:nvPr/>
        </p:nvSpPr>
        <p:spPr>
          <a:xfrm xmlns:a="http://schemas.openxmlformats.org/drawingml/2006/main">
            <a:off x="9867900" y="4638675"/>
            <a:ext cx="1257300"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E9D5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B567C2"/>
                </a:solidFill>
                <a:latin typeface="Inter"/>
                <a:ea typeface="Inter"/>
                <a:cs typeface="Inter"/>
              </a:defRPr>
            </a:pPr>
            <a:r>
              <a:rPr sz="975" b="1">
                <a:solidFill>
                  <a:srgbClr val="B567C2"/>
                </a:solidFill>
                <a:latin typeface="Inter"/>
                <a:ea typeface="Inter"/>
                <a:cs typeface="Inter"/>
              </a:rPr>
              <a:t>GUARDED</a:t>
            </a:r>
          </a:p>
        </p:txBody>
      </p:sp>
      <p:sp>
        <p:nvSpPr>
          <p:cNvPr id="51" name="layer-row-4">
            <a:extLst xmlns:a="http://schemas.openxmlformats.org/drawingml/2006/main">
              <a:ext uri="{FF2B5EF4-FFF2-40B4-BE49-F238E27FC236}">
                <a16:creationId xmlns:a16="http://schemas.microsoft.com/office/drawing/2014/main" id="{823A81E8-0590-4CD2-A1C3-4F68F0290DE9}"/>
              </a:ext>
            </a:extLst>
          </p:cNvPr>
          <p:cNvSpPr>
            <a:spLocks xmlns:a="http://schemas.openxmlformats.org/drawingml/2006/main" noGrp="1"/>
          </p:cNvSpPr>
          <p:nvPr/>
        </p:nvSpPr>
        <p:spPr>
          <a:xfrm xmlns:a="http://schemas.openxmlformats.org/drawingml/2006/main">
            <a:off x="800100" y="5219700"/>
            <a:ext cx="10591800" cy="609600"/>
          </a:xfrm>
          <a:prstGeom xmlns:a="http://schemas.openxmlformats.org/drawingml/2006/main" prst="roundRect">
            <a:avLst>
              <a:gd name="adj" fmla="val 21875"/>
            </a:avLst>
          </a:prstGeom>
          <a:solidFill xmlns:a="http://schemas.openxmlformats.org/drawingml/2006/main">
            <a:srgbClr val="FFF9F0"/>
          </a:solidFill>
          <a:ln xmlns:a="http://schemas.openxmlformats.org/drawingml/2006/main" w="9525">
            <a:solidFill>
              <a:srgbClr val="FFFFFF"/>
            </a:solidFill>
            <a:prstDash val="solid"/>
          </a:ln>
        </p:spPr>
        <p:style>
          <a:lnRef xmlns:a="http://schemas.openxmlformats.org/drawingml/2006/main" idx="0"/>
          <a:fillRef xmlns:a="http://schemas.openxmlformats.org/drawingml/2006/main" idx="0"/>
          <a:effectRef xmlns:a="http://schemas.openxmlformats.org/drawingml/2006/main" idx="14"/>
          <a:fontRef xmlns:a="http://schemas.openxmlformats.org/drawingml/2006/main" idx="major"/>
        </p:style>
      </p:sp>
      <p:sp>
        <p:nvSpPr>
          <p:cNvPr id="52" name="layer-title-4">
            <a:extLst xmlns:a="http://schemas.openxmlformats.org/drawingml/2006/main">
              <a:ext uri="{FF2B5EF4-FFF2-40B4-BE49-F238E27FC236}">
                <a16:creationId xmlns:a16="http://schemas.microsoft.com/office/drawing/2014/main" id="{0E6A53A1-02E0-46B0-BC48-0B35A697E46A}"/>
              </a:ext>
            </a:extLst>
          </p:cNvPr>
          <p:cNvSpPr>
            <a:spLocks xmlns:a="http://schemas.openxmlformats.org/drawingml/2006/main" noGrp="1"/>
          </p:cNvSpPr>
          <p:nvPr/>
        </p:nvSpPr>
        <p:spPr>
          <a:xfrm xmlns:a="http://schemas.openxmlformats.org/drawingml/2006/main">
            <a:off x="1028700" y="5334000"/>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425" b="1">
                <a:solidFill>
                  <a:srgbClr val="1E293B"/>
                </a:solidFill>
                <a:latin typeface="Inter"/>
                <a:ea typeface="Inter"/>
                <a:cs typeface="Inter"/>
              </a:defRPr>
            </a:pPr>
            <a:r>
              <a:rPr sz="1425" b="1">
                <a:solidFill>
                  <a:srgbClr val="1E293B"/>
                </a:solidFill>
                <a:latin typeface="Inter"/>
                <a:ea typeface="Inter"/>
                <a:cs typeface="Inter"/>
              </a:rPr>
              <a:t>State + memory</a:t>
            </a:r>
          </a:p>
        </p:txBody>
      </p:sp>
      <p:sp>
        <p:nvSpPr>
          <p:cNvPr id="53" name="layer-body-4">
            <a:extLst xmlns:a="http://schemas.openxmlformats.org/drawingml/2006/main">
              <a:ext uri="{FF2B5EF4-FFF2-40B4-BE49-F238E27FC236}">
                <a16:creationId xmlns:a16="http://schemas.microsoft.com/office/drawing/2014/main" id="{8D575612-2DC9-42B1-BB37-1D59BC84890C}"/>
              </a:ext>
            </a:extLst>
          </p:cNvPr>
          <p:cNvSpPr>
            <a:spLocks xmlns:a="http://schemas.openxmlformats.org/drawingml/2006/main" noGrp="1"/>
          </p:cNvSpPr>
          <p:nvPr/>
        </p:nvSpPr>
        <p:spPr>
          <a:xfrm xmlns:a="http://schemas.openxmlformats.org/drawingml/2006/main">
            <a:off x="3381375" y="5314950"/>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4000"/>
              </a:lnSpc>
              <a:buNone/>
              <a:defRPr sz="1275" b="0">
                <a:solidFill>
                  <a:srgbClr val="64748B"/>
                </a:solidFill>
                <a:latin typeface="Inter"/>
                <a:ea typeface="Inter"/>
                <a:cs typeface="Inter"/>
              </a:defRPr>
            </a:pPr>
            <a:r>
              <a:rPr sz="1275" b="0">
                <a:solidFill>
                  <a:srgbClr val="64748B"/>
                </a:solidFill>
                <a:latin typeface="Inter"/>
                <a:ea typeface="Inter"/>
                <a:cs typeface="Inter"/>
              </a:rPr>
              <a:t>Pipeline stage and thread ownership tracked separately, with a complete activity history.</a:t>
            </a:r>
          </a:p>
        </p:txBody>
      </p:sp>
      <p:sp>
        <p:nvSpPr>
          <p:cNvPr id="54" name="layer-pill-4">
            <a:extLst xmlns:a="http://schemas.openxmlformats.org/drawingml/2006/main">
              <a:ext uri="{FF2B5EF4-FFF2-40B4-BE49-F238E27FC236}">
                <a16:creationId xmlns:a16="http://schemas.microsoft.com/office/drawing/2014/main" id="{B1B0164F-6823-456E-B80B-027CB4FDF97E}"/>
              </a:ext>
            </a:extLst>
          </p:cNvPr>
          <p:cNvSpPr>
            <a:spLocks xmlns:a="http://schemas.openxmlformats.org/drawingml/2006/main" noGrp="1"/>
          </p:cNvSpPr>
          <p:nvPr/>
        </p:nvSpPr>
        <p:spPr>
          <a:xfrm xmlns:a="http://schemas.openxmlformats.org/drawingml/2006/main">
            <a:off x="9867900" y="5372100"/>
            <a:ext cx="1257300"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FDE68A"/>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A16207"/>
                </a:solidFill>
                <a:latin typeface="Inter"/>
                <a:ea typeface="Inter"/>
                <a:cs typeface="Inter"/>
              </a:defRPr>
            </a:pPr>
            <a:r>
              <a:rPr sz="975" b="1">
                <a:solidFill>
                  <a:srgbClr val="A16207"/>
                </a:solidFill>
                <a:latin typeface="Inter"/>
                <a:ea typeface="Inter"/>
                <a:cs typeface="Inter"/>
              </a:rPr>
              <a:t>AUDITED</a:t>
            </a:r>
          </a:p>
        </p:txBody>
      </p:sp>
      <p:sp>
        <p:nvSpPr>
          <p:cNvPr id="55" name="footer-brand">
            <a:extLst xmlns:a="http://schemas.openxmlformats.org/drawingml/2006/main">
              <a:ext uri="{FF2B5EF4-FFF2-40B4-BE49-F238E27FC236}">
                <a16:creationId xmlns:a16="http://schemas.microsoft.com/office/drawing/2014/main" id="{E435D788-1FFD-46A5-97F1-349466293218}"/>
              </a:ext>
            </a:extLst>
          </p:cNvPr>
          <p:cNvSpPr>
            <a:spLocks xmlns:a="http://schemas.openxmlformats.org/drawingml/2006/main" noGrp="1"/>
          </p:cNvSpPr>
          <p:nvPr/>
        </p:nvSpPr>
        <p:spPr>
          <a:xfrm xmlns:a="http://schemas.openxmlformats.org/drawingml/2006/main">
            <a:off x="533400" y="6457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75" b="1">
                <a:solidFill>
                  <a:srgbClr val="94A3B8"/>
                </a:solidFill>
                <a:latin typeface="Inter"/>
                <a:ea typeface="Inter"/>
                <a:cs typeface="Inter"/>
              </a:defRPr>
            </a:pPr>
            <a:r>
              <a:rPr sz="975" b="1">
                <a:solidFill>
                  <a:srgbClr val="94A3B8"/>
                </a:solidFill>
                <a:latin typeface="Inter"/>
                <a:ea typeface="Inter"/>
                <a:cs typeface="Inter"/>
              </a:rPr>
              <a:t>INFLUENCEES</a:t>
            </a:r>
          </a:p>
        </p:txBody>
      </p:sp>
      <p:sp>
        <p:nvSpPr>
          <p:cNvPr id="56" name="footer-page">
            <a:extLst xmlns:a="http://schemas.openxmlformats.org/drawingml/2006/main">
              <a:ext uri="{FF2B5EF4-FFF2-40B4-BE49-F238E27FC236}">
                <a16:creationId xmlns:a16="http://schemas.microsoft.com/office/drawing/2014/main" id="{1E8B0686-7FBC-415C-91DD-5E33FCDA6FF3}"/>
              </a:ext>
            </a:extLst>
          </p:cNvPr>
          <p:cNvSpPr>
            <a:spLocks xmlns:a="http://schemas.openxmlformats.org/drawingml/2006/main" noGrp="1"/>
          </p:cNvSpPr>
          <p:nvPr/>
        </p:nvSpPr>
        <p:spPr>
          <a:xfrm xmlns:a="http://schemas.openxmlformats.org/drawingml/2006/main">
            <a:off x="10572750" y="6457950"/>
            <a:ext cx="1085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975" b="1">
                <a:solidFill>
                  <a:srgbClr val="94A3B8"/>
                </a:solidFill>
                <a:latin typeface="Inter"/>
                <a:ea typeface="Inter"/>
                <a:cs typeface="Inter"/>
              </a:defRPr>
            </a:pPr>
            <a:r>
              <a:rPr sz="975" b="1">
                <a:solidFill>
                  <a:srgbClr val="94A3B8"/>
                </a:solidFill>
                <a:latin typeface="Inter"/>
                <a:ea typeface="Inter"/>
                <a:cs typeface="Inter"/>
              </a:rPr>
              <a:t>06 / 10</a:t>
            </a:r>
          </a:p>
        </p:txBody>
      </p:sp>
    </p:spTree>
    <p:extLst>
      <p:ext uri="{BB962C8B-B14F-4D97-AF65-F5344CB8AC3E}">
        <p14:creationId xmlns:p14="http://schemas.microsoft.com/office/powerpoint/2010/main" val="4208817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65DB63D-4BDA-4D5C-8391-994075D80F7F}"/>
              </a:ext>
            </a:extLst>
          </p:cNvPr>
          <p:cNvSpPr>
            <a:spLocks xmlns:a="http://schemas.openxmlformats.org/drawingml/2006/main" noGrp="1"/>
          </p:cNvSpPr>
          <p:nvPr/>
        </p:nvSpPr>
        <p:spPr>
          <a:xfrm xmlns:a="http://schemas.openxmlformats.org/drawingml/2006/main">
            <a:off x="566928"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50" b="1">
                <a:solidFill>
                  <a:srgbClr val="5A3EE0"/>
                </a:solidFill>
                <a:latin typeface="Arial"/>
                <a:ea typeface="Arial"/>
                <a:cs typeface="Arial"/>
              </a:rPr>
              <a:t>SOLUTION 02  ·  WEBSITE REDESIGN</a:t>
            </a:r>
          </a:p>
        </p:txBody>
      </p:sp>
      <p:sp>
        <p:nvSpPr>
          <p:cNvPr id="3" name="Text 1">
            <a:extLst xmlns:a="http://schemas.openxmlformats.org/drawingml/2006/main">
              <a:ext uri="{FF2B5EF4-FFF2-40B4-BE49-F238E27FC236}">
                <a16:creationId xmlns:a16="http://schemas.microsoft.com/office/drawing/2014/main" id="{556FCE3D-BAA3-45F7-87BC-BDDB979D667D}"/>
              </a:ext>
            </a:extLst>
          </p:cNvPr>
          <p:cNvSpPr>
            <a:spLocks xmlns:a="http://schemas.openxmlformats.org/drawingml/2006/main" noGrp="1"/>
          </p:cNvSpPr>
          <p:nvPr/>
        </p:nvSpPr>
        <p:spPr>
          <a:xfrm xmlns:a="http://schemas.openxmlformats.org/drawingml/2006/main">
            <a:off x="566928" y="822960"/>
            <a:ext cx="1078992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2000"/>
              </a:lnSpc>
              <a:buNone/>
            </a:pPr>
            <a:r>
              <a:rPr sz="2600" b="1">
                <a:solidFill>
                  <a:srgbClr val="0D0C0A"/>
                </a:solidFill>
                <a:latin typeface="Arial"/>
                <a:ea typeface="Arial"/>
                <a:cs typeface="Arial"/>
              </a:rPr>
              <a:t>The current site has the substance. The presentation gets in the way.</a:t>
            </a:r>
          </a:p>
        </p:txBody>
      </p:sp>
      <p:sp>
        <p:nvSpPr>
          <p:cNvPr id="4" name="Text 2">
            <a:extLst xmlns:a="http://schemas.openxmlformats.org/drawingml/2006/main">
              <a:ext uri="{FF2B5EF4-FFF2-40B4-BE49-F238E27FC236}">
                <a16:creationId xmlns:a16="http://schemas.microsoft.com/office/drawing/2014/main" id="{727C63DF-B323-4096-B837-96ED0DAE567B}"/>
              </a:ext>
            </a:extLst>
          </p:cNvPr>
          <p:cNvSpPr>
            <a:spLocks xmlns:a="http://schemas.openxmlformats.org/drawingml/2006/main" noGrp="1"/>
          </p:cNvSpPr>
          <p:nvPr/>
        </p:nvSpPr>
        <p:spPr>
          <a:xfrm xmlns:a="http://schemas.openxmlformats.org/drawingml/2006/main">
            <a:off x="566928" y="1965960"/>
            <a:ext cx="10789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0000"/>
              </a:lnSpc>
              <a:buNone/>
            </a:pPr>
            <a:r>
              <a:rPr sz="1350" i="1">
                <a:solidFill>
                  <a:srgbClr val="6B675F"/>
                </a:solidFill>
                <a:latin typeface="Arial"/>
                <a:ea typeface="Arial"/>
                <a:cs typeface="Arial"/>
              </a:rPr>
              <a:t>None of this is a content problem. It's a system problem, the pages grew one at a time without one design to hold them together.</a:t>
            </a:r>
          </a:p>
        </p:txBody>
      </p:sp>
      <p:sp>
        <p:nvSpPr>
          <p:cNvPr id="5" name="Text 3">
            <a:extLst xmlns:a="http://schemas.openxmlformats.org/drawingml/2006/main">
              <a:ext uri="{FF2B5EF4-FFF2-40B4-BE49-F238E27FC236}">
                <a16:creationId xmlns:a16="http://schemas.microsoft.com/office/drawing/2014/main" id="{69D76A68-9DEB-421C-A020-0279893F1255}"/>
              </a:ext>
            </a:extLst>
          </p:cNvPr>
          <p:cNvSpPr>
            <a:spLocks xmlns:a="http://schemas.openxmlformats.org/drawingml/2006/main" noGrp="1"/>
          </p:cNvSpPr>
          <p:nvPr/>
        </p:nvSpPr>
        <p:spPr>
          <a:xfrm xmlns:a="http://schemas.openxmlformats.org/drawingml/2006/main">
            <a:off x="566928" y="2624328"/>
            <a:ext cx="310896" cy="310896"/>
          </a:xfrm>
          <a:prstGeom xmlns:a="http://schemas.openxmlformats.org/drawingml/2006/main" prst="roundRect">
            <a:avLst/>
          </a:prstGeom>
          <a:solidFill xmlns:a="http://schemas.openxmlformats.org/drawingml/2006/main">
            <a:srgbClr val="B7791F"/>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Arial"/>
                <a:ea typeface="Arial"/>
                <a:cs typeface="Arial"/>
              </a:rPr>
              <a:t>!</a:t>
            </a:r>
          </a:p>
        </p:txBody>
      </p:sp>
      <p:sp>
        <p:nvSpPr>
          <p:cNvPr id="6" name="Text 4">
            <a:extLst xmlns:a="http://schemas.openxmlformats.org/drawingml/2006/main">
              <a:ext uri="{FF2B5EF4-FFF2-40B4-BE49-F238E27FC236}">
                <a16:creationId xmlns:a16="http://schemas.microsoft.com/office/drawing/2014/main" id="{0A9F5887-60D8-4D33-874A-0D5EF5BFE3BB}"/>
              </a:ext>
            </a:extLst>
          </p:cNvPr>
          <p:cNvSpPr>
            <a:spLocks xmlns:a="http://schemas.openxmlformats.org/drawingml/2006/main" noGrp="1"/>
          </p:cNvSpPr>
          <p:nvPr/>
        </p:nvSpPr>
        <p:spPr>
          <a:xfrm xmlns:a="http://schemas.openxmlformats.org/drawingml/2006/main">
            <a:off x="987552" y="2587752"/>
            <a:ext cx="492541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D0C0A"/>
                </a:solidFill>
                <a:latin typeface="Arial"/>
                <a:ea typeface="Arial"/>
                <a:cs typeface="Arial"/>
              </a:rPr>
              <a:t>Pricing says three different things</a:t>
            </a:r>
          </a:p>
        </p:txBody>
      </p:sp>
      <p:sp>
        <p:nvSpPr>
          <p:cNvPr id="7" name="Text 5">
            <a:extLst xmlns:a="http://schemas.openxmlformats.org/drawingml/2006/main">
              <a:ext uri="{FF2B5EF4-FFF2-40B4-BE49-F238E27FC236}">
                <a16:creationId xmlns:a16="http://schemas.microsoft.com/office/drawing/2014/main" id="{399D8F39-D270-4E4E-958A-02194B2419A3}"/>
              </a:ext>
            </a:extLst>
          </p:cNvPr>
          <p:cNvSpPr>
            <a:spLocks xmlns:a="http://schemas.openxmlformats.org/drawingml/2006/main" noGrp="1"/>
          </p:cNvSpPr>
          <p:nvPr/>
        </p:nvSpPr>
        <p:spPr>
          <a:xfrm xmlns:a="http://schemas.openxmlformats.org/drawingml/2006/main">
            <a:off x="987552" y="2935224"/>
            <a:ext cx="4925416"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100">
                <a:solidFill>
                  <a:srgbClr val="6B675F"/>
                </a:solidFill>
                <a:latin typeface="Arial"/>
                <a:ea typeface="Arial"/>
                <a:cs typeface="Arial"/>
              </a:rPr>
              <a:t>/brands shows 59/149/299, /pricing shows 49/119/249, the comparison table says Growth $149.</a:t>
            </a:r>
          </a:p>
        </p:txBody>
      </p:sp>
      <p:sp>
        <p:nvSpPr>
          <p:cNvPr id="8" name="Text 6">
            <a:extLst xmlns:a="http://schemas.openxmlformats.org/drawingml/2006/main">
              <a:ext uri="{FF2B5EF4-FFF2-40B4-BE49-F238E27FC236}">
                <a16:creationId xmlns:a16="http://schemas.microsoft.com/office/drawing/2014/main" id="{39CE5BD4-1B6D-40AD-A77A-FBD513E0CDF3}"/>
              </a:ext>
            </a:extLst>
          </p:cNvPr>
          <p:cNvSpPr>
            <a:spLocks xmlns:a="http://schemas.openxmlformats.org/drawingml/2006/main" noGrp="1"/>
          </p:cNvSpPr>
          <p:nvPr/>
        </p:nvSpPr>
        <p:spPr>
          <a:xfrm xmlns:a="http://schemas.openxmlformats.org/drawingml/2006/main">
            <a:off x="6278728" y="2624328"/>
            <a:ext cx="310896" cy="310896"/>
          </a:xfrm>
          <a:prstGeom xmlns:a="http://schemas.openxmlformats.org/drawingml/2006/main" prst="roundRect">
            <a:avLst/>
          </a:prstGeom>
          <a:solidFill xmlns:a="http://schemas.openxmlformats.org/drawingml/2006/main">
            <a:srgbClr val="B7791F"/>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Arial"/>
                <a:ea typeface="Arial"/>
                <a:cs typeface="Arial"/>
              </a:rPr>
              <a:t>!</a:t>
            </a:r>
          </a:p>
        </p:txBody>
      </p:sp>
      <p:sp>
        <p:nvSpPr>
          <p:cNvPr id="9" name="Text 7">
            <a:extLst xmlns:a="http://schemas.openxmlformats.org/drawingml/2006/main">
              <a:ext uri="{FF2B5EF4-FFF2-40B4-BE49-F238E27FC236}">
                <a16:creationId xmlns:a16="http://schemas.microsoft.com/office/drawing/2014/main" id="{43DAB21D-DE03-4E5C-88E0-A56541DE01C9}"/>
              </a:ext>
            </a:extLst>
          </p:cNvPr>
          <p:cNvSpPr>
            <a:spLocks xmlns:a="http://schemas.openxmlformats.org/drawingml/2006/main" noGrp="1"/>
          </p:cNvSpPr>
          <p:nvPr/>
        </p:nvSpPr>
        <p:spPr>
          <a:xfrm xmlns:a="http://schemas.openxmlformats.org/drawingml/2006/main">
            <a:off x="6699352" y="2587752"/>
            <a:ext cx="492541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D0C0A"/>
                </a:solidFill>
                <a:latin typeface="Arial"/>
                <a:ea typeface="Arial"/>
                <a:cs typeface="Arial"/>
              </a:rPr>
              <a:t>The value prop is buried</a:t>
            </a:r>
          </a:p>
        </p:txBody>
      </p:sp>
      <p:sp>
        <p:nvSpPr>
          <p:cNvPr id="10" name="Text 8">
            <a:extLst xmlns:a="http://schemas.openxmlformats.org/drawingml/2006/main">
              <a:ext uri="{FF2B5EF4-FFF2-40B4-BE49-F238E27FC236}">
                <a16:creationId xmlns:a16="http://schemas.microsoft.com/office/drawing/2014/main" id="{48211993-2F8A-49DA-B1E5-E17A7916D89F}"/>
              </a:ext>
            </a:extLst>
          </p:cNvPr>
          <p:cNvSpPr>
            <a:spLocks xmlns:a="http://schemas.openxmlformats.org/drawingml/2006/main" noGrp="1"/>
          </p:cNvSpPr>
          <p:nvPr/>
        </p:nvSpPr>
        <p:spPr>
          <a:xfrm xmlns:a="http://schemas.openxmlformats.org/drawingml/2006/main">
            <a:off x="6699352" y="2935224"/>
            <a:ext cx="4925416"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100">
                <a:solidFill>
                  <a:srgbClr val="6B675F"/>
                </a:solidFill>
                <a:latin typeface="Arial"/>
                <a:ea typeface="Arial"/>
                <a:cs typeface="Arial"/>
              </a:rPr>
              <a:t>The homepage opens on the Ai-kyo box and a trending feed repeated three times; the pitch is hard to find.</a:t>
            </a:r>
          </a:p>
        </p:txBody>
      </p:sp>
      <p:sp>
        <p:nvSpPr>
          <p:cNvPr id="11" name="Text 9">
            <a:extLst xmlns:a="http://schemas.openxmlformats.org/drawingml/2006/main">
              <a:ext uri="{FF2B5EF4-FFF2-40B4-BE49-F238E27FC236}">
                <a16:creationId xmlns:a16="http://schemas.microsoft.com/office/drawing/2014/main" id="{8DD38663-532D-43DC-84D7-2F325FE9EB81}"/>
              </a:ext>
            </a:extLst>
          </p:cNvPr>
          <p:cNvSpPr>
            <a:spLocks xmlns:a="http://schemas.openxmlformats.org/drawingml/2006/main" noGrp="1"/>
          </p:cNvSpPr>
          <p:nvPr/>
        </p:nvSpPr>
        <p:spPr>
          <a:xfrm xmlns:a="http://schemas.openxmlformats.org/drawingml/2006/main">
            <a:off x="566928" y="3849624"/>
            <a:ext cx="310896" cy="310896"/>
          </a:xfrm>
          <a:prstGeom xmlns:a="http://schemas.openxmlformats.org/drawingml/2006/main" prst="roundRect">
            <a:avLst/>
          </a:prstGeom>
          <a:solidFill xmlns:a="http://schemas.openxmlformats.org/drawingml/2006/main">
            <a:srgbClr val="B7791F"/>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Arial"/>
                <a:ea typeface="Arial"/>
                <a:cs typeface="Arial"/>
              </a:rPr>
              <a:t>!</a:t>
            </a:r>
          </a:p>
        </p:txBody>
      </p:sp>
      <p:sp>
        <p:nvSpPr>
          <p:cNvPr id="12" name="Text 10">
            <a:extLst xmlns:a="http://schemas.openxmlformats.org/drawingml/2006/main">
              <a:ext uri="{FF2B5EF4-FFF2-40B4-BE49-F238E27FC236}">
                <a16:creationId xmlns:a16="http://schemas.microsoft.com/office/drawing/2014/main" id="{1B907009-F849-4D33-A580-DB74FB9EBF63}"/>
              </a:ext>
            </a:extLst>
          </p:cNvPr>
          <p:cNvSpPr>
            <a:spLocks xmlns:a="http://schemas.openxmlformats.org/drawingml/2006/main" noGrp="1"/>
          </p:cNvSpPr>
          <p:nvPr/>
        </p:nvSpPr>
        <p:spPr>
          <a:xfrm xmlns:a="http://schemas.openxmlformats.org/drawingml/2006/main">
            <a:off x="987552" y="3813048"/>
            <a:ext cx="492541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D0C0A"/>
                </a:solidFill>
                <a:latin typeface="Arial"/>
                <a:ea typeface="Arial"/>
                <a:cs typeface="Arial"/>
              </a:rPr>
              <a:t>Feature status is unclear</a:t>
            </a:r>
          </a:p>
        </p:txBody>
      </p:sp>
      <p:sp>
        <p:nvSpPr>
          <p:cNvPr id="13" name="Text 11">
            <a:extLst xmlns:a="http://schemas.openxmlformats.org/drawingml/2006/main">
              <a:ext uri="{FF2B5EF4-FFF2-40B4-BE49-F238E27FC236}">
                <a16:creationId xmlns:a16="http://schemas.microsoft.com/office/drawing/2014/main" id="{BEB70392-E7DC-46D5-B694-27D78A7EA465}"/>
              </a:ext>
            </a:extLst>
          </p:cNvPr>
          <p:cNvSpPr>
            <a:spLocks xmlns:a="http://schemas.openxmlformats.org/drawingml/2006/main" noGrp="1"/>
          </p:cNvSpPr>
          <p:nvPr/>
        </p:nvSpPr>
        <p:spPr>
          <a:xfrm xmlns:a="http://schemas.openxmlformats.org/drawingml/2006/main">
            <a:off x="987552" y="4160520"/>
            <a:ext cx="4925416"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100">
                <a:solidFill>
                  <a:srgbClr val="6B675F"/>
                </a:solidFill>
                <a:latin typeface="Arial"/>
                <a:ea typeface="Arial"/>
                <a:cs typeface="Arial"/>
              </a:rPr>
              <a:t>LIVE / BETA / SOON labels exist only on Trust Check, so nothing else signals what's shipped.</a:t>
            </a:r>
          </a:p>
        </p:txBody>
      </p:sp>
      <p:sp>
        <p:nvSpPr>
          <p:cNvPr id="14" name="Text 12">
            <a:extLst xmlns:a="http://schemas.openxmlformats.org/drawingml/2006/main">
              <a:ext uri="{FF2B5EF4-FFF2-40B4-BE49-F238E27FC236}">
                <a16:creationId xmlns:a16="http://schemas.microsoft.com/office/drawing/2014/main" id="{1A059EC4-FFE2-481C-B1EE-55CC9FD92B46}"/>
              </a:ext>
            </a:extLst>
          </p:cNvPr>
          <p:cNvSpPr>
            <a:spLocks xmlns:a="http://schemas.openxmlformats.org/drawingml/2006/main" noGrp="1"/>
          </p:cNvSpPr>
          <p:nvPr/>
        </p:nvSpPr>
        <p:spPr>
          <a:xfrm xmlns:a="http://schemas.openxmlformats.org/drawingml/2006/main">
            <a:off x="6278728" y="3849624"/>
            <a:ext cx="310896" cy="310896"/>
          </a:xfrm>
          <a:prstGeom xmlns:a="http://schemas.openxmlformats.org/drawingml/2006/main" prst="roundRect">
            <a:avLst/>
          </a:prstGeom>
          <a:solidFill xmlns:a="http://schemas.openxmlformats.org/drawingml/2006/main">
            <a:srgbClr val="B7791F"/>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Arial"/>
                <a:ea typeface="Arial"/>
                <a:cs typeface="Arial"/>
              </a:rPr>
              <a:t>!</a:t>
            </a:r>
          </a:p>
        </p:txBody>
      </p:sp>
      <p:sp>
        <p:nvSpPr>
          <p:cNvPr id="15" name="Text 13">
            <a:extLst xmlns:a="http://schemas.openxmlformats.org/drawingml/2006/main">
              <a:ext uri="{FF2B5EF4-FFF2-40B4-BE49-F238E27FC236}">
                <a16:creationId xmlns:a16="http://schemas.microsoft.com/office/drawing/2014/main" id="{B40D2781-EEE4-4BBA-9286-A7EE62FE61E3}"/>
              </a:ext>
            </a:extLst>
          </p:cNvPr>
          <p:cNvSpPr>
            <a:spLocks xmlns:a="http://schemas.openxmlformats.org/drawingml/2006/main" noGrp="1"/>
          </p:cNvSpPr>
          <p:nvPr/>
        </p:nvSpPr>
        <p:spPr>
          <a:xfrm xmlns:a="http://schemas.openxmlformats.org/drawingml/2006/main">
            <a:off x="6699352" y="3813048"/>
            <a:ext cx="492541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D0C0A"/>
                </a:solidFill>
                <a:latin typeface="Arial"/>
                <a:ea typeface="Arial"/>
                <a:cs typeface="Arial"/>
              </a:rPr>
              <a:t>A headline feature has no home</a:t>
            </a:r>
          </a:p>
        </p:txBody>
      </p:sp>
      <p:sp>
        <p:nvSpPr>
          <p:cNvPr id="16" name="Text 14">
            <a:extLst xmlns:a="http://schemas.openxmlformats.org/drawingml/2006/main">
              <a:ext uri="{FF2B5EF4-FFF2-40B4-BE49-F238E27FC236}">
                <a16:creationId xmlns:a16="http://schemas.microsoft.com/office/drawing/2014/main" id="{6543A251-0334-438F-A123-6C5A54289430}"/>
              </a:ext>
            </a:extLst>
          </p:cNvPr>
          <p:cNvSpPr>
            <a:spLocks xmlns:a="http://schemas.openxmlformats.org/drawingml/2006/main" noGrp="1"/>
          </p:cNvSpPr>
          <p:nvPr/>
        </p:nvSpPr>
        <p:spPr>
          <a:xfrm xmlns:a="http://schemas.openxmlformats.org/drawingml/2006/main">
            <a:off x="6699352" y="4160520"/>
            <a:ext cx="4925416"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100">
                <a:solidFill>
                  <a:srgbClr val="6B675F"/>
                </a:solidFill>
                <a:latin typeface="Arial"/>
                <a:ea typeface="Arial"/>
                <a:cs typeface="Arial"/>
              </a:rPr>
              <a:t>“Creator Index” is sold everywhere, but there's no directory or profile page in the nav.</a:t>
            </a:r>
          </a:p>
        </p:txBody>
      </p:sp>
      <p:sp>
        <p:nvSpPr>
          <p:cNvPr id="17" name="Text 15">
            <a:extLst xmlns:a="http://schemas.openxmlformats.org/drawingml/2006/main">
              <a:ext uri="{FF2B5EF4-FFF2-40B4-BE49-F238E27FC236}">
                <a16:creationId xmlns:a16="http://schemas.microsoft.com/office/drawing/2014/main" id="{14363E65-E46F-4E35-BEC1-8D6105EDEE96}"/>
              </a:ext>
            </a:extLst>
          </p:cNvPr>
          <p:cNvSpPr>
            <a:spLocks xmlns:a="http://schemas.openxmlformats.org/drawingml/2006/main" noGrp="1"/>
          </p:cNvSpPr>
          <p:nvPr/>
        </p:nvSpPr>
        <p:spPr>
          <a:xfrm xmlns:a="http://schemas.openxmlformats.org/drawingml/2006/main">
            <a:off x="566928" y="5074920"/>
            <a:ext cx="310896" cy="310896"/>
          </a:xfrm>
          <a:prstGeom xmlns:a="http://schemas.openxmlformats.org/drawingml/2006/main" prst="roundRect">
            <a:avLst/>
          </a:prstGeom>
          <a:solidFill xmlns:a="http://schemas.openxmlformats.org/drawingml/2006/main">
            <a:srgbClr val="B7791F"/>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Arial"/>
                <a:ea typeface="Arial"/>
                <a:cs typeface="Arial"/>
              </a:rPr>
              <a:t>!</a:t>
            </a:r>
          </a:p>
        </p:txBody>
      </p:sp>
      <p:sp>
        <p:nvSpPr>
          <p:cNvPr id="18" name="Text 16">
            <a:extLst xmlns:a="http://schemas.openxmlformats.org/drawingml/2006/main">
              <a:ext uri="{FF2B5EF4-FFF2-40B4-BE49-F238E27FC236}">
                <a16:creationId xmlns:a16="http://schemas.microsoft.com/office/drawing/2014/main" id="{D2D071A9-722B-43C1-97CB-3E73393FD3E1}"/>
              </a:ext>
            </a:extLst>
          </p:cNvPr>
          <p:cNvSpPr>
            <a:spLocks xmlns:a="http://schemas.openxmlformats.org/drawingml/2006/main" noGrp="1"/>
          </p:cNvSpPr>
          <p:nvPr/>
        </p:nvSpPr>
        <p:spPr>
          <a:xfrm xmlns:a="http://schemas.openxmlformats.org/drawingml/2006/main">
            <a:off x="987552" y="5038344"/>
            <a:ext cx="492541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D0C0A"/>
                </a:solidFill>
                <a:latin typeface="Arial"/>
                <a:ea typeface="Arial"/>
                <a:cs typeface="Arial"/>
              </a:rPr>
              <a:t>Broken and contradictory bits</a:t>
            </a:r>
          </a:p>
        </p:txBody>
      </p:sp>
      <p:sp>
        <p:nvSpPr>
          <p:cNvPr id="19" name="Text 17">
            <a:extLst xmlns:a="http://schemas.openxmlformats.org/drawingml/2006/main">
              <a:ext uri="{FF2B5EF4-FFF2-40B4-BE49-F238E27FC236}">
                <a16:creationId xmlns:a16="http://schemas.microsoft.com/office/drawing/2014/main" id="{B8DE7C51-FC11-419C-AC28-6A0A8E9CA30E}"/>
              </a:ext>
            </a:extLst>
          </p:cNvPr>
          <p:cNvSpPr>
            <a:spLocks xmlns:a="http://schemas.openxmlformats.org/drawingml/2006/main" noGrp="1"/>
          </p:cNvSpPr>
          <p:nvPr/>
        </p:nvSpPr>
        <p:spPr>
          <a:xfrm xmlns:a="http://schemas.openxmlformats.org/drawingml/2006/main">
            <a:off x="987552" y="5385816"/>
            <a:ext cx="4925416"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100">
                <a:solidFill>
                  <a:srgbClr val="6B675F"/>
                </a:solidFill>
                <a:latin typeface="Arial"/>
                <a:ea typeface="Arial"/>
                <a:cs typeface="Arial"/>
              </a:rPr>
              <a:t>/ccs2026 renders empty without JS; data is called “live” in one place and “pulled manually” in another.</a:t>
            </a:r>
          </a:p>
        </p:txBody>
      </p:sp>
      <p:sp>
        <p:nvSpPr>
          <p:cNvPr id="20" name="Text 18">
            <a:extLst xmlns:a="http://schemas.openxmlformats.org/drawingml/2006/main">
              <a:ext uri="{FF2B5EF4-FFF2-40B4-BE49-F238E27FC236}">
                <a16:creationId xmlns:a16="http://schemas.microsoft.com/office/drawing/2014/main" id="{AA41D82D-C554-4D8E-AA83-1E43411F4A7F}"/>
              </a:ext>
            </a:extLst>
          </p:cNvPr>
          <p:cNvSpPr>
            <a:spLocks xmlns:a="http://schemas.openxmlformats.org/drawingml/2006/main" noGrp="1"/>
          </p:cNvSpPr>
          <p:nvPr/>
        </p:nvSpPr>
        <p:spPr>
          <a:xfrm xmlns:a="http://schemas.openxmlformats.org/drawingml/2006/main">
            <a:off x="6278728" y="5074920"/>
            <a:ext cx="310896" cy="310896"/>
          </a:xfrm>
          <a:prstGeom xmlns:a="http://schemas.openxmlformats.org/drawingml/2006/main" prst="roundRect">
            <a:avLst/>
          </a:prstGeom>
          <a:solidFill xmlns:a="http://schemas.openxmlformats.org/drawingml/2006/main">
            <a:srgbClr val="B7791F"/>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Arial"/>
                <a:ea typeface="Arial"/>
                <a:cs typeface="Arial"/>
              </a:rPr>
              <a:t>!</a:t>
            </a:r>
          </a:p>
        </p:txBody>
      </p:sp>
      <p:sp>
        <p:nvSpPr>
          <p:cNvPr id="21" name="Text 19">
            <a:extLst xmlns:a="http://schemas.openxmlformats.org/drawingml/2006/main">
              <a:ext uri="{FF2B5EF4-FFF2-40B4-BE49-F238E27FC236}">
                <a16:creationId xmlns:a16="http://schemas.microsoft.com/office/drawing/2014/main" id="{0D7BA930-34FD-4D38-B198-2DADDA0E3A5F}"/>
              </a:ext>
            </a:extLst>
          </p:cNvPr>
          <p:cNvSpPr>
            <a:spLocks xmlns:a="http://schemas.openxmlformats.org/drawingml/2006/main" noGrp="1"/>
          </p:cNvSpPr>
          <p:nvPr/>
        </p:nvSpPr>
        <p:spPr>
          <a:xfrm xmlns:a="http://schemas.openxmlformats.org/drawingml/2006/main">
            <a:off x="6699352" y="5038344"/>
            <a:ext cx="492541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D0C0A"/>
                </a:solidFill>
                <a:latin typeface="Arial"/>
                <a:ea typeface="Arial"/>
                <a:cs typeface="Arial"/>
              </a:rPr>
              <a:t>No single system</a:t>
            </a:r>
          </a:p>
        </p:txBody>
      </p:sp>
      <p:sp>
        <p:nvSpPr>
          <p:cNvPr id="22" name="Text 20">
            <a:extLst xmlns:a="http://schemas.openxmlformats.org/drawingml/2006/main">
              <a:ext uri="{FF2B5EF4-FFF2-40B4-BE49-F238E27FC236}">
                <a16:creationId xmlns:a16="http://schemas.microsoft.com/office/drawing/2014/main" id="{44D8CF73-0573-4CBA-80E3-FA115AED3022}"/>
              </a:ext>
            </a:extLst>
          </p:cNvPr>
          <p:cNvSpPr>
            <a:spLocks xmlns:a="http://schemas.openxmlformats.org/drawingml/2006/main" noGrp="1"/>
          </p:cNvSpPr>
          <p:nvPr/>
        </p:nvSpPr>
        <p:spPr>
          <a:xfrm xmlns:a="http://schemas.openxmlformats.org/drawingml/2006/main">
            <a:off x="6699352" y="5385816"/>
            <a:ext cx="4925416"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100">
                <a:solidFill>
                  <a:srgbClr val="6B675F"/>
                </a:solidFill>
                <a:latin typeface="Arial"/>
                <a:ea typeface="Arial"/>
                <a:cs typeface="Arial"/>
              </a:rPr>
              <a:t>Type, spacing, cards and states shift page to page, so a real product reads as vibe-coded.</a:t>
            </a:r>
          </a:p>
        </p:txBody>
      </p:sp>
      <p:sp>
        <p:nvSpPr>
          <p:cNvPr id="23" name="Text 21">
            <a:extLst xmlns:a="http://schemas.openxmlformats.org/drawingml/2006/main">
              <a:ext uri="{FF2B5EF4-FFF2-40B4-BE49-F238E27FC236}">
                <a16:creationId xmlns:a16="http://schemas.microsoft.com/office/drawing/2014/main" id="{77CD520F-DBDF-4AFA-8173-6608A9A605C2}"/>
              </a:ext>
            </a:extLst>
          </p:cNvPr>
          <p:cNvSpPr>
            <a:spLocks xmlns:a="http://schemas.openxmlformats.org/drawingml/2006/main" noGrp="1"/>
          </p:cNvSpPr>
          <p:nvPr/>
        </p:nvSpPr>
        <p:spPr>
          <a:xfrm xmlns:a="http://schemas.openxmlformats.org/drawingml/2006/main">
            <a:off x="8351215" y="6382512"/>
            <a:ext cx="327355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b="1">
                <a:solidFill>
                  <a:srgbClr val="9A968C"/>
                </a:solidFill>
                <a:latin typeface="Arial"/>
                <a:ea typeface="Arial"/>
                <a:cs typeface="Arial"/>
              </a:rPr>
              <a:t>INFLUENCEES</a:t>
            </a:r>
            <a:r>
              <a:rPr sz="950" b="1">
                <a:solidFill>
                  <a:srgbClr val="6B675F"/>
                </a:solidFill>
                <a:latin typeface="Arial"/>
                <a:ea typeface="Arial"/>
                <a:cs typeface="Arial"/>
              </a:rPr>
              <a:t>   07 / 10</a:t>
            </a:r>
          </a:p>
        </p:txBody>
      </p:sp>
      <p:sp>
        <p:nvSpPr>
          <p:cNvPr id="24" name="white-canvas-7">
            <a:extLst xmlns:a="http://schemas.openxmlformats.org/drawingml/2006/main">
              <a:ext uri="{FF2B5EF4-FFF2-40B4-BE49-F238E27FC236}">
                <a16:creationId xmlns:a16="http://schemas.microsoft.com/office/drawing/2014/main" id="{76293DD1-6B6B-4087-A597-062AE1EC939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 name="section-badge">
            <a:extLst xmlns:a="http://schemas.openxmlformats.org/drawingml/2006/main">
              <a:ext uri="{FF2B5EF4-FFF2-40B4-BE49-F238E27FC236}">
                <a16:creationId xmlns:a16="http://schemas.microsoft.com/office/drawing/2014/main" id="{29F3DC3F-0B25-4F16-9EB6-9C2F53B5CEBB}"/>
              </a:ext>
            </a:extLst>
          </p:cNvPr>
          <p:cNvSpPr>
            <a:spLocks xmlns:a="http://schemas.openxmlformats.org/drawingml/2006/main" noGrp="1"/>
          </p:cNvSpPr>
          <p:nvPr/>
        </p:nvSpPr>
        <p:spPr>
          <a:xfrm xmlns:a="http://schemas.openxmlformats.org/drawingml/2006/main">
            <a:off x="4191000" y="3238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1200" b="1">
                <a:solidFill>
                  <a:srgbClr val="7C5CFC"/>
                </a:solidFill>
                <a:latin typeface="Inter"/>
                <a:ea typeface="Inter"/>
                <a:cs typeface="Inter"/>
              </a:defRPr>
            </a:pPr>
            <a:r>
              <a:rPr sz="1200" b="1">
                <a:solidFill>
                  <a:srgbClr val="7C5CFC"/>
                </a:solidFill>
                <a:latin typeface="Inter"/>
                <a:ea typeface="Inter"/>
                <a:cs typeface="Inter"/>
              </a:rPr>
              <a:t>SOLUTION 02 · WEBSITE REDESIGN</a:t>
            </a:r>
          </a:p>
        </p:txBody>
      </p:sp>
      <p:sp>
        <p:nvSpPr>
          <p:cNvPr id="26" name="slide-title">
            <a:extLst xmlns:a="http://schemas.openxmlformats.org/drawingml/2006/main">
              <a:ext uri="{FF2B5EF4-FFF2-40B4-BE49-F238E27FC236}">
                <a16:creationId xmlns:a16="http://schemas.microsoft.com/office/drawing/2014/main" id="{E39798C0-62FB-4C13-AC96-5AC8AD17692F}"/>
              </a:ext>
            </a:extLst>
          </p:cNvPr>
          <p:cNvSpPr>
            <a:spLocks xmlns:a="http://schemas.openxmlformats.org/drawingml/2006/main" noGrp="1"/>
          </p:cNvSpPr>
          <p:nvPr/>
        </p:nvSpPr>
        <p:spPr>
          <a:xfrm xmlns:a="http://schemas.openxmlformats.org/drawingml/2006/main">
            <a:off x="952500" y="6858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3150" b="0">
                <a:solidFill>
                  <a:srgbClr val="0F172A"/>
                </a:solidFill>
                <a:latin typeface="Inter"/>
                <a:ea typeface="Inter"/>
                <a:cs typeface="Inter"/>
              </a:defRPr>
            </a:pPr>
            <a:r>
              <a:rPr sz="3150" b="0">
                <a:solidFill>
                  <a:srgbClr val="0F172A"/>
                </a:solidFill>
                <a:latin typeface="Inter"/>
                <a:ea typeface="Inter"/>
                <a:cs typeface="Inter"/>
              </a:rPr>
              <a:t>The product has substance. The presentation gets in the way.</a:t>
            </a:r>
          </a:p>
        </p:txBody>
      </p:sp>
      <p:sp>
        <p:nvSpPr>
          <p:cNvPr id="27" name="slide-subtitle">
            <a:extLst xmlns:a="http://schemas.openxmlformats.org/drawingml/2006/main">
              <a:ext uri="{FF2B5EF4-FFF2-40B4-BE49-F238E27FC236}">
                <a16:creationId xmlns:a16="http://schemas.microsoft.com/office/drawing/2014/main" id="{3E5A1825-F7CE-4DD2-A2DA-146D3BCB25A3}"/>
              </a:ext>
            </a:extLst>
          </p:cNvPr>
          <p:cNvSpPr>
            <a:spLocks xmlns:a="http://schemas.openxmlformats.org/drawingml/2006/main" noGrp="1"/>
          </p:cNvSpPr>
          <p:nvPr/>
        </p:nvSpPr>
        <p:spPr>
          <a:xfrm xmlns:a="http://schemas.openxmlformats.org/drawingml/2006/main">
            <a:off x="1333500" y="1352550"/>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22000"/>
              </a:lnSpc>
              <a:buNone/>
              <a:defRPr sz="1575" b="0">
                <a:solidFill>
                  <a:srgbClr val="64748B"/>
                </a:solidFill>
                <a:latin typeface="Inter"/>
                <a:ea typeface="Inter"/>
                <a:cs typeface="Inter"/>
              </a:defRPr>
            </a:pPr>
            <a:r>
              <a:rPr sz="1575" b="0">
                <a:solidFill>
                  <a:srgbClr val="64748B"/>
                </a:solidFill>
                <a:latin typeface="Inter"/>
                <a:ea typeface="Inter"/>
                <a:cs typeface="Inter"/>
              </a:rPr>
              <a:t>The issue is not missing content—it is the absence of one system holding every page together.</a:t>
            </a:r>
          </a:p>
        </p:txBody>
      </p:sp>
      <p:sp>
        <p:nvSpPr>
          <p:cNvPr id="28" name="issue-card-0">
            <a:extLst xmlns:a="http://schemas.openxmlformats.org/drawingml/2006/main">
              <a:ext uri="{FF2B5EF4-FFF2-40B4-BE49-F238E27FC236}">
                <a16:creationId xmlns:a16="http://schemas.microsoft.com/office/drawing/2014/main" id="{3C262DA9-27A5-4DE3-BBC8-6F4A5B35628B}"/>
              </a:ext>
            </a:extLst>
          </p:cNvPr>
          <p:cNvSpPr>
            <a:spLocks xmlns:a="http://schemas.openxmlformats.org/drawingml/2006/main" noGrp="1"/>
          </p:cNvSpPr>
          <p:nvPr/>
        </p:nvSpPr>
        <p:spPr>
          <a:xfrm xmlns:a="http://schemas.openxmlformats.org/drawingml/2006/main">
            <a:off x="647700" y="2381250"/>
            <a:ext cx="3543300" cy="1466850"/>
          </a:xfrm>
          <a:prstGeom xmlns:a="http://schemas.openxmlformats.org/drawingml/2006/main" prst="roundRect">
            <a:avLst>
              <a:gd name="adj" fmla="val 12987"/>
            </a:avLst>
          </a:prstGeom>
          <a:solidFill xmlns:a="http://schemas.openxmlformats.org/drawingml/2006/main">
            <a:srgbClr val="FFF7E6"/>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issue-warn-0">
            <a:extLst xmlns:a="http://schemas.openxmlformats.org/drawingml/2006/main">
              <a:ext uri="{FF2B5EF4-FFF2-40B4-BE49-F238E27FC236}">
                <a16:creationId xmlns:a16="http://schemas.microsoft.com/office/drawing/2014/main" id="{CCE125C7-5FFB-4AAC-81EF-320F963F4D62}"/>
              </a:ext>
            </a:extLst>
          </p:cNvPr>
          <p:cNvSpPr>
            <a:spLocks xmlns:a="http://schemas.openxmlformats.org/drawingml/2006/main" noGrp="1"/>
          </p:cNvSpPr>
          <p:nvPr/>
        </p:nvSpPr>
        <p:spPr>
          <a:xfrm xmlns:a="http://schemas.openxmlformats.org/drawingml/2006/main">
            <a:off x="857250" y="2571750"/>
            <a:ext cx="285750" cy="285750"/>
          </a:xfrm>
          <a:prstGeom xmlns:a="http://schemas.openxmlformats.org/drawingml/2006/main" prst="ellipse">
            <a:avLst/>
          </a:prstGeom>
          <a:solidFill xmlns:a="http://schemas.openxmlformats.org/drawingml/2006/main">
            <a:srgbClr val="B567C2"/>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Inter"/>
                <a:ea typeface="Inter"/>
                <a:cs typeface="Inter"/>
              </a:defRPr>
            </a:pPr>
            <a:r>
              <a:rPr sz="1350" b="1">
                <a:solidFill>
                  <a:srgbClr val="FFFFFF"/>
                </a:solidFill>
                <a:latin typeface="Inter"/>
                <a:ea typeface="Inter"/>
                <a:cs typeface="Inter"/>
              </a:rPr>
              <a:t>!</a:t>
            </a:r>
          </a:p>
        </p:txBody>
      </p:sp>
      <p:sp>
        <p:nvSpPr>
          <p:cNvPr id="30" name="issue-title-0">
            <a:extLst xmlns:a="http://schemas.openxmlformats.org/drawingml/2006/main">
              <a:ext uri="{FF2B5EF4-FFF2-40B4-BE49-F238E27FC236}">
                <a16:creationId xmlns:a16="http://schemas.microsoft.com/office/drawing/2014/main" id="{0472F332-4D78-499A-819E-9F75D058B079}"/>
              </a:ext>
            </a:extLst>
          </p:cNvPr>
          <p:cNvSpPr>
            <a:spLocks xmlns:a="http://schemas.openxmlformats.org/drawingml/2006/main" noGrp="1"/>
          </p:cNvSpPr>
          <p:nvPr/>
        </p:nvSpPr>
        <p:spPr>
          <a:xfrm xmlns:a="http://schemas.openxmlformats.org/drawingml/2006/main">
            <a:off x="1276350" y="25527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75" b="1">
                <a:solidFill>
                  <a:srgbClr val="1E293B"/>
                </a:solidFill>
                <a:latin typeface="Inter"/>
                <a:ea typeface="Inter"/>
                <a:cs typeface="Inter"/>
              </a:defRPr>
            </a:pPr>
            <a:r>
              <a:rPr sz="1575" b="1">
                <a:solidFill>
                  <a:srgbClr val="1E293B"/>
                </a:solidFill>
                <a:latin typeface="Inter"/>
                <a:ea typeface="Inter"/>
                <a:cs typeface="Inter"/>
              </a:rPr>
              <a:t>Pricing conflicts</a:t>
            </a:r>
          </a:p>
        </p:txBody>
      </p:sp>
      <p:sp>
        <p:nvSpPr>
          <p:cNvPr id="31" name="issue-body-0">
            <a:extLst xmlns:a="http://schemas.openxmlformats.org/drawingml/2006/main">
              <a:ext uri="{FF2B5EF4-FFF2-40B4-BE49-F238E27FC236}">
                <a16:creationId xmlns:a16="http://schemas.microsoft.com/office/drawing/2014/main" id="{A60C15CB-A203-456D-B078-3859A11A83B8}"/>
              </a:ext>
            </a:extLst>
          </p:cNvPr>
          <p:cNvSpPr>
            <a:spLocks xmlns:a="http://schemas.openxmlformats.org/drawingml/2006/main" noGrp="1"/>
          </p:cNvSpPr>
          <p:nvPr/>
        </p:nvSpPr>
        <p:spPr>
          <a:xfrm xmlns:a="http://schemas.openxmlformats.org/drawingml/2006/main">
            <a:off x="857250" y="3067050"/>
            <a:ext cx="3124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7000"/>
              </a:lnSpc>
              <a:buNone/>
              <a:defRPr sz="1275" b="0">
                <a:solidFill>
                  <a:srgbClr val="64748B"/>
                </a:solidFill>
                <a:latin typeface="Inter"/>
                <a:ea typeface="Inter"/>
                <a:cs typeface="Inter"/>
              </a:defRPr>
            </a:pPr>
            <a:r>
              <a:rPr sz="1275" b="0">
                <a:solidFill>
                  <a:srgbClr val="64748B"/>
                </a:solidFill>
                <a:latin typeface="Inter"/>
                <a:ea typeface="Inter"/>
                <a:cs typeface="Inter"/>
              </a:rPr>
              <a:t>Three different price sets appear across the current public site.</a:t>
            </a:r>
          </a:p>
        </p:txBody>
      </p:sp>
      <p:sp>
        <p:nvSpPr>
          <p:cNvPr id="32" name="issue-card-1">
            <a:extLst xmlns:a="http://schemas.openxmlformats.org/drawingml/2006/main">
              <a:ext uri="{FF2B5EF4-FFF2-40B4-BE49-F238E27FC236}">
                <a16:creationId xmlns:a16="http://schemas.microsoft.com/office/drawing/2014/main" id="{5B130762-2CEE-427C-BE2B-FD2A4B4DF2BA}"/>
              </a:ext>
            </a:extLst>
          </p:cNvPr>
          <p:cNvSpPr>
            <a:spLocks xmlns:a="http://schemas.openxmlformats.org/drawingml/2006/main" noGrp="1"/>
          </p:cNvSpPr>
          <p:nvPr/>
        </p:nvSpPr>
        <p:spPr>
          <a:xfrm xmlns:a="http://schemas.openxmlformats.org/drawingml/2006/main">
            <a:off x="4476750" y="2381250"/>
            <a:ext cx="3543300" cy="1466850"/>
          </a:xfrm>
          <a:prstGeom xmlns:a="http://schemas.openxmlformats.org/drawingml/2006/main" prst="roundRect">
            <a:avLst>
              <a:gd name="adj" fmla="val 12987"/>
            </a:avLst>
          </a:prstGeom>
          <a:solidFill xmlns:a="http://schemas.openxmlformats.org/drawingml/2006/main">
            <a:srgbClr val="F7EEFB"/>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3" name="issue-warn-1">
            <a:extLst xmlns:a="http://schemas.openxmlformats.org/drawingml/2006/main">
              <a:ext uri="{FF2B5EF4-FFF2-40B4-BE49-F238E27FC236}">
                <a16:creationId xmlns:a16="http://schemas.microsoft.com/office/drawing/2014/main" id="{19D0841F-908B-4F00-876C-90112DF4F321}"/>
              </a:ext>
            </a:extLst>
          </p:cNvPr>
          <p:cNvSpPr>
            <a:spLocks xmlns:a="http://schemas.openxmlformats.org/drawingml/2006/main" noGrp="1"/>
          </p:cNvSpPr>
          <p:nvPr/>
        </p:nvSpPr>
        <p:spPr>
          <a:xfrm xmlns:a="http://schemas.openxmlformats.org/drawingml/2006/main">
            <a:off x="4686300" y="2571750"/>
            <a:ext cx="285750" cy="285750"/>
          </a:xfrm>
          <a:prstGeom xmlns:a="http://schemas.openxmlformats.org/drawingml/2006/main" prst="ellipse">
            <a:avLst/>
          </a:prstGeom>
          <a:solidFill xmlns:a="http://schemas.openxmlformats.org/drawingml/2006/main">
            <a:srgbClr val="F28482"/>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Inter"/>
                <a:ea typeface="Inter"/>
                <a:cs typeface="Inter"/>
              </a:defRPr>
            </a:pPr>
            <a:r>
              <a:rPr sz="1350" b="1">
                <a:solidFill>
                  <a:srgbClr val="FFFFFF"/>
                </a:solidFill>
                <a:latin typeface="Inter"/>
                <a:ea typeface="Inter"/>
                <a:cs typeface="Inter"/>
              </a:rPr>
              <a:t>!</a:t>
            </a:r>
          </a:p>
        </p:txBody>
      </p:sp>
      <p:sp>
        <p:nvSpPr>
          <p:cNvPr id="34" name="issue-title-1">
            <a:extLst xmlns:a="http://schemas.openxmlformats.org/drawingml/2006/main">
              <a:ext uri="{FF2B5EF4-FFF2-40B4-BE49-F238E27FC236}">
                <a16:creationId xmlns:a16="http://schemas.microsoft.com/office/drawing/2014/main" id="{564ACD1A-F1A7-4FC2-89B3-40AD93CB7DD7}"/>
              </a:ext>
            </a:extLst>
          </p:cNvPr>
          <p:cNvSpPr>
            <a:spLocks xmlns:a="http://schemas.openxmlformats.org/drawingml/2006/main" noGrp="1"/>
          </p:cNvSpPr>
          <p:nvPr/>
        </p:nvSpPr>
        <p:spPr>
          <a:xfrm xmlns:a="http://schemas.openxmlformats.org/drawingml/2006/main">
            <a:off x="5105400" y="25527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75" b="1">
                <a:solidFill>
                  <a:srgbClr val="1E293B"/>
                </a:solidFill>
                <a:latin typeface="Inter"/>
                <a:ea typeface="Inter"/>
                <a:cs typeface="Inter"/>
              </a:defRPr>
            </a:pPr>
            <a:r>
              <a:rPr sz="1575" b="1">
                <a:solidFill>
                  <a:srgbClr val="1E293B"/>
                </a:solidFill>
                <a:latin typeface="Inter"/>
                <a:ea typeface="Inter"/>
                <a:cs typeface="Inter"/>
              </a:rPr>
              <a:t>Value prop is buried</a:t>
            </a:r>
          </a:p>
        </p:txBody>
      </p:sp>
      <p:sp>
        <p:nvSpPr>
          <p:cNvPr id="35" name="issue-body-1">
            <a:extLst xmlns:a="http://schemas.openxmlformats.org/drawingml/2006/main">
              <a:ext uri="{FF2B5EF4-FFF2-40B4-BE49-F238E27FC236}">
                <a16:creationId xmlns:a16="http://schemas.microsoft.com/office/drawing/2014/main" id="{C55D10BD-3B6B-4343-8BD6-7F51C7C1904C}"/>
              </a:ext>
            </a:extLst>
          </p:cNvPr>
          <p:cNvSpPr>
            <a:spLocks xmlns:a="http://schemas.openxmlformats.org/drawingml/2006/main" noGrp="1"/>
          </p:cNvSpPr>
          <p:nvPr/>
        </p:nvSpPr>
        <p:spPr>
          <a:xfrm xmlns:a="http://schemas.openxmlformats.org/drawingml/2006/main">
            <a:off x="4686300" y="3067050"/>
            <a:ext cx="3124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7000"/>
              </a:lnSpc>
              <a:buNone/>
              <a:defRPr sz="1275" b="0">
                <a:solidFill>
                  <a:srgbClr val="64748B"/>
                </a:solidFill>
                <a:latin typeface="Inter"/>
                <a:ea typeface="Inter"/>
                <a:cs typeface="Inter"/>
              </a:defRPr>
            </a:pPr>
            <a:r>
              <a:rPr sz="1275" b="0">
                <a:solidFill>
                  <a:srgbClr val="64748B"/>
                </a:solidFill>
                <a:latin typeface="Inter"/>
                <a:ea typeface="Inter"/>
                <a:cs typeface="Inter"/>
              </a:rPr>
              <a:t>The homepage leads with Ai-kyo and repeated trends before the core pitch.</a:t>
            </a:r>
          </a:p>
        </p:txBody>
      </p:sp>
      <p:sp>
        <p:nvSpPr>
          <p:cNvPr id="36" name="issue-card-2">
            <a:extLst xmlns:a="http://schemas.openxmlformats.org/drawingml/2006/main">
              <a:ext uri="{FF2B5EF4-FFF2-40B4-BE49-F238E27FC236}">
                <a16:creationId xmlns:a16="http://schemas.microsoft.com/office/drawing/2014/main" id="{64B2A4BD-4CD2-4D57-8C53-9CEEF535BCE5}"/>
              </a:ext>
            </a:extLst>
          </p:cNvPr>
          <p:cNvSpPr>
            <a:spLocks xmlns:a="http://schemas.openxmlformats.org/drawingml/2006/main" noGrp="1"/>
          </p:cNvSpPr>
          <p:nvPr/>
        </p:nvSpPr>
        <p:spPr>
          <a:xfrm xmlns:a="http://schemas.openxmlformats.org/drawingml/2006/main">
            <a:off x="8305800" y="2381250"/>
            <a:ext cx="3543300" cy="1466850"/>
          </a:xfrm>
          <a:prstGeom xmlns:a="http://schemas.openxmlformats.org/drawingml/2006/main" prst="roundRect">
            <a:avLst>
              <a:gd name="adj" fmla="val 12987"/>
            </a:avLst>
          </a:prstGeom>
          <a:solidFill xmlns:a="http://schemas.openxmlformats.org/drawingml/2006/main">
            <a:srgbClr val="EEF3FF"/>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7" name="issue-warn-2">
            <a:extLst xmlns:a="http://schemas.openxmlformats.org/drawingml/2006/main">
              <a:ext uri="{FF2B5EF4-FFF2-40B4-BE49-F238E27FC236}">
                <a16:creationId xmlns:a16="http://schemas.microsoft.com/office/drawing/2014/main" id="{FCB2467A-4E73-4248-9578-20ADBAB07857}"/>
              </a:ext>
            </a:extLst>
          </p:cNvPr>
          <p:cNvSpPr>
            <a:spLocks xmlns:a="http://schemas.openxmlformats.org/drawingml/2006/main" noGrp="1"/>
          </p:cNvSpPr>
          <p:nvPr/>
        </p:nvSpPr>
        <p:spPr>
          <a:xfrm xmlns:a="http://schemas.openxmlformats.org/drawingml/2006/main">
            <a:off x="8515350" y="2571750"/>
            <a:ext cx="285750" cy="285750"/>
          </a:xfrm>
          <a:prstGeom xmlns:a="http://schemas.openxmlformats.org/drawingml/2006/main" prst="ellipse">
            <a:avLst/>
          </a:prstGeom>
          <a:solidFill xmlns:a="http://schemas.openxmlformats.org/drawingml/2006/main">
            <a:srgbClr val="B567C2"/>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Inter"/>
                <a:ea typeface="Inter"/>
                <a:cs typeface="Inter"/>
              </a:defRPr>
            </a:pPr>
            <a:r>
              <a:rPr sz="1350" b="1">
                <a:solidFill>
                  <a:srgbClr val="FFFFFF"/>
                </a:solidFill>
                <a:latin typeface="Inter"/>
                <a:ea typeface="Inter"/>
                <a:cs typeface="Inter"/>
              </a:rPr>
              <a:t>!</a:t>
            </a:r>
          </a:p>
        </p:txBody>
      </p:sp>
      <p:sp>
        <p:nvSpPr>
          <p:cNvPr id="38" name="issue-title-2">
            <a:extLst xmlns:a="http://schemas.openxmlformats.org/drawingml/2006/main">
              <a:ext uri="{FF2B5EF4-FFF2-40B4-BE49-F238E27FC236}">
                <a16:creationId xmlns:a16="http://schemas.microsoft.com/office/drawing/2014/main" id="{F6E870BA-561A-4EB5-84BE-47BE995D7FC9}"/>
              </a:ext>
            </a:extLst>
          </p:cNvPr>
          <p:cNvSpPr>
            <a:spLocks xmlns:a="http://schemas.openxmlformats.org/drawingml/2006/main" noGrp="1"/>
          </p:cNvSpPr>
          <p:nvPr/>
        </p:nvSpPr>
        <p:spPr>
          <a:xfrm xmlns:a="http://schemas.openxmlformats.org/drawingml/2006/main">
            <a:off x="8934450" y="25527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75" b="1">
                <a:solidFill>
                  <a:srgbClr val="1E293B"/>
                </a:solidFill>
                <a:latin typeface="Inter"/>
                <a:ea typeface="Inter"/>
                <a:cs typeface="Inter"/>
              </a:defRPr>
            </a:pPr>
            <a:r>
              <a:rPr sz="1575" b="1">
                <a:solidFill>
                  <a:srgbClr val="1E293B"/>
                </a:solidFill>
                <a:latin typeface="Inter"/>
                <a:ea typeface="Inter"/>
                <a:cs typeface="Inter"/>
              </a:rPr>
              <a:t>Feature status is unclear</a:t>
            </a:r>
          </a:p>
        </p:txBody>
      </p:sp>
      <p:sp>
        <p:nvSpPr>
          <p:cNvPr id="39" name="issue-body-2">
            <a:extLst xmlns:a="http://schemas.openxmlformats.org/drawingml/2006/main">
              <a:ext uri="{FF2B5EF4-FFF2-40B4-BE49-F238E27FC236}">
                <a16:creationId xmlns:a16="http://schemas.microsoft.com/office/drawing/2014/main" id="{FD76698C-61B1-4CA0-BFE4-F6B7CC321563}"/>
              </a:ext>
            </a:extLst>
          </p:cNvPr>
          <p:cNvSpPr>
            <a:spLocks xmlns:a="http://schemas.openxmlformats.org/drawingml/2006/main" noGrp="1"/>
          </p:cNvSpPr>
          <p:nvPr/>
        </p:nvSpPr>
        <p:spPr>
          <a:xfrm xmlns:a="http://schemas.openxmlformats.org/drawingml/2006/main">
            <a:off x="8515350" y="3067050"/>
            <a:ext cx="3124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7000"/>
              </a:lnSpc>
              <a:buNone/>
              <a:defRPr sz="1275" b="0">
                <a:solidFill>
                  <a:srgbClr val="64748B"/>
                </a:solidFill>
                <a:latin typeface="Inter"/>
                <a:ea typeface="Inter"/>
                <a:cs typeface="Inter"/>
              </a:defRPr>
            </a:pPr>
            <a:r>
              <a:rPr sz="1275" b="0">
                <a:solidFill>
                  <a:srgbClr val="64748B"/>
                </a:solidFill>
                <a:latin typeface="Inter"/>
                <a:ea typeface="Inter"/>
                <a:cs typeface="Inter"/>
              </a:rPr>
              <a:t>LIVE, BETA and SOON are not applied consistently across features.</a:t>
            </a:r>
          </a:p>
        </p:txBody>
      </p:sp>
      <p:sp>
        <p:nvSpPr>
          <p:cNvPr id="40" name="issue-card-3">
            <a:extLst xmlns:a="http://schemas.openxmlformats.org/drawingml/2006/main">
              <a:ext uri="{FF2B5EF4-FFF2-40B4-BE49-F238E27FC236}">
                <a16:creationId xmlns:a16="http://schemas.microsoft.com/office/drawing/2014/main" id="{FB653EBA-D342-400E-AA35-0D1ABB34901C}"/>
              </a:ext>
            </a:extLst>
          </p:cNvPr>
          <p:cNvSpPr>
            <a:spLocks xmlns:a="http://schemas.openxmlformats.org/drawingml/2006/main" noGrp="1"/>
          </p:cNvSpPr>
          <p:nvPr/>
        </p:nvSpPr>
        <p:spPr>
          <a:xfrm xmlns:a="http://schemas.openxmlformats.org/drawingml/2006/main">
            <a:off x="647700" y="4095750"/>
            <a:ext cx="3543300" cy="1466850"/>
          </a:xfrm>
          <a:prstGeom xmlns:a="http://schemas.openxmlformats.org/drawingml/2006/main" prst="roundRect">
            <a:avLst>
              <a:gd name="adj" fmla="val 12987"/>
            </a:avLst>
          </a:prstGeom>
          <a:solidFill xmlns:a="http://schemas.openxmlformats.org/drawingml/2006/main">
            <a:srgbClr val="FFF7E6"/>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issue-warn-3">
            <a:extLst xmlns:a="http://schemas.openxmlformats.org/drawingml/2006/main">
              <a:ext uri="{FF2B5EF4-FFF2-40B4-BE49-F238E27FC236}">
                <a16:creationId xmlns:a16="http://schemas.microsoft.com/office/drawing/2014/main" id="{8A4E341C-DB30-4788-8223-2FFD574B9CE6}"/>
              </a:ext>
            </a:extLst>
          </p:cNvPr>
          <p:cNvSpPr>
            <a:spLocks xmlns:a="http://schemas.openxmlformats.org/drawingml/2006/main" noGrp="1"/>
          </p:cNvSpPr>
          <p:nvPr/>
        </p:nvSpPr>
        <p:spPr>
          <a:xfrm xmlns:a="http://schemas.openxmlformats.org/drawingml/2006/main">
            <a:off x="857250" y="4286250"/>
            <a:ext cx="285750" cy="285750"/>
          </a:xfrm>
          <a:prstGeom xmlns:a="http://schemas.openxmlformats.org/drawingml/2006/main" prst="ellipse">
            <a:avLst/>
          </a:prstGeom>
          <a:solidFill xmlns:a="http://schemas.openxmlformats.org/drawingml/2006/main">
            <a:srgbClr val="F28482"/>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Inter"/>
                <a:ea typeface="Inter"/>
                <a:cs typeface="Inter"/>
              </a:defRPr>
            </a:pPr>
            <a:r>
              <a:rPr sz="1350" b="1">
                <a:solidFill>
                  <a:srgbClr val="FFFFFF"/>
                </a:solidFill>
                <a:latin typeface="Inter"/>
                <a:ea typeface="Inter"/>
                <a:cs typeface="Inter"/>
              </a:rPr>
              <a:t>!</a:t>
            </a:r>
          </a:p>
        </p:txBody>
      </p:sp>
      <p:sp>
        <p:nvSpPr>
          <p:cNvPr id="42" name="issue-title-3">
            <a:extLst xmlns:a="http://schemas.openxmlformats.org/drawingml/2006/main">
              <a:ext uri="{FF2B5EF4-FFF2-40B4-BE49-F238E27FC236}">
                <a16:creationId xmlns:a16="http://schemas.microsoft.com/office/drawing/2014/main" id="{390370DE-5CF0-41F8-856F-CCA7490A0410}"/>
              </a:ext>
            </a:extLst>
          </p:cNvPr>
          <p:cNvSpPr>
            <a:spLocks xmlns:a="http://schemas.openxmlformats.org/drawingml/2006/main" noGrp="1"/>
          </p:cNvSpPr>
          <p:nvPr/>
        </p:nvSpPr>
        <p:spPr>
          <a:xfrm xmlns:a="http://schemas.openxmlformats.org/drawingml/2006/main">
            <a:off x="1276350" y="42672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75" b="1">
                <a:solidFill>
                  <a:srgbClr val="1E293B"/>
                </a:solidFill>
                <a:latin typeface="Inter"/>
                <a:ea typeface="Inter"/>
                <a:cs typeface="Inter"/>
              </a:defRPr>
            </a:pPr>
            <a:r>
              <a:rPr sz="1575" b="1">
                <a:solidFill>
                  <a:srgbClr val="1E293B"/>
                </a:solidFill>
                <a:latin typeface="Inter"/>
                <a:ea typeface="Inter"/>
                <a:cs typeface="Inter"/>
              </a:rPr>
              <a:t>Creator Index has no home</a:t>
            </a:r>
          </a:p>
        </p:txBody>
      </p:sp>
      <p:sp>
        <p:nvSpPr>
          <p:cNvPr id="43" name="issue-body-3">
            <a:extLst xmlns:a="http://schemas.openxmlformats.org/drawingml/2006/main">
              <a:ext uri="{FF2B5EF4-FFF2-40B4-BE49-F238E27FC236}">
                <a16:creationId xmlns:a16="http://schemas.microsoft.com/office/drawing/2014/main" id="{AAD60D89-D0A7-4E60-88AC-752F077D6728}"/>
              </a:ext>
            </a:extLst>
          </p:cNvPr>
          <p:cNvSpPr>
            <a:spLocks xmlns:a="http://schemas.openxmlformats.org/drawingml/2006/main" noGrp="1"/>
          </p:cNvSpPr>
          <p:nvPr/>
        </p:nvSpPr>
        <p:spPr>
          <a:xfrm xmlns:a="http://schemas.openxmlformats.org/drawingml/2006/main">
            <a:off x="857250" y="4781550"/>
            <a:ext cx="3124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7000"/>
              </a:lnSpc>
              <a:buNone/>
              <a:defRPr sz="1275" b="0">
                <a:solidFill>
                  <a:srgbClr val="64748B"/>
                </a:solidFill>
                <a:latin typeface="Inter"/>
                <a:ea typeface="Inter"/>
                <a:cs typeface="Inter"/>
              </a:defRPr>
            </a:pPr>
            <a:r>
              <a:rPr sz="1275" b="0">
                <a:solidFill>
                  <a:srgbClr val="64748B"/>
                </a:solidFill>
                <a:latin typeface="Inter"/>
                <a:ea typeface="Inter"/>
                <a:cs typeface="Inter"/>
              </a:rPr>
              <a:t>A headline feature is promoted without a clear directory journey.</a:t>
            </a:r>
          </a:p>
        </p:txBody>
      </p:sp>
      <p:sp>
        <p:nvSpPr>
          <p:cNvPr id="44" name="issue-card-4">
            <a:extLst xmlns:a="http://schemas.openxmlformats.org/drawingml/2006/main">
              <a:ext uri="{FF2B5EF4-FFF2-40B4-BE49-F238E27FC236}">
                <a16:creationId xmlns:a16="http://schemas.microsoft.com/office/drawing/2014/main" id="{03D4AD18-4688-4A79-99DE-8D8F25A9E05C}"/>
              </a:ext>
            </a:extLst>
          </p:cNvPr>
          <p:cNvSpPr>
            <a:spLocks xmlns:a="http://schemas.openxmlformats.org/drawingml/2006/main" noGrp="1"/>
          </p:cNvSpPr>
          <p:nvPr/>
        </p:nvSpPr>
        <p:spPr>
          <a:xfrm xmlns:a="http://schemas.openxmlformats.org/drawingml/2006/main">
            <a:off x="4476750" y="4095750"/>
            <a:ext cx="3543300" cy="1466850"/>
          </a:xfrm>
          <a:prstGeom xmlns:a="http://schemas.openxmlformats.org/drawingml/2006/main" prst="roundRect">
            <a:avLst>
              <a:gd name="adj" fmla="val 12987"/>
            </a:avLst>
          </a:prstGeom>
          <a:solidFill xmlns:a="http://schemas.openxmlformats.org/drawingml/2006/main">
            <a:srgbClr val="F7EEFB"/>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5" name="issue-warn-4">
            <a:extLst xmlns:a="http://schemas.openxmlformats.org/drawingml/2006/main">
              <a:ext uri="{FF2B5EF4-FFF2-40B4-BE49-F238E27FC236}">
                <a16:creationId xmlns:a16="http://schemas.microsoft.com/office/drawing/2014/main" id="{C82D0C14-5901-4E02-88C8-48CBDD844178}"/>
              </a:ext>
            </a:extLst>
          </p:cNvPr>
          <p:cNvSpPr>
            <a:spLocks xmlns:a="http://schemas.openxmlformats.org/drawingml/2006/main" noGrp="1"/>
          </p:cNvSpPr>
          <p:nvPr/>
        </p:nvSpPr>
        <p:spPr>
          <a:xfrm xmlns:a="http://schemas.openxmlformats.org/drawingml/2006/main">
            <a:off x="4686300" y="4286250"/>
            <a:ext cx="285750" cy="285750"/>
          </a:xfrm>
          <a:prstGeom xmlns:a="http://schemas.openxmlformats.org/drawingml/2006/main" prst="ellipse">
            <a:avLst/>
          </a:prstGeom>
          <a:solidFill xmlns:a="http://schemas.openxmlformats.org/drawingml/2006/main">
            <a:srgbClr val="B567C2"/>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Inter"/>
                <a:ea typeface="Inter"/>
                <a:cs typeface="Inter"/>
              </a:defRPr>
            </a:pPr>
            <a:r>
              <a:rPr sz="1350" b="1">
                <a:solidFill>
                  <a:srgbClr val="FFFFFF"/>
                </a:solidFill>
                <a:latin typeface="Inter"/>
                <a:ea typeface="Inter"/>
                <a:cs typeface="Inter"/>
              </a:rPr>
              <a:t>!</a:t>
            </a:r>
          </a:p>
        </p:txBody>
      </p:sp>
      <p:sp>
        <p:nvSpPr>
          <p:cNvPr id="46" name="issue-title-4">
            <a:extLst xmlns:a="http://schemas.openxmlformats.org/drawingml/2006/main">
              <a:ext uri="{FF2B5EF4-FFF2-40B4-BE49-F238E27FC236}">
                <a16:creationId xmlns:a16="http://schemas.microsoft.com/office/drawing/2014/main" id="{065C8E0C-0A05-4507-8039-11F7CF4B915D}"/>
              </a:ext>
            </a:extLst>
          </p:cNvPr>
          <p:cNvSpPr>
            <a:spLocks xmlns:a="http://schemas.openxmlformats.org/drawingml/2006/main" noGrp="1"/>
          </p:cNvSpPr>
          <p:nvPr/>
        </p:nvSpPr>
        <p:spPr>
          <a:xfrm xmlns:a="http://schemas.openxmlformats.org/drawingml/2006/main">
            <a:off x="5105400" y="42672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75" b="1">
                <a:solidFill>
                  <a:srgbClr val="1E293B"/>
                </a:solidFill>
                <a:latin typeface="Inter"/>
                <a:ea typeface="Inter"/>
                <a:cs typeface="Inter"/>
              </a:defRPr>
            </a:pPr>
            <a:r>
              <a:rPr sz="1575" b="1">
                <a:solidFill>
                  <a:srgbClr val="1E293B"/>
                </a:solidFill>
                <a:latin typeface="Inter"/>
                <a:ea typeface="Inter"/>
                <a:cs typeface="Inter"/>
              </a:rPr>
              <a:t>Contradictory data language</a:t>
            </a:r>
          </a:p>
        </p:txBody>
      </p:sp>
      <p:sp>
        <p:nvSpPr>
          <p:cNvPr id="47" name="issue-body-4">
            <a:extLst xmlns:a="http://schemas.openxmlformats.org/drawingml/2006/main">
              <a:ext uri="{FF2B5EF4-FFF2-40B4-BE49-F238E27FC236}">
                <a16:creationId xmlns:a16="http://schemas.microsoft.com/office/drawing/2014/main" id="{F2069C44-7920-451B-B502-C0D4E9A801E5}"/>
              </a:ext>
            </a:extLst>
          </p:cNvPr>
          <p:cNvSpPr>
            <a:spLocks xmlns:a="http://schemas.openxmlformats.org/drawingml/2006/main" noGrp="1"/>
          </p:cNvSpPr>
          <p:nvPr/>
        </p:nvSpPr>
        <p:spPr>
          <a:xfrm xmlns:a="http://schemas.openxmlformats.org/drawingml/2006/main">
            <a:off x="4686300" y="4781550"/>
            <a:ext cx="3124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7000"/>
              </a:lnSpc>
              <a:buNone/>
              <a:defRPr sz="1275" b="0">
                <a:solidFill>
                  <a:srgbClr val="64748B"/>
                </a:solidFill>
                <a:latin typeface="Inter"/>
                <a:ea typeface="Inter"/>
                <a:cs typeface="Inter"/>
              </a:defRPr>
            </a:pPr>
            <a:r>
              <a:rPr sz="1275" b="0">
                <a:solidFill>
                  <a:srgbClr val="64748B"/>
                </a:solidFill>
                <a:latin typeface="Inter"/>
                <a:ea typeface="Inter"/>
                <a:cs typeface="Inter"/>
              </a:rPr>
              <a:t>“Live” and “pulled manually” describe the same data in different places.</a:t>
            </a:r>
          </a:p>
        </p:txBody>
      </p:sp>
      <p:sp>
        <p:nvSpPr>
          <p:cNvPr id="48" name="issue-card-5">
            <a:extLst xmlns:a="http://schemas.openxmlformats.org/drawingml/2006/main">
              <a:ext uri="{FF2B5EF4-FFF2-40B4-BE49-F238E27FC236}">
                <a16:creationId xmlns:a16="http://schemas.microsoft.com/office/drawing/2014/main" id="{6451F4C4-8667-482A-BCC2-DE5938331935}"/>
              </a:ext>
            </a:extLst>
          </p:cNvPr>
          <p:cNvSpPr>
            <a:spLocks xmlns:a="http://schemas.openxmlformats.org/drawingml/2006/main" noGrp="1"/>
          </p:cNvSpPr>
          <p:nvPr/>
        </p:nvSpPr>
        <p:spPr>
          <a:xfrm xmlns:a="http://schemas.openxmlformats.org/drawingml/2006/main">
            <a:off x="8305800" y="4095750"/>
            <a:ext cx="3543300" cy="1466850"/>
          </a:xfrm>
          <a:prstGeom xmlns:a="http://schemas.openxmlformats.org/drawingml/2006/main" prst="roundRect">
            <a:avLst>
              <a:gd name="adj" fmla="val 12987"/>
            </a:avLst>
          </a:prstGeom>
          <a:solidFill xmlns:a="http://schemas.openxmlformats.org/drawingml/2006/main">
            <a:srgbClr val="EEF3FF"/>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9" name="issue-warn-5">
            <a:extLst xmlns:a="http://schemas.openxmlformats.org/drawingml/2006/main">
              <a:ext uri="{FF2B5EF4-FFF2-40B4-BE49-F238E27FC236}">
                <a16:creationId xmlns:a16="http://schemas.microsoft.com/office/drawing/2014/main" id="{8034F216-C75C-46E2-BEE2-3AD07DBEC120}"/>
              </a:ext>
            </a:extLst>
          </p:cNvPr>
          <p:cNvSpPr>
            <a:spLocks xmlns:a="http://schemas.openxmlformats.org/drawingml/2006/main" noGrp="1"/>
          </p:cNvSpPr>
          <p:nvPr/>
        </p:nvSpPr>
        <p:spPr>
          <a:xfrm xmlns:a="http://schemas.openxmlformats.org/drawingml/2006/main">
            <a:off x="8515350" y="4286250"/>
            <a:ext cx="285750" cy="285750"/>
          </a:xfrm>
          <a:prstGeom xmlns:a="http://schemas.openxmlformats.org/drawingml/2006/main" prst="ellipse">
            <a:avLst/>
          </a:prstGeom>
          <a:solidFill xmlns:a="http://schemas.openxmlformats.org/drawingml/2006/main">
            <a:srgbClr val="F28482"/>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Inter"/>
                <a:ea typeface="Inter"/>
                <a:cs typeface="Inter"/>
              </a:defRPr>
            </a:pPr>
            <a:r>
              <a:rPr sz="1350" b="1">
                <a:solidFill>
                  <a:srgbClr val="FFFFFF"/>
                </a:solidFill>
                <a:latin typeface="Inter"/>
                <a:ea typeface="Inter"/>
                <a:cs typeface="Inter"/>
              </a:rPr>
              <a:t>!</a:t>
            </a:r>
          </a:p>
        </p:txBody>
      </p:sp>
      <p:sp>
        <p:nvSpPr>
          <p:cNvPr id="50" name="issue-title-5">
            <a:extLst xmlns:a="http://schemas.openxmlformats.org/drawingml/2006/main">
              <a:ext uri="{FF2B5EF4-FFF2-40B4-BE49-F238E27FC236}">
                <a16:creationId xmlns:a16="http://schemas.microsoft.com/office/drawing/2014/main" id="{DAEC46A0-110C-453E-BA32-984EE86647C4}"/>
              </a:ext>
            </a:extLst>
          </p:cNvPr>
          <p:cNvSpPr>
            <a:spLocks xmlns:a="http://schemas.openxmlformats.org/drawingml/2006/main" noGrp="1"/>
          </p:cNvSpPr>
          <p:nvPr/>
        </p:nvSpPr>
        <p:spPr>
          <a:xfrm xmlns:a="http://schemas.openxmlformats.org/drawingml/2006/main">
            <a:off x="8934450" y="42672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75" b="1">
                <a:solidFill>
                  <a:srgbClr val="1E293B"/>
                </a:solidFill>
                <a:latin typeface="Inter"/>
                <a:ea typeface="Inter"/>
                <a:cs typeface="Inter"/>
              </a:defRPr>
            </a:pPr>
            <a:r>
              <a:rPr sz="1575" b="1">
                <a:solidFill>
                  <a:srgbClr val="1E293B"/>
                </a:solidFill>
                <a:latin typeface="Inter"/>
                <a:ea typeface="Inter"/>
                <a:cs typeface="Inter"/>
              </a:rPr>
              <a:t>No single design system</a:t>
            </a:r>
          </a:p>
        </p:txBody>
      </p:sp>
      <p:sp>
        <p:nvSpPr>
          <p:cNvPr id="51" name="issue-body-5">
            <a:extLst xmlns:a="http://schemas.openxmlformats.org/drawingml/2006/main">
              <a:ext uri="{FF2B5EF4-FFF2-40B4-BE49-F238E27FC236}">
                <a16:creationId xmlns:a16="http://schemas.microsoft.com/office/drawing/2014/main" id="{B58142D7-6A40-406E-A47C-C84F043D7C9A}"/>
              </a:ext>
            </a:extLst>
          </p:cNvPr>
          <p:cNvSpPr>
            <a:spLocks xmlns:a="http://schemas.openxmlformats.org/drawingml/2006/main" noGrp="1"/>
          </p:cNvSpPr>
          <p:nvPr/>
        </p:nvSpPr>
        <p:spPr>
          <a:xfrm xmlns:a="http://schemas.openxmlformats.org/drawingml/2006/main">
            <a:off x="8515350" y="4781550"/>
            <a:ext cx="3124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7000"/>
              </a:lnSpc>
              <a:buNone/>
              <a:defRPr sz="1275" b="0">
                <a:solidFill>
                  <a:srgbClr val="64748B"/>
                </a:solidFill>
                <a:latin typeface="Inter"/>
                <a:ea typeface="Inter"/>
                <a:cs typeface="Inter"/>
              </a:defRPr>
            </a:pPr>
            <a:r>
              <a:rPr sz="1275" b="0">
                <a:solidFill>
                  <a:srgbClr val="64748B"/>
                </a:solidFill>
                <a:latin typeface="Inter"/>
                <a:ea typeface="Inter"/>
                <a:cs typeface="Inter"/>
              </a:rPr>
              <a:t>Type, spacing, cards and states shift page to page, so the product feels improvised.</a:t>
            </a:r>
          </a:p>
        </p:txBody>
      </p:sp>
      <p:sp>
        <p:nvSpPr>
          <p:cNvPr id="52" name="footer-brand">
            <a:extLst xmlns:a="http://schemas.openxmlformats.org/drawingml/2006/main">
              <a:ext uri="{FF2B5EF4-FFF2-40B4-BE49-F238E27FC236}">
                <a16:creationId xmlns:a16="http://schemas.microsoft.com/office/drawing/2014/main" id="{03EAC64F-92E6-4503-AC97-46331F623314}"/>
              </a:ext>
            </a:extLst>
          </p:cNvPr>
          <p:cNvSpPr>
            <a:spLocks xmlns:a="http://schemas.openxmlformats.org/drawingml/2006/main" noGrp="1"/>
          </p:cNvSpPr>
          <p:nvPr/>
        </p:nvSpPr>
        <p:spPr>
          <a:xfrm xmlns:a="http://schemas.openxmlformats.org/drawingml/2006/main">
            <a:off x="533400" y="6457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75" b="1">
                <a:solidFill>
                  <a:srgbClr val="94A3B8"/>
                </a:solidFill>
                <a:latin typeface="Inter"/>
                <a:ea typeface="Inter"/>
                <a:cs typeface="Inter"/>
              </a:defRPr>
            </a:pPr>
            <a:r>
              <a:rPr sz="975" b="1">
                <a:solidFill>
                  <a:srgbClr val="94A3B8"/>
                </a:solidFill>
                <a:latin typeface="Inter"/>
                <a:ea typeface="Inter"/>
                <a:cs typeface="Inter"/>
              </a:rPr>
              <a:t>INFLUENCEES</a:t>
            </a:r>
          </a:p>
        </p:txBody>
      </p:sp>
      <p:sp>
        <p:nvSpPr>
          <p:cNvPr id="53" name="footer-page">
            <a:extLst xmlns:a="http://schemas.openxmlformats.org/drawingml/2006/main">
              <a:ext uri="{FF2B5EF4-FFF2-40B4-BE49-F238E27FC236}">
                <a16:creationId xmlns:a16="http://schemas.microsoft.com/office/drawing/2014/main" id="{16431EB8-B898-481A-A471-E40098BE5C78}"/>
              </a:ext>
            </a:extLst>
          </p:cNvPr>
          <p:cNvSpPr>
            <a:spLocks xmlns:a="http://schemas.openxmlformats.org/drawingml/2006/main" noGrp="1"/>
          </p:cNvSpPr>
          <p:nvPr/>
        </p:nvSpPr>
        <p:spPr>
          <a:xfrm xmlns:a="http://schemas.openxmlformats.org/drawingml/2006/main">
            <a:off x="10572750" y="6457950"/>
            <a:ext cx="1085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975" b="1">
                <a:solidFill>
                  <a:srgbClr val="94A3B8"/>
                </a:solidFill>
                <a:latin typeface="Inter"/>
                <a:ea typeface="Inter"/>
                <a:cs typeface="Inter"/>
              </a:defRPr>
            </a:pPr>
            <a:r>
              <a:rPr sz="975" b="1">
                <a:solidFill>
                  <a:srgbClr val="94A3B8"/>
                </a:solidFill>
                <a:latin typeface="Inter"/>
                <a:ea typeface="Inter"/>
                <a:cs typeface="Inter"/>
              </a:rPr>
              <a:t>07 / 10</a:t>
            </a:r>
          </a:p>
        </p:txBody>
      </p:sp>
    </p:spTree>
    <p:extLst>
      <p:ext uri="{BB962C8B-B14F-4D97-AF65-F5344CB8AC3E}">
        <p14:creationId xmlns:p14="http://schemas.microsoft.com/office/powerpoint/2010/main" val="200945182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F0B51A9-5810-4504-A2FC-0769CF0A290A}"/>
              </a:ext>
            </a:extLst>
          </p:cNvPr>
          <p:cNvSpPr>
            <a:spLocks xmlns:a="http://schemas.openxmlformats.org/drawingml/2006/main" noGrp="1"/>
          </p:cNvSpPr>
          <p:nvPr/>
        </p:nvSpPr>
        <p:spPr>
          <a:xfrm xmlns:a="http://schemas.openxmlformats.org/drawingml/2006/main">
            <a:off x="566928"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50" b="1">
                <a:solidFill>
                  <a:srgbClr val="5A3EE0"/>
                </a:solidFill>
                <a:latin typeface="Arial"/>
                <a:ea typeface="Arial"/>
                <a:cs typeface="Arial"/>
              </a:rPr>
              <a:t>SOLUTION 02  ·  THE REDESIGN</a:t>
            </a:r>
          </a:p>
        </p:txBody>
      </p:sp>
      <p:sp>
        <p:nvSpPr>
          <p:cNvPr id="3" name="Text 1">
            <a:extLst xmlns:a="http://schemas.openxmlformats.org/drawingml/2006/main">
              <a:ext uri="{FF2B5EF4-FFF2-40B4-BE49-F238E27FC236}">
                <a16:creationId xmlns:a16="http://schemas.microsoft.com/office/drawing/2014/main" id="{1984B62A-F40B-4710-8ABB-2F5CE1257C77}"/>
              </a:ext>
            </a:extLst>
          </p:cNvPr>
          <p:cNvSpPr>
            <a:spLocks xmlns:a="http://schemas.openxmlformats.org/drawingml/2006/main" noGrp="1"/>
          </p:cNvSpPr>
          <p:nvPr/>
        </p:nvSpPr>
        <p:spPr>
          <a:xfrm xmlns:a="http://schemas.openxmlformats.org/drawingml/2006/main">
            <a:off x="566928" y="822960"/>
            <a:ext cx="106070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2000"/>
              </a:lnSpc>
              <a:buNone/>
            </a:pPr>
            <a:r>
              <a:rPr sz="2700" b="1">
                <a:solidFill>
                  <a:srgbClr val="0D0C0A"/>
                </a:solidFill>
                <a:latin typeface="Arial"/>
                <a:ea typeface="Arial"/>
                <a:cs typeface="Arial"/>
              </a:rPr>
              <a:t>Every public page, rebuilt on one system.</a:t>
            </a:r>
          </a:p>
        </p:txBody>
      </p:sp>
      <p:sp>
        <p:nvSpPr>
          <p:cNvPr id="4" name="Shape 2">
            <a:extLst xmlns:a="http://schemas.openxmlformats.org/drawingml/2006/main">
              <a:ext uri="{FF2B5EF4-FFF2-40B4-BE49-F238E27FC236}">
                <a16:creationId xmlns:a16="http://schemas.microsoft.com/office/drawing/2014/main" id="{F27D2B68-077D-4C78-B28D-00214B5900CF}"/>
              </a:ext>
            </a:extLst>
          </p:cNvPr>
          <p:cNvSpPr>
            <a:spLocks xmlns:a="http://schemas.openxmlformats.org/drawingml/2006/main" noGrp="1"/>
          </p:cNvSpPr>
          <p:nvPr/>
        </p:nvSpPr>
        <p:spPr>
          <a:xfrm xmlns:a="http://schemas.openxmlformats.org/drawingml/2006/main">
            <a:off x="566928" y="1965960"/>
            <a:ext cx="3490874" cy="1783080"/>
          </a:xfrm>
          <a:prstGeom xmlns:a="http://schemas.openxmlformats.org/drawingml/2006/main" prst="roundRect">
            <a:avLst>
              <a:gd name="adj" fmla="val 2564"/>
            </a:avLst>
          </a:prstGeom>
          <a:solidFill xmlns:a="http://schemas.openxmlformats.org/drawingml/2006/main">
            <a:srgbClr val="FBF9F5"/>
          </a:solidFill>
          <a:ln xmlns:a="http://schemas.openxmlformats.org/drawingml/2006/main" w="15875">
            <a:solidFill>
              <a:srgbClr val="CBC5B9"/>
            </a:solidFill>
            <a:prstDash val="dash"/>
          </a:ln>
        </p:spPr>
      </p:sp>
      <p:sp>
        <p:nvSpPr>
          <p:cNvPr id="5" name="Text 3">
            <a:extLst xmlns:a="http://schemas.openxmlformats.org/drawingml/2006/main">
              <a:ext uri="{FF2B5EF4-FFF2-40B4-BE49-F238E27FC236}">
                <a16:creationId xmlns:a16="http://schemas.microsoft.com/office/drawing/2014/main" id="{35EADA42-FD53-44B5-9E25-42C8E8943B29}"/>
              </a:ext>
            </a:extLst>
          </p:cNvPr>
          <p:cNvSpPr>
            <a:spLocks xmlns:a="http://schemas.openxmlformats.org/drawingml/2006/main" noGrp="1"/>
          </p:cNvSpPr>
          <p:nvPr/>
        </p:nvSpPr>
        <p:spPr>
          <a:xfrm xmlns:a="http://schemas.openxmlformats.org/drawingml/2006/main">
            <a:off x="566928" y="2354580"/>
            <a:ext cx="349087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E2DED6"/>
                </a:solidFill>
                <a:latin typeface="Arial"/>
                <a:ea typeface="Arial"/>
                <a:cs typeface="Arial"/>
              </a:rPr>
              <a:t>◻</a:t>
            </a:r>
          </a:p>
        </p:txBody>
      </p:sp>
      <p:sp>
        <p:nvSpPr>
          <p:cNvPr id="6" name="Text 4">
            <a:extLst xmlns:a="http://schemas.openxmlformats.org/drawingml/2006/main">
              <a:ext uri="{FF2B5EF4-FFF2-40B4-BE49-F238E27FC236}">
                <a16:creationId xmlns:a16="http://schemas.microsoft.com/office/drawing/2014/main" id="{150E904E-485E-4318-AA8B-E867AF50EE63}"/>
              </a:ext>
            </a:extLst>
          </p:cNvPr>
          <p:cNvSpPr>
            <a:spLocks xmlns:a="http://schemas.openxmlformats.org/drawingml/2006/main" noGrp="1"/>
          </p:cNvSpPr>
          <p:nvPr/>
        </p:nvSpPr>
        <p:spPr>
          <a:xfrm xmlns:a="http://schemas.openxmlformats.org/drawingml/2006/main">
            <a:off x="658368" y="2784348"/>
            <a:ext cx="330799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5A3EE0"/>
                </a:solidFill>
                <a:latin typeface="Arial"/>
                <a:ea typeface="Arial"/>
                <a:cs typeface="Arial"/>
              </a:rPr>
              <a:t>HOME</a:t>
            </a:r>
          </a:p>
        </p:txBody>
      </p:sp>
      <p:sp>
        <p:nvSpPr>
          <p:cNvPr id="7" name="Text 5">
            <a:extLst xmlns:a="http://schemas.openxmlformats.org/drawingml/2006/main">
              <a:ext uri="{FF2B5EF4-FFF2-40B4-BE49-F238E27FC236}">
                <a16:creationId xmlns:a16="http://schemas.microsoft.com/office/drawing/2014/main" id="{653C0021-4BE2-4318-BB83-0B5F070127E7}"/>
              </a:ext>
            </a:extLst>
          </p:cNvPr>
          <p:cNvSpPr>
            <a:spLocks xmlns:a="http://schemas.openxmlformats.org/drawingml/2006/main" noGrp="1"/>
          </p:cNvSpPr>
          <p:nvPr/>
        </p:nvSpPr>
        <p:spPr>
          <a:xfrm xmlns:a="http://schemas.openxmlformats.org/drawingml/2006/main">
            <a:off x="566928" y="3794760"/>
            <a:ext cx="349087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6B675F"/>
                </a:solidFill>
                <a:latin typeface="Arial"/>
                <a:ea typeface="Arial"/>
                <a:cs typeface="Arial"/>
              </a:rPr>
              <a:t>Value prop first, trending as a section</a:t>
            </a:r>
          </a:p>
        </p:txBody>
      </p:sp>
      <p:sp>
        <p:nvSpPr>
          <p:cNvPr id="8" name="Shape 6">
            <a:extLst xmlns:a="http://schemas.openxmlformats.org/drawingml/2006/main">
              <a:ext uri="{FF2B5EF4-FFF2-40B4-BE49-F238E27FC236}">
                <a16:creationId xmlns:a16="http://schemas.microsoft.com/office/drawing/2014/main" id="{D605349F-7892-40AC-8EED-04B8CB93D7FD}"/>
              </a:ext>
            </a:extLst>
          </p:cNvPr>
          <p:cNvSpPr>
            <a:spLocks xmlns:a="http://schemas.openxmlformats.org/drawingml/2006/main" noGrp="1"/>
          </p:cNvSpPr>
          <p:nvPr/>
        </p:nvSpPr>
        <p:spPr>
          <a:xfrm xmlns:a="http://schemas.openxmlformats.org/drawingml/2006/main">
            <a:off x="4350410" y="1965960"/>
            <a:ext cx="3490874" cy="1783080"/>
          </a:xfrm>
          <a:prstGeom xmlns:a="http://schemas.openxmlformats.org/drawingml/2006/main" prst="roundRect">
            <a:avLst>
              <a:gd name="adj" fmla="val 2564"/>
            </a:avLst>
          </a:prstGeom>
          <a:solidFill xmlns:a="http://schemas.openxmlformats.org/drawingml/2006/main">
            <a:srgbClr val="FBF9F5"/>
          </a:solidFill>
          <a:ln xmlns:a="http://schemas.openxmlformats.org/drawingml/2006/main" w="15875">
            <a:solidFill>
              <a:srgbClr val="CBC5B9"/>
            </a:solidFill>
            <a:prstDash val="dash"/>
          </a:ln>
        </p:spPr>
      </p:sp>
      <p:sp>
        <p:nvSpPr>
          <p:cNvPr id="9" name="Text 7">
            <a:extLst xmlns:a="http://schemas.openxmlformats.org/drawingml/2006/main">
              <a:ext uri="{FF2B5EF4-FFF2-40B4-BE49-F238E27FC236}">
                <a16:creationId xmlns:a16="http://schemas.microsoft.com/office/drawing/2014/main" id="{E0F5FCC2-2C05-48A2-AF92-AA6DFE83A0D0}"/>
              </a:ext>
            </a:extLst>
          </p:cNvPr>
          <p:cNvSpPr>
            <a:spLocks xmlns:a="http://schemas.openxmlformats.org/drawingml/2006/main" noGrp="1"/>
          </p:cNvSpPr>
          <p:nvPr/>
        </p:nvSpPr>
        <p:spPr>
          <a:xfrm xmlns:a="http://schemas.openxmlformats.org/drawingml/2006/main">
            <a:off x="4350410" y="2354580"/>
            <a:ext cx="349087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E2DED6"/>
                </a:solidFill>
                <a:latin typeface="Arial"/>
                <a:ea typeface="Arial"/>
                <a:cs typeface="Arial"/>
              </a:rPr>
              <a:t>◻</a:t>
            </a:r>
          </a:p>
        </p:txBody>
      </p:sp>
      <p:sp>
        <p:nvSpPr>
          <p:cNvPr id="10" name="Text 8">
            <a:extLst xmlns:a="http://schemas.openxmlformats.org/drawingml/2006/main">
              <a:ext uri="{FF2B5EF4-FFF2-40B4-BE49-F238E27FC236}">
                <a16:creationId xmlns:a16="http://schemas.microsoft.com/office/drawing/2014/main" id="{91DFDE35-09F5-4B78-A996-BC9D77C82D9A}"/>
              </a:ext>
            </a:extLst>
          </p:cNvPr>
          <p:cNvSpPr>
            <a:spLocks xmlns:a="http://schemas.openxmlformats.org/drawingml/2006/main" noGrp="1"/>
          </p:cNvSpPr>
          <p:nvPr/>
        </p:nvSpPr>
        <p:spPr>
          <a:xfrm xmlns:a="http://schemas.openxmlformats.org/drawingml/2006/main">
            <a:off x="4441850" y="2784348"/>
            <a:ext cx="330799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5A3EE0"/>
                </a:solidFill>
                <a:latin typeface="Arial"/>
                <a:ea typeface="Arial"/>
                <a:cs typeface="Arial"/>
              </a:rPr>
              <a:t>FOR BRANDS</a:t>
            </a:r>
          </a:p>
        </p:txBody>
      </p:sp>
      <p:sp>
        <p:nvSpPr>
          <p:cNvPr id="11" name="Text 9">
            <a:extLst xmlns:a="http://schemas.openxmlformats.org/drawingml/2006/main">
              <a:ext uri="{FF2B5EF4-FFF2-40B4-BE49-F238E27FC236}">
                <a16:creationId xmlns:a16="http://schemas.microsoft.com/office/drawing/2014/main" id="{5827DC67-8B1A-4CDA-8D73-2B35B7B14381}"/>
              </a:ext>
            </a:extLst>
          </p:cNvPr>
          <p:cNvSpPr>
            <a:spLocks xmlns:a="http://schemas.openxmlformats.org/drawingml/2006/main" noGrp="1"/>
          </p:cNvSpPr>
          <p:nvPr/>
        </p:nvSpPr>
        <p:spPr>
          <a:xfrm xmlns:a="http://schemas.openxmlformats.org/drawingml/2006/main">
            <a:off x="4350410" y="3794760"/>
            <a:ext cx="349087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6B675F"/>
                </a:solidFill>
                <a:latin typeface="Arial"/>
                <a:ea typeface="Arial"/>
                <a:cs typeface="Arial"/>
              </a:rPr>
              <a:t>Discover, compare, brief, report</a:t>
            </a:r>
          </a:p>
        </p:txBody>
      </p:sp>
      <p:sp>
        <p:nvSpPr>
          <p:cNvPr id="12" name="Shape 10">
            <a:extLst xmlns:a="http://schemas.openxmlformats.org/drawingml/2006/main">
              <a:ext uri="{FF2B5EF4-FFF2-40B4-BE49-F238E27FC236}">
                <a16:creationId xmlns:a16="http://schemas.microsoft.com/office/drawing/2014/main" id="{74FC8F98-856E-40FF-8DF5-88335DCA82E8}"/>
              </a:ext>
            </a:extLst>
          </p:cNvPr>
          <p:cNvSpPr>
            <a:spLocks xmlns:a="http://schemas.openxmlformats.org/drawingml/2006/main" noGrp="1"/>
          </p:cNvSpPr>
          <p:nvPr/>
        </p:nvSpPr>
        <p:spPr>
          <a:xfrm xmlns:a="http://schemas.openxmlformats.org/drawingml/2006/main">
            <a:off x="8133893" y="1965960"/>
            <a:ext cx="3490874" cy="1783080"/>
          </a:xfrm>
          <a:prstGeom xmlns:a="http://schemas.openxmlformats.org/drawingml/2006/main" prst="roundRect">
            <a:avLst>
              <a:gd name="adj" fmla="val 2564"/>
            </a:avLst>
          </a:prstGeom>
          <a:solidFill xmlns:a="http://schemas.openxmlformats.org/drawingml/2006/main">
            <a:srgbClr val="FBF9F5"/>
          </a:solidFill>
          <a:ln xmlns:a="http://schemas.openxmlformats.org/drawingml/2006/main" w="15875">
            <a:solidFill>
              <a:srgbClr val="CBC5B9"/>
            </a:solidFill>
            <a:prstDash val="dash"/>
          </a:ln>
        </p:spPr>
      </p:sp>
      <p:sp>
        <p:nvSpPr>
          <p:cNvPr id="13" name="Text 11">
            <a:extLst xmlns:a="http://schemas.openxmlformats.org/drawingml/2006/main">
              <a:ext uri="{FF2B5EF4-FFF2-40B4-BE49-F238E27FC236}">
                <a16:creationId xmlns:a16="http://schemas.microsoft.com/office/drawing/2014/main" id="{97F10BBE-62B9-4A0A-A560-D0F67CCDC065}"/>
              </a:ext>
            </a:extLst>
          </p:cNvPr>
          <p:cNvSpPr>
            <a:spLocks xmlns:a="http://schemas.openxmlformats.org/drawingml/2006/main" noGrp="1"/>
          </p:cNvSpPr>
          <p:nvPr/>
        </p:nvSpPr>
        <p:spPr>
          <a:xfrm xmlns:a="http://schemas.openxmlformats.org/drawingml/2006/main">
            <a:off x="8133893" y="2354580"/>
            <a:ext cx="349087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E2DED6"/>
                </a:solidFill>
                <a:latin typeface="Arial"/>
                <a:ea typeface="Arial"/>
                <a:cs typeface="Arial"/>
              </a:rPr>
              <a:t>◻</a:t>
            </a:r>
          </a:p>
        </p:txBody>
      </p:sp>
      <p:sp>
        <p:nvSpPr>
          <p:cNvPr id="14" name="Text 12">
            <a:extLst xmlns:a="http://schemas.openxmlformats.org/drawingml/2006/main">
              <a:ext uri="{FF2B5EF4-FFF2-40B4-BE49-F238E27FC236}">
                <a16:creationId xmlns:a16="http://schemas.microsoft.com/office/drawing/2014/main" id="{5097DD7E-3351-4849-9A13-A3A4055AF054}"/>
              </a:ext>
            </a:extLst>
          </p:cNvPr>
          <p:cNvSpPr>
            <a:spLocks xmlns:a="http://schemas.openxmlformats.org/drawingml/2006/main" noGrp="1"/>
          </p:cNvSpPr>
          <p:nvPr/>
        </p:nvSpPr>
        <p:spPr>
          <a:xfrm xmlns:a="http://schemas.openxmlformats.org/drawingml/2006/main">
            <a:off x="8225333" y="2784348"/>
            <a:ext cx="330799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5A3EE0"/>
                </a:solidFill>
                <a:latin typeface="Arial"/>
                <a:ea typeface="Arial"/>
                <a:cs typeface="Arial"/>
              </a:rPr>
              <a:t>FOR CREATORS</a:t>
            </a:r>
          </a:p>
        </p:txBody>
      </p:sp>
      <p:sp>
        <p:nvSpPr>
          <p:cNvPr id="15" name="Text 13">
            <a:extLst xmlns:a="http://schemas.openxmlformats.org/drawingml/2006/main">
              <a:ext uri="{FF2B5EF4-FFF2-40B4-BE49-F238E27FC236}">
                <a16:creationId xmlns:a16="http://schemas.microsoft.com/office/drawing/2014/main" id="{3F42C4A0-8771-48E7-A655-8CDFDDAD8250}"/>
              </a:ext>
            </a:extLst>
          </p:cNvPr>
          <p:cNvSpPr>
            <a:spLocks xmlns:a="http://schemas.openxmlformats.org/drawingml/2006/main" noGrp="1"/>
          </p:cNvSpPr>
          <p:nvPr/>
        </p:nvSpPr>
        <p:spPr>
          <a:xfrm xmlns:a="http://schemas.openxmlformats.org/drawingml/2006/main">
            <a:off x="8133893" y="3794760"/>
            <a:ext cx="349087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6B675F"/>
                </a:solidFill>
                <a:latin typeface="Arial"/>
                <a:ea typeface="Arial"/>
                <a:cs typeface="Arial"/>
              </a:rPr>
              <a:t>Verified stats, rate card, deals</a:t>
            </a:r>
          </a:p>
        </p:txBody>
      </p:sp>
      <p:sp>
        <p:nvSpPr>
          <p:cNvPr id="16" name="Shape 14">
            <a:extLst xmlns:a="http://schemas.openxmlformats.org/drawingml/2006/main">
              <a:ext uri="{FF2B5EF4-FFF2-40B4-BE49-F238E27FC236}">
                <a16:creationId xmlns:a16="http://schemas.microsoft.com/office/drawing/2014/main" id="{F4E9172F-7E87-467E-A80B-ECF4ADF3E15B}"/>
              </a:ext>
            </a:extLst>
          </p:cNvPr>
          <p:cNvSpPr>
            <a:spLocks xmlns:a="http://schemas.openxmlformats.org/drawingml/2006/main" noGrp="1"/>
          </p:cNvSpPr>
          <p:nvPr/>
        </p:nvSpPr>
        <p:spPr>
          <a:xfrm xmlns:a="http://schemas.openxmlformats.org/drawingml/2006/main">
            <a:off x="566928" y="4315968"/>
            <a:ext cx="3490874" cy="1783080"/>
          </a:xfrm>
          <a:prstGeom xmlns:a="http://schemas.openxmlformats.org/drawingml/2006/main" prst="roundRect">
            <a:avLst>
              <a:gd name="adj" fmla="val 2564"/>
            </a:avLst>
          </a:prstGeom>
          <a:solidFill xmlns:a="http://schemas.openxmlformats.org/drawingml/2006/main">
            <a:srgbClr val="FBF9F5"/>
          </a:solidFill>
          <a:ln xmlns:a="http://schemas.openxmlformats.org/drawingml/2006/main" w="15875">
            <a:solidFill>
              <a:srgbClr val="CBC5B9"/>
            </a:solidFill>
            <a:prstDash val="dash"/>
          </a:ln>
        </p:spPr>
      </p:sp>
      <p:sp>
        <p:nvSpPr>
          <p:cNvPr id="17" name="Text 15">
            <a:extLst xmlns:a="http://schemas.openxmlformats.org/drawingml/2006/main">
              <a:ext uri="{FF2B5EF4-FFF2-40B4-BE49-F238E27FC236}">
                <a16:creationId xmlns:a16="http://schemas.microsoft.com/office/drawing/2014/main" id="{320ADA99-F241-4597-A97B-ACA4C4C1AF80}"/>
              </a:ext>
            </a:extLst>
          </p:cNvPr>
          <p:cNvSpPr>
            <a:spLocks xmlns:a="http://schemas.openxmlformats.org/drawingml/2006/main" noGrp="1"/>
          </p:cNvSpPr>
          <p:nvPr/>
        </p:nvSpPr>
        <p:spPr>
          <a:xfrm xmlns:a="http://schemas.openxmlformats.org/drawingml/2006/main">
            <a:off x="566928" y="4704588"/>
            <a:ext cx="349087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E2DED6"/>
                </a:solidFill>
                <a:latin typeface="Arial"/>
                <a:ea typeface="Arial"/>
                <a:cs typeface="Arial"/>
              </a:rPr>
              <a:t>◻</a:t>
            </a:r>
          </a:p>
        </p:txBody>
      </p:sp>
      <p:sp>
        <p:nvSpPr>
          <p:cNvPr id="18" name="Text 16">
            <a:extLst xmlns:a="http://schemas.openxmlformats.org/drawingml/2006/main">
              <a:ext uri="{FF2B5EF4-FFF2-40B4-BE49-F238E27FC236}">
                <a16:creationId xmlns:a16="http://schemas.microsoft.com/office/drawing/2014/main" id="{80BB548B-FAB4-42A9-8D47-65F946A2F2B4}"/>
              </a:ext>
            </a:extLst>
          </p:cNvPr>
          <p:cNvSpPr>
            <a:spLocks xmlns:a="http://schemas.openxmlformats.org/drawingml/2006/main" noGrp="1"/>
          </p:cNvSpPr>
          <p:nvPr/>
        </p:nvSpPr>
        <p:spPr>
          <a:xfrm xmlns:a="http://schemas.openxmlformats.org/drawingml/2006/main">
            <a:off x="658368" y="5134356"/>
            <a:ext cx="330799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5A3EE0"/>
                </a:solidFill>
                <a:latin typeface="Arial"/>
                <a:ea typeface="Arial"/>
                <a:cs typeface="Arial"/>
              </a:rPr>
              <a:t>CREATOR DIRECTORY</a:t>
            </a:r>
          </a:p>
        </p:txBody>
      </p:sp>
      <p:sp>
        <p:nvSpPr>
          <p:cNvPr id="19" name="Text 17">
            <a:extLst xmlns:a="http://schemas.openxmlformats.org/drawingml/2006/main">
              <a:ext uri="{FF2B5EF4-FFF2-40B4-BE49-F238E27FC236}">
                <a16:creationId xmlns:a16="http://schemas.microsoft.com/office/drawing/2014/main" id="{9CFD2464-B3B7-4DD4-8B90-D9E9F59D5E28}"/>
              </a:ext>
            </a:extLst>
          </p:cNvPr>
          <p:cNvSpPr>
            <a:spLocks xmlns:a="http://schemas.openxmlformats.org/drawingml/2006/main" noGrp="1"/>
          </p:cNvSpPr>
          <p:nvPr/>
        </p:nvSpPr>
        <p:spPr>
          <a:xfrm xmlns:a="http://schemas.openxmlformats.org/drawingml/2006/main">
            <a:off x="566928" y="6144768"/>
            <a:ext cx="349087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6B675F"/>
                </a:solidFill>
                <a:latin typeface="Arial"/>
                <a:ea typeface="Arial"/>
                <a:cs typeface="Arial"/>
              </a:rPr>
              <a:t>Local filters, trust indicators</a:t>
            </a:r>
          </a:p>
        </p:txBody>
      </p:sp>
      <p:sp>
        <p:nvSpPr>
          <p:cNvPr id="20" name="Shape 18">
            <a:extLst xmlns:a="http://schemas.openxmlformats.org/drawingml/2006/main">
              <a:ext uri="{FF2B5EF4-FFF2-40B4-BE49-F238E27FC236}">
                <a16:creationId xmlns:a16="http://schemas.microsoft.com/office/drawing/2014/main" id="{65E93A5C-4B67-4DFE-8F8B-1CB9C76679E6}"/>
              </a:ext>
            </a:extLst>
          </p:cNvPr>
          <p:cNvSpPr>
            <a:spLocks xmlns:a="http://schemas.openxmlformats.org/drawingml/2006/main" noGrp="1"/>
          </p:cNvSpPr>
          <p:nvPr/>
        </p:nvSpPr>
        <p:spPr>
          <a:xfrm xmlns:a="http://schemas.openxmlformats.org/drawingml/2006/main">
            <a:off x="4350410" y="4315968"/>
            <a:ext cx="3490874" cy="1783080"/>
          </a:xfrm>
          <a:prstGeom xmlns:a="http://schemas.openxmlformats.org/drawingml/2006/main" prst="roundRect">
            <a:avLst>
              <a:gd name="adj" fmla="val 2564"/>
            </a:avLst>
          </a:prstGeom>
          <a:solidFill xmlns:a="http://schemas.openxmlformats.org/drawingml/2006/main">
            <a:srgbClr val="FBF9F5"/>
          </a:solidFill>
          <a:ln xmlns:a="http://schemas.openxmlformats.org/drawingml/2006/main" w="15875">
            <a:solidFill>
              <a:srgbClr val="CBC5B9"/>
            </a:solidFill>
            <a:prstDash val="dash"/>
          </a:ln>
        </p:spPr>
      </p:sp>
      <p:sp>
        <p:nvSpPr>
          <p:cNvPr id="21" name="Text 19">
            <a:extLst xmlns:a="http://schemas.openxmlformats.org/drawingml/2006/main">
              <a:ext uri="{FF2B5EF4-FFF2-40B4-BE49-F238E27FC236}">
                <a16:creationId xmlns:a16="http://schemas.microsoft.com/office/drawing/2014/main" id="{917D530B-BADD-48FD-9125-1AC5C3EEFDAC}"/>
              </a:ext>
            </a:extLst>
          </p:cNvPr>
          <p:cNvSpPr>
            <a:spLocks xmlns:a="http://schemas.openxmlformats.org/drawingml/2006/main" noGrp="1"/>
          </p:cNvSpPr>
          <p:nvPr/>
        </p:nvSpPr>
        <p:spPr>
          <a:xfrm xmlns:a="http://schemas.openxmlformats.org/drawingml/2006/main">
            <a:off x="4350410" y="4704588"/>
            <a:ext cx="349087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E2DED6"/>
                </a:solidFill>
                <a:latin typeface="Arial"/>
                <a:ea typeface="Arial"/>
                <a:cs typeface="Arial"/>
              </a:rPr>
              <a:t>◻</a:t>
            </a:r>
          </a:p>
        </p:txBody>
      </p:sp>
      <p:sp>
        <p:nvSpPr>
          <p:cNvPr id="22" name="Text 20">
            <a:extLst xmlns:a="http://schemas.openxmlformats.org/drawingml/2006/main">
              <a:ext uri="{FF2B5EF4-FFF2-40B4-BE49-F238E27FC236}">
                <a16:creationId xmlns:a16="http://schemas.microsoft.com/office/drawing/2014/main" id="{AC3DE187-C137-4804-9C92-9C94F0405FC6}"/>
              </a:ext>
            </a:extLst>
          </p:cNvPr>
          <p:cNvSpPr>
            <a:spLocks xmlns:a="http://schemas.openxmlformats.org/drawingml/2006/main" noGrp="1"/>
          </p:cNvSpPr>
          <p:nvPr/>
        </p:nvSpPr>
        <p:spPr>
          <a:xfrm xmlns:a="http://schemas.openxmlformats.org/drawingml/2006/main">
            <a:off x="4441850" y="5134356"/>
            <a:ext cx="330799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5A3EE0"/>
                </a:solidFill>
                <a:latin typeface="Arial"/>
                <a:ea typeface="Arial"/>
                <a:cs typeface="Arial"/>
              </a:rPr>
              <a:t>CREATOR PROFILE</a:t>
            </a:r>
          </a:p>
        </p:txBody>
      </p:sp>
      <p:sp>
        <p:nvSpPr>
          <p:cNvPr id="23" name="Text 21">
            <a:extLst xmlns:a="http://schemas.openxmlformats.org/drawingml/2006/main">
              <a:ext uri="{FF2B5EF4-FFF2-40B4-BE49-F238E27FC236}">
                <a16:creationId xmlns:a16="http://schemas.microsoft.com/office/drawing/2014/main" id="{10B8529B-86BE-4917-B461-DF126CB5A6EB}"/>
              </a:ext>
            </a:extLst>
          </p:cNvPr>
          <p:cNvSpPr>
            <a:spLocks xmlns:a="http://schemas.openxmlformats.org/drawingml/2006/main" noGrp="1"/>
          </p:cNvSpPr>
          <p:nvPr/>
        </p:nvSpPr>
        <p:spPr>
          <a:xfrm xmlns:a="http://schemas.openxmlformats.org/drawingml/2006/main">
            <a:off x="4350410" y="6144768"/>
            <a:ext cx="349087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6B675F"/>
                </a:solidFill>
                <a:latin typeface="Arial"/>
                <a:ea typeface="Arial"/>
                <a:cs typeface="Arial"/>
              </a:rPr>
              <a:t>Performance + rate, sample data</a:t>
            </a:r>
          </a:p>
        </p:txBody>
      </p:sp>
      <p:sp>
        <p:nvSpPr>
          <p:cNvPr id="24" name="Shape 22">
            <a:extLst xmlns:a="http://schemas.openxmlformats.org/drawingml/2006/main">
              <a:ext uri="{FF2B5EF4-FFF2-40B4-BE49-F238E27FC236}">
                <a16:creationId xmlns:a16="http://schemas.microsoft.com/office/drawing/2014/main" id="{BC6C6A97-A04F-4245-9DB0-792A01023DA4}"/>
              </a:ext>
            </a:extLst>
          </p:cNvPr>
          <p:cNvSpPr>
            <a:spLocks xmlns:a="http://schemas.openxmlformats.org/drawingml/2006/main" noGrp="1"/>
          </p:cNvSpPr>
          <p:nvPr/>
        </p:nvSpPr>
        <p:spPr>
          <a:xfrm xmlns:a="http://schemas.openxmlformats.org/drawingml/2006/main">
            <a:off x="8133893" y="4315968"/>
            <a:ext cx="3490874" cy="1783080"/>
          </a:xfrm>
          <a:prstGeom xmlns:a="http://schemas.openxmlformats.org/drawingml/2006/main" prst="roundRect">
            <a:avLst>
              <a:gd name="adj" fmla="val 2564"/>
            </a:avLst>
          </a:prstGeom>
          <a:solidFill xmlns:a="http://schemas.openxmlformats.org/drawingml/2006/main">
            <a:srgbClr val="FBF9F5"/>
          </a:solidFill>
          <a:ln xmlns:a="http://schemas.openxmlformats.org/drawingml/2006/main" w="15875">
            <a:solidFill>
              <a:srgbClr val="CBC5B9"/>
            </a:solidFill>
            <a:prstDash val="dash"/>
          </a:ln>
        </p:spPr>
      </p:sp>
      <p:sp>
        <p:nvSpPr>
          <p:cNvPr id="25" name="Text 23">
            <a:extLst xmlns:a="http://schemas.openxmlformats.org/drawingml/2006/main">
              <a:ext uri="{FF2B5EF4-FFF2-40B4-BE49-F238E27FC236}">
                <a16:creationId xmlns:a16="http://schemas.microsoft.com/office/drawing/2014/main" id="{FFF82B7B-C519-4193-8AF5-5614D06CFDA1}"/>
              </a:ext>
            </a:extLst>
          </p:cNvPr>
          <p:cNvSpPr>
            <a:spLocks xmlns:a="http://schemas.openxmlformats.org/drawingml/2006/main" noGrp="1"/>
          </p:cNvSpPr>
          <p:nvPr/>
        </p:nvSpPr>
        <p:spPr>
          <a:xfrm xmlns:a="http://schemas.openxmlformats.org/drawingml/2006/main">
            <a:off x="8133893" y="4704588"/>
            <a:ext cx="349087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E2DED6"/>
                </a:solidFill>
                <a:latin typeface="Arial"/>
                <a:ea typeface="Arial"/>
                <a:cs typeface="Arial"/>
              </a:rPr>
              <a:t>◻</a:t>
            </a:r>
          </a:p>
        </p:txBody>
      </p:sp>
      <p:sp>
        <p:nvSpPr>
          <p:cNvPr id="26" name="Text 24">
            <a:extLst xmlns:a="http://schemas.openxmlformats.org/drawingml/2006/main">
              <a:ext uri="{FF2B5EF4-FFF2-40B4-BE49-F238E27FC236}">
                <a16:creationId xmlns:a16="http://schemas.microsoft.com/office/drawing/2014/main" id="{38CDE3C5-7C91-4ED2-B622-997325D26C7F}"/>
              </a:ext>
            </a:extLst>
          </p:cNvPr>
          <p:cNvSpPr>
            <a:spLocks xmlns:a="http://schemas.openxmlformats.org/drawingml/2006/main" noGrp="1"/>
          </p:cNvSpPr>
          <p:nvPr/>
        </p:nvSpPr>
        <p:spPr>
          <a:xfrm xmlns:a="http://schemas.openxmlformats.org/drawingml/2006/main">
            <a:off x="8225333" y="5134356"/>
            <a:ext cx="330799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5A3EE0"/>
                </a:solidFill>
                <a:latin typeface="Arial"/>
                <a:ea typeface="Arial"/>
                <a:cs typeface="Arial"/>
              </a:rPr>
              <a:t>PRICING + TRUST CHECK</a:t>
            </a:r>
          </a:p>
        </p:txBody>
      </p:sp>
      <p:sp>
        <p:nvSpPr>
          <p:cNvPr id="27" name="Text 25">
            <a:extLst xmlns:a="http://schemas.openxmlformats.org/drawingml/2006/main">
              <a:ext uri="{FF2B5EF4-FFF2-40B4-BE49-F238E27FC236}">
                <a16:creationId xmlns:a16="http://schemas.microsoft.com/office/drawing/2014/main" id="{0F4411F1-6A81-40EC-97C6-FBC2A332F07A}"/>
              </a:ext>
            </a:extLst>
          </p:cNvPr>
          <p:cNvSpPr>
            <a:spLocks xmlns:a="http://schemas.openxmlformats.org/drawingml/2006/main" noGrp="1"/>
          </p:cNvSpPr>
          <p:nvPr/>
        </p:nvSpPr>
        <p:spPr>
          <a:xfrm xmlns:a="http://schemas.openxmlformats.org/drawingml/2006/main">
            <a:off x="8133893" y="6144768"/>
            <a:ext cx="349087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6B675F"/>
                </a:solidFill>
                <a:latin typeface="Arial"/>
                <a:ea typeface="Arial"/>
                <a:cs typeface="Arial"/>
              </a:rPr>
              <a:t>One price set; BETA labeled honestly</a:t>
            </a:r>
          </a:p>
        </p:txBody>
      </p:sp>
      <p:sp>
        <p:nvSpPr>
          <p:cNvPr id="28" name="Text 26">
            <a:extLst xmlns:a="http://schemas.openxmlformats.org/drawingml/2006/main">
              <a:ext uri="{FF2B5EF4-FFF2-40B4-BE49-F238E27FC236}">
                <a16:creationId xmlns:a16="http://schemas.microsoft.com/office/drawing/2014/main" id="{1CA0FE3A-2424-4318-AD4A-40A469A97733}"/>
              </a:ext>
            </a:extLst>
          </p:cNvPr>
          <p:cNvSpPr>
            <a:spLocks xmlns:a="http://schemas.openxmlformats.org/drawingml/2006/main" noGrp="1"/>
          </p:cNvSpPr>
          <p:nvPr/>
        </p:nvSpPr>
        <p:spPr>
          <a:xfrm xmlns:a="http://schemas.openxmlformats.org/drawingml/2006/main">
            <a:off x="8351215" y="6382512"/>
            <a:ext cx="327355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b="1">
                <a:solidFill>
                  <a:srgbClr val="9A968C"/>
                </a:solidFill>
                <a:latin typeface="Arial"/>
                <a:ea typeface="Arial"/>
                <a:cs typeface="Arial"/>
              </a:rPr>
              <a:t>INFLUENCEES</a:t>
            </a:r>
            <a:r>
              <a:rPr sz="950" b="1">
                <a:solidFill>
                  <a:srgbClr val="6B675F"/>
                </a:solidFill>
                <a:latin typeface="Arial"/>
                <a:ea typeface="Arial"/>
                <a:cs typeface="Arial"/>
              </a:rPr>
              <a:t>   08 / 10</a:t>
            </a:r>
          </a:p>
        </p:txBody>
      </p:sp>
      <p:sp>
        <p:nvSpPr>
          <p:cNvPr id="29" name="white-canvas-8">
            <a:extLst xmlns:a="http://schemas.openxmlformats.org/drawingml/2006/main">
              <a:ext uri="{FF2B5EF4-FFF2-40B4-BE49-F238E27FC236}">
                <a16:creationId xmlns:a16="http://schemas.microsoft.com/office/drawing/2014/main" id="{2970ABA8-70EC-431D-8994-FD331BCFB15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 name="section-badge">
            <a:extLst xmlns:a="http://schemas.openxmlformats.org/drawingml/2006/main">
              <a:ext uri="{FF2B5EF4-FFF2-40B4-BE49-F238E27FC236}">
                <a16:creationId xmlns:a16="http://schemas.microsoft.com/office/drawing/2014/main" id="{E4669F0D-2DCC-4B3F-A775-CA595DDA7AFD}"/>
              </a:ext>
            </a:extLst>
          </p:cNvPr>
          <p:cNvSpPr>
            <a:spLocks xmlns:a="http://schemas.openxmlformats.org/drawingml/2006/main" noGrp="1"/>
          </p:cNvSpPr>
          <p:nvPr/>
        </p:nvSpPr>
        <p:spPr>
          <a:xfrm xmlns:a="http://schemas.openxmlformats.org/drawingml/2006/main">
            <a:off x="4191000" y="3238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1200" b="1">
                <a:solidFill>
                  <a:srgbClr val="7C5CFC"/>
                </a:solidFill>
                <a:latin typeface="Inter"/>
                <a:ea typeface="Inter"/>
                <a:cs typeface="Inter"/>
              </a:defRPr>
            </a:pPr>
            <a:r>
              <a:rPr sz="1200" b="1">
                <a:solidFill>
                  <a:srgbClr val="7C5CFC"/>
                </a:solidFill>
                <a:latin typeface="Inter"/>
                <a:ea typeface="Inter"/>
                <a:cs typeface="Inter"/>
              </a:rPr>
              <a:t>SOLUTION 02 · THE REDESIGN</a:t>
            </a:r>
          </a:p>
        </p:txBody>
      </p:sp>
      <p:sp>
        <p:nvSpPr>
          <p:cNvPr id="31" name="slide-title">
            <a:extLst xmlns:a="http://schemas.openxmlformats.org/drawingml/2006/main">
              <a:ext uri="{FF2B5EF4-FFF2-40B4-BE49-F238E27FC236}">
                <a16:creationId xmlns:a16="http://schemas.microsoft.com/office/drawing/2014/main" id="{FC82AA01-4001-4F82-B4A9-D99353EEAF29}"/>
              </a:ext>
            </a:extLst>
          </p:cNvPr>
          <p:cNvSpPr>
            <a:spLocks xmlns:a="http://schemas.openxmlformats.org/drawingml/2006/main" noGrp="1"/>
          </p:cNvSpPr>
          <p:nvPr/>
        </p:nvSpPr>
        <p:spPr>
          <a:xfrm xmlns:a="http://schemas.openxmlformats.org/drawingml/2006/main">
            <a:off x="952500" y="6858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3450" b="0">
                <a:solidFill>
                  <a:srgbClr val="0F172A"/>
                </a:solidFill>
                <a:latin typeface="Inter"/>
                <a:ea typeface="Inter"/>
                <a:cs typeface="Inter"/>
              </a:defRPr>
            </a:pPr>
            <a:r>
              <a:rPr sz="3450" b="0">
                <a:solidFill>
                  <a:srgbClr val="0F172A"/>
                </a:solidFill>
                <a:latin typeface="Inter"/>
                <a:ea typeface="Inter"/>
                <a:cs typeface="Inter"/>
              </a:rPr>
              <a:t>Every public page, rebuilt on one system.</a:t>
            </a:r>
          </a:p>
        </p:txBody>
      </p:sp>
      <p:sp>
        <p:nvSpPr>
          <p:cNvPr id="32" name="slide-subtitle">
            <a:extLst xmlns:a="http://schemas.openxmlformats.org/drawingml/2006/main">
              <a:ext uri="{FF2B5EF4-FFF2-40B4-BE49-F238E27FC236}">
                <a16:creationId xmlns:a16="http://schemas.microsoft.com/office/drawing/2014/main" id="{BCE3C92E-EAFB-4BF2-BE3A-AAC7484CE380}"/>
              </a:ext>
            </a:extLst>
          </p:cNvPr>
          <p:cNvSpPr>
            <a:spLocks xmlns:a="http://schemas.openxmlformats.org/drawingml/2006/main" noGrp="1"/>
          </p:cNvSpPr>
          <p:nvPr/>
        </p:nvSpPr>
        <p:spPr>
          <a:xfrm xmlns:a="http://schemas.openxmlformats.org/drawingml/2006/main">
            <a:off x="1333500" y="1333500"/>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22000"/>
              </a:lnSpc>
              <a:buNone/>
              <a:defRPr sz="1575" b="0">
                <a:solidFill>
                  <a:srgbClr val="64748B"/>
                </a:solidFill>
                <a:latin typeface="Inter"/>
                <a:ea typeface="Inter"/>
                <a:cs typeface="Inter"/>
              </a:defRPr>
            </a:pPr>
            <a:r>
              <a:rPr sz="1575" b="0">
                <a:solidFill>
                  <a:srgbClr val="64748B"/>
                </a:solidFill>
                <a:latin typeface="Inter"/>
                <a:ea typeface="Inter"/>
                <a:cs typeface="Inter"/>
              </a:rPr>
              <a:t>One visual language, with a distinct journey for every audience.</a:t>
            </a:r>
          </a:p>
        </p:txBody>
      </p:sp>
      <p:sp>
        <p:nvSpPr>
          <p:cNvPr id="33" name="page-card-0">
            <a:extLst xmlns:a="http://schemas.openxmlformats.org/drawingml/2006/main">
              <a:ext uri="{FF2B5EF4-FFF2-40B4-BE49-F238E27FC236}">
                <a16:creationId xmlns:a16="http://schemas.microsoft.com/office/drawing/2014/main" id="{4BCB57F3-033F-4B4B-B0DA-BA5B3D58A9AC}"/>
              </a:ext>
            </a:extLst>
          </p:cNvPr>
          <p:cNvSpPr>
            <a:spLocks xmlns:a="http://schemas.openxmlformats.org/drawingml/2006/main" noGrp="1"/>
          </p:cNvSpPr>
          <p:nvPr/>
        </p:nvSpPr>
        <p:spPr>
          <a:xfrm xmlns:a="http://schemas.openxmlformats.org/drawingml/2006/main">
            <a:off x="647700" y="2343150"/>
            <a:ext cx="3543300" cy="1504950"/>
          </a:xfrm>
          <a:prstGeom xmlns:a="http://schemas.openxmlformats.org/drawingml/2006/main" prst="roundRect">
            <a:avLst>
              <a:gd name="adj" fmla="val 12658"/>
            </a:avLst>
          </a:prstGeom>
          <a:solidFill xmlns:a="http://schemas.openxmlformats.org/drawingml/2006/main">
            <a:srgbClr val="FFF7E6"/>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4" name="page-index-0">
            <a:extLst xmlns:a="http://schemas.openxmlformats.org/drawingml/2006/main">
              <a:ext uri="{FF2B5EF4-FFF2-40B4-BE49-F238E27FC236}">
                <a16:creationId xmlns:a16="http://schemas.microsoft.com/office/drawing/2014/main" id="{BA0D32AA-342E-48CB-950A-BA3F523D9BA8}"/>
              </a:ext>
            </a:extLst>
          </p:cNvPr>
          <p:cNvSpPr>
            <a:spLocks xmlns:a="http://schemas.openxmlformats.org/drawingml/2006/main" noGrp="1"/>
          </p:cNvSpPr>
          <p:nvPr/>
        </p:nvSpPr>
        <p:spPr>
          <a:xfrm xmlns:a="http://schemas.openxmlformats.org/drawingml/2006/main">
            <a:off x="876300" y="25527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75" b="1">
                <a:solidFill>
                  <a:srgbClr val="7C5CFC"/>
                </a:solidFill>
                <a:latin typeface="Inter"/>
                <a:ea typeface="Inter"/>
                <a:cs typeface="Inter"/>
              </a:defRPr>
            </a:pPr>
            <a:r>
              <a:rPr sz="1275" b="1">
                <a:solidFill>
                  <a:srgbClr val="7C5CFC"/>
                </a:solidFill>
                <a:latin typeface="Inter"/>
                <a:ea typeface="Inter"/>
                <a:cs typeface="Inter"/>
              </a:rPr>
              <a:t>01</a:t>
            </a:r>
          </a:p>
        </p:txBody>
      </p:sp>
      <p:sp>
        <p:nvSpPr>
          <p:cNvPr id="35" name="page-title-0">
            <a:extLst xmlns:a="http://schemas.openxmlformats.org/drawingml/2006/main">
              <a:ext uri="{FF2B5EF4-FFF2-40B4-BE49-F238E27FC236}">
                <a16:creationId xmlns:a16="http://schemas.microsoft.com/office/drawing/2014/main" id="{B2ABBEBB-9348-4CDD-AECD-61C7EA68DAFD}"/>
              </a:ext>
            </a:extLst>
          </p:cNvPr>
          <p:cNvSpPr>
            <a:spLocks xmlns:a="http://schemas.openxmlformats.org/drawingml/2006/main" noGrp="1"/>
          </p:cNvSpPr>
          <p:nvPr/>
        </p:nvSpPr>
        <p:spPr>
          <a:xfrm xmlns:a="http://schemas.openxmlformats.org/drawingml/2006/main">
            <a:off x="876300" y="2914650"/>
            <a:ext cx="3086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725" b="1">
                <a:solidFill>
                  <a:srgbClr val="1E293B"/>
                </a:solidFill>
                <a:latin typeface="Inter"/>
                <a:ea typeface="Inter"/>
                <a:cs typeface="Inter"/>
              </a:defRPr>
            </a:pPr>
            <a:r>
              <a:rPr sz="1725" b="1">
                <a:solidFill>
                  <a:srgbClr val="1E293B"/>
                </a:solidFill>
                <a:latin typeface="Inter"/>
                <a:ea typeface="Inter"/>
                <a:cs typeface="Inter"/>
              </a:rPr>
              <a:t>Home</a:t>
            </a:r>
          </a:p>
        </p:txBody>
      </p:sp>
      <p:sp>
        <p:nvSpPr>
          <p:cNvPr id="36" name="page-body-0">
            <a:extLst xmlns:a="http://schemas.openxmlformats.org/drawingml/2006/main">
              <a:ext uri="{FF2B5EF4-FFF2-40B4-BE49-F238E27FC236}">
                <a16:creationId xmlns:a16="http://schemas.microsoft.com/office/drawing/2014/main" id="{FE0A2553-1E85-4AB6-92BB-00BEAF2ADACD}"/>
              </a:ext>
            </a:extLst>
          </p:cNvPr>
          <p:cNvSpPr>
            <a:spLocks xmlns:a="http://schemas.openxmlformats.org/drawingml/2006/main" noGrp="1"/>
          </p:cNvSpPr>
          <p:nvPr/>
        </p:nvSpPr>
        <p:spPr>
          <a:xfrm xmlns:a="http://schemas.openxmlformats.org/drawingml/2006/main">
            <a:off x="876300" y="3324225"/>
            <a:ext cx="3086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4516"/>
          </a:bodyPr>
          <a:lstStyle xmlns:a="http://schemas.openxmlformats.org/drawingml/2006/main"/>
          <a:p xmlns:a="http://schemas.openxmlformats.org/drawingml/2006/main">
            <a:pPr algn="l">
              <a:lnSpc>
                <a:spcPct val="116000"/>
              </a:lnSpc>
              <a:buNone/>
              <a:defRPr sz="1275" b="0">
                <a:solidFill>
                  <a:srgbClr val="64748B"/>
                </a:solidFill>
                <a:latin typeface="Inter"/>
                <a:ea typeface="Inter"/>
                <a:cs typeface="Inter"/>
              </a:defRPr>
            </a:pPr>
            <a:r>
              <a:rPr sz="1275" b="0">
                <a:solidFill>
                  <a:srgbClr val="64748B"/>
                </a:solidFill>
                <a:latin typeface="Inter"/>
                <a:ea typeface="Inter"/>
                <a:cs typeface="Inter"/>
              </a:rPr>
              <a:t>Value proposition first; trends become supporting content.</a:t>
            </a:r>
          </a:p>
        </p:txBody>
      </p:sp>
      <p:sp>
        <p:nvSpPr>
          <p:cNvPr id="37" name="page-card-1">
            <a:extLst xmlns:a="http://schemas.openxmlformats.org/drawingml/2006/main">
              <a:ext uri="{FF2B5EF4-FFF2-40B4-BE49-F238E27FC236}">
                <a16:creationId xmlns:a16="http://schemas.microsoft.com/office/drawing/2014/main" id="{CEF626B7-BC37-4B02-9728-16B2C3643711}"/>
              </a:ext>
            </a:extLst>
          </p:cNvPr>
          <p:cNvSpPr>
            <a:spLocks xmlns:a="http://schemas.openxmlformats.org/drawingml/2006/main" noGrp="1"/>
          </p:cNvSpPr>
          <p:nvPr/>
        </p:nvSpPr>
        <p:spPr>
          <a:xfrm xmlns:a="http://schemas.openxmlformats.org/drawingml/2006/main">
            <a:off x="4476750" y="2343150"/>
            <a:ext cx="3543300" cy="1504950"/>
          </a:xfrm>
          <a:prstGeom xmlns:a="http://schemas.openxmlformats.org/drawingml/2006/main" prst="roundRect">
            <a:avLst>
              <a:gd name="adj" fmla="val 12658"/>
            </a:avLst>
          </a:prstGeom>
          <a:solidFill xmlns:a="http://schemas.openxmlformats.org/drawingml/2006/main">
            <a:srgbClr val="F7EEFB"/>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8" name="page-index-1">
            <a:extLst xmlns:a="http://schemas.openxmlformats.org/drawingml/2006/main">
              <a:ext uri="{FF2B5EF4-FFF2-40B4-BE49-F238E27FC236}">
                <a16:creationId xmlns:a16="http://schemas.microsoft.com/office/drawing/2014/main" id="{B3AF8A44-5C34-4CBA-9F90-908755965008}"/>
              </a:ext>
            </a:extLst>
          </p:cNvPr>
          <p:cNvSpPr>
            <a:spLocks xmlns:a="http://schemas.openxmlformats.org/drawingml/2006/main" noGrp="1"/>
          </p:cNvSpPr>
          <p:nvPr/>
        </p:nvSpPr>
        <p:spPr>
          <a:xfrm xmlns:a="http://schemas.openxmlformats.org/drawingml/2006/main">
            <a:off x="4705350" y="25527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75" b="1">
                <a:solidFill>
                  <a:srgbClr val="7C5CFC"/>
                </a:solidFill>
                <a:latin typeface="Inter"/>
                <a:ea typeface="Inter"/>
                <a:cs typeface="Inter"/>
              </a:defRPr>
            </a:pPr>
            <a:r>
              <a:rPr sz="1275" b="1">
                <a:solidFill>
                  <a:srgbClr val="7C5CFC"/>
                </a:solidFill>
                <a:latin typeface="Inter"/>
                <a:ea typeface="Inter"/>
                <a:cs typeface="Inter"/>
              </a:rPr>
              <a:t>02</a:t>
            </a:r>
          </a:p>
        </p:txBody>
      </p:sp>
      <p:sp>
        <p:nvSpPr>
          <p:cNvPr id="39" name="page-title-1">
            <a:extLst xmlns:a="http://schemas.openxmlformats.org/drawingml/2006/main">
              <a:ext uri="{FF2B5EF4-FFF2-40B4-BE49-F238E27FC236}">
                <a16:creationId xmlns:a16="http://schemas.microsoft.com/office/drawing/2014/main" id="{B5A74961-2A84-4A4F-9984-0380D442A183}"/>
              </a:ext>
            </a:extLst>
          </p:cNvPr>
          <p:cNvSpPr>
            <a:spLocks xmlns:a="http://schemas.openxmlformats.org/drawingml/2006/main" noGrp="1"/>
          </p:cNvSpPr>
          <p:nvPr/>
        </p:nvSpPr>
        <p:spPr>
          <a:xfrm xmlns:a="http://schemas.openxmlformats.org/drawingml/2006/main">
            <a:off x="4705350" y="2914650"/>
            <a:ext cx="3086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725" b="1">
                <a:solidFill>
                  <a:srgbClr val="1E293B"/>
                </a:solidFill>
                <a:latin typeface="Inter"/>
                <a:ea typeface="Inter"/>
                <a:cs typeface="Inter"/>
              </a:defRPr>
            </a:pPr>
            <a:r>
              <a:rPr sz="1725" b="1">
                <a:solidFill>
                  <a:srgbClr val="1E293B"/>
                </a:solidFill>
                <a:latin typeface="Inter"/>
                <a:ea typeface="Inter"/>
                <a:cs typeface="Inter"/>
              </a:rPr>
              <a:t>For Brands</a:t>
            </a:r>
          </a:p>
        </p:txBody>
      </p:sp>
      <p:sp>
        <p:nvSpPr>
          <p:cNvPr id="40" name="page-body-1">
            <a:extLst xmlns:a="http://schemas.openxmlformats.org/drawingml/2006/main">
              <a:ext uri="{FF2B5EF4-FFF2-40B4-BE49-F238E27FC236}">
                <a16:creationId xmlns:a16="http://schemas.microsoft.com/office/drawing/2014/main" id="{A1C6DBDE-0268-4A08-8D41-0257B881150D}"/>
              </a:ext>
            </a:extLst>
          </p:cNvPr>
          <p:cNvSpPr>
            <a:spLocks xmlns:a="http://schemas.openxmlformats.org/drawingml/2006/main" noGrp="1"/>
          </p:cNvSpPr>
          <p:nvPr/>
        </p:nvSpPr>
        <p:spPr>
          <a:xfrm xmlns:a="http://schemas.openxmlformats.org/drawingml/2006/main">
            <a:off x="4705350" y="3324225"/>
            <a:ext cx="3086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403"/>
          </a:bodyPr>
          <a:lstStyle xmlns:a="http://schemas.openxmlformats.org/drawingml/2006/main"/>
          <a:p xmlns:a="http://schemas.openxmlformats.org/drawingml/2006/main">
            <a:pPr algn="l">
              <a:lnSpc>
                <a:spcPct val="116000"/>
              </a:lnSpc>
              <a:buNone/>
              <a:defRPr sz="1275" b="0">
                <a:solidFill>
                  <a:srgbClr val="64748B"/>
                </a:solidFill>
                <a:latin typeface="Inter"/>
                <a:ea typeface="Inter"/>
                <a:cs typeface="Inter"/>
              </a:defRPr>
            </a:pPr>
            <a:r>
              <a:rPr sz="1275" b="0">
                <a:solidFill>
                  <a:srgbClr val="64748B"/>
                </a:solidFill>
                <a:latin typeface="Inter"/>
                <a:ea typeface="Inter"/>
                <a:cs typeface="Inter"/>
              </a:rPr>
              <a:t>Discover, compare, brief and report with clearer proof.</a:t>
            </a:r>
          </a:p>
        </p:txBody>
      </p:sp>
      <p:sp>
        <p:nvSpPr>
          <p:cNvPr id="41" name="page-card-2">
            <a:extLst xmlns:a="http://schemas.openxmlformats.org/drawingml/2006/main">
              <a:ext uri="{FF2B5EF4-FFF2-40B4-BE49-F238E27FC236}">
                <a16:creationId xmlns:a16="http://schemas.microsoft.com/office/drawing/2014/main" id="{B362049A-3341-475A-B7C6-4E97CFA3BD52}"/>
              </a:ext>
            </a:extLst>
          </p:cNvPr>
          <p:cNvSpPr>
            <a:spLocks xmlns:a="http://schemas.openxmlformats.org/drawingml/2006/main" noGrp="1"/>
          </p:cNvSpPr>
          <p:nvPr/>
        </p:nvSpPr>
        <p:spPr>
          <a:xfrm xmlns:a="http://schemas.openxmlformats.org/drawingml/2006/main">
            <a:off x="8305800" y="2343150"/>
            <a:ext cx="3543300" cy="1504950"/>
          </a:xfrm>
          <a:prstGeom xmlns:a="http://schemas.openxmlformats.org/drawingml/2006/main" prst="roundRect">
            <a:avLst>
              <a:gd name="adj" fmla="val 12658"/>
            </a:avLst>
          </a:prstGeom>
          <a:solidFill xmlns:a="http://schemas.openxmlformats.org/drawingml/2006/main">
            <a:srgbClr val="EEF3FF"/>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2" name="page-index-2">
            <a:extLst xmlns:a="http://schemas.openxmlformats.org/drawingml/2006/main">
              <a:ext uri="{FF2B5EF4-FFF2-40B4-BE49-F238E27FC236}">
                <a16:creationId xmlns:a16="http://schemas.microsoft.com/office/drawing/2014/main" id="{150D30B6-38F5-4642-927F-75F6FFDFC591}"/>
              </a:ext>
            </a:extLst>
          </p:cNvPr>
          <p:cNvSpPr>
            <a:spLocks xmlns:a="http://schemas.openxmlformats.org/drawingml/2006/main" noGrp="1"/>
          </p:cNvSpPr>
          <p:nvPr/>
        </p:nvSpPr>
        <p:spPr>
          <a:xfrm xmlns:a="http://schemas.openxmlformats.org/drawingml/2006/main">
            <a:off x="8534400" y="25527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75" b="1">
                <a:solidFill>
                  <a:srgbClr val="7C5CFC"/>
                </a:solidFill>
                <a:latin typeface="Inter"/>
                <a:ea typeface="Inter"/>
                <a:cs typeface="Inter"/>
              </a:defRPr>
            </a:pPr>
            <a:r>
              <a:rPr sz="1275" b="1">
                <a:solidFill>
                  <a:srgbClr val="7C5CFC"/>
                </a:solidFill>
                <a:latin typeface="Inter"/>
                <a:ea typeface="Inter"/>
                <a:cs typeface="Inter"/>
              </a:rPr>
              <a:t>03</a:t>
            </a:r>
          </a:p>
        </p:txBody>
      </p:sp>
      <p:sp>
        <p:nvSpPr>
          <p:cNvPr id="43" name="page-title-2">
            <a:extLst xmlns:a="http://schemas.openxmlformats.org/drawingml/2006/main">
              <a:ext uri="{FF2B5EF4-FFF2-40B4-BE49-F238E27FC236}">
                <a16:creationId xmlns:a16="http://schemas.microsoft.com/office/drawing/2014/main" id="{FB432B97-94B5-4508-BBEF-75639517FC37}"/>
              </a:ext>
            </a:extLst>
          </p:cNvPr>
          <p:cNvSpPr>
            <a:spLocks xmlns:a="http://schemas.openxmlformats.org/drawingml/2006/main" noGrp="1"/>
          </p:cNvSpPr>
          <p:nvPr/>
        </p:nvSpPr>
        <p:spPr>
          <a:xfrm xmlns:a="http://schemas.openxmlformats.org/drawingml/2006/main">
            <a:off x="8534400" y="2914650"/>
            <a:ext cx="3086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725" b="1">
                <a:solidFill>
                  <a:srgbClr val="1E293B"/>
                </a:solidFill>
                <a:latin typeface="Inter"/>
                <a:ea typeface="Inter"/>
                <a:cs typeface="Inter"/>
              </a:defRPr>
            </a:pPr>
            <a:r>
              <a:rPr sz="1725" b="1">
                <a:solidFill>
                  <a:srgbClr val="1E293B"/>
                </a:solidFill>
                <a:latin typeface="Inter"/>
                <a:ea typeface="Inter"/>
                <a:cs typeface="Inter"/>
              </a:rPr>
              <a:t>For Creators</a:t>
            </a:r>
          </a:p>
        </p:txBody>
      </p:sp>
      <p:sp>
        <p:nvSpPr>
          <p:cNvPr id="44" name="page-body-2">
            <a:extLst xmlns:a="http://schemas.openxmlformats.org/drawingml/2006/main">
              <a:ext uri="{FF2B5EF4-FFF2-40B4-BE49-F238E27FC236}">
                <a16:creationId xmlns:a16="http://schemas.microsoft.com/office/drawing/2014/main" id="{2D7175FF-8ED9-4E02-B021-1FB9852ADAAB}"/>
              </a:ext>
            </a:extLst>
          </p:cNvPr>
          <p:cNvSpPr>
            <a:spLocks xmlns:a="http://schemas.openxmlformats.org/drawingml/2006/main" noGrp="1"/>
          </p:cNvSpPr>
          <p:nvPr/>
        </p:nvSpPr>
        <p:spPr>
          <a:xfrm xmlns:a="http://schemas.openxmlformats.org/drawingml/2006/main">
            <a:off x="8534400" y="3324225"/>
            <a:ext cx="3086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4516"/>
          </a:bodyPr>
          <a:lstStyle xmlns:a="http://schemas.openxmlformats.org/drawingml/2006/main"/>
          <a:p xmlns:a="http://schemas.openxmlformats.org/drawingml/2006/main">
            <a:pPr algn="l">
              <a:lnSpc>
                <a:spcPct val="116000"/>
              </a:lnSpc>
              <a:buNone/>
              <a:defRPr sz="1275" b="0">
                <a:solidFill>
                  <a:srgbClr val="64748B"/>
                </a:solidFill>
                <a:latin typeface="Inter"/>
                <a:ea typeface="Inter"/>
                <a:cs typeface="Inter"/>
              </a:defRPr>
            </a:pPr>
            <a:r>
              <a:rPr sz="1275" b="0">
                <a:solidFill>
                  <a:srgbClr val="64748B"/>
                </a:solidFill>
                <a:latin typeface="Inter"/>
                <a:ea typeface="Inter"/>
                <a:cs typeface="Inter"/>
              </a:rPr>
              <a:t>Verified stats, rate cards, deals and professional growth.</a:t>
            </a:r>
          </a:p>
        </p:txBody>
      </p:sp>
      <p:sp>
        <p:nvSpPr>
          <p:cNvPr id="45" name="page-card-3">
            <a:extLst xmlns:a="http://schemas.openxmlformats.org/drawingml/2006/main">
              <a:ext uri="{FF2B5EF4-FFF2-40B4-BE49-F238E27FC236}">
                <a16:creationId xmlns:a16="http://schemas.microsoft.com/office/drawing/2014/main" id="{4E570D94-EB49-419B-A08E-D4B95B8460FE}"/>
              </a:ext>
            </a:extLst>
          </p:cNvPr>
          <p:cNvSpPr>
            <a:spLocks xmlns:a="http://schemas.openxmlformats.org/drawingml/2006/main" noGrp="1"/>
          </p:cNvSpPr>
          <p:nvPr/>
        </p:nvSpPr>
        <p:spPr>
          <a:xfrm xmlns:a="http://schemas.openxmlformats.org/drawingml/2006/main">
            <a:off x="647700" y="4095750"/>
            <a:ext cx="3543300" cy="1504950"/>
          </a:xfrm>
          <a:prstGeom xmlns:a="http://schemas.openxmlformats.org/drawingml/2006/main" prst="roundRect">
            <a:avLst>
              <a:gd name="adj" fmla="val 12658"/>
            </a:avLst>
          </a:prstGeom>
          <a:solidFill xmlns:a="http://schemas.openxmlformats.org/drawingml/2006/main">
            <a:srgbClr val="FFF7E6"/>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6" name="page-index-3">
            <a:extLst xmlns:a="http://schemas.openxmlformats.org/drawingml/2006/main">
              <a:ext uri="{FF2B5EF4-FFF2-40B4-BE49-F238E27FC236}">
                <a16:creationId xmlns:a16="http://schemas.microsoft.com/office/drawing/2014/main" id="{67958E79-C1EE-412B-B4EE-D00D7AF59C69}"/>
              </a:ext>
            </a:extLst>
          </p:cNvPr>
          <p:cNvSpPr>
            <a:spLocks xmlns:a="http://schemas.openxmlformats.org/drawingml/2006/main" noGrp="1"/>
          </p:cNvSpPr>
          <p:nvPr/>
        </p:nvSpPr>
        <p:spPr>
          <a:xfrm xmlns:a="http://schemas.openxmlformats.org/drawingml/2006/main">
            <a:off x="876300" y="43053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75" b="1">
                <a:solidFill>
                  <a:srgbClr val="7C5CFC"/>
                </a:solidFill>
                <a:latin typeface="Inter"/>
                <a:ea typeface="Inter"/>
                <a:cs typeface="Inter"/>
              </a:defRPr>
            </a:pPr>
            <a:r>
              <a:rPr sz="1275" b="1">
                <a:solidFill>
                  <a:srgbClr val="7C5CFC"/>
                </a:solidFill>
                <a:latin typeface="Inter"/>
                <a:ea typeface="Inter"/>
                <a:cs typeface="Inter"/>
              </a:rPr>
              <a:t>04</a:t>
            </a:r>
          </a:p>
        </p:txBody>
      </p:sp>
      <p:sp>
        <p:nvSpPr>
          <p:cNvPr id="47" name="page-title-3">
            <a:extLst xmlns:a="http://schemas.openxmlformats.org/drawingml/2006/main">
              <a:ext uri="{FF2B5EF4-FFF2-40B4-BE49-F238E27FC236}">
                <a16:creationId xmlns:a16="http://schemas.microsoft.com/office/drawing/2014/main" id="{C6B6F19E-F70F-4016-AD42-69A2560D45BD}"/>
              </a:ext>
            </a:extLst>
          </p:cNvPr>
          <p:cNvSpPr>
            <a:spLocks xmlns:a="http://schemas.openxmlformats.org/drawingml/2006/main" noGrp="1"/>
          </p:cNvSpPr>
          <p:nvPr/>
        </p:nvSpPr>
        <p:spPr>
          <a:xfrm xmlns:a="http://schemas.openxmlformats.org/drawingml/2006/main">
            <a:off x="876300" y="4667250"/>
            <a:ext cx="3086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725" b="1">
                <a:solidFill>
                  <a:srgbClr val="1E293B"/>
                </a:solidFill>
                <a:latin typeface="Inter"/>
                <a:ea typeface="Inter"/>
                <a:cs typeface="Inter"/>
              </a:defRPr>
            </a:pPr>
            <a:r>
              <a:rPr sz="1725" b="1">
                <a:solidFill>
                  <a:srgbClr val="1E293B"/>
                </a:solidFill>
                <a:latin typeface="Inter"/>
                <a:ea typeface="Inter"/>
                <a:cs typeface="Inter"/>
              </a:rPr>
              <a:t>Creator Directory</a:t>
            </a:r>
          </a:p>
        </p:txBody>
      </p:sp>
      <p:sp>
        <p:nvSpPr>
          <p:cNvPr id="48" name="page-body-3">
            <a:extLst xmlns:a="http://schemas.openxmlformats.org/drawingml/2006/main">
              <a:ext uri="{FF2B5EF4-FFF2-40B4-BE49-F238E27FC236}">
                <a16:creationId xmlns:a16="http://schemas.microsoft.com/office/drawing/2014/main" id="{904BDE54-0F9C-4FA2-990C-6D36151C4BD8}"/>
              </a:ext>
            </a:extLst>
          </p:cNvPr>
          <p:cNvSpPr>
            <a:spLocks xmlns:a="http://schemas.openxmlformats.org/drawingml/2006/main" noGrp="1"/>
          </p:cNvSpPr>
          <p:nvPr/>
        </p:nvSpPr>
        <p:spPr>
          <a:xfrm xmlns:a="http://schemas.openxmlformats.org/drawingml/2006/main">
            <a:off x="876300" y="5076825"/>
            <a:ext cx="3086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5991"/>
          </a:bodyPr>
          <a:lstStyle xmlns:a="http://schemas.openxmlformats.org/drawingml/2006/main"/>
          <a:p xmlns:a="http://schemas.openxmlformats.org/drawingml/2006/main">
            <a:pPr algn="l">
              <a:lnSpc>
                <a:spcPct val="116000"/>
              </a:lnSpc>
              <a:buNone/>
              <a:defRPr sz="1275" b="0">
                <a:solidFill>
                  <a:srgbClr val="64748B"/>
                </a:solidFill>
                <a:latin typeface="Inter"/>
                <a:ea typeface="Inter"/>
                <a:cs typeface="Inter"/>
              </a:defRPr>
            </a:pPr>
            <a:r>
              <a:rPr sz="1275" b="0">
                <a:solidFill>
                  <a:srgbClr val="64748B"/>
                </a:solidFill>
                <a:latin typeface="Inter"/>
                <a:ea typeface="Inter"/>
                <a:cs typeface="Inter"/>
              </a:rPr>
              <a:t>Local filters, trust indicators and useful discovery.</a:t>
            </a:r>
          </a:p>
        </p:txBody>
      </p:sp>
      <p:sp>
        <p:nvSpPr>
          <p:cNvPr id="49" name="page-card-4">
            <a:extLst xmlns:a="http://schemas.openxmlformats.org/drawingml/2006/main">
              <a:ext uri="{FF2B5EF4-FFF2-40B4-BE49-F238E27FC236}">
                <a16:creationId xmlns:a16="http://schemas.microsoft.com/office/drawing/2014/main" id="{C9874A8A-517A-419A-9F37-6526DF368D45}"/>
              </a:ext>
            </a:extLst>
          </p:cNvPr>
          <p:cNvSpPr>
            <a:spLocks xmlns:a="http://schemas.openxmlformats.org/drawingml/2006/main" noGrp="1"/>
          </p:cNvSpPr>
          <p:nvPr/>
        </p:nvSpPr>
        <p:spPr>
          <a:xfrm xmlns:a="http://schemas.openxmlformats.org/drawingml/2006/main">
            <a:off x="4476750" y="4095750"/>
            <a:ext cx="3543300" cy="1504950"/>
          </a:xfrm>
          <a:prstGeom xmlns:a="http://schemas.openxmlformats.org/drawingml/2006/main" prst="roundRect">
            <a:avLst>
              <a:gd name="adj" fmla="val 12658"/>
            </a:avLst>
          </a:prstGeom>
          <a:solidFill xmlns:a="http://schemas.openxmlformats.org/drawingml/2006/main">
            <a:srgbClr val="F7EEFB"/>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0" name="page-index-4">
            <a:extLst xmlns:a="http://schemas.openxmlformats.org/drawingml/2006/main">
              <a:ext uri="{FF2B5EF4-FFF2-40B4-BE49-F238E27FC236}">
                <a16:creationId xmlns:a16="http://schemas.microsoft.com/office/drawing/2014/main" id="{5EE56144-BF1D-4ED8-B5C5-08E86AD9898A}"/>
              </a:ext>
            </a:extLst>
          </p:cNvPr>
          <p:cNvSpPr>
            <a:spLocks xmlns:a="http://schemas.openxmlformats.org/drawingml/2006/main" noGrp="1"/>
          </p:cNvSpPr>
          <p:nvPr/>
        </p:nvSpPr>
        <p:spPr>
          <a:xfrm xmlns:a="http://schemas.openxmlformats.org/drawingml/2006/main">
            <a:off x="4705350" y="43053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75" b="1">
                <a:solidFill>
                  <a:srgbClr val="7C5CFC"/>
                </a:solidFill>
                <a:latin typeface="Inter"/>
                <a:ea typeface="Inter"/>
                <a:cs typeface="Inter"/>
              </a:defRPr>
            </a:pPr>
            <a:r>
              <a:rPr sz="1275" b="1">
                <a:solidFill>
                  <a:srgbClr val="7C5CFC"/>
                </a:solidFill>
                <a:latin typeface="Inter"/>
                <a:ea typeface="Inter"/>
                <a:cs typeface="Inter"/>
              </a:rPr>
              <a:t>05</a:t>
            </a:r>
          </a:p>
        </p:txBody>
      </p:sp>
      <p:sp>
        <p:nvSpPr>
          <p:cNvPr id="51" name="page-title-4">
            <a:extLst xmlns:a="http://schemas.openxmlformats.org/drawingml/2006/main">
              <a:ext uri="{FF2B5EF4-FFF2-40B4-BE49-F238E27FC236}">
                <a16:creationId xmlns:a16="http://schemas.microsoft.com/office/drawing/2014/main" id="{B80B34BB-53FD-4A93-8DCA-73C729BB5F77}"/>
              </a:ext>
            </a:extLst>
          </p:cNvPr>
          <p:cNvSpPr>
            <a:spLocks xmlns:a="http://schemas.openxmlformats.org/drawingml/2006/main" noGrp="1"/>
          </p:cNvSpPr>
          <p:nvPr/>
        </p:nvSpPr>
        <p:spPr>
          <a:xfrm xmlns:a="http://schemas.openxmlformats.org/drawingml/2006/main">
            <a:off x="4705350" y="4667250"/>
            <a:ext cx="3086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725" b="1">
                <a:solidFill>
                  <a:srgbClr val="1E293B"/>
                </a:solidFill>
                <a:latin typeface="Inter"/>
                <a:ea typeface="Inter"/>
                <a:cs typeface="Inter"/>
              </a:defRPr>
            </a:pPr>
            <a:r>
              <a:rPr sz="1725" b="1">
                <a:solidFill>
                  <a:srgbClr val="1E293B"/>
                </a:solidFill>
                <a:latin typeface="Inter"/>
                <a:ea typeface="Inter"/>
                <a:cs typeface="Inter"/>
              </a:rPr>
              <a:t>Creator Profile</a:t>
            </a:r>
          </a:p>
        </p:txBody>
      </p:sp>
      <p:sp>
        <p:nvSpPr>
          <p:cNvPr id="52" name="page-body-4">
            <a:extLst xmlns:a="http://schemas.openxmlformats.org/drawingml/2006/main">
              <a:ext uri="{FF2B5EF4-FFF2-40B4-BE49-F238E27FC236}">
                <a16:creationId xmlns:a16="http://schemas.microsoft.com/office/drawing/2014/main" id="{B39201BE-90E9-41AD-ABDA-9975DE6864C3}"/>
              </a:ext>
            </a:extLst>
          </p:cNvPr>
          <p:cNvSpPr>
            <a:spLocks xmlns:a="http://schemas.openxmlformats.org/drawingml/2006/main" noGrp="1"/>
          </p:cNvSpPr>
          <p:nvPr/>
        </p:nvSpPr>
        <p:spPr>
          <a:xfrm xmlns:a="http://schemas.openxmlformats.org/drawingml/2006/main">
            <a:off x="4705350" y="5076825"/>
            <a:ext cx="3086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4516"/>
          </a:bodyPr>
          <a:lstStyle xmlns:a="http://schemas.openxmlformats.org/drawingml/2006/main"/>
          <a:p xmlns:a="http://schemas.openxmlformats.org/drawingml/2006/main">
            <a:pPr algn="l">
              <a:lnSpc>
                <a:spcPct val="116000"/>
              </a:lnSpc>
              <a:buNone/>
              <a:defRPr sz="1275" b="0">
                <a:solidFill>
                  <a:srgbClr val="64748B"/>
                </a:solidFill>
                <a:latin typeface="Inter"/>
                <a:ea typeface="Inter"/>
                <a:cs typeface="Inter"/>
              </a:defRPr>
            </a:pPr>
            <a:r>
              <a:rPr sz="1275" b="0">
                <a:solidFill>
                  <a:srgbClr val="64748B"/>
                </a:solidFill>
                <a:latin typeface="Inter"/>
                <a:ea typeface="Inter"/>
                <a:cs typeface="Inter"/>
              </a:rPr>
              <a:t>Performance, rate guidance and clearly labeled sample data.</a:t>
            </a:r>
          </a:p>
        </p:txBody>
      </p:sp>
      <p:sp>
        <p:nvSpPr>
          <p:cNvPr id="53" name="page-card-5">
            <a:extLst xmlns:a="http://schemas.openxmlformats.org/drawingml/2006/main">
              <a:ext uri="{FF2B5EF4-FFF2-40B4-BE49-F238E27FC236}">
                <a16:creationId xmlns:a16="http://schemas.microsoft.com/office/drawing/2014/main" id="{1E212760-B6F7-4F47-981E-82F5484A8EF2}"/>
              </a:ext>
            </a:extLst>
          </p:cNvPr>
          <p:cNvSpPr>
            <a:spLocks xmlns:a="http://schemas.openxmlformats.org/drawingml/2006/main" noGrp="1"/>
          </p:cNvSpPr>
          <p:nvPr/>
        </p:nvSpPr>
        <p:spPr>
          <a:xfrm xmlns:a="http://schemas.openxmlformats.org/drawingml/2006/main">
            <a:off x="8305800" y="4095750"/>
            <a:ext cx="3543300" cy="1504950"/>
          </a:xfrm>
          <a:prstGeom xmlns:a="http://schemas.openxmlformats.org/drawingml/2006/main" prst="roundRect">
            <a:avLst>
              <a:gd name="adj" fmla="val 12658"/>
            </a:avLst>
          </a:prstGeom>
          <a:solidFill xmlns:a="http://schemas.openxmlformats.org/drawingml/2006/main">
            <a:srgbClr val="EEF3FF"/>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4" name="page-index-5">
            <a:extLst xmlns:a="http://schemas.openxmlformats.org/drawingml/2006/main">
              <a:ext uri="{FF2B5EF4-FFF2-40B4-BE49-F238E27FC236}">
                <a16:creationId xmlns:a16="http://schemas.microsoft.com/office/drawing/2014/main" id="{DCE81BBC-929D-4ACE-82C9-BDB3FB7CE521}"/>
              </a:ext>
            </a:extLst>
          </p:cNvPr>
          <p:cNvSpPr>
            <a:spLocks xmlns:a="http://schemas.openxmlformats.org/drawingml/2006/main" noGrp="1"/>
          </p:cNvSpPr>
          <p:nvPr/>
        </p:nvSpPr>
        <p:spPr>
          <a:xfrm xmlns:a="http://schemas.openxmlformats.org/drawingml/2006/main">
            <a:off x="8534400" y="43053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75" b="1">
                <a:solidFill>
                  <a:srgbClr val="7C5CFC"/>
                </a:solidFill>
                <a:latin typeface="Inter"/>
                <a:ea typeface="Inter"/>
                <a:cs typeface="Inter"/>
              </a:defRPr>
            </a:pPr>
            <a:r>
              <a:rPr sz="1275" b="1">
                <a:solidFill>
                  <a:srgbClr val="7C5CFC"/>
                </a:solidFill>
                <a:latin typeface="Inter"/>
                <a:ea typeface="Inter"/>
                <a:cs typeface="Inter"/>
              </a:rPr>
              <a:t>06</a:t>
            </a:r>
          </a:p>
        </p:txBody>
      </p:sp>
      <p:sp>
        <p:nvSpPr>
          <p:cNvPr id="55" name="page-title-5">
            <a:extLst xmlns:a="http://schemas.openxmlformats.org/drawingml/2006/main">
              <a:ext uri="{FF2B5EF4-FFF2-40B4-BE49-F238E27FC236}">
                <a16:creationId xmlns:a16="http://schemas.microsoft.com/office/drawing/2014/main" id="{AF7AF46A-E162-4ED3-AC1B-6499F7FA2EAD}"/>
              </a:ext>
            </a:extLst>
          </p:cNvPr>
          <p:cNvSpPr>
            <a:spLocks xmlns:a="http://schemas.openxmlformats.org/drawingml/2006/main" noGrp="1"/>
          </p:cNvSpPr>
          <p:nvPr/>
        </p:nvSpPr>
        <p:spPr>
          <a:xfrm xmlns:a="http://schemas.openxmlformats.org/drawingml/2006/main">
            <a:off x="8534400" y="4667250"/>
            <a:ext cx="3086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725" b="1">
                <a:solidFill>
                  <a:srgbClr val="1E293B"/>
                </a:solidFill>
                <a:latin typeface="Inter"/>
                <a:ea typeface="Inter"/>
                <a:cs typeface="Inter"/>
              </a:defRPr>
            </a:pPr>
            <a:r>
              <a:rPr sz="1725" b="1">
                <a:solidFill>
                  <a:srgbClr val="1E293B"/>
                </a:solidFill>
                <a:latin typeface="Inter"/>
                <a:ea typeface="Inter"/>
                <a:cs typeface="Inter"/>
              </a:rPr>
              <a:t>Pricing + Trust Check</a:t>
            </a:r>
          </a:p>
        </p:txBody>
      </p:sp>
      <p:sp>
        <p:nvSpPr>
          <p:cNvPr id="56" name="page-body-5">
            <a:extLst xmlns:a="http://schemas.openxmlformats.org/drawingml/2006/main">
              <a:ext uri="{FF2B5EF4-FFF2-40B4-BE49-F238E27FC236}">
                <a16:creationId xmlns:a16="http://schemas.microsoft.com/office/drawing/2014/main" id="{24155414-A48F-44DF-ABA0-0EAF7EB50F8C}"/>
              </a:ext>
            </a:extLst>
          </p:cNvPr>
          <p:cNvSpPr>
            <a:spLocks xmlns:a="http://schemas.openxmlformats.org/drawingml/2006/main" noGrp="1"/>
          </p:cNvSpPr>
          <p:nvPr/>
        </p:nvSpPr>
        <p:spPr>
          <a:xfrm xmlns:a="http://schemas.openxmlformats.org/drawingml/2006/main">
            <a:off x="8534400" y="5076825"/>
            <a:ext cx="3086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444"/>
          </a:bodyPr>
          <a:lstStyle xmlns:a="http://schemas.openxmlformats.org/drawingml/2006/main"/>
          <a:p xmlns:a="http://schemas.openxmlformats.org/drawingml/2006/main">
            <a:pPr algn="l">
              <a:lnSpc>
                <a:spcPct val="116000"/>
              </a:lnSpc>
              <a:buNone/>
              <a:defRPr sz="1275" b="0">
                <a:solidFill>
                  <a:srgbClr val="64748B"/>
                </a:solidFill>
                <a:latin typeface="Inter"/>
                <a:ea typeface="Inter"/>
                <a:cs typeface="Inter"/>
              </a:defRPr>
            </a:pPr>
            <a:r>
              <a:rPr sz="1275" b="0">
                <a:solidFill>
                  <a:srgbClr val="64748B"/>
                </a:solidFill>
                <a:latin typeface="Inter"/>
                <a:ea typeface="Inter"/>
                <a:cs typeface="Inter"/>
              </a:rPr>
              <a:t>One price set; beta capabilities labeled honestly.</a:t>
            </a:r>
          </a:p>
        </p:txBody>
      </p:sp>
      <p:sp>
        <p:nvSpPr>
          <p:cNvPr id="57" name="footer-brand">
            <a:extLst xmlns:a="http://schemas.openxmlformats.org/drawingml/2006/main">
              <a:ext uri="{FF2B5EF4-FFF2-40B4-BE49-F238E27FC236}">
                <a16:creationId xmlns:a16="http://schemas.microsoft.com/office/drawing/2014/main" id="{DB0920E5-B5FB-4827-ABF8-8A108467BE02}"/>
              </a:ext>
            </a:extLst>
          </p:cNvPr>
          <p:cNvSpPr>
            <a:spLocks xmlns:a="http://schemas.openxmlformats.org/drawingml/2006/main" noGrp="1"/>
          </p:cNvSpPr>
          <p:nvPr/>
        </p:nvSpPr>
        <p:spPr>
          <a:xfrm xmlns:a="http://schemas.openxmlformats.org/drawingml/2006/main">
            <a:off x="533400" y="6457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75" b="1">
                <a:solidFill>
                  <a:srgbClr val="94A3B8"/>
                </a:solidFill>
                <a:latin typeface="Inter"/>
                <a:ea typeface="Inter"/>
                <a:cs typeface="Inter"/>
              </a:defRPr>
            </a:pPr>
            <a:r>
              <a:rPr sz="975" b="1">
                <a:solidFill>
                  <a:srgbClr val="94A3B8"/>
                </a:solidFill>
                <a:latin typeface="Inter"/>
                <a:ea typeface="Inter"/>
                <a:cs typeface="Inter"/>
              </a:rPr>
              <a:t>INFLUENCEES</a:t>
            </a:r>
          </a:p>
        </p:txBody>
      </p:sp>
      <p:sp>
        <p:nvSpPr>
          <p:cNvPr id="58" name="footer-page">
            <a:extLst xmlns:a="http://schemas.openxmlformats.org/drawingml/2006/main">
              <a:ext uri="{FF2B5EF4-FFF2-40B4-BE49-F238E27FC236}">
                <a16:creationId xmlns:a16="http://schemas.microsoft.com/office/drawing/2014/main" id="{AC0255C4-A7A6-4565-AED6-9167F70F544A}"/>
              </a:ext>
            </a:extLst>
          </p:cNvPr>
          <p:cNvSpPr>
            <a:spLocks xmlns:a="http://schemas.openxmlformats.org/drawingml/2006/main" noGrp="1"/>
          </p:cNvSpPr>
          <p:nvPr/>
        </p:nvSpPr>
        <p:spPr>
          <a:xfrm xmlns:a="http://schemas.openxmlformats.org/drawingml/2006/main">
            <a:off x="10572750" y="6457950"/>
            <a:ext cx="1085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975" b="1">
                <a:solidFill>
                  <a:srgbClr val="94A3B8"/>
                </a:solidFill>
                <a:latin typeface="Inter"/>
                <a:ea typeface="Inter"/>
                <a:cs typeface="Inter"/>
              </a:defRPr>
            </a:pPr>
            <a:r>
              <a:rPr sz="975" b="1">
                <a:solidFill>
                  <a:srgbClr val="94A3B8"/>
                </a:solidFill>
                <a:latin typeface="Inter"/>
                <a:ea typeface="Inter"/>
                <a:cs typeface="Inter"/>
              </a:rPr>
              <a:t>08 / 10</a:t>
            </a:r>
          </a:p>
        </p:txBody>
      </p:sp>
    </p:spTree>
    <p:extLst>
      <p:ext uri="{BB962C8B-B14F-4D97-AF65-F5344CB8AC3E}">
        <p14:creationId xmlns:p14="http://schemas.microsoft.com/office/powerpoint/2010/main" val="27151999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72F855D-0115-4068-9C9B-CA8B2681A293}"/>
              </a:ext>
            </a:extLst>
          </p:cNvPr>
          <p:cNvSpPr>
            <a:spLocks xmlns:a="http://schemas.openxmlformats.org/drawingml/2006/main" noGrp="1"/>
          </p:cNvSpPr>
          <p:nvPr/>
        </p:nvSpPr>
        <p:spPr>
          <a:xfrm xmlns:a="http://schemas.openxmlformats.org/drawingml/2006/main">
            <a:off x="566928"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50" b="1">
                <a:solidFill>
                  <a:srgbClr val="5A3EE0"/>
                </a:solidFill>
                <a:latin typeface="Arial"/>
                <a:ea typeface="Arial"/>
                <a:cs typeface="Arial"/>
              </a:rPr>
              <a:t>SOLUTION 02  ·  WHY IT WORKS</a:t>
            </a:r>
          </a:p>
        </p:txBody>
      </p:sp>
      <p:sp>
        <p:nvSpPr>
          <p:cNvPr id="3" name="Text 1">
            <a:extLst xmlns:a="http://schemas.openxmlformats.org/drawingml/2006/main">
              <a:ext uri="{FF2B5EF4-FFF2-40B4-BE49-F238E27FC236}">
                <a16:creationId xmlns:a16="http://schemas.microsoft.com/office/drawing/2014/main" id="{B8CD5ED4-7744-4C2D-AA02-F07D505BA771}"/>
              </a:ext>
            </a:extLst>
          </p:cNvPr>
          <p:cNvSpPr>
            <a:spLocks xmlns:a="http://schemas.openxmlformats.org/drawingml/2006/main" noGrp="1"/>
          </p:cNvSpPr>
          <p:nvPr/>
        </p:nvSpPr>
        <p:spPr>
          <a:xfrm xmlns:a="http://schemas.openxmlformats.org/drawingml/2006/main">
            <a:off x="566928" y="822960"/>
            <a:ext cx="106070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2000"/>
              </a:lnSpc>
              <a:buNone/>
            </a:pPr>
            <a:r>
              <a:rPr sz="2700" b="1">
                <a:solidFill>
                  <a:srgbClr val="0D0C0A"/>
                </a:solidFill>
                <a:latin typeface="Arial"/>
                <a:ea typeface="Arial"/>
                <a:cs typeface="Arial"/>
              </a:rPr>
              <a:t>The redesign fixes the journey, not just the paint.</a:t>
            </a:r>
          </a:p>
        </p:txBody>
      </p:sp>
      <p:sp>
        <p:nvSpPr>
          <p:cNvPr id="4" name="Shape 2">
            <a:extLst xmlns:a="http://schemas.openxmlformats.org/drawingml/2006/main">
              <a:ext uri="{FF2B5EF4-FFF2-40B4-BE49-F238E27FC236}">
                <a16:creationId xmlns:a16="http://schemas.microsoft.com/office/drawing/2014/main" id="{3F8BB52C-F55B-4900-8A6E-AEAC51EFD723}"/>
              </a:ext>
            </a:extLst>
          </p:cNvPr>
          <p:cNvSpPr>
            <a:spLocks xmlns:a="http://schemas.openxmlformats.org/drawingml/2006/main" noGrp="1"/>
          </p:cNvSpPr>
          <p:nvPr/>
        </p:nvSpPr>
        <p:spPr>
          <a:xfrm xmlns:a="http://schemas.openxmlformats.org/drawingml/2006/main">
            <a:off x="566928" y="2011680"/>
            <a:ext cx="3490874" cy="1783080"/>
          </a:xfrm>
          <a:prstGeom xmlns:a="http://schemas.openxmlformats.org/drawingml/2006/main" prst="roundRect">
            <a:avLst>
              <a:gd name="adj" fmla="val 2308"/>
            </a:avLst>
          </a:prstGeom>
          <a:solidFill xmlns:a="http://schemas.openxmlformats.org/drawingml/2006/main">
            <a:srgbClr val="FFFFFF"/>
          </a:solidFill>
          <a:ln xmlns:a="http://schemas.openxmlformats.org/drawingml/2006/main" w="12700">
            <a:solidFill>
              <a:srgbClr val="E2DED6"/>
            </a:solidFill>
            <a:prstDash val="solid"/>
          </a:ln>
          <a:effectLst xmlns:a="http://schemas.openxmlformats.org/drawingml/2006/main">
            <a:outerShdw blurRad="76200" dist="25400" dir="5400000" sx="100000" sy="100000" kx="0" ky="0" algn="bl" rotWithShape="0">
              <a:srgbClr val="C9C4BA">
                <a:alpha val="55000"/>
              </a:srgbClr>
            </a:outerShdw>
          </a:effectLst>
        </p:spPr>
      </p:sp>
      <p:sp>
        <p:nvSpPr>
          <p:cNvPr id="5" name="Text 3">
            <a:extLst xmlns:a="http://schemas.openxmlformats.org/drawingml/2006/main">
              <a:ext uri="{FF2B5EF4-FFF2-40B4-BE49-F238E27FC236}">
                <a16:creationId xmlns:a16="http://schemas.microsoft.com/office/drawing/2014/main" id="{4513BE61-E69C-4E22-9184-ED723322154D}"/>
              </a:ext>
            </a:extLst>
          </p:cNvPr>
          <p:cNvSpPr>
            <a:spLocks xmlns:a="http://schemas.openxmlformats.org/drawingml/2006/main" noGrp="1"/>
          </p:cNvSpPr>
          <p:nvPr/>
        </p:nvSpPr>
        <p:spPr>
          <a:xfrm xmlns:a="http://schemas.openxmlformats.org/drawingml/2006/main">
            <a:off x="822960" y="2249424"/>
            <a:ext cx="365760" cy="365760"/>
          </a:xfrm>
          <a:prstGeom xmlns:a="http://schemas.openxmlformats.org/drawingml/2006/main" prst="ellipse">
            <a:avLst/>
          </a:prstGeom>
          <a:solidFill xmlns:a="http://schemas.openxmlformats.org/drawingml/2006/main">
            <a:srgbClr val="1F9D57"/>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Arial"/>
                <a:ea typeface="Arial"/>
                <a:cs typeface="Arial"/>
              </a:rPr>
              <a:t>✓</a:t>
            </a:r>
          </a:p>
        </p:txBody>
      </p:sp>
      <p:sp>
        <p:nvSpPr>
          <p:cNvPr id="6" name="Text 4">
            <a:extLst xmlns:a="http://schemas.openxmlformats.org/drawingml/2006/main">
              <a:ext uri="{FF2B5EF4-FFF2-40B4-BE49-F238E27FC236}">
                <a16:creationId xmlns:a16="http://schemas.microsoft.com/office/drawing/2014/main" id="{5767BFDB-8169-4658-9A87-27FAD171D23A}"/>
              </a:ext>
            </a:extLst>
          </p:cNvPr>
          <p:cNvSpPr>
            <a:spLocks xmlns:a="http://schemas.openxmlformats.org/drawingml/2006/main" noGrp="1"/>
          </p:cNvSpPr>
          <p:nvPr/>
        </p:nvSpPr>
        <p:spPr>
          <a:xfrm xmlns:a="http://schemas.openxmlformats.org/drawingml/2006/main">
            <a:off x="822960" y="2724912"/>
            <a:ext cx="297881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400" b="1">
                <a:solidFill>
                  <a:srgbClr val="0D0C0A"/>
                </a:solidFill>
                <a:latin typeface="Arial"/>
                <a:ea typeface="Arial"/>
                <a:cs typeface="Arial"/>
              </a:rPr>
              <a:t>One canonical price set</a:t>
            </a:r>
          </a:p>
        </p:txBody>
      </p:sp>
      <p:sp>
        <p:nvSpPr>
          <p:cNvPr id="7" name="Text 5">
            <a:extLst xmlns:a="http://schemas.openxmlformats.org/drawingml/2006/main">
              <a:ext uri="{FF2B5EF4-FFF2-40B4-BE49-F238E27FC236}">
                <a16:creationId xmlns:a16="http://schemas.microsoft.com/office/drawing/2014/main" id="{9D7B80C3-8C12-472F-844B-8E96FFBC1B49}"/>
              </a:ext>
            </a:extLst>
          </p:cNvPr>
          <p:cNvSpPr>
            <a:spLocks xmlns:a="http://schemas.openxmlformats.org/drawingml/2006/main" noGrp="1"/>
          </p:cNvSpPr>
          <p:nvPr/>
        </p:nvSpPr>
        <p:spPr>
          <a:xfrm xmlns:a="http://schemas.openxmlformats.org/drawingml/2006/main">
            <a:off x="822960" y="3182112"/>
            <a:ext cx="297881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050">
                <a:solidFill>
                  <a:srgbClr val="6B675F"/>
                </a:solidFill>
                <a:latin typeface="Arial"/>
                <a:ea typeface="Arial"/>
                <a:cs typeface="Arial"/>
              </a:rPr>
              <a:t>$49 / $119 / $249 for brands, Free / $16 for creators, the same everywhere.</a:t>
            </a:r>
          </a:p>
        </p:txBody>
      </p:sp>
      <p:sp>
        <p:nvSpPr>
          <p:cNvPr id="8" name="Shape 6">
            <a:extLst xmlns:a="http://schemas.openxmlformats.org/drawingml/2006/main">
              <a:ext uri="{FF2B5EF4-FFF2-40B4-BE49-F238E27FC236}">
                <a16:creationId xmlns:a16="http://schemas.microsoft.com/office/drawing/2014/main" id="{98BFAF17-B5A9-4737-9574-8260CFB479F8}"/>
              </a:ext>
            </a:extLst>
          </p:cNvPr>
          <p:cNvSpPr>
            <a:spLocks xmlns:a="http://schemas.openxmlformats.org/drawingml/2006/main" noGrp="1"/>
          </p:cNvSpPr>
          <p:nvPr/>
        </p:nvSpPr>
        <p:spPr>
          <a:xfrm xmlns:a="http://schemas.openxmlformats.org/drawingml/2006/main">
            <a:off x="4350410" y="2011680"/>
            <a:ext cx="3490874" cy="1783080"/>
          </a:xfrm>
          <a:prstGeom xmlns:a="http://schemas.openxmlformats.org/drawingml/2006/main" prst="roundRect">
            <a:avLst>
              <a:gd name="adj" fmla="val 2308"/>
            </a:avLst>
          </a:prstGeom>
          <a:solidFill xmlns:a="http://schemas.openxmlformats.org/drawingml/2006/main">
            <a:srgbClr val="FFFFFF"/>
          </a:solidFill>
          <a:ln xmlns:a="http://schemas.openxmlformats.org/drawingml/2006/main" w="12700">
            <a:solidFill>
              <a:srgbClr val="E2DED6"/>
            </a:solidFill>
            <a:prstDash val="solid"/>
          </a:ln>
          <a:effectLst xmlns:a="http://schemas.openxmlformats.org/drawingml/2006/main">
            <a:outerShdw blurRad="76200" dist="25400" dir="5400000" sx="100000" sy="100000" kx="0" ky="0" algn="bl" rotWithShape="0">
              <a:srgbClr val="C9C4BA">
                <a:alpha val="55000"/>
              </a:srgbClr>
            </a:outerShdw>
          </a:effectLst>
        </p:spPr>
      </p:sp>
      <p:sp>
        <p:nvSpPr>
          <p:cNvPr id="9" name="Text 7">
            <a:extLst xmlns:a="http://schemas.openxmlformats.org/drawingml/2006/main">
              <a:ext uri="{FF2B5EF4-FFF2-40B4-BE49-F238E27FC236}">
                <a16:creationId xmlns:a16="http://schemas.microsoft.com/office/drawing/2014/main" id="{7E295BB1-4C10-43AE-8729-78FE40A25020}"/>
              </a:ext>
            </a:extLst>
          </p:cNvPr>
          <p:cNvSpPr>
            <a:spLocks xmlns:a="http://schemas.openxmlformats.org/drawingml/2006/main" noGrp="1"/>
          </p:cNvSpPr>
          <p:nvPr/>
        </p:nvSpPr>
        <p:spPr>
          <a:xfrm xmlns:a="http://schemas.openxmlformats.org/drawingml/2006/main">
            <a:off x="4606442" y="2249424"/>
            <a:ext cx="365760" cy="365760"/>
          </a:xfrm>
          <a:prstGeom xmlns:a="http://schemas.openxmlformats.org/drawingml/2006/main" prst="ellipse">
            <a:avLst/>
          </a:prstGeom>
          <a:solidFill xmlns:a="http://schemas.openxmlformats.org/drawingml/2006/main">
            <a:srgbClr val="1F9D57"/>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Arial"/>
                <a:ea typeface="Arial"/>
                <a:cs typeface="Arial"/>
              </a:rPr>
              <a:t>✓</a:t>
            </a:r>
          </a:p>
        </p:txBody>
      </p:sp>
      <p:sp>
        <p:nvSpPr>
          <p:cNvPr id="10" name="Text 8">
            <a:extLst xmlns:a="http://schemas.openxmlformats.org/drawingml/2006/main">
              <a:ext uri="{FF2B5EF4-FFF2-40B4-BE49-F238E27FC236}">
                <a16:creationId xmlns:a16="http://schemas.microsoft.com/office/drawing/2014/main" id="{84F37B40-4EB8-4FFE-8A19-C90AC4F49582}"/>
              </a:ext>
            </a:extLst>
          </p:cNvPr>
          <p:cNvSpPr>
            <a:spLocks xmlns:a="http://schemas.openxmlformats.org/drawingml/2006/main" noGrp="1"/>
          </p:cNvSpPr>
          <p:nvPr/>
        </p:nvSpPr>
        <p:spPr>
          <a:xfrm xmlns:a="http://schemas.openxmlformats.org/drawingml/2006/main">
            <a:off x="4606442" y="2724912"/>
            <a:ext cx="297881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400" b="1">
                <a:solidFill>
                  <a:srgbClr val="0D0C0A"/>
                </a:solidFill>
                <a:latin typeface="Arial"/>
                <a:ea typeface="Arial"/>
                <a:cs typeface="Arial"/>
              </a:rPr>
              <a:t>Honest feature labels</a:t>
            </a:r>
          </a:p>
        </p:txBody>
      </p:sp>
      <p:sp>
        <p:nvSpPr>
          <p:cNvPr id="11" name="Text 9">
            <a:extLst xmlns:a="http://schemas.openxmlformats.org/drawingml/2006/main">
              <a:ext uri="{FF2B5EF4-FFF2-40B4-BE49-F238E27FC236}">
                <a16:creationId xmlns:a16="http://schemas.microsoft.com/office/drawing/2014/main" id="{BBFCAE70-87C8-4CBE-A244-723BDEEB25BE}"/>
              </a:ext>
            </a:extLst>
          </p:cNvPr>
          <p:cNvSpPr>
            <a:spLocks xmlns:a="http://schemas.openxmlformats.org/drawingml/2006/main" noGrp="1"/>
          </p:cNvSpPr>
          <p:nvPr/>
        </p:nvSpPr>
        <p:spPr>
          <a:xfrm xmlns:a="http://schemas.openxmlformats.org/drawingml/2006/main">
            <a:off x="4606442" y="3182112"/>
            <a:ext cx="297881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050">
                <a:solidFill>
                  <a:srgbClr val="6B675F"/>
                </a:solidFill>
                <a:latin typeface="Arial"/>
                <a:ea typeface="Arial"/>
                <a:cs typeface="Arial"/>
              </a:rPr>
              <a:t>LIVE / BETA / SOON on every feature, so trust is earned, not implied.</a:t>
            </a:r>
          </a:p>
        </p:txBody>
      </p:sp>
      <p:sp>
        <p:nvSpPr>
          <p:cNvPr id="12" name="Shape 10">
            <a:extLst xmlns:a="http://schemas.openxmlformats.org/drawingml/2006/main">
              <a:ext uri="{FF2B5EF4-FFF2-40B4-BE49-F238E27FC236}">
                <a16:creationId xmlns:a16="http://schemas.microsoft.com/office/drawing/2014/main" id="{7B73B900-E630-4DAD-A5A3-576740AEDD8B}"/>
              </a:ext>
            </a:extLst>
          </p:cNvPr>
          <p:cNvSpPr>
            <a:spLocks xmlns:a="http://schemas.openxmlformats.org/drawingml/2006/main" noGrp="1"/>
          </p:cNvSpPr>
          <p:nvPr/>
        </p:nvSpPr>
        <p:spPr>
          <a:xfrm xmlns:a="http://schemas.openxmlformats.org/drawingml/2006/main">
            <a:off x="8133893" y="2011680"/>
            <a:ext cx="3490874" cy="1783080"/>
          </a:xfrm>
          <a:prstGeom xmlns:a="http://schemas.openxmlformats.org/drawingml/2006/main" prst="roundRect">
            <a:avLst>
              <a:gd name="adj" fmla="val 2308"/>
            </a:avLst>
          </a:prstGeom>
          <a:solidFill xmlns:a="http://schemas.openxmlformats.org/drawingml/2006/main">
            <a:srgbClr val="FFFFFF"/>
          </a:solidFill>
          <a:ln xmlns:a="http://schemas.openxmlformats.org/drawingml/2006/main" w="12700">
            <a:solidFill>
              <a:srgbClr val="E2DED6"/>
            </a:solidFill>
            <a:prstDash val="solid"/>
          </a:ln>
          <a:effectLst xmlns:a="http://schemas.openxmlformats.org/drawingml/2006/main">
            <a:outerShdw blurRad="76200" dist="25400" dir="5400000" sx="100000" sy="100000" kx="0" ky="0" algn="bl" rotWithShape="0">
              <a:srgbClr val="C9C4BA">
                <a:alpha val="55000"/>
              </a:srgbClr>
            </a:outerShdw>
          </a:effectLst>
        </p:spPr>
      </p:sp>
      <p:sp>
        <p:nvSpPr>
          <p:cNvPr id="13" name="Text 11">
            <a:extLst xmlns:a="http://schemas.openxmlformats.org/drawingml/2006/main">
              <a:ext uri="{FF2B5EF4-FFF2-40B4-BE49-F238E27FC236}">
                <a16:creationId xmlns:a16="http://schemas.microsoft.com/office/drawing/2014/main" id="{3F84E110-6211-4381-8427-DD72C43F6165}"/>
              </a:ext>
            </a:extLst>
          </p:cNvPr>
          <p:cNvSpPr>
            <a:spLocks xmlns:a="http://schemas.openxmlformats.org/drawingml/2006/main" noGrp="1"/>
          </p:cNvSpPr>
          <p:nvPr/>
        </p:nvSpPr>
        <p:spPr>
          <a:xfrm xmlns:a="http://schemas.openxmlformats.org/drawingml/2006/main">
            <a:off x="8389925" y="2249424"/>
            <a:ext cx="365760" cy="365760"/>
          </a:xfrm>
          <a:prstGeom xmlns:a="http://schemas.openxmlformats.org/drawingml/2006/main" prst="ellipse">
            <a:avLst/>
          </a:prstGeom>
          <a:solidFill xmlns:a="http://schemas.openxmlformats.org/drawingml/2006/main">
            <a:srgbClr val="1F9D57"/>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Arial"/>
                <a:ea typeface="Arial"/>
                <a:cs typeface="Arial"/>
              </a:rPr>
              <a:t>✓</a:t>
            </a:r>
          </a:p>
        </p:txBody>
      </p:sp>
      <p:sp>
        <p:nvSpPr>
          <p:cNvPr id="14" name="Text 12">
            <a:extLst xmlns:a="http://schemas.openxmlformats.org/drawingml/2006/main">
              <a:ext uri="{FF2B5EF4-FFF2-40B4-BE49-F238E27FC236}">
                <a16:creationId xmlns:a16="http://schemas.microsoft.com/office/drawing/2014/main" id="{9AD0029A-DC79-41F9-A092-A54EE6FBA50D}"/>
              </a:ext>
            </a:extLst>
          </p:cNvPr>
          <p:cNvSpPr>
            <a:spLocks xmlns:a="http://schemas.openxmlformats.org/drawingml/2006/main" noGrp="1"/>
          </p:cNvSpPr>
          <p:nvPr/>
        </p:nvSpPr>
        <p:spPr>
          <a:xfrm xmlns:a="http://schemas.openxmlformats.org/drawingml/2006/main">
            <a:off x="8389925" y="2724912"/>
            <a:ext cx="297881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400" b="1">
                <a:solidFill>
                  <a:srgbClr val="0D0C0A"/>
                </a:solidFill>
                <a:latin typeface="Arial"/>
                <a:ea typeface="Arial"/>
                <a:cs typeface="Arial"/>
              </a:rPr>
              <a:t>Brand and creator paths split</a:t>
            </a:r>
          </a:p>
        </p:txBody>
      </p:sp>
      <p:sp>
        <p:nvSpPr>
          <p:cNvPr id="15" name="Text 13">
            <a:extLst xmlns:a="http://schemas.openxmlformats.org/drawingml/2006/main">
              <a:ext uri="{FF2B5EF4-FFF2-40B4-BE49-F238E27FC236}">
                <a16:creationId xmlns:a16="http://schemas.microsoft.com/office/drawing/2014/main" id="{ABB124CC-03E3-4D61-BCD2-2A2B14290208}"/>
              </a:ext>
            </a:extLst>
          </p:cNvPr>
          <p:cNvSpPr>
            <a:spLocks xmlns:a="http://schemas.openxmlformats.org/drawingml/2006/main" noGrp="1"/>
          </p:cNvSpPr>
          <p:nvPr/>
        </p:nvSpPr>
        <p:spPr>
          <a:xfrm xmlns:a="http://schemas.openxmlformats.org/drawingml/2006/main">
            <a:off x="8389925" y="3182112"/>
            <a:ext cx="297881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050">
                <a:solidFill>
                  <a:srgbClr val="6B675F"/>
                </a:solidFill>
                <a:latin typeface="Arial"/>
                <a:ea typeface="Arial"/>
                <a:cs typeface="Arial"/>
              </a:rPr>
              <a:t>Each audience gets its own language and journey instead of one blurred pitch.</a:t>
            </a:r>
          </a:p>
        </p:txBody>
      </p:sp>
      <p:sp>
        <p:nvSpPr>
          <p:cNvPr id="16" name="Shape 14">
            <a:extLst xmlns:a="http://schemas.openxmlformats.org/drawingml/2006/main">
              <a:ext uri="{FF2B5EF4-FFF2-40B4-BE49-F238E27FC236}">
                <a16:creationId xmlns:a16="http://schemas.microsoft.com/office/drawing/2014/main" id="{5DB0782A-57DE-4DC0-9476-27ABE8D57FA7}"/>
              </a:ext>
            </a:extLst>
          </p:cNvPr>
          <p:cNvSpPr>
            <a:spLocks xmlns:a="http://schemas.openxmlformats.org/drawingml/2006/main" noGrp="1"/>
          </p:cNvSpPr>
          <p:nvPr/>
        </p:nvSpPr>
        <p:spPr>
          <a:xfrm xmlns:a="http://schemas.openxmlformats.org/drawingml/2006/main">
            <a:off x="566928" y="4087368"/>
            <a:ext cx="3490874" cy="1783080"/>
          </a:xfrm>
          <a:prstGeom xmlns:a="http://schemas.openxmlformats.org/drawingml/2006/main" prst="roundRect">
            <a:avLst>
              <a:gd name="adj" fmla="val 2308"/>
            </a:avLst>
          </a:prstGeom>
          <a:solidFill xmlns:a="http://schemas.openxmlformats.org/drawingml/2006/main">
            <a:srgbClr val="FFFFFF"/>
          </a:solidFill>
          <a:ln xmlns:a="http://schemas.openxmlformats.org/drawingml/2006/main" w="12700">
            <a:solidFill>
              <a:srgbClr val="E2DED6"/>
            </a:solidFill>
            <a:prstDash val="solid"/>
          </a:ln>
          <a:effectLst xmlns:a="http://schemas.openxmlformats.org/drawingml/2006/main">
            <a:outerShdw blurRad="76200" dist="25400" dir="5400000" sx="100000" sy="100000" kx="0" ky="0" algn="bl" rotWithShape="0">
              <a:srgbClr val="C9C4BA">
                <a:alpha val="55000"/>
              </a:srgbClr>
            </a:outerShdw>
          </a:effectLst>
        </p:spPr>
      </p:sp>
      <p:sp>
        <p:nvSpPr>
          <p:cNvPr id="17" name="Text 15">
            <a:extLst xmlns:a="http://schemas.openxmlformats.org/drawingml/2006/main">
              <a:ext uri="{FF2B5EF4-FFF2-40B4-BE49-F238E27FC236}">
                <a16:creationId xmlns:a16="http://schemas.microsoft.com/office/drawing/2014/main" id="{A097E2C3-05A7-428B-8902-31EEE5FF8459}"/>
              </a:ext>
            </a:extLst>
          </p:cNvPr>
          <p:cNvSpPr>
            <a:spLocks xmlns:a="http://schemas.openxmlformats.org/drawingml/2006/main" noGrp="1"/>
          </p:cNvSpPr>
          <p:nvPr/>
        </p:nvSpPr>
        <p:spPr>
          <a:xfrm xmlns:a="http://schemas.openxmlformats.org/drawingml/2006/main">
            <a:off x="822960" y="4325112"/>
            <a:ext cx="365760" cy="365760"/>
          </a:xfrm>
          <a:prstGeom xmlns:a="http://schemas.openxmlformats.org/drawingml/2006/main" prst="ellipse">
            <a:avLst/>
          </a:prstGeom>
          <a:solidFill xmlns:a="http://schemas.openxmlformats.org/drawingml/2006/main">
            <a:srgbClr val="1F9D57"/>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Arial"/>
                <a:ea typeface="Arial"/>
                <a:cs typeface="Arial"/>
              </a:rPr>
              <a:t>✓</a:t>
            </a:r>
          </a:p>
        </p:txBody>
      </p:sp>
      <p:sp>
        <p:nvSpPr>
          <p:cNvPr id="18" name="Text 16">
            <a:extLst xmlns:a="http://schemas.openxmlformats.org/drawingml/2006/main">
              <a:ext uri="{FF2B5EF4-FFF2-40B4-BE49-F238E27FC236}">
                <a16:creationId xmlns:a16="http://schemas.microsoft.com/office/drawing/2014/main" id="{E8692262-A00F-4EE8-B209-15DCA86FEDA5}"/>
              </a:ext>
            </a:extLst>
          </p:cNvPr>
          <p:cNvSpPr>
            <a:spLocks xmlns:a="http://schemas.openxmlformats.org/drawingml/2006/main" noGrp="1"/>
          </p:cNvSpPr>
          <p:nvPr/>
        </p:nvSpPr>
        <p:spPr>
          <a:xfrm xmlns:a="http://schemas.openxmlformats.org/drawingml/2006/main">
            <a:off x="822960" y="4800600"/>
            <a:ext cx="297881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400" b="1">
                <a:solidFill>
                  <a:srgbClr val="0D0C0A"/>
                </a:solidFill>
                <a:latin typeface="Arial"/>
                <a:ea typeface="Arial"/>
                <a:cs typeface="Arial"/>
              </a:rPr>
              <a:t>Value prop leads</a:t>
            </a:r>
          </a:p>
        </p:txBody>
      </p:sp>
      <p:sp>
        <p:nvSpPr>
          <p:cNvPr id="19" name="Text 17">
            <a:extLst xmlns:a="http://schemas.openxmlformats.org/drawingml/2006/main">
              <a:ext uri="{FF2B5EF4-FFF2-40B4-BE49-F238E27FC236}">
                <a16:creationId xmlns:a16="http://schemas.microsoft.com/office/drawing/2014/main" id="{B10340DA-6967-4CA2-AF64-26678D7DF361}"/>
              </a:ext>
            </a:extLst>
          </p:cNvPr>
          <p:cNvSpPr>
            <a:spLocks xmlns:a="http://schemas.openxmlformats.org/drawingml/2006/main" noGrp="1"/>
          </p:cNvSpPr>
          <p:nvPr/>
        </p:nvSpPr>
        <p:spPr>
          <a:xfrm xmlns:a="http://schemas.openxmlformats.org/drawingml/2006/main">
            <a:off x="822960" y="5257800"/>
            <a:ext cx="297881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050">
                <a:solidFill>
                  <a:srgbClr val="6B675F"/>
                </a:solidFill>
                <a:latin typeface="Arial"/>
                <a:ea typeface="Arial"/>
                <a:cs typeface="Arial"/>
              </a:rPr>
              <a:t>The homepage sells first; the trending feed becomes a section, not the whole page.</a:t>
            </a:r>
          </a:p>
        </p:txBody>
      </p:sp>
      <p:sp>
        <p:nvSpPr>
          <p:cNvPr id="20" name="Shape 18">
            <a:extLst xmlns:a="http://schemas.openxmlformats.org/drawingml/2006/main">
              <a:ext uri="{FF2B5EF4-FFF2-40B4-BE49-F238E27FC236}">
                <a16:creationId xmlns:a16="http://schemas.microsoft.com/office/drawing/2014/main" id="{A206D029-C451-4C4B-80A3-509D8EB54734}"/>
              </a:ext>
            </a:extLst>
          </p:cNvPr>
          <p:cNvSpPr>
            <a:spLocks xmlns:a="http://schemas.openxmlformats.org/drawingml/2006/main" noGrp="1"/>
          </p:cNvSpPr>
          <p:nvPr/>
        </p:nvSpPr>
        <p:spPr>
          <a:xfrm xmlns:a="http://schemas.openxmlformats.org/drawingml/2006/main">
            <a:off x="4350410" y="4087368"/>
            <a:ext cx="3490874" cy="1783080"/>
          </a:xfrm>
          <a:prstGeom xmlns:a="http://schemas.openxmlformats.org/drawingml/2006/main" prst="roundRect">
            <a:avLst>
              <a:gd name="adj" fmla="val 2308"/>
            </a:avLst>
          </a:prstGeom>
          <a:solidFill xmlns:a="http://schemas.openxmlformats.org/drawingml/2006/main">
            <a:srgbClr val="FFFFFF"/>
          </a:solidFill>
          <a:ln xmlns:a="http://schemas.openxmlformats.org/drawingml/2006/main" w="12700">
            <a:solidFill>
              <a:srgbClr val="E2DED6"/>
            </a:solidFill>
            <a:prstDash val="solid"/>
          </a:ln>
          <a:effectLst xmlns:a="http://schemas.openxmlformats.org/drawingml/2006/main">
            <a:outerShdw blurRad="76200" dist="25400" dir="5400000" sx="100000" sy="100000" kx="0" ky="0" algn="bl" rotWithShape="0">
              <a:srgbClr val="C9C4BA">
                <a:alpha val="55000"/>
              </a:srgbClr>
            </a:outerShdw>
          </a:effectLst>
        </p:spPr>
      </p:sp>
      <p:sp>
        <p:nvSpPr>
          <p:cNvPr id="21" name="Text 19">
            <a:extLst xmlns:a="http://schemas.openxmlformats.org/drawingml/2006/main">
              <a:ext uri="{FF2B5EF4-FFF2-40B4-BE49-F238E27FC236}">
                <a16:creationId xmlns:a16="http://schemas.microsoft.com/office/drawing/2014/main" id="{0CC61A19-503D-43E5-9C3D-284C360BFEEA}"/>
              </a:ext>
            </a:extLst>
          </p:cNvPr>
          <p:cNvSpPr>
            <a:spLocks xmlns:a="http://schemas.openxmlformats.org/drawingml/2006/main" noGrp="1"/>
          </p:cNvSpPr>
          <p:nvPr/>
        </p:nvSpPr>
        <p:spPr>
          <a:xfrm xmlns:a="http://schemas.openxmlformats.org/drawingml/2006/main">
            <a:off x="4606442" y="4325112"/>
            <a:ext cx="365760" cy="365760"/>
          </a:xfrm>
          <a:prstGeom xmlns:a="http://schemas.openxmlformats.org/drawingml/2006/main" prst="ellipse">
            <a:avLst/>
          </a:prstGeom>
          <a:solidFill xmlns:a="http://schemas.openxmlformats.org/drawingml/2006/main">
            <a:srgbClr val="1F9D57"/>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Arial"/>
                <a:ea typeface="Arial"/>
                <a:cs typeface="Arial"/>
              </a:rPr>
              <a:t>✓</a:t>
            </a:r>
          </a:p>
        </p:txBody>
      </p:sp>
      <p:sp>
        <p:nvSpPr>
          <p:cNvPr id="22" name="Text 20">
            <a:extLst xmlns:a="http://schemas.openxmlformats.org/drawingml/2006/main">
              <a:ext uri="{FF2B5EF4-FFF2-40B4-BE49-F238E27FC236}">
                <a16:creationId xmlns:a16="http://schemas.microsoft.com/office/drawing/2014/main" id="{4C96AE68-046F-4E1D-AB41-35899BE58DA2}"/>
              </a:ext>
            </a:extLst>
          </p:cNvPr>
          <p:cNvSpPr>
            <a:spLocks xmlns:a="http://schemas.openxmlformats.org/drawingml/2006/main" noGrp="1"/>
          </p:cNvSpPr>
          <p:nvPr/>
        </p:nvSpPr>
        <p:spPr>
          <a:xfrm xmlns:a="http://schemas.openxmlformats.org/drawingml/2006/main">
            <a:off x="4606442" y="4800600"/>
            <a:ext cx="297881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400" b="1">
                <a:solidFill>
                  <a:srgbClr val="0D0C0A"/>
                </a:solidFill>
                <a:latin typeface="Arial"/>
                <a:ea typeface="Arial"/>
                <a:cs typeface="Arial"/>
              </a:rPr>
              <a:t>One design system</a:t>
            </a:r>
          </a:p>
        </p:txBody>
      </p:sp>
      <p:sp>
        <p:nvSpPr>
          <p:cNvPr id="23" name="Text 21">
            <a:extLst xmlns:a="http://schemas.openxmlformats.org/drawingml/2006/main">
              <a:ext uri="{FF2B5EF4-FFF2-40B4-BE49-F238E27FC236}">
                <a16:creationId xmlns:a16="http://schemas.microsoft.com/office/drawing/2014/main" id="{30243D01-E8B3-47FD-82C4-742B27BE784B}"/>
              </a:ext>
            </a:extLst>
          </p:cNvPr>
          <p:cNvSpPr>
            <a:spLocks xmlns:a="http://schemas.openxmlformats.org/drawingml/2006/main" noGrp="1"/>
          </p:cNvSpPr>
          <p:nvPr/>
        </p:nvSpPr>
        <p:spPr>
          <a:xfrm xmlns:a="http://schemas.openxmlformats.org/drawingml/2006/main">
            <a:off x="4606442" y="5257800"/>
            <a:ext cx="297881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050">
                <a:solidFill>
                  <a:srgbClr val="6B675F"/>
                </a:solidFill>
                <a:latin typeface="Arial"/>
                <a:ea typeface="Arial"/>
                <a:cs typeface="Arial"/>
              </a:rPr>
              <a:t>Shared type, spacing, cards and status chips. It reads deliberate, not vibe-coded.</a:t>
            </a:r>
          </a:p>
        </p:txBody>
      </p:sp>
      <p:sp>
        <p:nvSpPr>
          <p:cNvPr id="24" name="Shape 22">
            <a:extLst xmlns:a="http://schemas.openxmlformats.org/drawingml/2006/main">
              <a:ext uri="{FF2B5EF4-FFF2-40B4-BE49-F238E27FC236}">
                <a16:creationId xmlns:a16="http://schemas.microsoft.com/office/drawing/2014/main" id="{F3B6105D-D250-4064-87CF-2E01311DA003}"/>
              </a:ext>
            </a:extLst>
          </p:cNvPr>
          <p:cNvSpPr>
            <a:spLocks xmlns:a="http://schemas.openxmlformats.org/drawingml/2006/main" noGrp="1"/>
          </p:cNvSpPr>
          <p:nvPr/>
        </p:nvSpPr>
        <p:spPr>
          <a:xfrm xmlns:a="http://schemas.openxmlformats.org/drawingml/2006/main">
            <a:off x="8133893" y="4087368"/>
            <a:ext cx="3490874" cy="1783080"/>
          </a:xfrm>
          <a:prstGeom xmlns:a="http://schemas.openxmlformats.org/drawingml/2006/main" prst="roundRect">
            <a:avLst>
              <a:gd name="adj" fmla="val 2308"/>
            </a:avLst>
          </a:prstGeom>
          <a:solidFill xmlns:a="http://schemas.openxmlformats.org/drawingml/2006/main">
            <a:srgbClr val="FFFFFF"/>
          </a:solidFill>
          <a:ln xmlns:a="http://schemas.openxmlformats.org/drawingml/2006/main" w="12700">
            <a:solidFill>
              <a:srgbClr val="E2DED6"/>
            </a:solidFill>
            <a:prstDash val="solid"/>
          </a:ln>
          <a:effectLst xmlns:a="http://schemas.openxmlformats.org/drawingml/2006/main">
            <a:outerShdw blurRad="76200" dist="25400" dir="5400000" sx="100000" sy="100000" kx="0" ky="0" algn="bl" rotWithShape="0">
              <a:srgbClr val="C9C4BA">
                <a:alpha val="55000"/>
              </a:srgbClr>
            </a:outerShdw>
          </a:effectLst>
        </p:spPr>
      </p:sp>
      <p:sp>
        <p:nvSpPr>
          <p:cNvPr id="25" name="Text 23">
            <a:extLst xmlns:a="http://schemas.openxmlformats.org/drawingml/2006/main">
              <a:ext uri="{FF2B5EF4-FFF2-40B4-BE49-F238E27FC236}">
                <a16:creationId xmlns:a16="http://schemas.microsoft.com/office/drawing/2014/main" id="{DDF00E0C-B5DA-4841-9DE8-9411993E0D73}"/>
              </a:ext>
            </a:extLst>
          </p:cNvPr>
          <p:cNvSpPr>
            <a:spLocks xmlns:a="http://schemas.openxmlformats.org/drawingml/2006/main" noGrp="1"/>
          </p:cNvSpPr>
          <p:nvPr/>
        </p:nvSpPr>
        <p:spPr>
          <a:xfrm xmlns:a="http://schemas.openxmlformats.org/drawingml/2006/main">
            <a:off x="8389925" y="4325112"/>
            <a:ext cx="365760" cy="365760"/>
          </a:xfrm>
          <a:prstGeom xmlns:a="http://schemas.openxmlformats.org/drawingml/2006/main" prst="ellipse">
            <a:avLst/>
          </a:prstGeom>
          <a:solidFill xmlns:a="http://schemas.openxmlformats.org/drawingml/2006/main">
            <a:srgbClr val="1F9D57"/>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Arial"/>
                <a:ea typeface="Arial"/>
                <a:cs typeface="Arial"/>
              </a:rPr>
              <a:t>✓</a:t>
            </a:r>
          </a:p>
        </p:txBody>
      </p:sp>
      <p:sp>
        <p:nvSpPr>
          <p:cNvPr id="26" name="Text 24">
            <a:extLst xmlns:a="http://schemas.openxmlformats.org/drawingml/2006/main">
              <a:ext uri="{FF2B5EF4-FFF2-40B4-BE49-F238E27FC236}">
                <a16:creationId xmlns:a16="http://schemas.microsoft.com/office/drawing/2014/main" id="{5BFA0D4F-FFD0-4DAB-AD23-52B8BD540C1C}"/>
              </a:ext>
            </a:extLst>
          </p:cNvPr>
          <p:cNvSpPr>
            <a:spLocks xmlns:a="http://schemas.openxmlformats.org/drawingml/2006/main" noGrp="1"/>
          </p:cNvSpPr>
          <p:nvPr/>
        </p:nvSpPr>
        <p:spPr>
          <a:xfrm xmlns:a="http://schemas.openxmlformats.org/drawingml/2006/main">
            <a:off x="8389925" y="4800600"/>
            <a:ext cx="297881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400" b="1">
                <a:solidFill>
                  <a:srgbClr val="0D0C0A"/>
                </a:solidFill>
                <a:latin typeface="Arial"/>
                <a:ea typeface="Arial"/>
                <a:cs typeface="Arial"/>
              </a:rPr>
              <a:t>Responsive and static</a:t>
            </a:r>
          </a:p>
        </p:txBody>
      </p:sp>
      <p:sp>
        <p:nvSpPr>
          <p:cNvPr id="27" name="Text 25">
            <a:extLst xmlns:a="http://schemas.openxmlformats.org/drawingml/2006/main">
              <a:ext uri="{FF2B5EF4-FFF2-40B4-BE49-F238E27FC236}">
                <a16:creationId xmlns:a16="http://schemas.microsoft.com/office/drawing/2014/main" id="{E5DEE1E8-8B38-47AA-A9E2-10B5FE33CF4C}"/>
              </a:ext>
            </a:extLst>
          </p:cNvPr>
          <p:cNvSpPr>
            <a:spLocks xmlns:a="http://schemas.openxmlformats.org/drawingml/2006/main" noGrp="1"/>
          </p:cNvSpPr>
          <p:nvPr/>
        </p:nvSpPr>
        <p:spPr>
          <a:xfrm xmlns:a="http://schemas.openxmlformats.org/drawingml/2006/main">
            <a:off x="8389925" y="5257800"/>
            <a:ext cx="297881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050">
                <a:solidFill>
                  <a:srgbClr val="6B675F"/>
                </a:solidFill>
                <a:latin typeface="Arial"/>
                <a:ea typeface="Arial"/>
                <a:cs typeface="Arial"/>
              </a:rPr>
              <a:t>Works at 360, 768 and 1440, no backend, consistent sample data throughout.</a:t>
            </a:r>
          </a:p>
        </p:txBody>
      </p:sp>
      <p:sp>
        <p:nvSpPr>
          <p:cNvPr id="28" name="Text 26">
            <a:extLst xmlns:a="http://schemas.openxmlformats.org/drawingml/2006/main">
              <a:ext uri="{FF2B5EF4-FFF2-40B4-BE49-F238E27FC236}">
                <a16:creationId xmlns:a16="http://schemas.microsoft.com/office/drawing/2014/main" id="{3EC899AD-F5EF-44DB-A1FC-1042DAA5D979}"/>
              </a:ext>
            </a:extLst>
          </p:cNvPr>
          <p:cNvSpPr>
            <a:spLocks xmlns:a="http://schemas.openxmlformats.org/drawingml/2006/main" noGrp="1"/>
          </p:cNvSpPr>
          <p:nvPr/>
        </p:nvSpPr>
        <p:spPr>
          <a:xfrm xmlns:a="http://schemas.openxmlformats.org/drawingml/2006/main">
            <a:off x="8351215" y="6382512"/>
            <a:ext cx="327355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b="1">
                <a:solidFill>
                  <a:srgbClr val="9A968C"/>
                </a:solidFill>
                <a:latin typeface="Arial"/>
                <a:ea typeface="Arial"/>
                <a:cs typeface="Arial"/>
              </a:rPr>
              <a:t>INFLUENCEES</a:t>
            </a:r>
            <a:r>
              <a:rPr sz="950" b="1">
                <a:solidFill>
                  <a:srgbClr val="6B675F"/>
                </a:solidFill>
                <a:latin typeface="Arial"/>
                <a:ea typeface="Arial"/>
                <a:cs typeface="Arial"/>
              </a:rPr>
              <a:t>   09 / 10</a:t>
            </a:r>
          </a:p>
        </p:txBody>
      </p:sp>
      <p:sp>
        <p:nvSpPr>
          <p:cNvPr id="29" name="white-canvas-9">
            <a:extLst xmlns:a="http://schemas.openxmlformats.org/drawingml/2006/main">
              <a:ext uri="{FF2B5EF4-FFF2-40B4-BE49-F238E27FC236}">
                <a16:creationId xmlns:a16="http://schemas.microsoft.com/office/drawing/2014/main" id="{2057D011-427A-4321-9331-F1F8620C8AE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 name="section-badge">
            <a:extLst xmlns:a="http://schemas.openxmlformats.org/drawingml/2006/main">
              <a:ext uri="{FF2B5EF4-FFF2-40B4-BE49-F238E27FC236}">
                <a16:creationId xmlns:a16="http://schemas.microsoft.com/office/drawing/2014/main" id="{DB35DD6D-0AA4-4FEE-9C74-22C8D99006B0}"/>
              </a:ext>
            </a:extLst>
          </p:cNvPr>
          <p:cNvSpPr>
            <a:spLocks xmlns:a="http://schemas.openxmlformats.org/drawingml/2006/main" noGrp="1"/>
          </p:cNvSpPr>
          <p:nvPr/>
        </p:nvSpPr>
        <p:spPr>
          <a:xfrm xmlns:a="http://schemas.openxmlformats.org/drawingml/2006/main">
            <a:off x="4191000" y="3238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1200" b="1">
                <a:solidFill>
                  <a:srgbClr val="7C5CFC"/>
                </a:solidFill>
                <a:latin typeface="Inter"/>
                <a:ea typeface="Inter"/>
                <a:cs typeface="Inter"/>
              </a:defRPr>
            </a:pPr>
            <a:r>
              <a:rPr sz="1200" b="1">
                <a:solidFill>
                  <a:srgbClr val="7C5CFC"/>
                </a:solidFill>
                <a:latin typeface="Inter"/>
                <a:ea typeface="Inter"/>
                <a:cs typeface="Inter"/>
              </a:rPr>
              <a:t>SOLUTION 02 · WHY IT WORKS</a:t>
            </a:r>
          </a:p>
        </p:txBody>
      </p:sp>
      <p:sp>
        <p:nvSpPr>
          <p:cNvPr id="31" name="slide-title">
            <a:extLst xmlns:a="http://schemas.openxmlformats.org/drawingml/2006/main">
              <a:ext uri="{FF2B5EF4-FFF2-40B4-BE49-F238E27FC236}">
                <a16:creationId xmlns:a16="http://schemas.microsoft.com/office/drawing/2014/main" id="{DA447AD3-CF77-4F63-A0F3-D43B993D2C2C}"/>
              </a:ext>
            </a:extLst>
          </p:cNvPr>
          <p:cNvSpPr>
            <a:spLocks xmlns:a="http://schemas.openxmlformats.org/drawingml/2006/main" noGrp="1"/>
          </p:cNvSpPr>
          <p:nvPr/>
        </p:nvSpPr>
        <p:spPr>
          <a:xfrm xmlns:a="http://schemas.openxmlformats.org/drawingml/2006/main">
            <a:off x="952500" y="6858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3300" b="0">
                <a:solidFill>
                  <a:srgbClr val="0F172A"/>
                </a:solidFill>
                <a:latin typeface="Inter"/>
                <a:ea typeface="Inter"/>
                <a:cs typeface="Inter"/>
              </a:defRPr>
            </a:pPr>
            <a:r>
              <a:rPr sz="3300" b="0">
                <a:solidFill>
                  <a:srgbClr val="0F172A"/>
                </a:solidFill>
                <a:latin typeface="Inter"/>
                <a:ea typeface="Inter"/>
                <a:cs typeface="Inter"/>
              </a:rPr>
              <a:t>The redesign fixes the journey—not just the paint.</a:t>
            </a:r>
          </a:p>
        </p:txBody>
      </p:sp>
      <p:sp>
        <p:nvSpPr>
          <p:cNvPr id="32" name="slide-subtitle">
            <a:extLst xmlns:a="http://schemas.openxmlformats.org/drawingml/2006/main">
              <a:ext uri="{FF2B5EF4-FFF2-40B4-BE49-F238E27FC236}">
                <a16:creationId xmlns:a16="http://schemas.microsoft.com/office/drawing/2014/main" id="{EBE83B91-F6CC-4D7D-950C-38B59CA5BEC2}"/>
              </a:ext>
            </a:extLst>
          </p:cNvPr>
          <p:cNvSpPr>
            <a:spLocks xmlns:a="http://schemas.openxmlformats.org/drawingml/2006/main" noGrp="1"/>
          </p:cNvSpPr>
          <p:nvPr/>
        </p:nvSpPr>
        <p:spPr>
          <a:xfrm xmlns:a="http://schemas.openxmlformats.org/drawingml/2006/main">
            <a:off x="1333500" y="1333500"/>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22000"/>
              </a:lnSpc>
              <a:buNone/>
              <a:defRPr sz="1575" b="0">
                <a:solidFill>
                  <a:srgbClr val="64748B"/>
                </a:solidFill>
                <a:latin typeface="Inter"/>
                <a:ea typeface="Inter"/>
                <a:cs typeface="Inter"/>
              </a:defRPr>
            </a:pPr>
            <a:r>
              <a:rPr sz="1575" b="0">
                <a:solidFill>
                  <a:srgbClr val="64748B"/>
                </a:solidFill>
                <a:latin typeface="Inter"/>
                <a:ea typeface="Inter"/>
                <a:cs typeface="Inter"/>
              </a:rPr>
              <a:t>Each decision makes Influencees easier to understand, trust and use.</a:t>
            </a:r>
          </a:p>
        </p:txBody>
      </p:sp>
      <p:sp>
        <p:nvSpPr>
          <p:cNvPr id="33" name="outcome-card-0">
            <a:extLst xmlns:a="http://schemas.openxmlformats.org/drawingml/2006/main">
              <a:ext uri="{FF2B5EF4-FFF2-40B4-BE49-F238E27FC236}">
                <a16:creationId xmlns:a16="http://schemas.microsoft.com/office/drawing/2014/main" id="{B3B4D4D5-19C6-452D-8045-D3FFE6E63E5A}"/>
              </a:ext>
            </a:extLst>
          </p:cNvPr>
          <p:cNvSpPr>
            <a:spLocks xmlns:a="http://schemas.openxmlformats.org/drawingml/2006/main" noGrp="1"/>
          </p:cNvSpPr>
          <p:nvPr/>
        </p:nvSpPr>
        <p:spPr>
          <a:xfrm xmlns:a="http://schemas.openxmlformats.org/drawingml/2006/main">
            <a:off x="647700" y="2343150"/>
            <a:ext cx="3543300" cy="1504950"/>
          </a:xfrm>
          <a:prstGeom xmlns:a="http://schemas.openxmlformats.org/drawingml/2006/main" prst="roundRect">
            <a:avLst>
              <a:gd name="adj" fmla="val 12658"/>
            </a:avLst>
          </a:prstGeom>
          <a:solidFill xmlns:a="http://schemas.openxmlformats.org/drawingml/2006/main">
            <a:srgbClr val="FFF7E6"/>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4" name="outcome-check-0">
            <a:extLst xmlns:a="http://schemas.openxmlformats.org/drawingml/2006/main">
              <a:ext uri="{FF2B5EF4-FFF2-40B4-BE49-F238E27FC236}">
                <a16:creationId xmlns:a16="http://schemas.microsoft.com/office/drawing/2014/main" id="{42803041-681D-478B-998B-7644C2C8B1FD}"/>
              </a:ext>
            </a:extLst>
          </p:cNvPr>
          <p:cNvSpPr>
            <a:spLocks xmlns:a="http://schemas.openxmlformats.org/drawingml/2006/main" noGrp="1"/>
          </p:cNvSpPr>
          <p:nvPr/>
        </p:nvSpPr>
        <p:spPr>
          <a:xfrm xmlns:a="http://schemas.openxmlformats.org/drawingml/2006/main">
            <a:off x="876300" y="2552700"/>
            <a:ext cx="285750" cy="285750"/>
          </a:xfrm>
          <a:prstGeom xmlns:a="http://schemas.openxmlformats.org/drawingml/2006/main" prst="ellipse">
            <a:avLst/>
          </a:prstGeom>
          <a:solidFill xmlns:a="http://schemas.openxmlformats.org/drawingml/2006/main">
            <a:srgbClr val="22A06B"/>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a:t>
            </a:r>
          </a:p>
        </p:txBody>
      </p:sp>
      <p:sp>
        <p:nvSpPr>
          <p:cNvPr id="35" name="outcome-title-0">
            <a:extLst xmlns:a="http://schemas.openxmlformats.org/drawingml/2006/main">
              <a:ext uri="{FF2B5EF4-FFF2-40B4-BE49-F238E27FC236}">
                <a16:creationId xmlns:a16="http://schemas.microsoft.com/office/drawing/2014/main" id="{E01FF503-7B18-4E91-8058-0E1E30CC7008}"/>
              </a:ext>
            </a:extLst>
          </p:cNvPr>
          <p:cNvSpPr>
            <a:spLocks xmlns:a="http://schemas.openxmlformats.org/drawingml/2006/main" noGrp="1"/>
          </p:cNvSpPr>
          <p:nvPr/>
        </p:nvSpPr>
        <p:spPr>
          <a:xfrm xmlns:a="http://schemas.openxmlformats.org/drawingml/2006/main">
            <a:off x="1314450" y="2524125"/>
            <a:ext cx="2647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75" b="1">
                <a:solidFill>
                  <a:srgbClr val="1E293B"/>
                </a:solidFill>
                <a:latin typeface="Inter"/>
                <a:ea typeface="Inter"/>
                <a:cs typeface="Inter"/>
              </a:defRPr>
            </a:pPr>
            <a:r>
              <a:rPr sz="1575" b="1">
                <a:solidFill>
                  <a:srgbClr val="1E293B"/>
                </a:solidFill>
                <a:latin typeface="Inter"/>
                <a:ea typeface="Inter"/>
                <a:cs typeface="Inter"/>
              </a:rPr>
              <a:t>One canonical price set</a:t>
            </a:r>
          </a:p>
        </p:txBody>
      </p:sp>
      <p:sp>
        <p:nvSpPr>
          <p:cNvPr id="36" name="outcome-body-0">
            <a:extLst xmlns:a="http://schemas.openxmlformats.org/drawingml/2006/main">
              <a:ext uri="{FF2B5EF4-FFF2-40B4-BE49-F238E27FC236}">
                <a16:creationId xmlns:a16="http://schemas.microsoft.com/office/drawing/2014/main" id="{B1BBA6D3-5769-478B-BFB4-20782565EDCE}"/>
              </a:ext>
            </a:extLst>
          </p:cNvPr>
          <p:cNvSpPr>
            <a:spLocks xmlns:a="http://schemas.openxmlformats.org/drawingml/2006/main" noGrp="1"/>
          </p:cNvSpPr>
          <p:nvPr/>
        </p:nvSpPr>
        <p:spPr>
          <a:xfrm xmlns:a="http://schemas.openxmlformats.org/drawingml/2006/main">
            <a:off x="876300" y="3086100"/>
            <a:ext cx="308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6000"/>
              </a:lnSpc>
              <a:buNone/>
              <a:defRPr sz="1275" b="0">
                <a:solidFill>
                  <a:srgbClr val="64748B"/>
                </a:solidFill>
                <a:latin typeface="Inter"/>
                <a:ea typeface="Inter"/>
                <a:cs typeface="Inter"/>
              </a:defRPr>
            </a:pPr>
            <a:r>
              <a:rPr sz="1275" b="0">
                <a:solidFill>
                  <a:srgbClr val="64748B"/>
                </a:solidFill>
                <a:latin typeface="Inter"/>
                <a:ea typeface="Inter"/>
                <a:cs typeface="Inter"/>
              </a:rPr>
              <a:t>$49 / $119 / $249 for brands; Free / $16 for creators.</a:t>
            </a:r>
          </a:p>
        </p:txBody>
      </p:sp>
      <p:sp>
        <p:nvSpPr>
          <p:cNvPr id="37" name="outcome-card-1">
            <a:extLst xmlns:a="http://schemas.openxmlformats.org/drawingml/2006/main">
              <a:ext uri="{FF2B5EF4-FFF2-40B4-BE49-F238E27FC236}">
                <a16:creationId xmlns:a16="http://schemas.microsoft.com/office/drawing/2014/main" id="{5C3E5E73-5F48-4D0A-BCB6-64525E435FAE}"/>
              </a:ext>
            </a:extLst>
          </p:cNvPr>
          <p:cNvSpPr>
            <a:spLocks xmlns:a="http://schemas.openxmlformats.org/drawingml/2006/main" noGrp="1"/>
          </p:cNvSpPr>
          <p:nvPr/>
        </p:nvSpPr>
        <p:spPr>
          <a:xfrm xmlns:a="http://schemas.openxmlformats.org/drawingml/2006/main">
            <a:off x="4476750" y="2343150"/>
            <a:ext cx="3543300" cy="1504950"/>
          </a:xfrm>
          <a:prstGeom xmlns:a="http://schemas.openxmlformats.org/drawingml/2006/main" prst="roundRect">
            <a:avLst>
              <a:gd name="adj" fmla="val 12658"/>
            </a:avLst>
          </a:prstGeom>
          <a:solidFill xmlns:a="http://schemas.openxmlformats.org/drawingml/2006/main">
            <a:srgbClr val="F7EEFB"/>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8" name="outcome-check-1">
            <a:extLst xmlns:a="http://schemas.openxmlformats.org/drawingml/2006/main">
              <a:ext uri="{FF2B5EF4-FFF2-40B4-BE49-F238E27FC236}">
                <a16:creationId xmlns:a16="http://schemas.microsoft.com/office/drawing/2014/main" id="{3288CB7E-8EEB-46C6-863D-4FC1838CE1A4}"/>
              </a:ext>
            </a:extLst>
          </p:cNvPr>
          <p:cNvSpPr>
            <a:spLocks xmlns:a="http://schemas.openxmlformats.org/drawingml/2006/main" noGrp="1"/>
          </p:cNvSpPr>
          <p:nvPr/>
        </p:nvSpPr>
        <p:spPr>
          <a:xfrm xmlns:a="http://schemas.openxmlformats.org/drawingml/2006/main">
            <a:off x="4705350" y="2552700"/>
            <a:ext cx="285750" cy="285750"/>
          </a:xfrm>
          <a:prstGeom xmlns:a="http://schemas.openxmlformats.org/drawingml/2006/main" prst="ellipse">
            <a:avLst/>
          </a:prstGeom>
          <a:solidFill xmlns:a="http://schemas.openxmlformats.org/drawingml/2006/main">
            <a:srgbClr val="22A06B"/>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a:t>
            </a:r>
          </a:p>
        </p:txBody>
      </p:sp>
      <p:sp>
        <p:nvSpPr>
          <p:cNvPr id="39" name="outcome-title-1">
            <a:extLst xmlns:a="http://schemas.openxmlformats.org/drawingml/2006/main">
              <a:ext uri="{FF2B5EF4-FFF2-40B4-BE49-F238E27FC236}">
                <a16:creationId xmlns:a16="http://schemas.microsoft.com/office/drawing/2014/main" id="{96ECAF30-9769-497A-9202-6B83D163C3C2}"/>
              </a:ext>
            </a:extLst>
          </p:cNvPr>
          <p:cNvSpPr>
            <a:spLocks xmlns:a="http://schemas.openxmlformats.org/drawingml/2006/main" noGrp="1"/>
          </p:cNvSpPr>
          <p:nvPr/>
        </p:nvSpPr>
        <p:spPr>
          <a:xfrm xmlns:a="http://schemas.openxmlformats.org/drawingml/2006/main">
            <a:off x="5143500" y="2524125"/>
            <a:ext cx="2647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75" b="1">
                <a:solidFill>
                  <a:srgbClr val="1E293B"/>
                </a:solidFill>
                <a:latin typeface="Inter"/>
                <a:ea typeface="Inter"/>
                <a:cs typeface="Inter"/>
              </a:defRPr>
            </a:pPr>
            <a:r>
              <a:rPr sz="1575" b="1">
                <a:solidFill>
                  <a:srgbClr val="1E293B"/>
                </a:solidFill>
                <a:latin typeface="Inter"/>
                <a:ea typeface="Inter"/>
                <a:cs typeface="Inter"/>
              </a:rPr>
              <a:t>Honest feature labels</a:t>
            </a:r>
          </a:p>
        </p:txBody>
      </p:sp>
      <p:sp>
        <p:nvSpPr>
          <p:cNvPr id="40" name="outcome-body-1">
            <a:extLst xmlns:a="http://schemas.openxmlformats.org/drawingml/2006/main">
              <a:ext uri="{FF2B5EF4-FFF2-40B4-BE49-F238E27FC236}">
                <a16:creationId xmlns:a16="http://schemas.microsoft.com/office/drawing/2014/main" id="{C5EEA0AF-EB5F-4CE5-BF78-BA1FC1B83AC0}"/>
              </a:ext>
            </a:extLst>
          </p:cNvPr>
          <p:cNvSpPr>
            <a:spLocks xmlns:a="http://schemas.openxmlformats.org/drawingml/2006/main" noGrp="1"/>
          </p:cNvSpPr>
          <p:nvPr/>
        </p:nvSpPr>
        <p:spPr>
          <a:xfrm xmlns:a="http://schemas.openxmlformats.org/drawingml/2006/main">
            <a:off x="4705350" y="3086100"/>
            <a:ext cx="308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6000"/>
              </a:lnSpc>
              <a:buNone/>
              <a:defRPr sz="1275" b="0">
                <a:solidFill>
                  <a:srgbClr val="64748B"/>
                </a:solidFill>
                <a:latin typeface="Inter"/>
                <a:ea typeface="Inter"/>
                <a:cs typeface="Inter"/>
              </a:defRPr>
            </a:pPr>
            <a:r>
              <a:rPr sz="1275" b="0">
                <a:solidFill>
                  <a:srgbClr val="64748B"/>
                </a:solidFill>
                <a:latin typeface="Inter"/>
                <a:ea typeface="Inter"/>
                <a:cs typeface="Inter"/>
              </a:rPr>
              <a:t>LIVE, BETA and SOON appear consistently across the experience.</a:t>
            </a:r>
          </a:p>
        </p:txBody>
      </p:sp>
      <p:sp>
        <p:nvSpPr>
          <p:cNvPr id="41" name="outcome-card-2">
            <a:extLst xmlns:a="http://schemas.openxmlformats.org/drawingml/2006/main">
              <a:ext uri="{FF2B5EF4-FFF2-40B4-BE49-F238E27FC236}">
                <a16:creationId xmlns:a16="http://schemas.microsoft.com/office/drawing/2014/main" id="{17C078F8-C18A-483E-9E15-DCEBAEEFE1B9}"/>
              </a:ext>
            </a:extLst>
          </p:cNvPr>
          <p:cNvSpPr>
            <a:spLocks xmlns:a="http://schemas.openxmlformats.org/drawingml/2006/main" noGrp="1"/>
          </p:cNvSpPr>
          <p:nvPr/>
        </p:nvSpPr>
        <p:spPr>
          <a:xfrm xmlns:a="http://schemas.openxmlformats.org/drawingml/2006/main">
            <a:off x="8305800" y="2343150"/>
            <a:ext cx="3543300" cy="1504950"/>
          </a:xfrm>
          <a:prstGeom xmlns:a="http://schemas.openxmlformats.org/drawingml/2006/main" prst="roundRect">
            <a:avLst>
              <a:gd name="adj" fmla="val 12658"/>
            </a:avLst>
          </a:prstGeom>
          <a:solidFill xmlns:a="http://schemas.openxmlformats.org/drawingml/2006/main">
            <a:srgbClr val="EEF3FF"/>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2" name="outcome-check-2">
            <a:extLst xmlns:a="http://schemas.openxmlformats.org/drawingml/2006/main">
              <a:ext uri="{FF2B5EF4-FFF2-40B4-BE49-F238E27FC236}">
                <a16:creationId xmlns:a16="http://schemas.microsoft.com/office/drawing/2014/main" id="{BA6C036A-E859-464F-8FFA-40EA3026D593}"/>
              </a:ext>
            </a:extLst>
          </p:cNvPr>
          <p:cNvSpPr>
            <a:spLocks xmlns:a="http://schemas.openxmlformats.org/drawingml/2006/main" noGrp="1"/>
          </p:cNvSpPr>
          <p:nvPr/>
        </p:nvSpPr>
        <p:spPr>
          <a:xfrm xmlns:a="http://schemas.openxmlformats.org/drawingml/2006/main">
            <a:off x="8534400" y="2552700"/>
            <a:ext cx="285750" cy="285750"/>
          </a:xfrm>
          <a:prstGeom xmlns:a="http://schemas.openxmlformats.org/drawingml/2006/main" prst="ellipse">
            <a:avLst/>
          </a:prstGeom>
          <a:solidFill xmlns:a="http://schemas.openxmlformats.org/drawingml/2006/main">
            <a:srgbClr val="22A06B"/>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a:t>
            </a:r>
          </a:p>
        </p:txBody>
      </p:sp>
      <p:sp>
        <p:nvSpPr>
          <p:cNvPr id="43" name="outcome-title-2">
            <a:extLst xmlns:a="http://schemas.openxmlformats.org/drawingml/2006/main">
              <a:ext uri="{FF2B5EF4-FFF2-40B4-BE49-F238E27FC236}">
                <a16:creationId xmlns:a16="http://schemas.microsoft.com/office/drawing/2014/main" id="{43C5195C-E459-40E7-AD91-A6F0F9B499EF}"/>
              </a:ext>
            </a:extLst>
          </p:cNvPr>
          <p:cNvSpPr>
            <a:spLocks xmlns:a="http://schemas.openxmlformats.org/drawingml/2006/main" noGrp="1"/>
          </p:cNvSpPr>
          <p:nvPr/>
        </p:nvSpPr>
        <p:spPr>
          <a:xfrm xmlns:a="http://schemas.openxmlformats.org/drawingml/2006/main">
            <a:off x="8972550" y="2524125"/>
            <a:ext cx="2647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75" b="1">
                <a:solidFill>
                  <a:srgbClr val="1E293B"/>
                </a:solidFill>
                <a:latin typeface="Inter"/>
                <a:ea typeface="Inter"/>
                <a:cs typeface="Inter"/>
              </a:defRPr>
            </a:pPr>
            <a:r>
              <a:rPr sz="1575" b="1">
                <a:solidFill>
                  <a:srgbClr val="1E293B"/>
                </a:solidFill>
                <a:latin typeface="Inter"/>
                <a:ea typeface="Inter"/>
                <a:cs typeface="Inter"/>
              </a:rPr>
              <a:t>Brand and creator paths split</a:t>
            </a:r>
          </a:p>
        </p:txBody>
      </p:sp>
      <p:sp>
        <p:nvSpPr>
          <p:cNvPr id="44" name="outcome-body-2">
            <a:extLst xmlns:a="http://schemas.openxmlformats.org/drawingml/2006/main">
              <a:ext uri="{FF2B5EF4-FFF2-40B4-BE49-F238E27FC236}">
                <a16:creationId xmlns:a16="http://schemas.microsoft.com/office/drawing/2014/main" id="{DF1422F1-39CB-493A-B04F-E47D6759DE26}"/>
              </a:ext>
            </a:extLst>
          </p:cNvPr>
          <p:cNvSpPr>
            <a:spLocks xmlns:a="http://schemas.openxmlformats.org/drawingml/2006/main" noGrp="1"/>
          </p:cNvSpPr>
          <p:nvPr/>
        </p:nvSpPr>
        <p:spPr>
          <a:xfrm xmlns:a="http://schemas.openxmlformats.org/drawingml/2006/main">
            <a:off x="8534400" y="3086100"/>
            <a:ext cx="308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6000"/>
              </a:lnSpc>
              <a:buNone/>
              <a:defRPr sz="1275" b="0">
                <a:solidFill>
                  <a:srgbClr val="64748B"/>
                </a:solidFill>
                <a:latin typeface="Inter"/>
                <a:ea typeface="Inter"/>
                <a:cs typeface="Inter"/>
              </a:defRPr>
            </a:pPr>
            <a:r>
              <a:rPr sz="1275" b="0">
                <a:solidFill>
                  <a:srgbClr val="64748B"/>
                </a:solidFill>
                <a:latin typeface="Inter"/>
                <a:ea typeface="Inter"/>
                <a:cs typeface="Inter"/>
              </a:rPr>
              <a:t>Each audience gets its own language, proof and next step.</a:t>
            </a:r>
          </a:p>
        </p:txBody>
      </p:sp>
      <p:sp>
        <p:nvSpPr>
          <p:cNvPr id="45" name="outcome-card-3">
            <a:extLst xmlns:a="http://schemas.openxmlformats.org/drawingml/2006/main">
              <a:ext uri="{FF2B5EF4-FFF2-40B4-BE49-F238E27FC236}">
                <a16:creationId xmlns:a16="http://schemas.microsoft.com/office/drawing/2014/main" id="{97704488-9AF3-42BF-826C-07727A07E2C3}"/>
              </a:ext>
            </a:extLst>
          </p:cNvPr>
          <p:cNvSpPr>
            <a:spLocks xmlns:a="http://schemas.openxmlformats.org/drawingml/2006/main" noGrp="1"/>
          </p:cNvSpPr>
          <p:nvPr/>
        </p:nvSpPr>
        <p:spPr>
          <a:xfrm xmlns:a="http://schemas.openxmlformats.org/drawingml/2006/main">
            <a:off x="647700" y="4095750"/>
            <a:ext cx="3543300" cy="1504950"/>
          </a:xfrm>
          <a:prstGeom xmlns:a="http://schemas.openxmlformats.org/drawingml/2006/main" prst="roundRect">
            <a:avLst>
              <a:gd name="adj" fmla="val 12658"/>
            </a:avLst>
          </a:prstGeom>
          <a:solidFill xmlns:a="http://schemas.openxmlformats.org/drawingml/2006/main">
            <a:srgbClr val="FFF7E6"/>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6" name="outcome-check-3">
            <a:extLst xmlns:a="http://schemas.openxmlformats.org/drawingml/2006/main">
              <a:ext uri="{FF2B5EF4-FFF2-40B4-BE49-F238E27FC236}">
                <a16:creationId xmlns:a16="http://schemas.microsoft.com/office/drawing/2014/main" id="{C125C153-C816-42A2-824E-57B7D2841E50}"/>
              </a:ext>
            </a:extLst>
          </p:cNvPr>
          <p:cNvSpPr>
            <a:spLocks xmlns:a="http://schemas.openxmlformats.org/drawingml/2006/main" noGrp="1"/>
          </p:cNvSpPr>
          <p:nvPr/>
        </p:nvSpPr>
        <p:spPr>
          <a:xfrm xmlns:a="http://schemas.openxmlformats.org/drawingml/2006/main">
            <a:off x="876300" y="4305300"/>
            <a:ext cx="285750" cy="285750"/>
          </a:xfrm>
          <a:prstGeom xmlns:a="http://schemas.openxmlformats.org/drawingml/2006/main" prst="ellipse">
            <a:avLst/>
          </a:prstGeom>
          <a:solidFill xmlns:a="http://schemas.openxmlformats.org/drawingml/2006/main">
            <a:srgbClr val="22A06B"/>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a:t>
            </a:r>
          </a:p>
        </p:txBody>
      </p:sp>
      <p:sp>
        <p:nvSpPr>
          <p:cNvPr id="47" name="outcome-title-3">
            <a:extLst xmlns:a="http://schemas.openxmlformats.org/drawingml/2006/main">
              <a:ext uri="{FF2B5EF4-FFF2-40B4-BE49-F238E27FC236}">
                <a16:creationId xmlns:a16="http://schemas.microsoft.com/office/drawing/2014/main" id="{14E44B84-C33A-46FD-9133-59B1D0FE6B13}"/>
              </a:ext>
            </a:extLst>
          </p:cNvPr>
          <p:cNvSpPr>
            <a:spLocks xmlns:a="http://schemas.openxmlformats.org/drawingml/2006/main" noGrp="1"/>
          </p:cNvSpPr>
          <p:nvPr/>
        </p:nvSpPr>
        <p:spPr>
          <a:xfrm xmlns:a="http://schemas.openxmlformats.org/drawingml/2006/main">
            <a:off x="1314450" y="4276725"/>
            <a:ext cx="2647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75" b="1">
                <a:solidFill>
                  <a:srgbClr val="1E293B"/>
                </a:solidFill>
                <a:latin typeface="Inter"/>
                <a:ea typeface="Inter"/>
                <a:cs typeface="Inter"/>
              </a:defRPr>
            </a:pPr>
            <a:r>
              <a:rPr sz="1575" b="1">
                <a:solidFill>
                  <a:srgbClr val="1E293B"/>
                </a:solidFill>
                <a:latin typeface="Inter"/>
                <a:ea typeface="Inter"/>
                <a:cs typeface="Inter"/>
              </a:rPr>
              <a:t>Value proposition leads</a:t>
            </a:r>
          </a:p>
        </p:txBody>
      </p:sp>
      <p:sp>
        <p:nvSpPr>
          <p:cNvPr id="48" name="outcome-body-3">
            <a:extLst xmlns:a="http://schemas.openxmlformats.org/drawingml/2006/main">
              <a:ext uri="{FF2B5EF4-FFF2-40B4-BE49-F238E27FC236}">
                <a16:creationId xmlns:a16="http://schemas.microsoft.com/office/drawing/2014/main" id="{CE4BBD76-7A9C-4DB6-B3E7-DCFC955F54B2}"/>
              </a:ext>
            </a:extLst>
          </p:cNvPr>
          <p:cNvSpPr>
            <a:spLocks xmlns:a="http://schemas.openxmlformats.org/drawingml/2006/main" noGrp="1"/>
          </p:cNvSpPr>
          <p:nvPr/>
        </p:nvSpPr>
        <p:spPr>
          <a:xfrm xmlns:a="http://schemas.openxmlformats.org/drawingml/2006/main">
            <a:off x="876300" y="4838700"/>
            <a:ext cx="308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6000"/>
              </a:lnSpc>
              <a:buNone/>
              <a:defRPr sz="1275" b="0">
                <a:solidFill>
                  <a:srgbClr val="64748B"/>
                </a:solidFill>
                <a:latin typeface="Inter"/>
                <a:ea typeface="Inter"/>
                <a:cs typeface="Inter"/>
              </a:defRPr>
            </a:pPr>
            <a:r>
              <a:rPr sz="1275" b="0">
                <a:solidFill>
                  <a:srgbClr val="64748B"/>
                </a:solidFill>
                <a:latin typeface="Inter"/>
                <a:ea typeface="Inter"/>
                <a:cs typeface="Inter"/>
              </a:rPr>
              <a:t>The homepage sells the platform before supporting content.</a:t>
            </a:r>
          </a:p>
        </p:txBody>
      </p:sp>
      <p:sp>
        <p:nvSpPr>
          <p:cNvPr id="49" name="outcome-card-4">
            <a:extLst xmlns:a="http://schemas.openxmlformats.org/drawingml/2006/main">
              <a:ext uri="{FF2B5EF4-FFF2-40B4-BE49-F238E27FC236}">
                <a16:creationId xmlns:a16="http://schemas.microsoft.com/office/drawing/2014/main" id="{B356E7C0-0DF4-4927-B775-4819B6565176}"/>
              </a:ext>
            </a:extLst>
          </p:cNvPr>
          <p:cNvSpPr>
            <a:spLocks xmlns:a="http://schemas.openxmlformats.org/drawingml/2006/main" noGrp="1"/>
          </p:cNvSpPr>
          <p:nvPr/>
        </p:nvSpPr>
        <p:spPr>
          <a:xfrm xmlns:a="http://schemas.openxmlformats.org/drawingml/2006/main">
            <a:off x="4476750" y="4095750"/>
            <a:ext cx="3543300" cy="1504950"/>
          </a:xfrm>
          <a:prstGeom xmlns:a="http://schemas.openxmlformats.org/drawingml/2006/main" prst="roundRect">
            <a:avLst>
              <a:gd name="adj" fmla="val 12658"/>
            </a:avLst>
          </a:prstGeom>
          <a:solidFill xmlns:a="http://schemas.openxmlformats.org/drawingml/2006/main">
            <a:srgbClr val="F7EEFB"/>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0" name="outcome-check-4">
            <a:extLst xmlns:a="http://schemas.openxmlformats.org/drawingml/2006/main">
              <a:ext uri="{FF2B5EF4-FFF2-40B4-BE49-F238E27FC236}">
                <a16:creationId xmlns:a16="http://schemas.microsoft.com/office/drawing/2014/main" id="{A9BF220C-7D05-48BC-8560-12BCCD56C142}"/>
              </a:ext>
            </a:extLst>
          </p:cNvPr>
          <p:cNvSpPr>
            <a:spLocks xmlns:a="http://schemas.openxmlformats.org/drawingml/2006/main" noGrp="1"/>
          </p:cNvSpPr>
          <p:nvPr/>
        </p:nvSpPr>
        <p:spPr>
          <a:xfrm xmlns:a="http://schemas.openxmlformats.org/drawingml/2006/main">
            <a:off x="4705350" y="4305300"/>
            <a:ext cx="285750" cy="285750"/>
          </a:xfrm>
          <a:prstGeom xmlns:a="http://schemas.openxmlformats.org/drawingml/2006/main" prst="ellipse">
            <a:avLst/>
          </a:prstGeom>
          <a:solidFill xmlns:a="http://schemas.openxmlformats.org/drawingml/2006/main">
            <a:srgbClr val="22A06B"/>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a:t>
            </a:r>
          </a:p>
        </p:txBody>
      </p:sp>
      <p:sp>
        <p:nvSpPr>
          <p:cNvPr id="51" name="outcome-title-4">
            <a:extLst xmlns:a="http://schemas.openxmlformats.org/drawingml/2006/main">
              <a:ext uri="{FF2B5EF4-FFF2-40B4-BE49-F238E27FC236}">
                <a16:creationId xmlns:a16="http://schemas.microsoft.com/office/drawing/2014/main" id="{024FFDBA-C422-4D44-BB9D-C4F1E8D75EBD}"/>
              </a:ext>
            </a:extLst>
          </p:cNvPr>
          <p:cNvSpPr>
            <a:spLocks xmlns:a="http://schemas.openxmlformats.org/drawingml/2006/main" noGrp="1"/>
          </p:cNvSpPr>
          <p:nvPr/>
        </p:nvSpPr>
        <p:spPr>
          <a:xfrm xmlns:a="http://schemas.openxmlformats.org/drawingml/2006/main">
            <a:off x="5143500" y="4276725"/>
            <a:ext cx="2647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75" b="1">
                <a:solidFill>
                  <a:srgbClr val="1E293B"/>
                </a:solidFill>
                <a:latin typeface="Inter"/>
                <a:ea typeface="Inter"/>
                <a:cs typeface="Inter"/>
              </a:defRPr>
            </a:pPr>
            <a:r>
              <a:rPr sz="1575" b="1">
                <a:solidFill>
                  <a:srgbClr val="1E293B"/>
                </a:solidFill>
                <a:latin typeface="Inter"/>
                <a:ea typeface="Inter"/>
                <a:cs typeface="Inter"/>
              </a:rPr>
              <a:t>One design system</a:t>
            </a:r>
          </a:p>
        </p:txBody>
      </p:sp>
      <p:sp>
        <p:nvSpPr>
          <p:cNvPr id="52" name="outcome-body-4">
            <a:extLst xmlns:a="http://schemas.openxmlformats.org/drawingml/2006/main">
              <a:ext uri="{FF2B5EF4-FFF2-40B4-BE49-F238E27FC236}">
                <a16:creationId xmlns:a16="http://schemas.microsoft.com/office/drawing/2014/main" id="{1D56CF6B-D62B-4DD7-B5A4-3B6733A98D8A}"/>
              </a:ext>
            </a:extLst>
          </p:cNvPr>
          <p:cNvSpPr>
            <a:spLocks xmlns:a="http://schemas.openxmlformats.org/drawingml/2006/main" noGrp="1"/>
          </p:cNvSpPr>
          <p:nvPr/>
        </p:nvSpPr>
        <p:spPr>
          <a:xfrm xmlns:a="http://schemas.openxmlformats.org/drawingml/2006/main">
            <a:off x="4705350" y="4838700"/>
            <a:ext cx="308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6000"/>
              </a:lnSpc>
              <a:buNone/>
              <a:defRPr sz="1275" b="0">
                <a:solidFill>
                  <a:srgbClr val="64748B"/>
                </a:solidFill>
                <a:latin typeface="Inter"/>
                <a:ea typeface="Inter"/>
                <a:cs typeface="Inter"/>
              </a:defRPr>
            </a:pPr>
            <a:r>
              <a:rPr sz="1275" b="0">
                <a:solidFill>
                  <a:srgbClr val="64748B"/>
                </a:solidFill>
                <a:latin typeface="Inter"/>
                <a:ea typeface="Inter"/>
                <a:cs typeface="Inter"/>
              </a:rPr>
              <a:t>Shared type, spacing, cards and status chips feel deliberate.</a:t>
            </a:r>
          </a:p>
        </p:txBody>
      </p:sp>
      <p:sp>
        <p:nvSpPr>
          <p:cNvPr id="53" name="outcome-card-5">
            <a:extLst xmlns:a="http://schemas.openxmlformats.org/drawingml/2006/main">
              <a:ext uri="{FF2B5EF4-FFF2-40B4-BE49-F238E27FC236}">
                <a16:creationId xmlns:a16="http://schemas.microsoft.com/office/drawing/2014/main" id="{6F0D05AD-4AA2-458B-B33B-D0A2F1858C77}"/>
              </a:ext>
            </a:extLst>
          </p:cNvPr>
          <p:cNvSpPr>
            <a:spLocks xmlns:a="http://schemas.openxmlformats.org/drawingml/2006/main" noGrp="1"/>
          </p:cNvSpPr>
          <p:nvPr/>
        </p:nvSpPr>
        <p:spPr>
          <a:xfrm xmlns:a="http://schemas.openxmlformats.org/drawingml/2006/main">
            <a:off x="8305800" y="4095750"/>
            <a:ext cx="3543300" cy="1504950"/>
          </a:xfrm>
          <a:prstGeom xmlns:a="http://schemas.openxmlformats.org/drawingml/2006/main" prst="roundRect">
            <a:avLst>
              <a:gd name="adj" fmla="val 12658"/>
            </a:avLst>
          </a:prstGeom>
          <a:solidFill xmlns:a="http://schemas.openxmlformats.org/drawingml/2006/main">
            <a:srgbClr val="EEF3FF"/>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4" name="outcome-check-5">
            <a:extLst xmlns:a="http://schemas.openxmlformats.org/drawingml/2006/main">
              <a:ext uri="{FF2B5EF4-FFF2-40B4-BE49-F238E27FC236}">
                <a16:creationId xmlns:a16="http://schemas.microsoft.com/office/drawing/2014/main" id="{091B4BF3-0C41-435A-AE60-0159A96D3F7E}"/>
              </a:ext>
            </a:extLst>
          </p:cNvPr>
          <p:cNvSpPr>
            <a:spLocks xmlns:a="http://schemas.openxmlformats.org/drawingml/2006/main" noGrp="1"/>
          </p:cNvSpPr>
          <p:nvPr/>
        </p:nvSpPr>
        <p:spPr>
          <a:xfrm xmlns:a="http://schemas.openxmlformats.org/drawingml/2006/main">
            <a:off x="8534400" y="4305300"/>
            <a:ext cx="285750" cy="285750"/>
          </a:xfrm>
          <a:prstGeom xmlns:a="http://schemas.openxmlformats.org/drawingml/2006/main" prst="ellipse">
            <a:avLst/>
          </a:prstGeom>
          <a:solidFill xmlns:a="http://schemas.openxmlformats.org/drawingml/2006/main">
            <a:srgbClr val="22A06B"/>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a:t>
            </a:r>
          </a:p>
        </p:txBody>
      </p:sp>
      <p:sp>
        <p:nvSpPr>
          <p:cNvPr id="55" name="outcome-title-5">
            <a:extLst xmlns:a="http://schemas.openxmlformats.org/drawingml/2006/main">
              <a:ext uri="{FF2B5EF4-FFF2-40B4-BE49-F238E27FC236}">
                <a16:creationId xmlns:a16="http://schemas.microsoft.com/office/drawing/2014/main" id="{D2586644-B252-436B-938B-704605708BA1}"/>
              </a:ext>
            </a:extLst>
          </p:cNvPr>
          <p:cNvSpPr>
            <a:spLocks xmlns:a="http://schemas.openxmlformats.org/drawingml/2006/main" noGrp="1"/>
          </p:cNvSpPr>
          <p:nvPr/>
        </p:nvSpPr>
        <p:spPr>
          <a:xfrm xmlns:a="http://schemas.openxmlformats.org/drawingml/2006/main">
            <a:off x="8972550" y="4276725"/>
            <a:ext cx="2647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75" b="1">
                <a:solidFill>
                  <a:srgbClr val="1E293B"/>
                </a:solidFill>
                <a:latin typeface="Inter"/>
                <a:ea typeface="Inter"/>
                <a:cs typeface="Inter"/>
              </a:defRPr>
            </a:pPr>
            <a:r>
              <a:rPr sz="1575" b="1">
                <a:solidFill>
                  <a:srgbClr val="1E293B"/>
                </a:solidFill>
                <a:latin typeface="Inter"/>
                <a:ea typeface="Inter"/>
                <a:cs typeface="Inter"/>
              </a:rPr>
              <a:t>Responsive and static</a:t>
            </a:r>
          </a:p>
        </p:txBody>
      </p:sp>
      <p:sp>
        <p:nvSpPr>
          <p:cNvPr id="56" name="outcome-body-5">
            <a:extLst xmlns:a="http://schemas.openxmlformats.org/drawingml/2006/main">
              <a:ext uri="{FF2B5EF4-FFF2-40B4-BE49-F238E27FC236}">
                <a16:creationId xmlns:a16="http://schemas.microsoft.com/office/drawing/2014/main" id="{C26A3BB1-04B7-45C3-B6C5-721E48995BBF}"/>
              </a:ext>
            </a:extLst>
          </p:cNvPr>
          <p:cNvSpPr>
            <a:spLocks xmlns:a="http://schemas.openxmlformats.org/drawingml/2006/main" noGrp="1"/>
          </p:cNvSpPr>
          <p:nvPr/>
        </p:nvSpPr>
        <p:spPr>
          <a:xfrm xmlns:a="http://schemas.openxmlformats.org/drawingml/2006/main">
            <a:off x="8534400" y="4838700"/>
            <a:ext cx="308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6000"/>
              </a:lnSpc>
              <a:buNone/>
              <a:defRPr sz="1275" b="0">
                <a:solidFill>
                  <a:srgbClr val="64748B"/>
                </a:solidFill>
                <a:latin typeface="Inter"/>
                <a:ea typeface="Inter"/>
                <a:cs typeface="Inter"/>
              </a:defRPr>
            </a:pPr>
            <a:r>
              <a:rPr sz="1275" b="0">
                <a:solidFill>
                  <a:srgbClr val="64748B"/>
                </a:solidFill>
                <a:latin typeface="Inter"/>
                <a:ea typeface="Inter"/>
                <a:cs typeface="Inter"/>
              </a:rPr>
              <a:t>Designed across 360, 768 and 1440 without a backend.</a:t>
            </a:r>
          </a:p>
        </p:txBody>
      </p:sp>
      <p:sp>
        <p:nvSpPr>
          <p:cNvPr id="57" name="footer-brand">
            <a:extLst xmlns:a="http://schemas.openxmlformats.org/drawingml/2006/main">
              <a:ext uri="{FF2B5EF4-FFF2-40B4-BE49-F238E27FC236}">
                <a16:creationId xmlns:a16="http://schemas.microsoft.com/office/drawing/2014/main" id="{08FD7D70-E3D7-4BE1-9DED-11E41BEED043}"/>
              </a:ext>
            </a:extLst>
          </p:cNvPr>
          <p:cNvSpPr>
            <a:spLocks xmlns:a="http://schemas.openxmlformats.org/drawingml/2006/main" noGrp="1"/>
          </p:cNvSpPr>
          <p:nvPr/>
        </p:nvSpPr>
        <p:spPr>
          <a:xfrm xmlns:a="http://schemas.openxmlformats.org/drawingml/2006/main">
            <a:off x="533400" y="6457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75" b="1">
                <a:solidFill>
                  <a:srgbClr val="94A3B8"/>
                </a:solidFill>
                <a:latin typeface="Inter"/>
                <a:ea typeface="Inter"/>
                <a:cs typeface="Inter"/>
              </a:defRPr>
            </a:pPr>
            <a:r>
              <a:rPr sz="975" b="1">
                <a:solidFill>
                  <a:srgbClr val="94A3B8"/>
                </a:solidFill>
                <a:latin typeface="Inter"/>
                <a:ea typeface="Inter"/>
                <a:cs typeface="Inter"/>
              </a:rPr>
              <a:t>INFLUENCEES</a:t>
            </a:r>
          </a:p>
        </p:txBody>
      </p:sp>
      <p:sp>
        <p:nvSpPr>
          <p:cNvPr id="58" name="footer-page">
            <a:extLst xmlns:a="http://schemas.openxmlformats.org/drawingml/2006/main">
              <a:ext uri="{FF2B5EF4-FFF2-40B4-BE49-F238E27FC236}">
                <a16:creationId xmlns:a16="http://schemas.microsoft.com/office/drawing/2014/main" id="{361D6C04-5836-4B4B-862C-0FF95305A0A8}"/>
              </a:ext>
            </a:extLst>
          </p:cNvPr>
          <p:cNvSpPr>
            <a:spLocks xmlns:a="http://schemas.openxmlformats.org/drawingml/2006/main" noGrp="1"/>
          </p:cNvSpPr>
          <p:nvPr/>
        </p:nvSpPr>
        <p:spPr>
          <a:xfrm xmlns:a="http://schemas.openxmlformats.org/drawingml/2006/main">
            <a:off x="10572750" y="6457950"/>
            <a:ext cx="1085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975" b="1">
                <a:solidFill>
                  <a:srgbClr val="94A3B8"/>
                </a:solidFill>
                <a:latin typeface="Inter"/>
                <a:ea typeface="Inter"/>
                <a:cs typeface="Inter"/>
              </a:defRPr>
            </a:pPr>
            <a:r>
              <a:rPr sz="975" b="1">
                <a:solidFill>
                  <a:srgbClr val="94A3B8"/>
                </a:solidFill>
                <a:latin typeface="Inter"/>
                <a:ea typeface="Inter"/>
                <a:cs typeface="Inter"/>
              </a:rPr>
              <a:t>09 / 10</a:t>
            </a:r>
          </a:p>
        </p:txBody>
      </p:sp>
    </p:spTree>
    <p:extLst>
      <p:ext uri="{BB962C8B-B14F-4D97-AF65-F5344CB8AC3E}">
        <p14:creationId xmlns:p14="http://schemas.microsoft.com/office/powerpoint/2010/main" val="20631291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180C797-1A2E-464F-9325-7EEF4BBAC3B3}"/>
              </a:ext>
            </a:extLst>
          </p:cNvPr>
          <p:cNvSpPr>
            <a:spLocks xmlns:a="http://schemas.openxmlformats.org/drawingml/2006/main" noGrp="1"/>
          </p:cNvSpPr>
          <p:nvPr/>
        </p:nvSpPr>
        <p:spPr>
          <a:xfrm xmlns:a="http://schemas.openxmlformats.org/drawingml/2006/main">
            <a:off x="566928" y="64008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9E86FF"/>
                </a:solidFill>
                <a:latin typeface="Arial"/>
                <a:ea typeface="Arial"/>
                <a:cs typeface="Arial"/>
              </a:rPr>
              <a:t>INFLUENCEES  ·  BUILD REVIEW</a:t>
            </a:r>
          </a:p>
        </p:txBody>
      </p:sp>
      <p:sp>
        <p:nvSpPr>
          <p:cNvPr id="3" name="Text 1">
            <a:extLst xmlns:a="http://schemas.openxmlformats.org/drawingml/2006/main">
              <a:ext uri="{FF2B5EF4-FFF2-40B4-BE49-F238E27FC236}">
                <a16:creationId xmlns:a16="http://schemas.microsoft.com/office/drawing/2014/main" id="{DBEB25D9-C208-40E8-A8CD-36446063D6DE}"/>
              </a:ext>
            </a:extLst>
          </p:cNvPr>
          <p:cNvSpPr>
            <a:spLocks xmlns:a="http://schemas.openxmlformats.org/drawingml/2006/main" noGrp="1"/>
          </p:cNvSpPr>
          <p:nvPr/>
        </p:nvSpPr>
        <p:spPr>
          <a:xfrm xmlns:a="http://schemas.openxmlformats.org/drawingml/2006/main">
            <a:off x="566928" y="1600200"/>
            <a:ext cx="104241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buNone/>
            </a:pPr>
            <a:r>
              <a:rPr sz="3800" b="1">
                <a:solidFill>
                  <a:srgbClr val="FFFFFF"/>
                </a:solidFill>
                <a:latin typeface="Arial"/>
                <a:ea typeface="Arial"/>
                <a:cs typeface="Arial"/>
              </a:rPr>
              <a:t>One track. Two solutions. Both sides of the platform.</a:t>
            </a:r>
          </a:p>
        </p:txBody>
      </p:sp>
      <p:sp>
        <p:nvSpPr>
          <p:cNvPr id="4" name="Shape 2">
            <a:extLst xmlns:a="http://schemas.openxmlformats.org/drawingml/2006/main">
              <a:ext uri="{FF2B5EF4-FFF2-40B4-BE49-F238E27FC236}">
                <a16:creationId xmlns:a16="http://schemas.microsoft.com/office/drawing/2014/main" id="{8B4798A3-3B45-4CF7-B322-E69BC9545204}"/>
              </a:ext>
            </a:extLst>
          </p:cNvPr>
          <p:cNvSpPr>
            <a:spLocks xmlns:a="http://schemas.openxmlformats.org/drawingml/2006/main" noGrp="1"/>
          </p:cNvSpPr>
          <p:nvPr/>
        </p:nvSpPr>
        <p:spPr>
          <a:xfrm xmlns:a="http://schemas.openxmlformats.org/drawingml/2006/main">
            <a:off x="566928" y="3520440"/>
            <a:ext cx="5257800" cy="1965960"/>
          </a:xfrm>
          <a:prstGeom xmlns:a="http://schemas.openxmlformats.org/drawingml/2006/main" prst="roundRect">
            <a:avLst>
              <a:gd name="adj" fmla="val 2093"/>
            </a:avLst>
          </a:prstGeom>
          <a:solidFill xmlns:a="http://schemas.openxmlformats.org/drawingml/2006/main">
            <a:srgbClr val="17161C"/>
          </a:solidFill>
          <a:ln xmlns:a="http://schemas.openxmlformats.org/drawingml/2006/main" w="12700">
            <a:solidFill>
              <a:srgbClr val="2C2A33"/>
            </a:solidFill>
            <a:prstDash val="solid"/>
          </a:ln>
        </p:spPr>
      </p:sp>
      <p:sp>
        <p:nvSpPr>
          <p:cNvPr id="5" name="Text 3">
            <a:extLst xmlns:a="http://schemas.openxmlformats.org/drawingml/2006/main">
              <a:ext uri="{FF2B5EF4-FFF2-40B4-BE49-F238E27FC236}">
                <a16:creationId xmlns:a16="http://schemas.microsoft.com/office/drawing/2014/main" id="{89E65B7A-D546-4CFE-BD75-6D142B1508FE}"/>
              </a:ext>
            </a:extLst>
          </p:cNvPr>
          <p:cNvSpPr>
            <a:spLocks xmlns:a="http://schemas.openxmlformats.org/drawingml/2006/main" noGrp="1"/>
          </p:cNvSpPr>
          <p:nvPr/>
        </p:nvSpPr>
        <p:spPr>
          <a:xfrm xmlns:a="http://schemas.openxmlformats.org/drawingml/2006/main">
            <a:off x="877824" y="3794760"/>
            <a:ext cx="46360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9E86FF"/>
                </a:solidFill>
                <a:latin typeface="Arial"/>
                <a:ea typeface="Arial"/>
                <a:cs typeface="Arial"/>
              </a:rPr>
              <a:t>01  ·  BD Agent</a:t>
            </a:r>
          </a:p>
        </p:txBody>
      </p:sp>
      <p:sp>
        <p:nvSpPr>
          <p:cNvPr id="6" name="Text 4">
            <a:extLst xmlns:a="http://schemas.openxmlformats.org/drawingml/2006/main">
              <a:ext uri="{FF2B5EF4-FFF2-40B4-BE49-F238E27FC236}">
                <a16:creationId xmlns:a16="http://schemas.microsoft.com/office/drawing/2014/main" id="{C837BF49-4AB4-4A69-B4D5-00E46135ECB5}"/>
              </a:ext>
            </a:extLst>
          </p:cNvPr>
          <p:cNvSpPr>
            <a:spLocks xmlns:a="http://schemas.openxmlformats.org/drawingml/2006/main" noGrp="1"/>
          </p:cNvSpPr>
          <p:nvPr/>
        </p:nvSpPr>
        <p:spPr>
          <a:xfrm xmlns:a="http://schemas.openxmlformats.org/drawingml/2006/main">
            <a:off x="877824" y="4297680"/>
            <a:ext cx="463600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0000"/>
              </a:lnSpc>
              <a:buNone/>
            </a:pPr>
            <a:r>
              <a:rPr sz="1200">
                <a:solidFill>
                  <a:srgbClr val="D6D4DA"/>
                </a:solidFill>
                <a:latin typeface="Arial"/>
                <a:ea typeface="Arial"/>
                <a:cs typeface="Arial"/>
              </a:rPr>
              <a:t>A controllable outreach operator: discovers, researches, messages, reads replies and follows up. Demoable end to end today, and built to go live with Bright Data plus a channel adapter.</a:t>
            </a:r>
          </a:p>
        </p:txBody>
      </p:sp>
      <p:sp>
        <p:nvSpPr>
          <p:cNvPr id="7" name="Shape 5">
            <a:extLst xmlns:a="http://schemas.openxmlformats.org/drawingml/2006/main">
              <a:ext uri="{FF2B5EF4-FFF2-40B4-BE49-F238E27FC236}">
                <a16:creationId xmlns:a16="http://schemas.microsoft.com/office/drawing/2014/main" id="{14B3A340-EE7E-408F-9E22-FFF85EB36918}"/>
              </a:ext>
            </a:extLst>
          </p:cNvPr>
          <p:cNvSpPr>
            <a:spLocks xmlns:a="http://schemas.openxmlformats.org/drawingml/2006/main" noGrp="1"/>
          </p:cNvSpPr>
          <p:nvPr/>
        </p:nvSpPr>
        <p:spPr>
          <a:xfrm xmlns:a="http://schemas.openxmlformats.org/drawingml/2006/main">
            <a:off x="6190488" y="3520440"/>
            <a:ext cx="5257800" cy="1965960"/>
          </a:xfrm>
          <a:prstGeom xmlns:a="http://schemas.openxmlformats.org/drawingml/2006/main" prst="roundRect">
            <a:avLst>
              <a:gd name="adj" fmla="val 2093"/>
            </a:avLst>
          </a:prstGeom>
          <a:solidFill xmlns:a="http://schemas.openxmlformats.org/drawingml/2006/main">
            <a:srgbClr val="17161C"/>
          </a:solidFill>
          <a:ln xmlns:a="http://schemas.openxmlformats.org/drawingml/2006/main" w="12700">
            <a:solidFill>
              <a:srgbClr val="2C2A33"/>
            </a:solidFill>
            <a:prstDash val="solid"/>
          </a:ln>
        </p:spPr>
      </p:sp>
      <p:sp>
        <p:nvSpPr>
          <p:cNvPr id="8" name="Text 6">
            <a:extLst xmlns:a="http://schemas.openxmlformats.org/drawingml/2006/main">
              <a:ext uri="{FF2B5EF4-FFF2-40B4-BE49-F238E27FC236}">
                <a16:creationId xmlns:a16="http://schemas.microsoft.com/office/drawing/2014/main" id="{D6EC6CC9-CDA8-470A-A341-8E282526559C}"/>
              </a:ext>
            </a:extLst>
          </p:cNvPr>
          <p:cNvSpPr>
            <a:spLocks xmlns:a="http://schemas.openxmlformats.org/drawingml/2006/main" noGrp="1"/>
          </p:cNvSpPr>
          <p:nvPr/>
        </p:nvSpPr>
        <p:spPr>
          <a:xfrm xmlns:a="http://schemas.openxmlformats.org/drawingml/2006/main">
            <a:off x="6501384" y="3794760"/>
            <a:ext cx="46360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9E86FF"/>
                </a:solidFill>
                <a:latin typeface="Arial"/>
                <a:ea typeface="Arial"/>
                <a:cs typeface="Arial"/>
              </a:rPr>
              <a:t>02  ·  Website redesign</a:t>
            </a:r>
          </a:p>
        </p:txBody>
      </p:sp>
      <p:sp>
        <p:nvSpPr>
          <p:cNvPr id="9" name="Text 7">
            <a:extLst xmlns:a="http://schemas.openxmlformats.org/drawingml/2006/main">
              <a:ext uri="{FF2B5EF4-FFF2-40B4-BE49-F238E27FC236}">
                <a16:creationId xmlns:a16="http://schemas.microsoft.com/office/drawing/2014/main" id="{A6504034-288A-4029-8986-DF4A9E381E22}"/>
              </a:ext>
            </a:extLst>
          </p:cNvPr>
          <p:cNvSpPr>
            <a:spLocks xmlns:a="http://schemas.openxmlformats.org/drawingml/2006/main" noGrp="1"/>
          </p:cNvSpPr>
          <p:nvPr/>
        </p:nvSpPr>
        <p:spPr>
          <a:xfrm xmlns:a="http://schemas.openxmlformats.org/drawingml/2006/main">
            <a:off x="6501384" y="4297680"/>
            <a:ext cx="4636008"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0000"/>
              </a:lnSpc>
              <a:buNone/>
            </a:pPr>
            <a:r>
              <a:rPr sz="1200">
                <a:solidFill>
                  <a:srgbClr val="D6D4DA"/>
                </a:solidFill>
                <a:latin typeface="Arial"/>
                <a:ea typeface="Arial"/>
                <a:cs typeface="Arial"/>
              </a:rPr>
              <a:t>A credible, consistent public site: one price set, honest feature labels, split brand and creator journeys, one design system. Static, responsive, no backend.</a:t>
            </a:r>
          </a:p>
        </p:txBody>
      </p:sp>
      <p:sp>
        <p:nvSpPr>
          <p:cNvPr id="10" name="Text 8">
            <a:extLst xmlns:a="http://schemas.openxmlformats.org/drawingml/2006/main">
              <a:ext uri="{FF2B5EF4-FFF2-40B4-BE49-F238E27FC236}">
                <a16:creationId xmlns:a16="http://schemas.microsoft.com/office/drawing/2014/main" id="{70DE91D5-81A2-4D3A-AADB-0A313E48ED05}"/>
              </a:ext>
            </a:extLst>
          </p:cNvPr>
          <p:cNvSpPr>
            <a:spLocks xmlns:a="http://schemas.openxmlformats.org/drawingml/2006/main" noGrp="1"/>
          </p:cNvSpPr>
          <p:nvPr/>
        </p:nvSpPr>
        <p:spPr>
          <a:xfrm xmlns:a="http://schemas.openxmlformats.org/drawingml/2006/main">
            <a:off x="7436815" y="6355080"/>
            <a:ext cx="418795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8A8891"/>
                </a:solidFill>
                <a:latin typeface="Arial"/>
                <a:ea typeface="Arial"/>
                <a:cs typeface="Arial"/>
              </a:rPr>
              <a:t>hello@influencees.com   ·   Singapore</a:t>
            </a:r>
          </a:p>
        </p:txBody>
      </p:sp>
      <p:sp>
        <p:nvSpPr>
          <p:cNvPr id="11" name="white-canvas-10">
            <a:extLst xmlns:a="http://schemas.openxmlformats.org/drawingml/2006/main">
              <a:ext uri="{FF2B5EF4-FFF2-40B4-BE49-F238E27FC236}">
                <a16:creationId xmlns:a16="http://schemas.microsoft.com/office/drawing/2014/main" id="{1958C51E-81EE-448E-85AE-41C53227910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 name="section-badge">
            <a:extLst xmlns:a="http://schemas.openxmlformats.org/drawingml/2006/main">
              <a:ext uri="{FF2B5EF4-FFF2-40B4-BE49-F238E27FC236}">
                <a16:creationId xmlns:a16="http://schemas.microsoft.com/office/drawing/2014/main" id="{FFB715AF-E8F7-4570-9042-8838C64B9C2C}"/>
              </a:ext>
            </a:extLst>
          </p:cNvPr>
          <p:cNvSpPr>
            <a:spLocks xmlns:a="http://schemas.openxmlformats.org/drawingml/2006/main" noGrp="1"/>
          </p:cNvSpPr>
          <p:nvPr/>
        </p:nvSpPr>
        <p:spPr>
          <a:xfrm xmlns:a="http://schemas.openxmlformats.org/drawingml/2006/main">
            <a:off x="4191000" y="4381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1200" b="1">
                <a:solidFill>
                  <a:srgbClr val="7C5CFC"/>
                </a:solidFill>
                <a:latin typeface="Inter"/>
                <a:ea typeface="Inter"/>
                <a:cs typeface="Inter"/>
              </a:defRPr>
            </a:pPr>
            <a:r>
              <a:rPr sz="1200" b="1">
                <a:solidFill>
                  <a:srgbClr val="7C5CFC"/>
                </a:solidFill>
                <a:latin typeface="Inter"/>
                <a:ea typeface="Inter"/>
                <a:cs typeface="Inter"/>
              </a:rPr>
              <a:t>INFLUENCEES · TWO-TRACK PROPOSAL</a:t>
            </a:r>
          </a:p>
        </p:txBody>
      </p:sp>
      <p:sp>
        <p:nvSpPr>
          <p:cNvPr id="13" name="close-title-1">
            <a:extLst xmlns:a="http://schemas.openxmlformats.org/drawingml/2006/main">
              <a:ext uri="{FF2B5EF4-FFF2-40B4-BE49-F238E27FC236}">
                <a16:creationId xmlns:a16="http://schemas.microsoft.com/office/drawing/2014/main" id="{8AAB46B8-7AAA-4154-A1BF-0F1B0D740B07}"/>
              </a:ext>
            </a:extLst>
          </p:cNvPr>
          <p:cNvSpPr>
            <a:spLocks xmlns:a="http://schemas.openxmlformats.org/drawingml/2006/main" noGrp="1"/>
          </p:cNvSpPr>
          <p:nvPr/>
        </p:nvSpPr>
        <p:spPr>
          <a:xfrm xmlns:a="http://schemas.openxmlformats.org/drawingml/2006/main">
            <a:off x="1333500" y="1143000"/>
            <a:ext cx="9525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496"/>
          </a:bodyPr>
          <a:lstStyle xmlns:a="http://schemas.openxmlformats.org/drawingml/2006/main"/>
          <a:p xmlns:a="http://schemas.openxmlformats.org/drawingml/2006/main">
            <a:pPr algn="ctr">
              <a:lnSpc>
                <a:spcPct val="112000"/>
              </a:lnSpc>
              <a:buNone/>
              <a:defRPr sz="4350" b="0">
                <a:solidFill>
                  <a:srgbClr val="0F172A"/>
                </a:solidFill>
                <a:latin typeface="Inter"/>
                <a:ea typeface="Inter"/>
                <a:cs typeface="Inter"/>
              </a:defRPr>
            </a:pPr>
            <a:r>
              <a:rPr sz="4350" b="0">
                <a:solidFill>
                  <a:srgbClr val="0F172A"/>
                </a:solidFill>
                <a:latin typeface="Inter"/>
                <a:ea typeface="Inter"/>
                <a:cs typeface="Inter"/>
              </a:rPr>
              <a:t>One track. Two solutions.</a:t>
            </a:r>
          </a:p>
        </p:txBody>
      </p:sp>
      <p:sp>
        <p:nvSpPr>
          <p:cNvPr id="14" name="close-title-2">
            <a:extLst xmlns:a="http://schemas.openxmlformats.org/drawingml/2006/main">
              <a:ext uri="{FF2B5EF4-FFF2-40B4-BE49-F238E27FC236}">
                <a16:creationId xmlns:a16="http://schemas.microsoft.com/office/drawing/2014/main" id="{A36A245D-21DA-4D4C-9EC3-9C3287C9582C}"/>
              </a:ext>
            </a:extLst>
          </p:cNvPr>
          <p:cNvSpPr>
            <a:spLocks xmlns:a="http://schemas.openxmlformats.org/drawingml/2006/main" noGrp="1"/>
          </p:cNvSpPr>
          <p:nvPr/>
        </p:nvSpPr>
        <p:spPr>
          <a:xfrm xmlns:a="http://schemas.openxmlformats.org/drawingml/2006/main">
            <a:off x="1333500" y="1809750"/>
            <a:ext cx="9525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246"/>
          </a:bodyPr>
          <a:lstStyle xmlns:a="http://schemas.openxmlformats.org/drawingml/2006/main"/>
          <a:p xmlns:a="http://schemas.openxmlformats.org/drawingml/2006/main">
            <a:pPr algn="ctr">
              <a:lnSpc>
                <a:spcPct val="112000"/>
              </a:lnSpc>
              <a:buNone/>
              <a:defRPr sz="4500" b="1">
                <a:solidFill>
                  <a:srgbClr val="7C5CFC"/>
                </a:solidFill>
                <a:latin typeface="Inter"/>
                <a:ea typeface="Inter"/>
                <a:cs typeface="Inter"/>
              </a:defRPr>
            </a:pPr>
            <a:r>
              <a:rPr sz="4500" b="1">
                <a:solidFill>
                  <a:srgbClr val="7C5CFC"/>
                </a:solidFill>
                <a:latin typeface="Inter"/>
                <a:ea typeface="Inter"/>
                <a:cs typeface="Inter"/>
              </a:rPr>
              <a:t>Both sides of the platform.</a:t>
            </a:r>
          </a:p>
        </p:txBody>
      </p:sp>
      <p:sp>
        <p:nvSpPr>
          <p:cNvPr id="15" name="close-subtitle">
            <a:extLst xmlns:a="http://schemas.openxmlformats.org/drawingml/2006/main">
              <a:ext uri="{FF2B5EF4-FFF2-40B4-BE49-F238E27FC236}">
                <a16:creationId xmlns:a16="http://schemas.microsoft.com/office/drawing/2014/main" id="{34F8B464-A823-4B06-8600-E8A46D317D19}"/>
              </a:ext>
            </a:extLst>
          </p:cNvPr>
          <p:cNvSpPr>
            <a:spLocks xmlns:a="http://schemas.openxmlformats.org/drawingml/2006/main" noGrp="1"/>
          </p:cNvSpPr>
          <p:nvPr/>
        </p:nvSpPr>
        <p:spPr>
          <a:xfrm xmlns:a="http://schemas.openxmlformats.org/drawingml/2006/main">
            <a:off x="2476500" y="272415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650" b="0">
                <a:solidFill>
                  <a:srgbClr val="64748B"/>
                </a:solidFill>
                <a:latin typeface="Inter"/>
                <a:ea typeface="Inter"/>
                <a:cs typeface="Inter"/>
              </a:defRPr>
            </a:pPr>
            <a:r>
              <a:rPr sz="1650" b="0">
                <a:solidFill>
                  <a:srgbClr val="64748B"/>
                </a:solidFill>
                <a:latin typeface="Inter"/>
                <a:ea typeface="Inter"/>
                <a:cs typeface="Inter"/>
              </a:rPr>
              <a:t>Build traction internally. Build trust externally.</a:t>
            </a:r>
          </a:p>
        </p:txBody>
      </p:sp>
      <p:sp>
        <p:nvSpPr>
          <p:cNvPr id="16" name="close-card-01">
            <a:extLst xmlns:a="http://schemas.openxmlformats.org/drawingml/2006/main">
              <a:ext uri="{FF2B5EF4-FFF2-40B4-BE49-F238E27FC236}">
                <a16:creationId xmlns:a16="http://schemas.microsoft.com/office/drawing/2014/main" id="{74A4A07B-68DD-4D56-95C0-E9D10E41F526}"/>
              </a:ext>
            </a:extLst>
          </p:cNvPr>
          <p:cNvSpPr>
            <a:spLocks xmlns:a="http://schemas.openxmlformats.org/drawingml/2006/main" noGrp="1"/>
          </p:cNvSpPr>
          <p:nvPr/>
        </p:nvSpPr>
        <p:spPr>
          <a:xfrm xmlns:a="http://schemas.openxmlformats.org/drawingml/2006/main">
            <a:off x="1238250" y="3714750"/>
            <a:ext cx="4667250" cy="1866900"/>
          </a:xfrm>
          <a:prstGeom xmlns:a="http://schemas.openxmlformats.org/drawingml/2006/main" prst="roundRect">
            <a:avLst>
              <a:gd name="adj" fmla="val 10204"/>
            </a:avLst>
          </a:prstGeom>
          <a:solidFill xmlns:a="http://schemas.openxmlformats.org/drawingml/2006/main">
            <a:srgbClr val="F7EEFB"/>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close-num-01">
            <a:extLst xmlns:a="http://schemas.openxmlformats.org/drawingml/2006/main">
              <a:ext uri="{FF2B5EF4-FFF2-40B4-BE49-F238E27FC236}">
                <a16:creationId xmlns:a16="http://schemas.microsoft.com/office/drawing/2014/main" id="{93133AF9-BEC2-4D78-8F49-25F3F636EF4E}"/>
              </a:ext>
            </a:extLst>
          </p:cNvPr>
          <p:cNvSpPr>
            <a:spLocks xmlns:a="http://schemas.openxmlformats.org/drawingml/2006/main" noGrp="1"/>
          </p:cNvSpPr>
          <p:nvPr/>
        </p:nvSpPr>
        <p:spPr>
          <a:xfrm xmlns:a="http://schemas.openxmlformats.org/drawingml/2006/main">
            <a:off x="1504950" y="396240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1">
                <a:solidFill>
                  <a:srgbClr val="7C5CFC"/>
                </a:solidFill>
                <a:latin typeface="Inter"/>
                <a:ea typeface="Inter"/>
                <a:cs typeface="Inter"/>
              </a:defRPr>
            </a:pPr>
            <a:r>
              <a:rPr sz="1500" b="1">
                <a:solidFill>
                  <a:srgbClr val="7C5CFC"/>
                </a:solidFill>
                <a:latin typeface="Inter"/>
                <a:ea typeface="Inter"/>
                <a:cs typeface="Inter"/>
              </a:rPr>
              <a:t>01</a:t>
            </a:r>
          </a:p>
        </p:txBody>
      </p:sp>
      <p:sp>
        <p:nvSpPr>
          <p:cNvPr id="18" name="close-card-title-01">
            <a:extLst xmlns:a="http://schemas.openxmlformats.org/drawingml/2006/main">
              <a:ext uri="{FF2B5EF4-FFF2-40B4-BE49-F238E27FC236}">
                <a16:creationId xmlns:a16="http://schemas.microsoft.com/office/drawing/2014/main" id="{BDD37993-6527-4C90-9F85-9B5F68DD313C}"/>
              </a:ext>
            </a:extLst>
          </p:cNvPr>
          <p:cNvSpPr>
            <a:spLocks xmlns:a="http://schemas.openxmlformats.org/drawingml/2006/main" noGrp="1"/>
          </p:cNvSpPr>
          <p:nvPr/>
        </p:nvSpPr>
        <p:spPr>
          <a:xfrm xmlns:a="http://schemas.openxmlformats.org/drawingml/2006/main">
            <a:off x="1504950" y="436245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100" b="1">
                <a:solidFill>
                  <a:srgbClr val="1E293B"/>
                </a:solidFill>
                <a:latin typeface="Inter"/>
                <a:ea typeface="Inter"/>
                <a:cs typeface="Inter"/>
              </a:defRPr>
            </a:pPr>
            <a:r>
              <a:rPr sz="2100" b="1">
                <a:solidFill>
                  <a:srgbClr val="1E293B"/>
                </a:solidFill>
                <a:latin typeface="Inter"/>
                <a:ea typeface="Inter"/>
                <a:cs typeface="Inter"/>
              </a:rPr>
              <a:t>BD Agent</a:t>
            </a:r>
          </a:p>
        </p:txBody>
      </p:sp>
      <p:sp>
        <p:nvSpPr>
          <p:cNvPr id="19" name="close-card-body-01">
            <a:extLst xmlns:a="http://schemas.openxmlformats.org/drawingml/2006/main">
              <a:ext uri="{FF2B5EF4-FFF2-40B4-BE49-F238E27FC236}">
                <a16:creationId xmlns:a16="http://schemas.microsoft.com/office/drawing/2014/main" id="{B9B64E7F-1847-4592-81A6-D6728843E7A3}"/>
              </a:ext>
            </a:extLst>
          </p:cNvPr>
          <p:cNvSpPr>
            <a:spLocks xmlns:a="http://schemas.openxmlformats.org/drawingml/2006/main" noGrp="1"/>
          </p:cNvSpPr>
          <p:nvPr/>
        </p:nvSpPr>
        <p:spPr>
          <a:xfrm xmlns:a="http://schemas.openxmlformats.org/drawingml/2006/main">
            <a:off x="1504950" y="4876800"/>
            <a:ext cx="4095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20000"/>
              </a:lnSpc>
              <a:buNone/>
              <a:defRPr sz="1425" b="0">
                <a:solidFill>
                  <a:srgbClr val="64748B"/>
                </a:solidFill>
                <a:latin typeface="Inter"/>
                <a:ea typeface="Inter"/>
                <a:cs typeface="Inter"/>
              </a:defRPr>
            </a:pPr>
            <a:r>
              <a:rPr sz="1425" b="0">
                <a:solidFill>
                  <a:srgbClr val="64748B"/>
                </a:solidFill>
                <a:latin typeface="Inter"/>
                <a:ea typeface="Inter"/>
                <a:cs typeface="Inter"/>
              </a:rPr>
              <a:t>A controllable outreach operator that discovers, researches, messages, reads replies and follows up.</a:t>
            </a:r>
          </a:p>
        </p:txBody>
      </p:sp>
      <p:sp>
        <p:nvSpPr>
          <p:cNvPr id="20" name="close-card-02">
            <a:extLst xmlns:a="http://schemas.openxmlformats.org/drawingml/2006/main">
              <a:ext uri="{FF2B5EF4-FFF2-40B4-BE49-F238E27FC236}">
                <a16:creationId xmlns:a16="http://schemas.microsoft.com/office/drawing/2014/main" id="{0C2EE3B2-E0A0-4893-ABFF-7C718C0B04BA}"/>
              </a:ext>
            </a:extLst>
          </p:cNvPr>
          <p:cNvSpPr>
            <a:spLocks xmlns:a="http://schemas.openxmlformats.org/drawingml/2006/main" noGrp="1"/>
          </p:cNvSpPr>
          <p:nvPr/>
        </p:nvSpPr>
        <p:spPr>
          <a:xfrm xmlns:a="http://schemas.openxmlformats.org/drawingml/2006/main">
            <a:off x="6286500" y="3714750"/>
            <a:ext cx="4667250" cy="1866900"/>
          </a:xfrm>
          <a:prstGeom xmlns:a="http://schemas.openxmlformats.org/drawingml/2006/main" prst="roundRect">
            <a:avLst>
              <a:gd name="adj" fmla="val 10204"/>
            </a:avLst>
          </a:prstGeom>
          <a:solidFill xmlns:a="http://schemas.openxmlformats.org/drawingml/2006/main">
            <a:srgbClr val="EEF3FF"/>
          </a:solidFill>
          <a:ln xmlns:a="http://schemas.openxmlformats.org/drawingml/2006/main" w="9525">
            <a:solidFill>
              <a:srgbClr val="FFFFFF">
                <a:alpha val="6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close-num-02">
            <a:extLst xmlns:a="http://schemas.openxmlformats.org/drawingml/2006/main">
              <a:ext uri="{FF2B5EF4-FFF2-40B4-BE49-F238E27FC236}">
                <a16:creationId xmlns:a16="http://schemas.microsoft.com/office/drawing/2014/main" id="{687F501A-5769-4402-B2BA-5DE613FF9570}"/>
              </a:ext>
            </a:extLst>
          </p:cNvPr>
          <p:cNvSpPr>
            <a:spLocks xmlns:a="http://schemas.openxmlformats.org/drawingml/2006/main" noGrp="1"/>
          </p:cNvSpPr>
          <p:nvPr/>
        </p:nvSpPr>
        <p:spPr>
          <a:xfrm xmlns:a="http://schemas.openxmlformats.org/drawingml/2006/main">
            <a:off x="6553200" y="396240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1">
                <a:solidFill>
                  <a:srgbClr val="7C5CFC"/>
                </a:solidFill>
                <a:latin typeface="Inter"/>
                <a:ea typeface="Inter"/>
                <a:cs typeface="Inter"/>
              </a:defRPr>
            </a:pPr>
            <a:r>
              <a:rPr sz="1500" b="1">
                <a:solidFill>
                  <a:srgbClr val="7C5CFC"/>
                </a:solidFill>
                <a:latin typeface="Inter"/>
                <a:ea typeface="Inter"/>
                <a:cs typeface="Inter"/>
              </a:rPr>
              <a:t>02</a:t>
            </a:r>
          </a:p>
        </p:txBody>
      </p:sp>
      <p:sp>
        <p:nvSpPr>
          <p:cNvPr id="22" name="close-card-title-02">
            <a:extLst xmlns:a="http://schemas.openxmlformats.org/drawingml/2006/main">
              <a:ext uri="{FF2B5EF4-FFF2-40B4-BE49-F238E27FC236}">
                <a16:creationId xmlns:a16="http://schemas.microsoft.com/office/drawing/2014/main" id="{0BD00276-D78E-42C8-878D-D3A728FA4811}"/>
              </a:ext>
            </a:extLst>
          </p:cNvPr>
          <p:cNvSpPr>
            <a:spLocks xmlns:a="http://schemas.openxmlformats.org/drawingml/2006/main" noGrp="1"/>
          </p:cNvSpPr>
          <p:nvPr/>
        </p:nvSpPr>
        <p:spPr>
          <a:xfrm xmlns:a="http://schemas.openxmlformats.org/drawingml/2006/main">
            <a:off x="6553200" y="436245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100" b="1">
                <a:solidFill>
                  <a:srgbClr val="1E293B"/>
                </a:solidFill>
                <a:latin typeface="Inter"/>
                <a:ea typeface="Inter"/>
                <a:cs typeface="Inter"/>
              </a:defRPr>
            </a:pPr>
            <a:r>
              <a:rPr sz="2100" b="1">
                <a:solidFill>
                  <a:srgbClr val="1E293B"/>
                </a:solidFill>
                <a:latin typeface="Inter"/>
                <a:ea typeface="Inter"/>
                <a:cs typeface="Inter"/>
              </a:rPr>
              <a:t>Website redesign</a:t>
            </a:r>
          </a:p>
        </p:txBody>
      </p:sp>
      <p:sp>
        <p:nvSpPr>
          <p:cNvPr id="23" name="close-card-body-02">
            <a:extLst xmlns:a="http://schemas.openxmlformats.org/drawingml/2006/main">
              <a:ext uri="{FF2B5EF4-FFF2-40B4-BE49-F238E27FC236}">
                <a16:creationId xmlns:a16="http://schemas.microsoft.com/office/drawing/2014/main" id="{476C642E-3F45-480E-9F1B-C4387BF34701}"/>
              </a:ext>
            </a:extLst>
          </p:cNvPr>
          <p:cNvSpPr>
            <a:spLocks xmlns:a="http://schemas.openxmlformats.org/drawingml/2006/main" noGrp="1"/>
          </p:cNvSpPr>
          <p:nvPr/>
        </p:nvSpPr>
        <p:spPr>
          <a:xfrm xmlns:a="http://schemas.openxmlformats.org/drawingml/2006/main">
            <a:off x="6553200" y="4876800"/>
            <a:ext cx="4095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20000"/>
              </a:lnSpc>
              <a:buNone/>
              <a:defRPr sz="1425" b="0">
                <a:solidFill>
                  <a:srgbClr val="64748B"/>
                </a:solidFill>
                <a:latin typeface="Inter"/>
                <a:ea typeface="Inter"/>
                <a:cs typeface="Inter"/>
              </a:defRPr>
            </a:pPr>
            <a:r>
              <a:rPr sz="1425" b="0">
                <a:solidFill>
                  <a:srgbClr val="64748B"/>
                </a:solidFill>
                <a:latin typeface="Inter"/>
                <a:ea typeface="Inter"/>
                <a:cs typeface="Inter"/>
              </a:rPr>
              <a:t>A credible public experience with one price set, honest labels and clearer audience journeys.</a:t>
            </a:r>
          </a:p>
        </p:txBody>
      </p:sp>
      <p:sp>
        <p:nvSpPr>
          <p:cNvPr id="24" name="close-contact">
            <a:extLst xmlns:a="http://schemas.openxmlformats.org/drawingml/2006/main">
              <a:ext uri="{FF2B5EF4-FFF2-40B4-BE49-F238E27FC236}">
                <a16:creationId xmlns:a16="http://schemas.microsoft.com/office/drawing/2014/main" id="{76963201-5F19-4129-A2A6-CD2F8D269596}"/>
              </a:ext>
            </a:extLst>
          </p:cNvPr>
          <p:cNvSpPr>
            <a:spLocks xmlns:a="http://schemas.openxmlformats.org/drawingml/2006/main" noGrp="1"/>
          </p:cNvSpPr>
          <p:nvPr/>
        </p:nvSpPr>
        <p:spPr>
          <a:xfrm xmlns:a="http://schemas.openxmlformats.org/drawingml/2006/main">
            <a:off x="3810000" y="61531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0">
                <a:solidFill>
                  <a:srgbClr val="94A3B8"/>
                </a:solidFill>
                <a:latin typeface="Inter"/>
                <a:ea typeface="Inter"/>
                <a:cs typeface="Inter"/>
              </a:defRPr>
            </a:pPr>
            <a:r>
              <a:rPr sz="1200" b="0">
                <a:solidFill>
                  <a:srgbClr val="94A3B8"/>
                </a:solidFill>
                <a:latin typeface="Inter"/>
                <a:ea typeface="Inter"/>
                <a:cs typeface="Inter"/>
              </a:rPr>
              <a:t>hello@influencees.com  ·  Singapore</a:t>
            </a:r>
          </a:p>
        </p:txBody>
      </p:sp>
    </p:spTree>
    <p:extLst>
      <p:ext uri="{BB962C8B-B14F-4D97-AF65-F5344CB8AC3E}">
        <p14:creationId xmlns:p14="http://schemas.microsoft.com/office/powerpoint/2010/main" val="198700129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
          <a:effectLst>
            <a:outerShdw blurRad="285750" dist="95250" dir="5400000">
              <a:srgbClr val="000000">
                <a:alpha val="10000"/>
              </a:srgbClr>
            </a:outerShdw>
          </a:effectLst>
        </a:effectStyle>
        <a:effectStyle>
          <a:effectLst>
            <a:outerShdw blurRad="190500" dist="76200" dir="5400000">
              <a:srgbClr val="000000">
                <a:alpha val="5000"/>
              </a:srgbClr>
            </a:outerShdw>
          </a:effectLst>
        </a:effectStyle>
        <a:effectStyle>
          <a:effectLst>
            <a:outerShdw blurRad="190500" dist="76200" dir="5400000">
              <a:srgbClr val="000000">
                <a:alpha val="6000"/>
              </a:srgbClr>
            </a:outerShdw>
          </a:effectLst>
        </a:effectStyle>
        <a:effectStyle>
          <a:effectLst>
            <a:outerShdw blurRad="114300" dist="38100" dir="5400000">
              <a:srgbClr val="000000">
                <a:alpha val="5000"/>
              </a:srgbClr>
            </a:outerShdw>
          </a:effectLst>
        </a:effectStyle>
        <a:effectStyle>
          <a:effectLst>
            <a:outerShdw blurRad="133350" dist="38100" dir="5400000">
              <a:srgbClr val="000000">
                <a:alpha val="14000"/>
              </a:srgbClr>
            </a:outerShdw>
          </a:effectLst>
        </a:effectStyle>
        <a:effectStyle>
          <a:effectLst>
            <a:outerShdw blurRad="171450" dist="66675" dir="5400000">
              <a:srgbClr val="000000">
                <a:alpha val="5000"/>
              </a:srgbClr>
            </a:outerShdw>
          </a:effectLst>
        </a:effectStyle>
        <a:effectStyle>
          <a:effectLst>
            <a:outerShdw blurRad="247650" dist="95250" dir="5400000">
              <a:srgbClr val="000000">
                <a:alpha val="7000"/>
              </a:srgbClr>
            </a:outerShdw>
          </a:effectLst>
        </a:effectStyle>
        <a:effectStyle>
          <a:effectLst>
            <a:outerShdw blurRad="228600" dist="85725" dir="5400000">
              <a:srgbClr val="000000">
                <a:alpha val="6000"/>
              </a:srgbClr>
            </a:outerShdw>
          </a:effectLst>
        </a:effectStyle>
        <a:effectStyle>
          <a:effectLst>
            <a:outerShdw blurRad="142875" dist="47625" dir="5400000">
              <a:srgbClr val="000000">
                <a:alpha val="4000"/>
              </a:srgbClr>
            </a:outerShdw>
          </a:effectLst>
        </a:effectStyle>
        <a:effectStyle>
          <a:effectLst>
            <a:outerShdw blurRad="133350" dist="47625" dir="5400000">
              <a:srgbClr val="000000">
                <a:alpha val="6000"/>
              </a:srgbClr>
            </a:outerShdw>
          </a:effectLst>
        </a:effectStyle>
        <a:effectStyle>
          <a:effectLst>
            <a:outerShdw blurRad="171450" dist="57150" dir="5400000">
              <a:srgbClr val="000000">
                <a:alpha val="4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2026-07-24T07:10:51.6090000Z</dcterms:created>
  <dcterms:modified xsi:type="dcterms:W3CDTF">2026-07-24T07:10:51.6090000Z</dcterms:modified>
</coreProperties>
</file>