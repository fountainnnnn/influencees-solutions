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One track, two solutions for the same company. Solution 1 is an internal BD tool that actually sends and reads messages. Solution 2 is a full redesign of the public site. Both are demoable. Move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One line on what Influencees is, then the two solutions: more brands in the door (BD agent), and a site that looks as trustworthy as the product (redesign). Don't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The core idea: a real operator, not a text generator. The key feature is the switch between human-approval and fully autonomous, per conversation. Mention takeover, and that messages are evidence-bound so they don't read as spam.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Walk the seven steps fast. Key point at the bottom: messages are specific and sourced, not generic AI outreach. Read one line of the sample if time allows. Step 5 (Send) is highlighted because that's where the autonomy switch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Point at the shared inbox: the exact outgoing message, the live thread, and company context sit together. Human and autonomous modes visibly diverge. Take over any thread and hand it back. Screenshots are placeholders you'll paste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The honesty slide: a working demo on seeded data, deliberately, so it can't fail live. Then it's built to go real, layer by layer: Bright Data for research, n8n or a custom service for orchestration, a swappable channel adapter for sending. Nothing hand-wavy.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Constructive tone, this is the founder's own site. Lead with the framing: the substance is good, the system is missing. Hit the pricing conflict first (strongest, concrete). Keep it evidence-based. Straight from the site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Quick sweep: same system across all pages. Point out one or two, Home and the creator directory. Placeholders are for your screenshots. Captions say the improvement each page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The payoff. Lead with the pricing fix, clearest credibility win. Then status labels and split journeys. Close the point: a system change, so the site finally matches the quality of the data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Land it: one track, two solutions, both sides covered. BD agent is demoable today and live-ready. Redesign makes the site credible. Stop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566928" y="640080"/>
            <a:ext cx="8229600" cy="274320"/>
          </a:xfrm>
          <a:prstGeom prst="rect">
            <a:avLst/>
          </a:prstGeom>
          <a:noFill/>
          <a:ln/>
        </p:spPr>
        <p:txBody>
          <a:bodyPr wrap="square" lIns="0" tIns="0" rIns="0" bIns="0" rtlCol="0" anchor="ctr"/>
          <a:lstStyle/>
          <a:p>
            <a:pPr algn="l" indent="0" marL="0">
              <a:buNone/>
            </a:pPr>
            <a:r>
              <a:rPr lang="en-US" sz="1150" b="1" spc="250" kern="0" dirty="0">
                <a:solidFill>
                  <a:srgbClr val="5A3EE0"/>
                </a:solidFill>
                <a:latin typeface="Arial" pitchFamily="34" charset="0"/>
                <a:ea typeface="Arial" pitchFamily="34" charset="-122"/>
                <a:cs typeface="Arial" pitchFamily="34" charset="-120"/>
              </a:rPr>
              <a:t>INFLUENCEES  ·  BUILD REVIEW</a:t>
            </a:r>
            <a:endParaRPr lang="en-US" sz="1150" dirty="0"/>
          </a:p>
        </p:txBody>
      </p:sp>
      <p:sp>
        <p:nvSpPr>
          <p:cNvPr id="3" name="Text 1"/>
          <p:cNvSpPr/>
          <p:nvPr/>
        </p:nvSpPr>
        <p:spPr>
          <a:xfrm>
            <a:off x="9448495" y="640080"/>
            <a:ext cx="2176272" cy="274320"/>
          </a:xfrm>
          <a:prstGeom prst="rect">
            <a:avLst/>
          </a:prstGeom>
          <a:noFill/>
          <a:ln/>
        </p:spPr>
        <p:txBody>
          <a:bodyPr wrap="square" lIns="0" tIns="0" rIns="0" bIns="0" rtlCol="0" anchor="ctr"/>
          <a:lstStyle/>
          <a:p>
            <a:pPr algn="r" indent="0" marL="0">
              <a:buNone/>
            </a:pPr>
            <a:r>
              <a:rPr lang="en-US" sz="1050" dirty="0">
                <a:solidFill>
                  <a:srgbClr val="9A968C"/>
                </a:solidFill>
                <a:latin typeface="Arial" pitchFamily="34" charset="0"/>
                <a:ea typeface="Arial" pitchFamily="34" charset="-122"/>
                <a:cs typeface="Arial" pitchFamily="34" charset="-120"/>
              </a:rPr>
              <a:t>July 2026</a:t>
            </a:r>
            <a:endParaRPr lang="en-US" sz="1050" dirty="0"/>
          </a:p>
        </p:txBody>
      </p:sp>
      <p:sp>
        <p:nvSpPr>
          <p:cNvPr id="4" name="Text 2"/>
          <p:cNvSpPr/>
          <p:nvPr/>
        </p:nvSpPr>
        <p:spPr>
          <a:xfrm>
            <a:off x="566928" y="1874520"/>
            <a:ext cx="7680960" cy="1920240"/>
          </a:xfrm>
          <a:prstGeom prst="rect">
            <a:avLst/>
          </a:prstGeom>
          <a:noFill/>
          <a:ln/>
        </p:spPr>
        <p:txBody>
          <a:bodyPr wrap="square" lIns="0" tIns="0" rIns="0" bIns="0" rtlCol="0" anchor="t"/>
          <a:lstStyle/>
          <a:p>
            <a:pPr algn="l" indent="0" marL="0">
              <a:lnSpc>
                <a:spcPct val="98000"/>
              </a:lnSpc>
              <a:buNone/>
            </a:pPr>
            <a:r>
              <a:rPr lang="en-US" sz="5800" b="1" dirty="0">
                <a:solidFill>
                  <a:srgbClr val="0D0C0A"/>
                </a:solidFill>
                <a:latin typeface="Arial" pitchFamily="34" charset="0"/>
                <a:ea typeface="Arial" pitchFamily="34" charset="-122"/>
                <a:cs typeface="Arial" pitchFamily="34" charset="-120"/>
              </a:rPr>
              <a:t>One track,</a:t>
            </a:r>
            <a:endParaRPr lang="en-US" sz="5800" dirty="0"/>
          </a:p>
          <a:p>
            <a:pPr algn="l" indent="0" marL="0">
              <a:lnSpc>
                <a:spcPct val="98000"/>
              </a:lnSpc>
              <a:buNone/>
            </a:pPr>
            <a:r>
              <a:rPr lang="en-US" sz="5800" b="1" dirty="0">
                <a:solidFill>
                  <a:srgbClr val="5A3EE0"/>
                </a:solidFill>
                <a:latin typeface="Arial" pitchFamily="34" charset="0"/>
                <a:ea typeface="Arial" pitchFamily="34" charset="-122"/>
                <a:cs typeface="Arial" pitchFamily="34" charset="-120"/>
              </a:rPr>
              <a:t>two solutions.</a:t>
            </a:r>
            <a:endParaRPr lang="en-US" sz="5800" dirty="0"/>
          </a:p>
        </p:txBody>
      </p:sp>
      <p:sp>
        <p:nvSpPr>
          <p:cNvPr id="5" name="Text 3"/>
          <p:cNvSpPr/>
          <p:nvPr/>
        </p:nvSpPr>
        <p:spPr>
          <a:xfrm>
            <a:off x="566928" y="3977640"/>
            <a:ext cx="6949440" cy="914400"/>
          </a:xfrm>
          <a:prstGeom prst="rect">
            <a:avLst/>
          </a:prstGeom>
          <a:noFill/>
          <a:ln/>
        </p:spPr>
        <p:txBody>
          <a:bodyPr wrap="square" lIns="0" tIns="0" rIns="0" bIns="0" rtlCol="0" anchor="t"/>
          <a:lstStyle/>
          <a:p>
            <a:pPr algn="l" indent="0" marL="0">
              <a:lnSpc>
                <a:spcPct val="125000"/>
              </a:lnSpc>
              <a:buNone/>
            </a:pPr>
            <a:r>
              <a:rPr lang="en-US" sz="1500" dirty="0">
                <a:solidFill>
                  <a:srgbClr val="6B675F"/>
                </a:solidFill>
                <a:latin typeface="Arial" pitchFamily="34" charset="0"/>
                <a:ea typeface="Arial" pitchFamily="34" charset="-122"/>
                <a:cs typeface="Arial" pitchFamily="34" charset="-120"/>
              </a:rPr>
              <a:t>A working automated BD agent, and a full redesign of the public site. Built for Influencees, the trust layer for Singapore's creator economy.</a:t>
            </a:r>
            <a:endParaRPr lang="en-US" sz="1500" dirty="0"/>
          </a:p>
        </p:txBody>
      </p:sp>
      <p:sp>
        <p:nvSpPr>
          <p:cNvPr id="6" name="Text 4"/>
          <p:cNvSpPr/>
          <p:nvPr/>
        </p:nvSpPr>
        <p:spPr>
          <a:xfrm>
            <a:off x="8686800" y="1965960"/>
            <a:ext cx="822960" cy="640080"/>
          </a:xfrm>
          <a:prstGeom prst="rect">
            <a:avLst/>
          </a:prstGeom>
          <a:noFill/>
          <a:ln/>
        </p:spPr>
        <p:txBody>
          <a:bodyPr wrap="square" lIns="0" tIns="0" rIns="0" bIns="0" rtlCol="0" anchor="t"/>
          <a:lstStyle/>
          <a:p>
            <a:pPr algn="l" indent="0" marL="0">
              <a:buNone/>
            </a:pPr>
            <a:r>
              <a:rPr lang="en-US" sz="3000" b="1" dirty="0">
                <a:solidFill>
                  <a:srgbClr val="7A5CFF"/>
                </a:solidFill>
                <a:latin typeface="Arial" pitchFamily="34" charset="0"/>
                <a:ea typeface="Arial" pitchFamily="34" charset="-122"/>
                <a:cs typeface="Arial" pitchFamily="34" charset="-120"/>
              </a:rPr>
              <a:t>01</a:t>
            </a:r>
            <a:endParaRPr lang="en-US" sz="3000" dirty="0"/>
          </a:p>
        </p:txBody>
      </p:sp>
      <p:sp>
        <p:nvSpPr>
          <p:cNvPr id="7" name="Text 5"/>
          <p:cNvSpPr/>
          <p:nvPr/>
        </p:nvSpPr>
        <p:spPr>
          <a:xfrm>
            <a:off x="9555480" y="1984248"/>
            <a:ext cx="2057400" cy="320040"/>
          </a:xfrm>
          <a:prstGeom prst="rect">
            <a:avLst/>
          </a:prstGeom>
          <a:noFill/>
          <a:ln/>
        </p:spPr>
        <p:txBody>
          <a:bodyPr wrap="square" lIns="0" tIns="0" rIns="0" bIns="0" rtlCol="0" anchor="ctr"/>
          <a:lstStyle/>
          <a:p>
            <a:pPr algn="l" indent="0" marL="0">
              <a:buNone/>
            </a:pPr>
            <a:r>
              <a:rPr lang="en-US" sz="1500" b="1" dirty="0">
                <a:solidFill>
                  <a:srgbClr val="0D0C0A"/>
                </a:solidFill>
                <a:latin typeface="Arial" pitchFamily="34" charset="0"/>
                <a:ea typeface="Arial" pitchFamily="34" charset="-122"/>
                <a:cs typeface="Arial" pitchFamily="34" charset="-120"/>
              </a:rPr>
              <a:t>BD Agent</a:t>
            </a:r>
            <a:endParaRPr lang="en-US" sz="1500" dirty="0"/>
          </a:p>
        </p:txBody>
      </p:sp>
      <p:sp>
        <p:nvSpPr>
          <p:cNvPr id="8" name="Text 6"/>
          <p:cNvSpPr/>
          <p:nvPr/>
        </p:nvSpPr>
        <p:spPr>
          <a:xfrm>
            <a:off x="9555480" y="2331720"/>
            <a:ext cx="2057400" cy="640080"/>
          </a:xfrm>
          <a:prstGeom prst="rect">
            <a:avLst/>
          </a:prstGeom>
          <a:noFill/>
          <a:ln/>
        </p:spPr>
        <p:txBody>
          <a:bodyPr wrap="square" lIns="0" tIns="0" rIns="0" bIns="0" rtlCol="0" anchor="ctr"/>
          <a:lstStyle/>
          <a:p>
            <a:pPr algn="l" indent="0" marL="0">
              <a:lnSpc>
                <a:spcPct val="110000"/>
              </a:lnSpc>
              <a:buNone/>
            </a:pPr>
            <a:r>
              <a:rPr lang="en-US" sz="1050" dirty="0">
                <a:solidFill>
                  <a:srgbClr val="6B675F"/>
                </a:solidFill>
                <a:latin typeface="Arial" pitchFamily="34" charset="0"/>
                <a:ea typeface="Arial" pitchFamily="34" charset="-122"/>
                <a:cs typeface="Arial" pitchFamily="34" charset="-120"/>
              </a:rPr>
              <a:t>Find brands. Message them. Stay in control.</a:t>
            </a:r>
            <a:endParaRPr lang="en-US" sz="1050" dirty="0"/>
          </a:p>
        </p:txBody>
      </p:sp>
      <p:sp>
        <p:nvSpPr>
          <p:cNvPr id="9" name="Text 7"/>
          <p:cNvSpPr/>
          <p:nvPr/>
        </p:nvSpPr>
        <p:spPr>
          <a:xfrm>
            <a:off x="8686800" y="3200400"/>
            <a:ext cx="822960" cy="640080"/>
          </a:xfrm>
          <a:prstGeom prst="rect">
            <a:avLst/>
          </a:prstGeom>
          <a:noFill/>
          <a:ln/>
        </p:spPr>
        <p:txBody>
          <a:bodyPr wrap="square" lIns="0" tIns="0" rIns="0" bIns="0" rtlCol="0" anchor="t"/>
          <a:lstStyle/>
          <a:p>
            <a:pPr algn="l" indent="0" marL="0">
              <a:buNone/>
            </a:pPr>
            <a:r>
              <a:rPr lang="en-US" sz="3000" b="1" dirty="0">
                <a:solidFill>
                  <a:srgbClr val="7A5CFF"/>
                </a:solidFill>
                <a:latin typeface="Arial" pitchFamily="34" charset="0"/>
                <a:ea typeface="Arial" pitchFamily="34" charset="-122"/>
                <a:cs typeface="Arial" pitchFamily="34" charset="-120"/>
              </a:rPr>
              <a:t>02</a:t>
            </a:r>
            <a:endParaRPr lang="en-US" sz="3000" dirty="0"/>
          </a:p>
        </p:txBody>
      </p:sp>
      <p:sp>
        <p:nvSpPr>
          <p:cNvPr id="10" name="Text 8"/>
          <p:cNvSpPr/>
          <p:nvPr/>
        </p:nvSpPr>
        <p:spPr>
          <a:xfrm>
            <a:off x="9555480" y="3218688"/>
            <a:ext cx="2057400" cy="320040"/>
          </a:xfrm>
          <a:prstGeom prst="rect">
            <a:avLst/>
          </a:prstGeom>
          <a:noFill/>
          <a:ln/>
        </p:spPr>
        <p:txBody>
          <a:bodyPr wrap="square" lIns="0" tIns="0" rIns="0" bIns="0" rtlCol="0" anchor="ctr"/>
          <a:lstStyle/>
          <a:p>
            <a:pPr algn="l" indent="0" marL="0">
              <a:buNone/>
            </a:pPr>
            <a:r>
              <a:rPr lang="en-US" sz="1500" b="1" dirty="0">
                <a:solidFill>
                  <a:srgbClr val="0D0C0A"/>
                </a:solidFill>
                <a:latin typeface="Arial" pitchFamily="34" charset="0"/>
                <a:ea typeface="Arial" pitchFamily="34" charset="-122"/>
                <a:cs typeface="Arial" pitchFamily="34" charset="-120"/>
              </a:rPr>
              <a:t>Website redesign</a:t>
            </a:r>
            <a:endParaRPr lang="en-US" sz="1500" dirty="0"/>
          </a:p>
        </p:txBody>
      </p:sp>
      <p:sp>
        <p:nvSpPr>
          <p:cNvPr id="11" name="Text 9"/>
          <p:cNvSpPr/>
          <p:nvPr/>
        </p:nvSpPr>
        <p:spPr>
          <a:xfrm>
            <a:off x="9555480" y="3566160"/>
            <a:ext cx="2057400" cy="640080"/>
          </a:xfrm>
          <a:prstGeom prst="rect">
            <a:avLst/>
          </a:prstGeom>
          <a:noFill/>
          <a:ln/>
        </p:spPr>
        <p:txBody>
          <a:bodyPr wrap="square" lIns="0" tIns="0" rIns="0" bIns="0" rtlCol="0" anchor="ctr"/>
          <a:lstStyle/>
          <a:p>
            <a:pPr algn="l" indent="0" marL="0">
              <a:lnSpc>
                <a:spcPct val="110000"/>
              </a:lnSpc>
              <a:buNone/>
            </a:pPr>
            <a:r>
              <a:rPr lang="en-US" sz="1050" dirty="0">
                <a:solidFill>
                  <a:srgbClr val="6B675F"/>
                </a:solidFill>
                <a:latin typeface="Arial" pitchFamily="34" charset="0"/>
                <a:ea typeface="Arial" pitchFamily="34" charset="-122"/>
                <a:cs typeface="Arial" pitchFamily="34" charset="-120"/>
              </a:rPr>
              <a:t>One system. Consistent, credible, responsive.</a:t>
            </a:r>
            <a:endParaRPr lang="en-US" sz="1050" dirty="0"/>
          </a:p>
        </p:txBody>
      </p:sp>
      <p:sp>
        <p:nvSpPr>
          <p:cNvPr id="12" name="Shape 10"/>
          <p:cNvSpPr/>
          <p:nvPr/>
        </p:nvSpPr>
        <p:spPr>
          <a:xfrm>
            <a:off x="8686800" y="1874520"/>
            <a:ext cx="0" cy="2331720"/>
          </a:xfrm>
          <a:prstGeom prst="line">
            <a:avLst/>
          </a:prstGeom>
          <a:noFill/>
          <a:ln w="12700">
            <a:solidFill>
              <a:srgbClr val="E2DED6"/>
            </a:solidFill>
            <a:prstDash val="solid"/>
          </a:ln>
        </p:spPr>
      </p:sp>
      <p:sp>
        <p:nvSpPr>
          <p:cNvPr id="13" name="Text 11"/>
          <p:cNvSpPr/>
          <p:nvPr/>
        </p:nvSpPr>
        <p:spPr>
          <a:xfrm>
            <a:off x="8351215" y="6382512"/>
            <a:ext cx="3273552" cy="274320"/>
          </a:xfrm>
          <a:prstGeom prst="rect">
            <a:avLst/>
          </a:prstGeom>
          <a:noFill/>
          <a:ln/>
        </p:spPr>
        <p:txBody>
          <a:bodyPr wrap="square" lIns="0" tIns="0" rIns="0" bIns="0" rtlCol="0" anchor="ctr"/>
          <a:lstStyle/>
          <a:p>
            <a:pPr algn="r" indent="0" marL="0">
              <a:buNone/>
            </a:pPr>
            <a:r>
              <a:rPr lang="en-US" sz="950" b="1" spc="100" kern="0" dirty="0">
                <a:solidFill>
                  <a:srgbClr val="9A968C"/>
                </a:solidFill>
                <a:latin typeface="Arial" pitchFamily="34" charset="0"/>
                <a:ea typeface="Arial" pitchFamily="34" charset="-122"/>
                <a:cs typeface="Arial" pitchFamily="34" charset="-120"/>
              </a:rPr>
              <a:t>INFLUENCEES</a:t>
            </a:r>
            <a:pPr algn="r" indent="0" marL="0">
              <a:buNone/>
            </a:pPr>
            <a:r>
              <a:rPr lang="en-US" sz="950" b="1" spc="100" kern="0" dirty="0">
                <a:solidFill>
                  <a:srgbClr val="6B675F"/>
                </a:solidFill>
                <a:latin typeface="Arial" pitchFamily="34" charset="0"/>
                <a:ea typeface="Arial" pitchFamily="34" charset="-122"/>
                <a:cs typeface="Arial" pitchFamily="34" charset="-120"/>
              </a:rPr>
              <a:t>   01 / 10</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566928" y="457200"/>
            <a:ext cx="8229600" cy="274320"/>
          </a:xfrm>
          <a:prstGeom prst="rect">
            <a:avLst/>
          </a:prstGeom>
          <a:noFill/>
          <a:ln/>
        </p:spPr>
        <p:txBody>
          <a:bodyPr wrap="square" lIns="0" tIns="0" rIns="0" bIns="0" rtlCol="0" anchor="ctr"/>
          <a:lstStyle/>
          <a:p>
            <a:pPr algn="l" indent="0" marL="0">
              <a:buNone/>
            </a:pPr>
            <a:r>
              <a:rPr lang="en-US" sz="1150" b="1" spc="250" kern="0" dirty="0">
                <a:solidFill>
                  <a:srgbClr val="5A3EE0"/>
                </a:solidFill>
                <a:latin typeface="Arial" pitchFamily="34" charset="0"/>
                <a:ea typeface="Arial" pitchFamily="34" charset="-122"/>
                <a:cs typeface="Arial" pitchFamily="34" charset="-120"/>
              </a:rPr>
              <a:t>THE SETUP</a:t>
            </a:r>
            <a:endParaRPr lang="en-US" sz="1150" dirty="0"/>
          </a:p>
        </p:txBody>
      </p:sp>
      <p:sp>
        <p:nvSpPr>
          <p:cNvPr id="3" name="Text 1"/>
          <p:cNvSpPr/>
          <p:nvPr/>
        </p:nvSpPr>
        <p:spPr>
          <a:xfrm>
            <a:off x="566928" y="822960"/>
            <a:ext cx="10607040" cy="1188720"/>
          </a:xfrm>
          <a:prstGeom prst="rect">
            <a:avLst/>
          </a:prstGeom>
          <a:noFill/>
          <a:ln/>
        </p:spPr>
        <p:txBody>
          <a:bodyPr wrap="square" lIns="0" tIns="0" rIns="0" bIns="0" rtlCol="0" anchor="t"/>
          <a:lstStyle/>
          <a:p>
            <a:pPr algn="l" indent="0" marL="0">
              <a:lnSpc>
                <a:spcPct val="102000"/>
              </a:lnSpc>
              <a:buNone/>
            </a:pPr>
            <a:r>
              <a:rPr lang="en-US" sz="2800" b="1" dirty="0">
                <a:solidFill>
                  <a:srgbClr val="0D0C0A"/>
                </a:solidFill>
                <a:latin typeface="Arial" pitchFamily="34" charset="0"/>
                <a:ea typeface="Arial" pitchFamily="34" charset="-122"/>
                <a:cs typeface="Arial" pitchFamily="34" charset="-120"/>
              </a:rPr>
              <a:t>Influencees has the substance. Two solutions move it forward now.</a:t>
            </a:r>
            <a:endParaRPr lang="en-US" sz="2800" dirty="0"/>
          </a:p>
        </p:txBody>
      </p:sp>
      <p:sp>
        <p:nvSpPr>
          <p:cNvPr id="4" name="Text 2"/>
          <p:cNvSpPr/>
          <p:nvPr/>
        </p:nvSpPr>
        <p:spPr>
          <a:xfrm>
            <a:off x="566928" y="1920240"/>
            <a:ext cx="10881360" cy="868680"/>
          </a:xfrm>
          <a:prstGeom prst="rect">
            <a:avLst/>
          </a:prstGeom>
          <a:noFill/>
          <a:ln/>
        </p:spPr>
        <p:txBody>
          <a:bodyPr wrap="square" lIns="0" tIns="0" rIns="0" bIns="0" rtlCol="0" anchor="t"/>
          <a:lstStyle/>
          <a:p>
            <a:pPr algn="l" indent="0" marL="0">
              <a:lnSpc>
                <a:spcPct val="125000"/>
              </a:lnSpc>
              <a:buNone/>
            </a:pPr>
            <a:r>
              <a:rPr lang="en-US" sz="1350" dirty="0">
                <a:solidFill>
                  <a:srgbClr val="6B675F"/>
                </a:solidFill>
                <a:latin typeface="Arial" pitchFamily="34" charset="0"/>
                <a:ea typeface="Arial" pitchFamily="34" charset="-122"/>
                <a:cs typeface="Arial" pitchFamily="34" charset="-120"/>
              </a:rPr>
              <a:t>Brands find Singapore creators and verify them with data, not vibes. Ai-kyo runs campaigns, Trust Check flags fakes, and the workspace tracks it end to end. The company launched around June 2026, so the job now is traction and trust.</a:t>
            </a:r>
            <a:endParaRPr lang="en-US" sz="1350" dirty="0"/>
          </a:p>
        </p:txBody>
      </p:sp>
      <p:sp>
        <p:nvSpPr>
          <p:cNvPr id="5" name="Shape 3"/>
          <p:cNvSpPr/>
          <p:nvPr/>
        </p:nvSpPr>
        <p:spPr>
          <a:xfrm>
            <a:off x="566928" y="3063240"/>
            <a:ext cx="5257800" cy="2788920"/>
          </a:xfrm>
          <a:prstGeom prst="roundRect">
            <a:avLst>
              <a:gd name="adj" fmla="val 1475"/>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6" name="Text 4"/>
          <p:cNvSpPr/>
          <p:nvPr/>
        </p:nvSpPr>
        <p:spPr>
          <a:xfrm>
            <a:off x="859536" y="3319272"/>
            <a:ext cx="1097280" cy="548640"/>
          </a:xfrm>
          <a:prstGeom prst="rect">
            <a:avLst/>
          </a:prstGeom>
          <a:noFill/>
          <a:ln/>
        </p:spPr>
        <p:txBody>
          <a:bodyPr wrap="square" lIns="0" tIns="0" rIns="0" bIns="0" rtlCol="0" anchor="ctr"/>
          <a:lstStyle/>
          <a:p>
            <a:pPr indent="0" marL="0">
              <a:buNone/>
            </a:pPr>
            <a:r>
              <a:rPr lang="en-US" sz="2600" b="1" dirty="0">
                <a:solidFill>
                  <a:srgbClr val="7A5CFF"/>
                </a:solidFill>
                <a:latin typeface="Arial" pitchFamily="34" charset="0"/>
                <a:ea typeface="Arial" pitchFamily="34" charset="-122"/>
                <a:cs typeface="Arial" pitchFamily="34" charset="-120"/>
              </a:rPr>
              <a:t>01</a:t>
            </a:r>
            <a:endParaRPr lang="en-US" sz="2600" dirty="0"/>
          </a:p>
        </p:txBody>
      </p:sp>
      <p:sp>
        <p:nvSpPr>
          <p:cNvPr id="7" name="Text 5"/>
          <p:cNvSpPr/>
          <p:nvPr/>
        </p:nvSpPr>
        <p:spPr>
          <a:xfrm>
            <a:off x="1801368" y="3374136"/>
            <a:ext cx="3794760" cy="457200"/>
          </a:xfrm>
          <a:prstGeom prst="rect">
            <a:avLst/>
          </a:prstGeom>
          <a:noFill/>
          <a:ln/>
        </p:spPr>
        <p:txBody>
          <a:bodyPr wrap="square" lIns="0" tIns="0" rIns="0" bIns="0" rtlCol="0" anchor="ctr"/>
          <a:lstStyle/>
          <a:p>
            <a:pPr indent="0" marL="0">
              <a:buNone/>
            </a:pPr>
            <a:r>
              <a:rPr lang="en-US" sz="1800" b="1" dirty="0">
                <a:solidFill>
                  <a:srgbClr val="0D0C0A"/>
                </a:solidFill>
                <a:latin typeface="Arial" pitchFamily="34" charset="0"/>
                <a:ea typeface="Arial" pitchFamily="34" charset="-122"/>
                <a:cs typeface="Arial" pitchFamily="34" charset="-120"/>
              </a:rPr>
              <a:t>BD Agent</a:t>
            </a:r>
            <a:endParaRPr lang="en-US" sz="1800" dirty="0"/>
          </a:p>
        </p:txBody>
      </p:sp>
      <p:sp>
        <p:nvSpPr>
          <p:cNvPr id="8" name="Text 6"/>
          <p:cNvSpPr/>
          <p:nvPr/>
        </p:nvSpPr>
        <p:spPr>
          <a:xfrm>
            <a:off x="877824" y="4069080"/>
            <a:ext cx="4654296" cy="502920"/>
          </a:xfrm>
          <a:prstGeom prst="rect">
            <a:avLst/>
          </a:prstGeom>
          <a:noFill/>
          <a:ln/>
        </p:spPr>
        <p:txBody>
          <a:bodyPr wrap="square" lIns="0" tIns="0" rIns="0" bIns="0" rtlCol="0" anchor="ctr"/>
          <a:lstStyle/>
          <a:p>
            <a:pPr indent="0" marL="0">
              <a:lnSpc>
                <a:spcPct val="110000"/>
              </a:lnSpc>
              <a:buNone/>
            </a:pPr>
            <a:r>
              <a:rPr lang="en-US" sz="1400" b="1" dirty="0">
                <a:solidFill>
                  <a:srgbClr val="5A3EE0"/>
                </a:solidFill>
                <a:latin typeface="Arial" pitchFamily="34" charset="0"/>
                <a:ea typeface="Arial" pitchFamily="34" charset="-122"/>
                <a:cs typeface="Arial" pitchFamily="34" charset="-120"/>
              </a:rPr>
              <a:t>Get more of the right brands in the door.</a:t>
            </a:r>
            <a:endParaRPr lang="en-US" sz="1400" dirty="0"/>
          </a:p>
        </p:txBody>
      </p:sp>
      <p:sp>
        <p:nvSpPr>
          <p:cNvPr id="9" name="Text 7"/>
          <p:cNvSpPr/>
          <p:nvPr/>
        </p:nvSpPr>
        <p:spPr>
          <a:xfrm>
            <a:off x="877824" y="4636008"/>
            <a:ext cx="4654296" cy="1097280"/>
          </a:xfrm>
          <a:prstGeom prst="rect">
            <a:avLst/>
          </a:prstGeom>
          <a:noFill/>
          <a:ln/>
        </p:spPr>
        <p:txBody>
          <a:bodyPr wrap="square" lIns="0" tIns="0" rIns="0" bIns="0" rtlCol="0" anchor="ctr"/>
          <a:lstStyle/>
          <a:p>
            <a:pPr indent="0" marL="0">
              <a:lnSpc>
                <a:spcPct val="128000"/>
              </a:lnSpc>
              <a:buNone/>
            </a:pPr>
            <a:r>
              <a:rPr lang="en-US" sz="1200" dirty="0">
                <a:solidFill>
                  <a:srgbClr val="6B675F"/>
                </a:solidFill>
                <a:latin typeface="Arial" pitchFamily="34" charset="0"/>
                <a:ea typeface="Arial" pitchFamily="34" charset="-122"/>
                <a:cs typeface="Arial" pitchFamily="34" charset="-120"/>
              </a:rPr>
              <a:t>An AI operator that finds suitable Singapore companies, researches them, writes a specific first message, sends it, reads the reply, and follows up. The founder keeps the wheel.</a:t>
            </a:r>
            <a:endParaRPr lang="en-US" sz="1200" dirty="0"/>
          </a:p>
        </p:txBody>
      </p:sp>
      <p:sp>
        <p:nvSpPr>
          <p:cNvPr id="10" name="Shape 8"/>
          <p:cNvSpPr/>
          <p:nvPr/>
        </p:nvSpPr>
        <p:spPr>
          <a:xfrm>
            <a:off x="6190488" y="3063240"/>
            <a:ext cx="5257800" cy="2788920"/>
          </a:xfrm>
          <a:prstGeom prst="roundRect">
            <a:avLst>
              <a:gd name="adj" fmla="val 1475"/>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11" name="Text 9"/>
          <p:cNvSpPr/>
          <p:nvPr/>
        </p:nvSpPr>
        <p:spPr>
          <a:xfrm>
            <a:off x="6483096" y="3319272"/>
            <a:ext cx="1097280" cy="548640"/>
          </a:xfrm>
          <a:prstGeom prst="rect">
            <a:avLst/>
          </a:prstGeom>
          <a:noFill/>
          <a:ln/>
        </p:spPr>
        <p:txBody>
          <a:bodyPr wrap="square" lIns="0" tIns="0" rIns="0" bIns="0" rtlCol="0" anchor="ctr"/>
          <a:lstStyle/>
          <a:p>
            <a:pPr indent="0" marL="0">
              <a:buNone/>
            </a:pPr>
            <a:r>
              <a:rPr lang="en-US" sz="2600" b="1" dirty="0">
                <a:solidFill>
                  <a:srgbClr val="7A5CFF"/>
                </a:solidFill>
                <a:latin typeface="Arial" pitchFamily="34" charset="0"/>
                <a:ea typeface="Arial" pitchFamily="34" charset="-122"/>
                <a:cs typeface="Arial" pitchFamily="34" charset="-120"/>
              </a:rPr>
              <a:t>02</a:t>
            </a:r>
            <a:endParaRPr lang="en-US" sz="2600" dirty="0"/>
          </a:p>
        </p:txBody>
      </p:sp>
      <p:sp>
        <p:nvSpPr>
          <p:cNvPr id="12" name="Text 10"/>
          <p:cNvSpPr/>
          <p:nvPr/>
        </p:nvSpPr>
        <p:spPr>
          <a:xfrm>
            <a:off x="7424928" y="3374136"/>
            <a:ext cx="3794760" cy="457200"/>
          </a:xfrm>
          <a:prstGeom prst="rect">
            <a:avLst/>
          </a:prstGeom>
          <a:noFill/>
          <a:ln/>
        </p:spPr>
        <p:txBody>
          <a:bodyPr wrap="square" lIns="0" tIns="0" rIns="0" bIns="0" rtlCol="0" anchor="ctr"/>
          <a:lstStyle/>
          <a:p>
            <a:pPr indent="0" marL="0">
              <a:buNone/>
            </a:pPr>
            <a:r>
              <a:rPr lang="en-US" sz="1800" b="1" dirty="0">
                <a:solidFill>
                  <a:srgbClr val="0D0C0A"/>
                </a:solidFill>
                <a:latin typeface="Arial" pitchFamily="34" charset="0"/>
                <a:ea typeface="Arial" pitchFamily="34" charset="-122"/>
                <a:cs typeface="Arial" pitchFamily="34" charset="-120"/>
              </a:rPr>
              <a:t>Website redesign</a:t>
            </a:r>
            <a:endParaRPr lang="en-US" sz="1800" dirty="0"/>
          </a:p>
        </p:txBody>
      </p:sp>
      <p:sp>
        <p:nvSpPr>
          <p:cNvPr id="13" name="Text 11"/>
          <p:cNvSpPr/>
          <p:nvPr/>
        </p:nvSpPr>
        <p:spPr>
          <a:xfrm>
            <a:off x="6501384" y="4069080"/>
            <a:ext cx="4654296" cy="502920"/>
          </a:xfrm>
          <a:prstGeom prst="rect">
            <a:avLst/>
          </a:prstGeom>
          <a:noFill/>
          <a:ln/>
        </p:spPr>
        <p:txBody>
          <a:bodyPr wrap="square" lIns="0" tIns="0" rIns="0" bIns="0" rtlCol="0" anchor="ctr"/>
          <a:lstStyle/>
          <a:p>
            <a:pPr indent="0" marL="0">
              <a:lnSpc>
                <a:spcPct val="110000"/>
              </a:lnSpc>
              <a:buNone/>
            </a:pPr>
            <a:r>
              <a:rPr lang="en-US" sz="1400" b="1" dirty="0">
                <a:solidFill>
                  <a:srgbClr val="5A3EE0"/>
                </a:solidFill>
                <a:latin typeface="Arial" pitchFamily="34" charset="0"/>
                <a:ea typeface="Arial" pitchFamily="34" charset="-122"/>
                <a:cs typeface="Arial" pitchFamily="34" charset="-120"/>
              </a:rPr>
              <a:t>Make the site as credible as the data behind it.</a:t>
            </a:r>
            <a:endParaRPr lang="en-US" sz="1400" dirty="0"/>
          </a:p>
        </p:txBody>
      </p:sp>
      <p:sp>
        <p:nvSpPr>
          <p:cNvPr id="14" name="Text 12"/>
          <p:cNvSpPr/>
          <p:nvPr/>
        </p:nvSpPr>
        <p:spPr>
          <a:xfrm>
            <a:off x="6501384" y="4636008"/>
            <a:ext cx="4654296" cy="1097280"/>
          </a:xfrm>
          <a:prstGeom prst="rect">
            <a:avLst/>
          </a:prstGeom>
          <a:noFill/>
          <a:ln/>
        </p:spPr>
        <p:txBody>
          <a:bodyPr wrap="square" lIns="0" tIns="0" rIns="0" bIns="0" rtlCol="0" anchor="ctr"/>
          <a:lstStyle/>
          <a:p>
            <a:pPr indent="0" marL="0">
              <a:lnSpc>
                <a:spcPct val="128000"/>
              </a:lnSpc>
              <a:buNone/>
            </a:pPr>
            <a:r>
              <a:rPr lang="en-US" sz="1200" dirty="0">
                <a:solidFill>
                  <a:srgbClr val="6B675F"/>
                </a:solidFill>
                <a:latin typeface="Arial" pitchFamily="34" charset="0"/>
                <a:ea typeface="Arial" pitchFamily="34" charset="-122"/>
                <a:cs typeface="Arial" pitchFamily="34" charset="-120"/>
              </a:rPr>
              <a:t>One coherent design system across every public page. Consistent pricing, honest feature labels, clear brand and creator paths. Static, responsive, no backend.</a:t>
            </a:r>
            <a:endParaRPr lang="en-US" sz="1200" dirty="0"/>
          </a:p>
        </p:txBody>
      </p:sp>
      <p:sp>
        <p:nvSpPr>
          <p:cNvPr id="15" name="Text 13"/>
          <p:cNvSpPr/>
          <p:nvPr/>
        </p:nvSpPr>
        <p:spPr>
          <a:xfrm>
            <a:off x="8351215" y="6382512"/>
            <a:ext cx="3273552" cy="274320"/>
          </a:xfrm>
          <a:prstGeom prst="rect">
            <a:avLst/>
          </a:prstGeom>
          <a:noFill/>
          <a:ln/>
        </p:spPr>
        <p:txBody>
          <a:bodyPr wrap="square" lIns="0" tIns="0" rIns="0" bIns="0" rtlCol="0" anchor="ctr"/>
          <a:lstStyle/>
          <a:p>
            <a:pPr algn="r" indent="0" marL="0">
              <a:buNone/>
            </a:pPr>
            <a:r>
              <a:rPr lang="en-US" sz="950" b="1" spc="100" kern="0" dirty="0">
                <a:solidFill>
                  <a:srgbClr val="9A968C"/>
                </a:solidFill>
                <a:latin typeface="Arial" pitchFamily="34" charset="0"/>
                <a:ea typeface="Arial" pitchFamily="34" charset="-122"/>
                <a:cs typeface="Arial" pitchFamily="34" charset="-120"/>
              </a:rPr>
              <a:t>INFLUENCEES</a:t>
            </a:r>
            <a:pPr algn="r" indent="0" marL="0">
              <a:buNone/>
            </a:pPr>
            <a:r>
              <a:rPr lang="en-US" sz="950" b="1" spc="100" kern="0" dirty="0">
                <a:solidFill>
                  <a:srgbClr val="6B675F"/>
                </a:solidFill>
                <a:latin typeface="Arial" pitchFamily="34" charset="0"/>
                <a:ea typeface="Arial" pitchFamily="34" charset="-122"/>
                <a:cs typeface="Arial" pitchFamily="34" charset="-120"/>
              </a:rPr>
              <a:t>   02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566928" y="457200"/>
            <a:ext cx="8229600" cy="274320"/>
          </a:xfrm>
          <a:prstGeom prst="rect">
            <a:avLst/>
          </a:prstGeom>
          <a:noFill/>
          <a:ln/>
        </p:spPr>
        <p:txBody>
          <a:bodyPr wrap="square" lIns="0" tIns="0" rIns="0" bIns="0" rtlCol="0" anchor="ctr"/>
          <a:lstStyle/>
          <a:p>
            <a:pPr algn="l" indent="0" marL="0">
              <a:buNone/>
            </a:pPr>
            <a:r>
              <a:rPr lang="en-US" sz="1150" b="1" spc="250" kern="0" dirty="0">
                <a:solidFill>
                  <a:srgbClr val="5A3EE0"/>
                </a:solidFill>
                <a:latin typeface="Arial" pitchFamily="34" charset="0"/>
                <a:ea typeface="Arial" pitchFamily="34" charset="-122"/>
                <a:cs typeface="Arial" pitchFamily="34" charset="-120"/>
              </a:rPr>
              <a:t>SOLUTION 01  ·  BD AGENT</a:t>
            </a:r>
            <a:endParaRPr lang="en-US" sz="1150" dirty="0"/>
          </a:p>
        </p:txBody>
      </p:sp>
      <p:sp>
        <p:nvSpPr>
          <p:cNvPr id="3" name="Text 1"/>
          <p:cNvSpPr/>
          <p:nvPr/>
        </p:nvSpPr>
        <p:spPr>
          <a:xfrm>
            <a:off x="566928" y="822960"/>
            <a:ext cx="10424160" cy="1188720"/>
          </a:xfrm>
          <a:prstGeom prst="rect">
            <a:avLst/>
          </a:prstGeom>
          <a:noFill/>
          <a:ln/>
        </p:spPr>
        <p:txBody>
          <a:bodyPr wrap="square" lIns="0" tIns="0" rIns="0" bIns="0" rtlCol="0" anchor="t"/>
          <a:lstStyle/>
          <a:p>
            <a:pPr algn="l" indent="0" marL="0">
              <a:lnSpc>
                <a:spcPct val="102000"/>
              </a:lnSpc>
              <a:buNone/>
            </a:pPr>
            <a:r>
              <a:rPr lang="en-US" sz="2800" b="1" dirty="0">
                <a:solidFill>
                  <a:srgbClr val="0D0C0A"/>
                </a:solidFill>
                <a:latin typeface="Arial" pitchFamily="34" charset="0"/>
                <a:ea typeface="Arial" pitchFamily="34" charset="-122"/>
                <a:cs typeface="Arial" pitchFamily="34" charset="-120"/>
              </a:rPr>
              <a:t>An AI operator that finds brands and actually talks to them.</a:t>
            </a:r>
            <a:endParaRPr lang="en-US" sz="2800" dirty="0"/>
          </a:p>
        </p:txBody>
      </p:sp>
      <p:sp>
        <p:nvSpPr>
          <p:cNvPr id="4" name="Text 2"/>
          <p:cNvSpPr/>
          <p:nvPr/>
        </p:nvSpPr>
        <p:spPr>
          <a:xfrm>
            <a:off x="566928" y="1965960"/>
            <a:ext cx="10607040" cy="457200"/>
          </a:xfrm>
          <a:prstGeom prst="rect">
            <a:avLst/>
          </a:prstGeom>
          <a:noFill/>
          <a:ln/>
        </p:spPr>
        <p:txBody>
          <a:bodyPr wrap="square" lIns="0" tIns="0" rIns="0" bIns="0" rtlCol="0" anchor="ctr"/>
          <a:lstStyle/>
          <a:p>
            <a:pPr algn="l" indent="0" marL="0">
              <a:lnSpc>
                <a:spcPct val="120000"/>
              </a:lnSpc>
              <a:buNone/>
            </a:pPr>
            <a:r>
              <a:rPr lang="en-US" sz="1400" dirty="0">
                <a:solidFill>
                  <a:srgbClr val="6B675F"/>
                </a:solidFill>
                <a:latin typeface="Arial" pitchFamily="34" charset="0"/>
                <a:ea typeface="Arial" pitchFamily="34" charset="-122"/>
                <a:cs typeface="Arial" pitchFamily="34" charset="-120"/>
              </a:rPr>
              <a:t>Not a message generator. A full pipeline that runs the whole outreach loop, with every step visible.</a:t>
            </a:r>
            <a:endParaRPr lang="en-US" sz="1400" dirty="0"/>
          </a:p>
        </p:txBody>
      </p:sp>
      <p:sp>
        <p:nvSpPr>
          <p:cNvPr id="5" name="Shape 3"/>
          <p:cNvSpPr/>
          <p:nvPr/>
        </p:nvSpPr>
        <p:spPr>
          <a:xfrm>
            <a:off x="566928" y="2743200"/>
            <a:ext cx="6903720" cy="1874520"/>
          </a:xfrm>
          <a:prstGeom prst="roundRect">
            <a:avLst>
              <a:gd name="adj" fmla="val 2195"/>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6" name="Text 4"/>
          <p:cNvSpPr/>
          <p:nvPr/>
        </p:nvSpPr>
        <p:spPr>
          <a:xfrm>
            <a:off x="886968" y="3017520"/>
            <a:ext cx="6309360" cy="274320"/>
          </a:xfrm>
          <a:prstGeom prst="rect">
            <a:avLst/>
          </a:prstGeom>
          <a:noFill/>
          <a:ln/>
        </p:spPr>
        <p:txBody>
          <a:bodyPr wrap="square" lIns="0" tIns="0" rIns="0" bIns="0" rtlCol="0" anchor="ctr"/>
          <a:lstStyle/>
          <a:p>
            <a:pPr indent="0" marL="0">
              <a:buNone/>
            </a:pPr>
            <a:r>
              <a:rPr lang="en-US" sz="1000" b="1" spc="150" kern="0" dirty="0">
                <a:solidFill>
                  <a:srgbClr val="9A968C"/>
                </a:solidFill>
                <a:latin typeface="Arial" pitchFamily="34" charset="0"/>
                <a:ea typeface="Arial" pitchFamily="34" charset="-122"/>
                <a:cs typeface="Arial" pitchFamily="34" charset="-120"/>
              </a:rPr>
              <a:t>ONE SWITCH, GLOBAL OR PER CONVERSATION</a:t>
            </a:r>
            <a:endParaRPr lang="en-US" sz="1000" dirty="0"/>
          </a:p>
        </p:txBody>
      </p:sp>
      <p:sp>
        <p:nvSpPr>
          <p:cNvPr id="7" name="Shape 5"/>
          <p:cNvSpPr/>
          <p:nvPr/>
        </p:nvSpPr>
        <p:spPr>
          <a:xfrm>
            <a:off x="886968" y="3520440"/>
            <a:ext cx="2788920" cy="566928"/>
          </a:xfrm>
          <a:prstGeom prst="roundRect">
            <a:avLst>
              <a:gd name="adj" fmla="val 12903"/>
            </a:avLst>
          </a:prstGeom>
          <a:solidFill>
            <a:srgbClr val="FBF9F5"/>
          </a:solidFill>
          <a:ln w="12700">
            <a:solidFill>
              <a:srgbClr val="E2DED6"/>
            </a:solidFill>
            <a:prstDash val="solid"/>
          </a:ln>
        </p:spPr>
      </p:sp>
      <p:sp>
        <p:nvSpPr>
          <p:cNvPr id="8" name="Text 6"/>
          <p:cNvSpPr/>
          <p:nvPr/>
        </p:nvSpPr>
        <p:spPr>
          <a:xfrm>
            <a:off x="886968" y="3520440"/>
            <a:ext cx="278892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0D0C0A"/>
                </a:solidFill>
                <a:latin typeface="Arial" pitchFamily="34" charset="0"/>
                <a:ea typeface="Arial" pitchFamily="34" charset="-122"/>
                <a:cs typeface="Arial" pitchFamily="34" charset="-120"/>
              </a:rPr>
              <a:t>Human approval
</a:t>
            </a:r>
            <a:pPr algn="ctr" indent="0" marL="0">
              <a:lnSpc>
                <a:spcPct val="100000"/>
              </a:lnSpc>
              <a:buNone/>
            </a:pPr>
            <a:r>
              <a:rPr lang="en-US" sz="950" dirty="0">
                <a:solidFill>
                  <a:srgbClr val="6B675F"/>
                </a:solidFill>
                <a:latin typeface="Arial" pitchFamily="34" charset="0"/>
                <a:ea typeface="Arial" pitchFamily="34" charset="-122"/>
                <a:cs typeface="Arial" pitchFamily="34" charset="-120"/>
              </a:rPr>
              <a:t>agent drafts, you approve</a:t>
            </a:r>
            <a:endParaRPr lang="en-US" sz="1400" dirty="0"/>
          </a:p>
        </p:txBody>
      </p:sp>
      <p:sp>
        <p:nvSpPr>
          <p:cNvPr id="9" name="Text 7"/>
          <p:cNvSpPr/>
          <p:nvPr/>
        </p:nvSpPr>
        <p:spPr>
          <a:xfrm>
            <a:off x="3675888" y="3520440"/>
            <a:ext cx="640080" cy="566928"/>
          </a:xfrm>
          <a:prstGeom prst="rect">
            <a:avLst/>
          </a:prstGeom>
          <a:noFill/>
          <a:ln/>
        </p:spPr>
        <p:txBody>
          <a:bodyPr wrap="square" lIns="0" tIns="0" rIns="0" bIns="0" rtlCol="0" anchor="ctr"/>
          <a:lstStyle/>
          <a:p>
            <a:pPr algn="ctr" indent="0" marL="0">
              <a:buNone/>
            </a:pPr>
            <a:r>
              <a:rPr lang="en-US" sz="2200" b="1" dirty="0">
                <a:solidFill>
                  <a:srgbClr val="7A5CFF"/>
                </a:solidFill>
                <a:latin typeface="Arial" pitchFamily="34" charset="0"/>
                <a:ea typeface="Arial" pitchFamily="34" charset="-122"/>
                <a:cs typeface="Arial" pitchFamily="34" charset="-120"/>
              </a:rPr>
              <a:t>→</a:t>
            </a:r>
            <a:endParaRPr lang="en-US" sz="2200" dirty="0"/>
          </a:p>
        </p:txBody>
      </p:sp>
      <p:sp>
        <p:nvSpPr>
          <p:cNvPr id="10" name="Shape 8"/>
          <p:cNvSpPr/>
          <p:nvPr/>
        </p:nvSpPr>
        <p:spPr>
          <a:xfrm>
            <a:off x="4315968" y="3520440"/>
            <a:ext cx="2788920" cy="566928"/>
          </a:xfrm>
          <a:prstGeom prst="roundRect">
            <a:avLst>
              <a:gd name="adj" fmla="val 12903"/>
            </a:avLst>
          </a:prstGeom>
          <a:solidFill>
            <a:srgbClr val="0D0C0A"/>
          </a:solidFill>
          <a:ln w="12700">
            <a:solidFill>
              <a:srgbClr val="0D0C0A"/>
            </a:solidFill>
            <a:prstDash val="solid"/>
          </a:ln>
        </p:spPr>
      </p:sp>
      <p:sp>
        <p:nvSpPr>
          <p:cNvPr id="11" name="Text 9"/>
          <p:cNvSpPr/>
          <p:nvPr/>
        </p:nvSpPr>
        <p:spPr>
          <a:xfrm>
            <a:off x="4315968" y="3520440"/>
            <a:ext cx="278892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Arial" pitchFamily="34" charset="0"/>
                <a:ea typeface="Arial" pitchFamily="34" charset="-122"/>
                <a:cs typeface="Arial" pitchFamily="34" charset="-120"/>
              </a:rPr>
              <a:t>Fully autonomous
</a:t>
            </a:r>
            <a:pPr algn="ctr" indent="0" marL="0">
              <a:lnSpc>
                <a:spcPct val="100000"/>
              </a:lnSpc>
              <a:buNone/>
            </a:pPr>
            <a:r>
              <a:rPr lang="en-US" sz="950" dirty="0">
                <a:solidFill>
                  <a:srgbClr val="B7B2C9"/>
                </a:solidFill>
                <a:latin typeface="Arial" pitchFamily="34" charset="0"/>
                <a:ea typeface="Arial" pitchFamily="34" charset="-122"/>
                <a:cs typeface="Arial" pitchFamily="34" charset="-120"/>
              </a:rPr>
              <a:t>agent sends and replies</a:t>
            </a:r>
            <a:endParaRPr lang="en-US" sz="1400" dirty="0"/>
          </a:p>
        </p:txBody>
      </p:sp>
      <p:sp>
        <p:nvSpPr>
          <p:cNvPr id="12" name="Text 10"/>
          <p:cNvSpPr/>
          <p:nvPr/>
        </p:nvSpPr>
        <p:spPr>
          <a:xfrm>
            <a:off x="886968" y="4224528"/>
            <a:ext cx="6263640" cy="365760"/>
          </a:xfrm>
          <a:prstGeom prst="rect">
            <a:avLst/>
          </a:prstGeom>
          <a:noFill/>
          <a:ln/>
        </p:spPr>
        <p:txBody>
          <a:bodyPr wrap="square" lIns="0" tIns="0" rIns="0" bIns="0" rtlCol="0" anchor="ctr"/>
          <a:lstStyle/>
          <a:p>
            <a:pPr indent="0" marL="0">
              <a:lnSpc>
                <a:spcPct val="115000"/>
              </a:lnSpc>
              <a:buNone/>
            </a:pPr>
            <a:r>
              <a:rPr lang="en-US" sz="1050" i="1" dirty="0">
                <a:solidFill>
                  <a:srgbClr val="6B675F"/>
                </a:solidFill>
                <a:latin typeface="Arial" pitchFamily="34" charset="0"/>
                <a:ea typeface="Arial" pitchFamily="34" charset="-122"/>
                <a:cs typeface="Arial" pitchFamily="34" charset="-120"/>
              </a:rPr>
              <a:t>Take over any thread and send a manual reply. Hand it back and the agent reads the whole conversation before it resumes.</a:t>
            </a:r>
            <a:endParaRPr lang="en-US" sz="1050" dirty="0"/>
          </a:p>
        </p:txBody>
      </p:sp>
      <p:sp>
        <p:nvSpPr>
          <p:cNvPr id="13" name="Text 11"/>
          <p:cNvSpPr/>
          <p:nvPr/>
        </p:nvSpPr>
        <p:spPr>
          <a:xfrm>
            <a:off x="7818120" y="2743200"/>
            <a:ext cx="3794760" cy="274320"/>
          </a:xfrm>
          <a:prstGeom prst="rect">
            <a:avLst/>
          </a:prstGeom>
          <a:noFill/>
          <a:ln/>
        </p:spPr>
        <p:txBody>
          <a:bodyPr wrap="square" lIns="0" tIns="0" rIns="0" bIns="0" rtlCol="0" anchor="ctr"/>
          <a:lstStyle/>
          <a:p>
            <a:pPr indent="0" marL="0">
              <a:buNone/>
            </a:pPr>
            <a:r>
              <a:rPr lang="en-US" sz="1000" b="1" spc="150" kern="0" dirty="0">
                <a:solidFill>
                  <a:srgbClr val="9A968C"/>
                </a:solidFill>
                <a:latin typeface="Arial" pitchFamily="34" charset="0"/>
                <a:ea typeface="Arial" pitchFamily="34" charset="-122"/>
                <a:cs typeface="Arial" pitchFamily="34" charset="-120"/>
              </a:rPr>
              <a:t>BUILT-IN GUARDRAILS</a:t>
            </a:r>
            <a:endParaRPr lang="en-US" sz="1000" dirty="0"/>
          </a:p>
        </p:txBody>
      </p:sp>
      <p:sp>
        <p:nvSpPr>
          <p:cNvPr id="14" name="Text 12"/>
          <p:cNvSpPr/>
          <p:nvPr/>
        </p:nvSpPr>
        <p:spPr>
          <a:xfrm>
            <a:off x="7818120" y="3145536"/>
            <a:ext cx="201168" cy="274320"/>
          </a:xfrm>
          <a:prstGeom prst="rect">
            <a:avLst/>
          </a:prstGeom>
          <a:noFill/>
          <a:ln/>
        </p:spPr>
        <p:txBody>
          <a:bodyPr wrap="square" lIns="0" tIns="0" rIns="0" bIns="0" rtlCol="0" anchor="ctr"/>
          <a:lstStyle/>
          <a:p>
            <a:pPr indent="0" marL="0">
              <a:buNone/>
            </a:pPr>
            <a:r>
              <a:rPr lang="en-US" sz="800" dirty="0">
                <a:solidFill>
                  <a:srgbClr val="7A5CFF"/>
                </a:solidFill>
                <a:latin typeface="Arial" pitchFamily="34" charset="0"/>
                <a:ea typeface="Arial" pitchFamily="34" charset="-122"/>
                <a:cs typeface="Arial" pitchFamily="34" charset="-120"/>
              </a:rPr>
              <a:t>■</a:t>
            </a:r>
            <a:endParaRPr lang="en-US" sz="800" dirty="0"/>
          </a:p>
        </p:txBody>
      </p:sp>
      <p:sp>
        <p:nvSpPr>
          <p:cNvPr id="15" name="Text 13"/>
          <p:cNvSpPr/>
          <p:nvPr/>
        </p:nvSpPr>
        <p:spPr>
          <a:xfrm>
            <a:off x="8055864" y="3127248"/>
            <a:ext cx="3557016" cy="457200"/>
          </a:xfrm>
          <a:prstGeom prst="rect">
            <a:avLst/>
          </a:prstGeom>
          <a:noFill/>
          <a:ln/>
        </p:spPr>
        <p:txBody>
          <a:bodyPr wrap="square" lIns="0" tIns="0" rIns="0" bIns="0" rtlCol="0" anchor="ctr"/>
          <a:lstStyle/>
          <a:p>
            <a:pPr indent="0" marL="0">
              <a:lnSpc>
                <a:spcPct val="110000"/>
              </a:lnSpc>
              <a:buNone/>
            </a:pPr>
            <a:r>
              <a:rPr lang="en-US" sz="1150" dirty="0">
                <a:solidFill>
                  <a:srgbClr val="35322D"/>
                </a:solidFill>
                <a:latin typeface="Arial" pitchFamily="34" charset="0"/>
                <a:ea typeface="Arial" pitchFamily="34" charset="-122"/>
                <a:cs typeface="Arial" pitchFamily="34" charset="-120"/>
              </a:rPr>
              <a:t>Every claim links to stored evidence, with source and date</a:t>
            </a:r>
            <a:endParaRPr lang="en-US" sz="1150" dirty="0"/>
          </a:p>
        </p:txBody>
      </p:sp>
      <p:sp>
        <p:nvSpPr>
          <p:cNvPr id="16" name="Text 14"/>
          <p:cNvSpPr/>
          <p:nvPr/>
        </p:nvSpPr>
        <p:spPr>
          <a:xfrm>
            <a:off x="7818120" y="3602736"/>
            <a:ext cx="201168" cy="274320"/>
          </a:xfrm>
          <a:prstGeom prst="rect">
            <a:avLst/>
          </a:prstGeom>
          <a:noFill/>
          <a:ln/>
        </p:spPr>
        <p:txBody>
          <a:bodyPr wrap="square" lIns="0" tIns="0" rIns="0" bIns="0" rtlCol="0" anchor="ctr"/>
          <a:lstStyle/>
          <a:p>
            <a:pPr indent="0" marL="0">
              <a:buNone/>
            </a:pPr>
            <a:r>
              <a:rPr lang="en-US" sz="800" dirty="0">
                <a:solidFill>
                  <a:srgbClr val="7A5CFF"/>
                </a:solidFill>
                <a:latin typeface="Arial" pitchFamily="34" charset="0"/>
                <a:ea typeface="Arial" pitchFamily="34" charset="-122"/>
                <a:cs typeface="Arial" pitchFamily="34" charset="-120"/>
              </a:rPr>
              <a:t>■</a:t>
            </a:r>
            <a:endParaRPr lang="en-US" sz="800" dirty="0"/>
          </a:p>
        </p:txBody>
      </p:sp>
      <p:sp>
        <p:nvSpPr>
          <p:cNvPr id="17" name="Text 15"/>
          <p:cNvSpPr/>
          <p:nvPr/>
        </p:nvSpPr>
        <p:spPr>
          <a:xfrm>
            <a:off x="8055864" y="3584448"/>
            <a:ext cx="3557016" cy="457200"/>
          </a:xfrm>
          <a:prstGeom prst="rect">
            <a:avLst/>
          </a:prstGeom>
          <a:noFill/>
          <a:ln/>
        </p:spPr>
        <p:txBody>
          <a:bodyPr wrap="square" lIns="0" tIns="0" rIns="0" bIns="0" rtlCol="0" anchor="ctr"/>
          <a:lstStyle/>
          <a:p>
            <a:pPr indent="0" marL="0">
              <a:lnSpc>
                <a:spcPct val="110000"/>
              </a:lnSpc>
              <a:buNone/>
            </a:pPr>
            <a:r>
              <a:rPr lang="en-US" sz="1150" dirty="0">
                <a:solidFill>
                  <a:srgbClr val="35322D"/>
                </a:solidFill>
                <a:latin typeface="Arial" pitchFamily="34" charset="0"/>
                <a:ea typeface="Arial" pitchFamily="34" charset="-122"/>
                <a:cs typeface="Arial" pitchFamily="34" charset="-120"/>
              </a:rPr>
              <a:t>No fake familiarity, no guaranteed-ROI, no invented history</a:t>
            </a:r>
            <a:endParaRPr lang="en-US" sz="1150" dirty="0"/>
          </a:p>
        </p:txBody>
      </p:sp>
      <p:sp>
        <p:nvSpPr>
          <p:cNvPr id="18" name="Text 16"/>
          <p:cNvSpPr/>
          <p:nvPr/>
        </p:nvSpPr>
        <p:spPr>
          <a:xfrm>
            <a:off x="7818120" y="4059936"/>
            <a:ext cx="201168" cy="274320"/>
          </a:xfrm>
          <a:prstGeom prst="rect">
            <a:avLst/>
          </a:prstGeom>
          <a:noFill/>
          <a:ln/>
        </p:spPr>
        <p:txBody>
          <a:bodyPr wrap="square" lIns="0" tIns="0" rIns="0" bIns="0" rtlCol="0" anchor="ctr"/>
          <a:lstStyle/>
          <a:p>
            <a:pPr indent="0" marL="0">
              <a:buNone/>
            </a:pPr>
            <a:r>
              <a:rPr lang="en-US" sz="800" dirty="0">
                <a:solidFill>
                  <a:srgbClr val="7A5CFF"/>
                </a:solidFill>
                <a:latin typeface="Arial" pitchFamily="34" charset="0"/>
                <a:ea typeface="Arial" pitchFamily="34" charset="-122"/>
                <a:cs typeface="Arial" pitchFamily="34" charset="-120"/>
              </a:rPr>
              <a:t>■</a:t>
            </a:r>
            <a:endParaRPr lang="en-US" sz="800" dirty="0"/>
          </a:p>
        </p:txBody>
      </p:sp>
      <p:sp>
        <p:nvSpPr>
          <p:cNvPr id="19" name="Text 17"/>
          <p:cNvSpPr/>
          <p:nvPr/>
        </p:nvSpPr>
        <p:spPr>
          <a:xfrm>
            <a:off x="8055864" y="4041648"/>
            <a:ext cx="3557016" cy="457200"/>
          </a:xfrm>
          <a:prstGeom prst="rect">
            <a:avLst/>
          </a:prstGeom>
          <a:noFill/>
          <a:ln/>
        </p:spPr>
        <p:txBody>
          <a:bodyPr wrap="square" lIns="0" tIns="0" rIns="0" bIns="0" rtlCol="0" anchor="ctr"/>
          <a:lstStyle/>
          <a:p>
            <a:pPr indent="0" marL="0">
              <a:lnSpc>
                <a:spcPct val="110000"/>
              </a:lnSpc>
              <a:buNone/>
            </a:pPr>
            <a:r>
              <a:rPr lang="en-US" sz="1150" dirty="0">
                <a:solidFill>
                  <a:srgbClr val="35322D"/>
                </a:solidFill>
                <a:latin typeface="Arial" pitchFamily="34" charset="0"/>
                <a:ea typeface="Arial" pitchFamily="34" charset="-122"/>
                <a:cs typeface="Arial" pitchFamily="34" charset="-120"/>
              </a:rPr>
              <a:t>Sensitive or high-value replies escalate to a human</a:t>
            </a:r>
            <a:endParaRPr lang="en-US" sz="1150" dirty="0"/>
          </a:p>
        </p:txBody>
      </p:sp>
      <p:sp>
        <p:nvSpPr>
          <p:cNvPr id="20" name="Text 18"/>
          <p:cNvSpPr/>
          <p:nvPr/>
        </p:nvSpPr>
        <p:spPr>
          <a:xfrm>
            <a:off x="7818120" y="4517136"/>
            <a:ext cx="201168" cy="274320"/>
          </a:xfrm>
          <a:prstGeom prst="rect">
            <a:avLst/>
          </a:prstGeom>
          <a:noFill/>
          <a:ln/>
        </p:spPr>
        <p:txBody>
          <a:bodyPr wrap="square" lIns="0" tIns="0" rIns="0" bIns="0" rtlCol="0" anchor="ctr"/>
          <a:lstStyle/>
          <a:p>
            <a:pPr indent="0" marL="0">
              <a:buNone/>
            </a:pPr>
            <a:r>
              <a:rPr lang="en-US" sz="800" dirty="0">
                <a:solidFill>
                  <a:srgbClr val="7A5CFF"/>
                </a:solidFill>
                <a:latin typeface="Arial" pitchFamily="34" charset="0"/>
                <a:ea typeface="Arial" pitchFamily="34" charset="-122"/>
                <a:cs typeface="Arial" pitchFamily="34" charset="-120"/>
              </a:rPr>
              <a:t>■</a:t>
            </a:r>
            <a:endParaRPr lang="en-US" sz="800" dirty="0"/>
          </a:p>
        </p:txBody>
      </p:sp>
      <p:sp>
        <p:nvSpPr>
          <p:cNvPr id="21" name="Text 19"/>
          <p:cNvSpPr/>
          <p:nvPr/>
        </p:nvSpPr>
        <p:spPr>
          <a:xfrm>
            <a:off x="8055864" y="4498848"/>
            <a:ext cx="3557016" cy="457200"/>
          </a:xfrm>
          <a:prstGeom prst="rect">
            <a:avLst/>
          </a:prstGeom>
          <a:noFill/>
          <a:ln/>
        </p:spPr>
        <p:txBody>
          <a:bodyPr wrap="square" lIns="0" tIns="0" rIns="0" bIns="0" rtlCol="0" anchor="ctr"/>
          <a:lstStyle/>
          <a:p>
            <a:pPr indent="0" marL="0">
              <a:lnSpc>
                <a:spcPct val="110000"/>
              </a:lnSpc>
              <a:buNone/>
            </a:pPr>
            <a:r>
              <a:rPr lang="en-US" sz="1150" dirty="0">
                <a:solidFill>
                  <a:srgbClr val="35322D"/>
                </a:solidFill>
                <a:latin typeface="Arial" pitchFamily="34" charset="0"/>
                <a:ea typeface="Arial" pitchFamily="34" charset="-122"/>
                <a:cs typeface="Arial" pitchFamily="34" charset="-120"/>
              </a:rPr>
              <a:t>Follow-ups stop on a reply, a no, or an opt-out</a:t>
            </a:r>
            <a:endParaRPr lang="en-US" sz="1150" dirty="0"/>
          </a:p>
        </p:txBody>
      </p:sp>
      <p:sp>
        <p:nvSpPr>
          <p:cNvPr id="22" name="Text 20"/>
          <p:cNvSpPr/>
          <p:nvPr/>
        </p:nvSpPr>
        <p:spPr>
          <a:xfrm>
            <a:off x="8351215" y="6382512"/>
            <a:ext cx="3273552" cy="274320"/>
          </a:xfrm>
          <a:prstGeom prst="rect">
            <a:avLst/>
          </a:prstGeom>
          <a:noFill/>
          <a:ln/>
        </p:spPr>
        <p:txBody>
          <a:bodyPr wrap="square" lIns="0" tIns="0" rIns="0" bIns="0" rtlCol="0" anchor="ctr"/>
          <a:lstStyle/>
          <a:p>
            <a:pPr algn="r" indent="0" marL="0">
              <a:buNone/>
            </a:pPr>
            <a:r>
              <a:rPr lang="en-US" sz="950" b="1" spc="100" kern="0" dirty="0">
                <a:solidFill>
                  <a:srgbClr val="9A968C"/>
                </a:solidFill>
                <a:latin typeface="Arial" pitchFamily="34" charset="0"/>
                <a:ea typeface="Arial" pitchFamily="34" charset="-122"/>
                <a:cs typeface="Arial" pitchFamily="34" charset="-120"/>
              </a:rPr>
              <a:t>INFLUENCEES</a:t>
            </a:r>
            <a:pPr algn="r" indent="0" marL="0">
              <a:buNone/>
            </a:pPr>
            <a:r>
              <a:rPr lang="en-US" sz="950" b="1" spc="100" kern="0" dirty="0">
                <a:solidFill>
                  <a:srgbClr val="6B675F"/>
                </a:solidFill>
                <a:latin typeface="Arial" pitchFamily="34" charset="0"/>
                <a:ea typeface="Arial" pitchFamily="34" charset="-122"/>
                <a:cs typeface="Arial" pitchFamily="34" charset="-120"/>
              </a:rPr>
              <a:t>   03 / 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566928" y="457200"/>
            <a:ext cx="8229600" cy="274320"/>
          </a:xfrm>
          <a:prstGeom prst="rect">
            <a:avLst/>
          </a:prstGeom>
          <a:noFill/>
          <a:ln/>
        </p:spPr>
        <p:txBody>
          <a:bodyPr wrap="square" lIns="0" tIns="0" rIns="0" bIns="0" rtlCol="0" anchor="ctr"/>
          <a:lstStyle/>
          <a:p>
            <a:pPr algn="l" indent="0" marL="0">
              <a:buNone/>
            </a:pPr>
            <a:r>
              <a:rPr lang="en-US" sz="1150" b="1" spc="250" kern="0" dirty="0">
                <a:solidFill>
                  <a:srgbClr val="5A3EE0"/>
                </a:solidFill>
                <a:latin typeface="Arial" pitchFamily="34" charset="0"/>
                <a:ea typeface="Arial" pitchFamily="34" charset="-122"/>
                <a:cs typeface="Arial" pitchFamily="34" charset="-120"/>
              </a:rPr>
              <a:t>SOLUTION 01  ·  HOW IT WORKS</a:t>
            </a:r>
            <a:endParaRPr lang="en-US" sz="1150" dirty="0"/>
          </a:p>
        </p:txBody>
      </p:sp>
      <p:sp>
        <p:nvSpPr>
          <p:cNvPr id="3" name="Text 1"/>
          <p:cNvSpPr/>
          <p:nvPr/>
        </p:nvSpPr>
        <p:spPr>
          <a:xfrm>
            <a:off x="566928" y="822960"/>
            <a:ext cx="10607040" cy="822960"/>
          </a:xfrm>
          <a:prstGeom prst="rect">
            <a:avLst/>
          </a:prstGeom>
          <a:noFill/>
          <a:ln/>
        </p:spPr>
        <p:txBody>
          <a:bodyPr wrap="square" lIns="0" tIns="0" rIns="0" bIns="0" rtlCol="0" anchor="t"/>
          <a:lstStyle/>
          <a:p>
            <a:pPr algn="l" indent="0" marL="0">
              <a:lnSpc>
                <a:spcPct val="102000"/>
              </a:lnSpc>
              <a:buNone/>
            </a:pPr>
            <a:r>
              <a:rPr lang="en-US" sz="2700" b="1" dirty="0">
                <a:solidFill>
                  <a:srgbClr val="0D0C0A"/>
                </a:solidFill>
                <a:latin typeface="Arial" pitchFamily="34" charset="0"/>
                <a:ea typeface="Arial" pitchFamily="34" charset="-122"/>
                <a:cs typeface="Arial" pitchFamily="34" charset="-120"/>
              </a:rPr>
              <a:t>One loop, from cold company to booked conversation.</a:t>
            </a:r>
            <a:endParaRPr lang="en-US" sz="2700" dirty="0"/>
          </a:p>
        </p:txBody>
      </p:sp>
      <p:sp>
        <p:nvSpPr>
          <p:cNvPr id="4" name="Shape 2"/>
          <p:cNvSpPr/>
          <p:nvPr/>
        </p:nvSpPr>
        <p:spPr>
          <a:xfrm>
            <a:off x="566928" y="2148840"/>
            <a:ext cx="1454288" cy="2148840"/>
          </a:xfrm>
          <a:prstGeom prst="roundRect">
            <a:avLst>
              <a:gd name="adj" fmla="val 2829"/>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5" name="Shape 3"/>
          <p:cNvSpPr/>
          <p:nvPr/>
        </p:nvSpPr>
        <p:spPr>
          <a:xfrm>
            <a:off x="1038040" y="2404872"/>
            <a:ext cx="512064" cy="512064"/>
          </a:xfrm>
          <a:prstGeom prst="ellipse">
            <a:avLst/>
          </a:prstGeom>
          <a:solidFill>
            <a:srgbClr val="0D0C0A"/>
          </a:solidFill>
          <a:ln/>
        </p:spPr>
      </p:sp>
      <p:sp>
        <p:nvSpPr>
          <p:cNvPr id="6" name="Text 4"/>
          <p:cNvSpPr/>
          <p:nvPr/>
        </p:nvSpPr>
        <p:spPr>
          <a:xfrm>
            <a:off x="1038040" y="240487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640080" y="3063240"/>
            <a:ext cx="1307984" cy="320040"/>
          </a:xfrm>
          <a:prstGeom prst="rect">
            <a:avLst/>
          </a:prstGeom>
          <a:noFill/>
          <a:ln/>
        </p:spPr>
        <p:txBody>
          <a:bodyPr wrap="square" lIns="0" tIns="0" rIns="0" bIns="0" rtlCol="0" anchor="ctr"/>
          <a:lstStyle/>
          <a:p>
            <a:pPr algn="ctr" indent="0" marL="0">
              <a:buNone/>
            </a:pPr>
            <a:r>
              <a:rPr lang="en-US" sz="1250" b="1" dirty="0">
                <a:solidFill>
                  <a:srgbClr val="0D0C0A"/>
                </a:solidFill>
                <a:latin typeface="Arial" pitchFamily="34" charset="0"/>
                <a:ea typeface="Arial" pitchFamily="34" charset="-122"/>
                <a:cs typeface="Arial" pitchFamily="34" charset="-120"/>
              </a:rPr>
              <a:t>Discover</a:t>
            </a:r>
            <a:endParaRPr lang="en-US" sz="1250" dirty="0"/>
          </a:p>
        </p:txBody>
      </p:sp>
      <p:sp>
        <p:nvSpPr>
          <p:cNvPr id="8" name="Text 6"/>
          <p:cNvSpPr/>
          <p:nvPr/>
        </p:nvSpPr>
        <p:spPr>
          <a:xfrm>
            <a:off x="658368" y="3410712"/>
            <a:ext cx="1271408" cy="822960"/>
          </a:xfrm>
          <a:prstGeom prst="rect">
            <a:avLst/>
          </a:prstGeom>
          <a:noFill/>
          <a:ln/>
        </p:spPr>
        <p:txBody>
          <a:bodyPr wrap="square" lIns="0" tIns="0" rIns="0" bIns="0" rtlCol="0" anchor="ctr"/>
          <a:lstStyle/>
          <a:p>
            <a:pPr algn="ctr" indent="0" marL="0">
              <a:lnSpc>
                <a:spcPct val="112000"/>
              </a:lnSpc>
              <a:buNone/>
            </a:pPr>
            <a:r>
              <a:rPr lang="en-US" sz="950" dirty="0">
                <a:solidFill>
                  <a:srgbClr val="6B675F"/>
                </a:solidFill>
                <a:latin typeface="Arial" pitchFamily="34" charset="0"/>
                <a:ea typeface="Arial" pitchFamily="34" charset="-122"/>
                <a:cs typeface="Arial" pitchFamily="34" charset="-120"/>
              </a:rPr>
              <a:t>Find SG companies that fit the ICP</a:t>
            </a:r>
            <a:endParaRPr lang="en-US" sz="950" dirty="0"/>
          </a:p>
        </p:txBody>
      </p:sp>
      <p:sp>
        <p:nvSpPr>
          <p:cNvPr id="9" name="Text 7"/>
          <p:cNvSpPr/>
          <p:nvPr/>
        </p:nvSpPr>
        <p:spPr>
          <a:xfrm>
            <a:off x="2002928" y="2967228"/>
            <a:ext cx="182880" cy="457200"/>
          </a:xfrm>
          <a:prstGeom prst="rect">
            <a:avLst/>
          </a:prstGeom>
          <a:noFill/>
          <a:ln/>
        </p:spPr>
        <p:txBody>
          <a:bodyPr wrap="square" lIns="0" tIns="0" rIns="0" bIns="0" rtlCol="0" anchor="ctr"/>
          <a:lstStyle/>
          <a:p>
            <a:pPr algn="ctr" indent="0" marL="0">
              <a:buNone/>
            </a:pPr>
            <a:r>
              <a:rPr lang="en-US" sz="1600" b="1" dirty="0">
                <a:solidFill>
                  <a:srgbClr val="9A968C"/>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167520" y="2148840"/>
            <a:ext cx="1454288" cy="2148840"/>
          </a:xfrm>
          <a:prstGeom prst="roundRect">
            <a:avLst>
              <a:gd name="adj" fmla="val 2829"/>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11" name="Shape 9"/>
          <p:cNvSpPr/>
          <p:nvPr/>
        </p:nvSpPr>
        <p:spPr>
          <a:xfrm>
            <a:off x="2638632" y="2404872"/>
            <a:ext cx="512064" cy="512064"/>
          </a:xfrm>
          <a:prstGeom prst="ellipse">
            <a:avLst/>
          </a:prstGeom>
          <a:solidFill>
            <a:srgbClr val="0D0C0A"/>
          </a:solidFill>
          <a:ln/>
        </p:spPr>
      </p:sp>
      <p:sp>
        <p:nvSpPr>
          <p:cNvPr id="12" name="Text 10"/>
          <p:cNvSpPr/>
          <p:nvPr/>
        </p:nvSpPr>
        <p:spPr>
          <a:xfrm>
            <a:off x="2638632" y="240487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2240672" y="3063240"/>
            <a:ext cx="1307984" cy="320040"/>
          </a:xfrm>
          <a:prstGeom prst="rect">
            <a:avLst/>
          </a:prstGeom>
          <a:noFill/>
          <a:ln/>
        </p:spPr>
        <p:txBody>
          <a:bodyPr wrap="square" lIns="0" tIns="0" rIns="0" bIns="0" rtlCol="0" anchor="ctr"/>
          <a:lstStyle/>
          <a:p>
            <a:pPr algn="ctr" indent="0" marL="0">
              <a:buNone/>
            </a:pPr>
            <a:r>
              <a:rPr lang="en-US" sz="1250" b="1" dirty="0">
                <a:solidFill>
                  <a:srgbClr val="0D0C0A"/>
                </a:solidFill>
                <a:latin typeface="Arial" pitchFamily="34" charset="0"/>
                <a:ea typeface="Arial" pitchFamily="34" charset="-122"/>
                <a:cs typeface="Arial" pitchFamily="34" charset="-120"/>
              </a:rPr>
              <a:t>Research</a:t>
            </a:r>
            <a:endParaRPr lang="en-US" sz="1250" dirty="0"/>
          </a:p>
        </p:txBody>
      </p:sp>
      <p:sp>
        <p:nvSpPr>
          <p:cNvPr id="14" name="Text 12"/>
          <p:cNvSpPr/>
          <p:nvPr/>
        </p:nvSpPr>
        <p:spPr>
          <a:xfrm>
            <a:off x="2258960" y="3410712"/>
            <a:ext cx="1271408" cy="822960"/>
          </a:xfrm>
          <a:prstGeom prst="rect">
            <a:avLst/>
          </a:prstGeom>
          <a:noFill/>
          <a:ln/>
        </p:spPr>
        <p:txBody>
          <a:bodyPr wrap="square" lIns="0" tIns="0" rIns="0" bIns="0" rtlCol="0" anchor="ctr"/>
          <a:lstStyle/>
          <a:p>
            <a:pPr algn="ctr" indent="0" marL="0">
              <a:lnSpc>
                <a:spcPct val="112000"/>
              </a:lnSpc>
              <a:buNone/>
            </a:pPr>
            <a:r>
              <a:rPr lang="en-US" sz="950" dirty="0">
                <a:solidFill>
                  <a:srgbClr val="6B675F"/>
                </a:solidFill>
                <a:latin typeface="Arial" pitchFamily="34" charset="0"/>
                <a:ea typeface="Arial" pitchFamily="34" charset="-122"/>
                <a:cs typeface="Arial" pitchFamily="34" charset="-120"/>
              </a:rPr>
              <a:t>Pull recent public activity + evidence</a:t>
            </a:r>
            <a:endParaRPr lang="en-US" sz="950" dirty="0"/>
          </a:p>
        </p:txBody>
      </p:sp>
      <p:sp>
        <p:nvSpPr>
          <p:cNvPr id="15" name="Text 13"/>
          <p:cNvSpPr/>
          <p:nvPr/>
        </p:nvSpPr>
        <p:spPr>
          <a:xfrm>
            <a:off x="3603520" y="2967228"/>
            <a:ext cx="182880" cy="457200"/>
          </a:xfrm>
          <a:prstGeom prst="rect">
            <a:avLst/>
          </a:prstGeom>
          <a:noFill/>
          <a:ln/>
        </p:spPr>
        <p:txBody>
          <a:bodyPr wrap="square" lIns="0" tIns="0" rIns="0" bIns="0" rtlCol="0" anchor="ctr"/>
          <a:lstStyle/>
          <a:p>
            <a:pPr algn="ctr" indent="0" marL="0">
              <a:buNone/>
            </a:pPr>
            <a:r>
              <a:rPr lang="en-US" sz="1600" b="1" dirty="0">
                <a:solidFill>
                  <a:srgbClr val="9A968C"/>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3768112" y="2148840"/>
            <a:ext cx="1454288" cy="2148840"/>
          </a:xfrm>
          <a:prstGeom prst="roundRect">
            <a:avLst>
              <a:gd name="adj" fmla="val 2829"/>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17" name="Shape 15"/>
          <p:cNvSpPr/>
          <p:nvPr/>
        </p:nvSpPr>
        <p:spPr>
          <a:xfrm>
            <a:off x="4239224" y="2404872"/>
            <a:ext cx="512064" cy="512064"/>
          </a:xfrm>
          <a:prstGeom prst="ellipse">
            <a:avLst/>
          </a:prstGeom>
          <a:solidFill>
            <a:srgbClr val="0D0C0A"/>
          </a:solidFill>
          <a:ln/>
        </p:spPr>
      </p:sp>
      <p:sp>
        <p:nvSpPr>
          <p:cNvPr id="18" name="Text 16"/>
          <p:cNvSpPr/>
          <p:nvPr/>
        </p:nvSpPr>
        <p:spPr>
          <a:xfrm>
            <a:off x="4239224" y="240487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3841264" y="3063240"/>
            <a:ext cx="1307984" cy="320040"/>
          </a:xfrm>
          <a:prstGeom prst="rect">
            <a:avLst/>
          </a:prstGeom>
          <a:noFill/>
          <a:ln/>
        </p:spPr>
        <p:txBody>
          <a:bodyPr wrap="square" lIns="0" tIns="0" rIns="0" bIns="0" rtlCol="0" anchor="ctr"/>
          <a:lstStyle/>
          <a:p>
            <a:pPr algn="ctr" indent="0" marL="0">
              <a:buNone/>
            </a:pPr>
            <a:r>
              <a:rPr lang="en-US" sz="1250" b="1" dirty="0">
                <a:solidFill>
                  <a:srgbClr val="0D0C0A"/>
                </a:solidFill>
                <a:latin typeface="Arial" pitchFamily="34" charset="0"/>
                <a:ea typeface="Arial" pitchFamily="34" charset="-122"/>
                <a:cs typeface="Arial" pitchFamily="34" charset="-120"/>
              </a:rPr>
              <a:t>Score</a:t>
            </a:r>
            <a:endParaRPr lang="en-US" sz="1250" dirty="0"/>
          </a:p>
        </p:txBody>
      </p:sp>
      <p:sp>
        <p:nvSpPr>
          <p:cNvPr id="20" name="Text 18"/>
          <p:cNvSpPr/>
          <p:nvPr/>
        </p:nvSpPr>
        <p:spPr>
          <a:xfrm>
            <a:off x="3859552" y="3410712"/>
            <a:ext cx="1271408" cy="822960"/>
          </a:xfrm>
          <a:prstGeom prst="rect">
            <a:avLst/>
          </a:prstGeom>
          <a:noFill/>
          <a:ln/>
        </p:spPr>
        <p:txBody>
          <a:bodyPr wrap="square" lIns="0" tIns="0" rIns="0" bIns="0" rtlCol="0" anchor="ctr"/>
          <a:lstStyle/>
          <a:p>
            <a:pPr algn="ctr" indent="0" marL="0">
              <a:lnSpc>
                <a:spcPct val="112000"/>
              </a:lnSpc>
              <a:buNone/>
            </a:pPr>
            <a:r>
              <a:rPr lang="en-US" sz="950" dirty="0">
                <a:solidFill>
                  <a:srgbClr val="6B675F"/>
                </a:solidFill>
                <a:latin typeface="Arial" pitchFamily="34" charset="0"/>
                <a:ea typeface="Arial" pitchFamily="34" charset="-122"/>
                <a:cs typeface="Arial" pitchFamily="34" charset="-120"/>
              </a:rPr>
              <a:t>Fit score with a transparent reason</a:t>
            </a:r>
            <a:endParaRPr lang="en-US" sz="950" dirty="0"/>
          </a:p>
        </p:txBody>
      </p:sp>
      <p:sp>
        <p:nvSpPr>
          <p:cNvPr id="21" name="Text 19"/>
          <p:cNvSpPr/>
          <p:nvPr/>
        </p:nvSpPr>
        <p:spPr>
          <a:xfrm>
            <a:off x="5204112" y="2967228"/>
            <a:ext cx="182880" cy="457200"/>
          </a:xfrm>
          <a:prstGeom prst="rect">
            <a:avLst/>
          </a:prstGeom>
          <a:noFill/>
          <a:ln/>
        </p:spPr>
        <p:txBody>
          <a:bodyPr wrap="square" lIns="0" tIns="0" rIns="0" bIns="0" rtlCol="0" anchor="ctr"/>
          <a:lstStyle/>
          <a:p>
            <a:pPr algn="ctr" indent="0" marL="0">
              <a:buNone/>
            </a:pPr>
            <a:r>
              <a:rPr lang="en-US" sz="1600" b="1" dirty="0">
                <a:solidFill>
                  <a:srgbClr val="9A968C"/>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5368704" y="2148840"/>
            <a:ext cx="1454288" cy="2148840"/>
          </a:xfrm>
          <a:prstGeom prst="roundRect">
            <a:avLst>
              <a:gd name="adj" fmla="val 2829"/>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23" name="Shape 21"/>
          <p:cNvSpPr/>
          <p:nvPr/>
        </p:nvSpPr>
        <p:spPr>
          <a:xfrm>
            <a:off x="5839816" y="2404872"/>
            <a:ext cx="512064" cy="512064"/>
          </a:xfrm>
          <a:prstGeom prst="ellipse">
            <a:avLst/>
          </a:prstGeom>
          <a:solidFill>
            <a:srgbClr val="0D0C0A"/>
          </a:solidFill>
          <a:ln/>
        </p:spPr>
      </p:sp>
      <p:sp>
        <p:nvSpPr>
          <p:cNvPr id="24" name="Text 22"/>
          <p:cNvSpPr/>
          <p:nvPr/>
        </p:nvSpPr>
        <p:spPr>
          <a:xfrm>
            <a:off x="5839816" y="240487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5" name="Text 23"/>
          <p:cNvSpPr/>
          <p:nvPr/>
        </p:nvSpPr>
        <p:spPr>
          <a:xfrm>
            <a:off x="5441856" y="3063240"/>
            <a:ext cx="1307984" cy="320040"/>
          </a:xfrm>
          <a:prstGeom prst="rect">
            <a:avLst/>
          </a:prstGeom>
          <a:noFill/>
          <a:ln/>
        </p:spPr>
        <p:txBody>
          <a:bodyPr wrap="square" lIns="0" tIns="0" rIns="0" bIns="0" rtlCol="0" anchor="ctr"/>
          <a:lstStyle/>
          <a:p>
            <a:pPr algn="ctr" indent="0" marL="0">
              <a:buNone/>
            </a:pPr>
            <a:r>
              <a:rPr lang="en-US" sz="1250" b="1" dirty="0">
                <a:solidFill>
                  <a:srgbClr val="0D0C0A"/>
                </a:solidFill>
                <a:latin typeface="Arial" pitchFamily="34" charset="0"/>
                <a:ea typeface="Arial" pitchFamily="34" charset="-122"/>
                <a:cs typeface="Arial" pitchFamily="34" charset="-120"/>
              </a:rPr>
              <a:t>Draft</a:t>
            </a:r>
            <a:endParaRPr lang="en-US" sz="1250" dirty="0"/>
          </a:p>
        </p:txBody>
      </p:sp>
      <p:sp>
        <p:nvSpPr>
          <p:cNvPr id="26" name="Text 24"/>
          <p:cNvSpPr/>
          <p:nvPr/>
        </p:nvSpPr>
        <p:spPr>
          <a:xfrm>
            <a:off x="5460144" y="3410712"/>
            <a:ext cx="1271408" cy="822960"/>
          </a:xfrm>
          <a:prstGeom prst="rect">
            <a:avLst/>
          </a:prstGeom>
          <a:noFill/>
          <a:ln/>
        </p:spPr>
        <p:txBody>
          <a:bodyPr wrap="square" lIns="0" tIns="0" rIns="0" bIns="0" rtlCol="0" anchor="ctr"/>
          <a:lstStyle/>
          <a:p>
            <a:pPr algn="ctr" indent="0" marL="0">
              <a:lnSpc>
                <a:spcPct val="112000"/>
              </a:lnSpc>
              <a:buNone/>
            </a:pPr>
            <a:r>
              <a:rPr lang="en-US" sz="950" dirty="0">
                <a:solidFill>
                  <a:srgbClr val="6B675F"/>
                </a:solidFill>
                <a:latin typeface="Arial" pitchFamily="34" charset="0"/>
                <a:ea typeface="Arial" pitchFamily="34" charset="-122"/>
                <a:cs typeface="Arial" pitchFamily="34" charset="-120"/>
              </a:rPr>
              <a:t>One sourced observation, one ask</a:t>
            </a:r>
            <a:endParaRPr lang="en-US" sz="950" dirty="0"/>
          </a:p>
        </p:txBody>
      </p:sp>
      <p:sp>
        <p:nvSpPr>
          <p:cNvPr id="27" name="Text 25"/>
          <p:cNvSpPr/>
          <p:nvPr/>
        </p:nvSpPr>
        <p:spPr>
          <a:xfrm>
            <a:off x="6804704" y="2967228"/>
            <a:ext cx="182880" cy="457200"/>
          </a:xfrm>
          <a:prstGeom prst="rect">
            <a:avLst/>
          </a:prstGeom>
          <a:noFill/>
          <a:ln/>
        </p:spPr>
        <p:txBody>
          <a:bodyPr wrap="square" lIns="0" tIns="0" rIns="0" bIns="0" rtlCol="0" anchor="ctr"/>
          <a:lstStyle/>
          <a:p>
            <a:pPr algn="ctr" indent="0" marL="0">
              <a:buNone/>
            </a:pPr>
            <a:r>
              <a:rPr lang="en-US" sz="1600" b="1" dirty="0">
                <a:solidFill>
                  <a:srgbClr val="9A968C"/>
                </a:solidFill>
                <a:latin typeface="Arial" pitchFamily="34" charset="0"/>
                <a:ea typeface="Arial" pitchFamily="34" charset="-122"/>
                <a:cs typeface="Arial" pitchFamily="34" charset="-120"/>
              </a:rPr>
              <a:t>›</a:t>
            </a:r>
            <a:endParaRPr lang="en-US" sz="1600" dirty="0"/>
          </a:p>
        </p:txBody>
      </p:sp>
      <p:sp>
        <p:nvSpPr>
          <p:cNvPr id="28" name="Shape 26"/>
          <p:cNvSpPr/>
          <p:nvPr/>
        </p:nvSpPr>
        <p:spPr>
          <a:xfrm>
            <a:off x="6969296" y="2148840"/>
            <a:ext cx="1454288" cy="2148840"/>
          </a:xfrm>
          <a:prstGeom prst="roundRect">
            <a:avLst>
              <a:gd name="adj" fmla="val 2829"/>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29" name="Shape 27"/>
          <p:cNvSpPr/>
          <p:nvPr/>
        </p:nvSpPr>
        <p:spPr>
          <a:xfrm>
            <a:off x="7440407" y="2404872"/>
            <a:ext cx="512064" cy="512064"/>
          </a:xfrm>
          <a:prstGeom prst="ellipse">
            <a:avLst/>
          </a:prstGeom>
          <a:solidFill>
            <a:srgbClr val="7A5CFF"/>
          </a:solidFill>
          <a:ln/>
        </p:spPr>
      </p:sp>
      <p:sp>
        <p:nvSpPr>
          <p:cNvPr id="30" name="Text 28"/>
          <p:cNvSpPr/>
          <p:nvPr/>
        </p:nvSpPr>
        <p:spPr>
          <a:xfrm>
            <a:off x="7440407" y="240487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1" name="Text 29"/>
          <p:cNvSpPr/>
          <p:nvPr/>
        </p:nvSpPr>
        <p:spPr>
          <a:xfrm>
            <a:off x="7042448" y="3063240"/>
            <a:ext cx="1307984" cy="320040"/>
          </a:xfrm>
          <a:prstGeom prst="rect">
            <a:avLst/>
          </a:prstGeom>
          <a:noFill/>
          <a:ln/>
        </p:spPr>
        <p:txBody>
          <a:bodyPr wrap="square" lIns="0" tIns="0" rIns="0" bIns="0" rtlCol="0" anchor="ctr"/>
          <a:lstStyle/>
          <a:p>
            <a:pPr algn="ctr" indent="0" marL="0">
              <a:buNone/>
            </a:pPr>
            <a:r>
              <a:rPr lang="en-US" sz="1250" b="1" dirty="0">
                <a:solidFill>
                  <a:srgbClr val="0D0C0A"/>
                </a:solidFill>
                <a:latin typeface="Arial" pitchFamily="34" charset="0"/>
                <a:ea typeface="Arial" pitchFamily="34" charset="-122"/>
                <a:cs typeface="Arial" pitchFamily="34" charset="-120"/>
              </a:rPr>
              <a:t>Send</a:t>
            </a:r>
            <a:endParaRPr lang="en-US" sz="1250" dirty="0"/>
          </a:p>
        </p:txBody>
      </p:sp>
      <p:sp>
        <p:nvSpPr>
          <p:cNvPr id="32" name="Text 30"/>
          <p:cNvSpPr/>
          <p:nvPr/>
        </p:nvSpPr>
        <p:spPr>
          <a:xfrm>
            <a:off x="7060736" y="3410712"/>
            <a:ext cx="1271408" cy="822960"/>
          </a:xfrm>
          <a:prstGeom prst="rect">
            <a:avLst/>
          </a:prstGeom>
          <a:noFill/>
          <a:ln/>
        </p:spPr>
        <p:txBody>
          <a:bodyPr wrap="square" lIns="0" tIns="0" rIns="0" bIns="0" rtlCol="0" anchor="ctr"/>
          <a:lstStyle/>
          <a:p>
            <a:pPr algn="ctr" indent="0" marL="0">
              <a:lnSpc>
                <a:spcPct val="112000"/>
              </a:lnSpc>
              <a:buNone/>
            </a:pPr>
            <a:r>
              <a:rPr lang="en-US" sz="950" dirty="0">
                <a:solidFill>
                  <a:srgbClr val="6B675F"/>
                </a:solidFill>
                <a:latin typeface="Arial" pitchFamily="34" charset="0"/>
                <a:ea typeface="Arial" pitchFamily="34" charset="-122"/>
                <a:cs typeface="Arial" pitchFamily="34" charset="-120"/>
              </a:rPr>
              <a:t>Approve, or autonomous send</a:t>
            </a:r>
            <a:endParaRPr lang="en-US" sz="950" dirty="0"/>
          </a:p>
        </p:txBody>
      </p:sp>
      <p:sp>
        <p:nvSpPr>
          <p:cNvPr id="33" name="Text 31"/>
          <p:cNvSpPr/>
          <p:nvPr/>
        </p:nvSpPr>
        <p:spPr>
          <a:xfrm>
            <a:off x="8405295" y="2967228"/>
            <a:ext cx="182880" cy="457200"/>
          </a:xfrm>
          <a:prstGeom prst="rect">
            <a:avLst/>
          </a:prstGeom>
          <a:noFill/>
          <a:ln/>
        </p:spPr>
        <p:txBody>
          <a:bodyPr wrap="square" lIns="0" tIns="0" rIns="0" bIns="0" rtlCol="0" anchor="ctr"/>
          <a:lstStyle/>
          <a:p>
            <a:pPr algn="ctr" indent="0" marL="0">
              <a:buNone/>
            </a:pPr>
            <a:r>
              <a:rPr lang="en-US" sz="1600" b="1" dirty="0">
                <a:solidFill>
                  <a:srgbClr val="9A968C"/>
                </a:solidFill>
                <a:latin typeface="Arial" pitchFamily="34" charset="0"/>
                <a:ea typeface="Arial" pitchFamily="34" charset="-122"/>
                <a:cs typeface="Arial" pitchFamily="34" charset="-120"/>
              </a:rPr>
              <a:t>›</a:t>
            </a:r>
            <a:endParaRPr lang="en-US" sz="1600" dirty="0"/>
          </a:p>
        </p:txBody>
      </p:sp>
      <p:sp>
        <p:nvSpPr>
          <p:cNvPr id="34" name="Shape 32"/>
          <p:cNvSpPr/>
          <p:nvPr/>
        </p:nvSpPr>
        <p:spPr>
          <a:xfrm>
            <a:off x="8569887" y="2148840"/>
            <a:ext cx="1454288" cy="2148840"/>
          </a:xfrm>
          <a:prstGeom prst="roundRect">
            <a:avLst>
              <a:gd name="adj" fmla="val 2829"/>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35" name="Shape 33"/>
          <p:cNvSpPr/>
          <p:nvPr/>
        </p:nvSpPr>
        <p:spPr>
          <a:xfrm>
            <a:off x="9040999" y="2404872"/>
            <a:ext cx="512064" cy="512064"/>
          </a:xfrm>
          <a:prstGeom prst="ellipse">
            <a:avLst/>
          </a:prstGeom>
          <a:solidFill>
            <a:srgbClr val="0D0C0A"/>
          </a:solidFill>
          <a:ln/>
        </p:spPr>
      </p:sp>
      <p:sp>
        <p:nvSpPr>
          <p:cNvPr id="36" name="Text 34"/>
          <p:cNvSpPr/>
          <p:nvPr/>
        </p:nvSpPr>
        <p:spPr>
          <a:xfrm>
            <a:off x="9040999" y="240487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7" name="Text 35"/>
          <p:cNvSpPr/>
          <p:nvPr/>
        </p:nvSpPr>
        <p:spPr>
          <a:xfrm>
            <a:off x="8643039" y="3063240"/>
            <a:ext cx="1307984" cy="320040"/>
          </a:xfrm>
          <a:prstGeom prst="rect">
            <a:avLst/>
          </a:prstGeom>
          <a:noFill/>
          <a:ln/>
        </p:spPr>
        <p:txBody>
          <a:bodyPr wrap="square" lIns="0" tIns="0" rIns="0" bIns="0" rtlCol="0" anchor="ctr"/>
          <a:lstStyle/>
          <a:p>
            <a:pPr algn="ctr" indent="0" marL="0">
              <a:buNone/>
            </a:pPr>
            <a:r>
              <a:rPr lang="en-US" sz="1250" b="1" dirty="0">
                <a:solidFill>
                  <a:srgbClr val="0D0C0A"/>
                </a:solidFill>
                <a:latin typeface="Arial" pitchFamily="34" charset="0"/>
                <a:ea typeface="Arial" pitchFamily="34" charset="-122"/>
                <a:cs typeface="Arial" pitchFamily="34" charset="-120"/>
              </a:rPr>
              <a:t>Read reply</a:t>
            </a:r>
            <a:endParaRPr lang="en-US" sz="1250" dirty="0"/>
          </a:p>
        </p:txBody>
      </p:sp>
      <p:sp>
        <p:nvSpPr>
          <p:cNvPr id="38" name="Text 36"/>
          <p:cNvSpPr/>
          <p:nvPr/>
        </p:nvSpPr>
        <p:spPr>
          <a:xfrm>
            <a:off x="8661327" y="3410712"/>
            <a:ext cx="1271408" cy="822960"/>
          </a:xfrm>
          <a:prstGeom prst="rect">
            <a:avLst/>
          </a:prstGeom>
          <a:noFill/>
          <a:ln/>
        </p:spPr>
        <p:txBody>
          <a:bodyPr wrap="square" lIns="0" tIns="0" rIns="0" bIns="0" rtlCol="0" anchor="ctr"/>
          <a:lstStyle/>
          <a:p>
            <a:pPr algn="ctr" indent="0" marL="0">
              <a:lnSpc>
                <a:spcPct val="112000"/>
              </a:lnSpc>
              <a:buNone/>
            </a:pPr>
            <a:r>
              <a:rPr lang="en-US" sz="950" dirty="0">
                <a:solidFill>
                  <a:srgbClr val="6B675F"/>
                </a:solidFill>
                <a:latin typeface="Arial" pitchFamily="34" charset="0"/>
                <a:ea typeface="Arial" pitchFamily="34" charset="-122"/>
                <a:cs typeface="Arial" pitchFamily="34" charset="-120"/>
              </a:rPr>
              <a:t>Classify intent, update the thread</a:t>
            </a:r>
            <a:endParaRPr lang="en-US" sz="950" dirty="0"/>
          </a:p>
        </p:txBody>
      </p:sp>
      <p:sp>
        <p:nvSpPr>
          <p:cNvPr id="39" name="Text 37"/>
          <p:cNvSpPr/>
          <p:nvPr/>
        </p:nvSpPr>
        <p:spPr>
          <a:xfrm>
            <a:off x="10005887" y="2967228"/>
            <a:ext cx="182880" cy="457200"/>
          </a:xfrm>
          <a:prstGeom prst="rect">
            <a:avLst/>
          </a:prstGeom>
          <a:noFill/>
          <a:ln/>
        </p:spPr>
        <p:txBody>
          <a:bodyPr wrap="square" lIns="0" tIns="0" rIns="0" bIns="0" rtlCol="0" anchor="ctr"/>
          <a:lstStyle/>
          <a:p>
            <a:pPr algn="ctr" indent="0" marL="0">
              <a:buNone/>
            </a:pPr>
            <a:r>
              <a:rPr lang="en-US" sz="1600" b="1" dirty="0">
                <a:solidFill>
                  <a:srgbClr val="9A968C"/>
                </a:solidFill>
                <a:latin typeface="Arial" pitchFamily="34" charset="0"/>
                <a:ea typeface="Arial" pitchFamily="34" charset="-122"/>
                <a:cs typeface="Arial" pitchFamily="34" charset="-120"/>
              </a:rPr>
              <a:t>›</a:t>
            </a:r>
            <a:endParaRPr lang="en-US" sz="1600" dirty="0"/>
          </a:p>
        </p:txBody>
      </p:sp>
      <p:sp>
        <p:nvSpPr>
          <p:cNvPr id="40" name="Shape 38"/>
          <p:cNvSpPr/>
          <p:nvPr/>
        </p:nvSpPr>
        <p:spPr>
          <a:xfrm>
            <a:off x="10170479" y="2148840"/>
            <a:ext cx="1454288" cy="2148840"/>
          </a:xfrm>
          <a:prstGeom prst="roundRect">
            <a:avLst>
              <a:gd name="adj" fmla="val 2829"/>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41" name="Shape 39"/>
          <p:cNvSpPr/>
          <p:nvPr/>
        </p:nvSpPr>
        <p:spPr>
          <a:xfrm>
            <a:off x="10641591" y="2404872"/>
            <a:ext cx="512064" cy="512064"/>
          </a:xfrm>
          <a:prstGeom prst="ellipse">
            <a:avLst/>
          </a:prstGeom>
          <a:solidFill>
            <a:srgbClr val="0D0C0A"/>
          </a:solidFill>
          <a:ln/>
        </p:spPr>
      </p:sp>
      <p:sp>
        <p:nvSpPr>
          <p:cNvPr id="42" name="Text 40"/>
          <p:cNvSpPr/>
          <p:nvPr/>
        </p:nvSpPr>
        <p:spPr>
          <a:xfrm>
            <a:off x="10641591" y="240487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43" name="Text 41"/>
          <p:cNvSpPr/>
          <p:nvPr/>
        </p:nvSpPr>
        <p:spPr>
          <a:xfrm>
            <a:off x="10243631" y="3063240"/>
            <a:ext cx="1307984" cy="320040"/>
          </a:xfrm>
          <a:prstGeom prst="rect">
            <a:avLst/>
          </a:prstGeom>
          <a:noFill/>
          <a:ln/>
        </p:spPr>
        <p:txBody>
          <a:bodyPr wrap="square" lIns="0" tIns="0" rIns="0" bIns="0" rtlCol="0" anchor="ctr"/>
          <a:lstStyle/>
          <a:p>
            <a:pPr algn="ctr" indent="0" marL="0">
              <a:buNone/>
            </a:pPr>
            <a:r>
              <a:rPr lang="en-US" sz="1250" b="1" dirty="0">
                <a:solidFill>
                  <a:srgbClr val="0D0C0A"/>
                </a:solidFill>
                <a:latin typeface="Arial" pitchFamily="34" charset="0"/>
                <a:ea typeface="Arial" pitchFamily="34" charset="-122"/>
                <a:cs typeface="Arial" pitchFamily="34" charset="-120"/>
              </a:rPr>
              <a:t>Follow up</a:t>
            </a:r>
            <a:endParaRPr lang="en-US" sz="1250" dirty="0"/>
          </a:p>
        </p:txBody>
      </p:sp>
      <p:sp>
        <p:nvSpPr>
          <p:cNvPr id="44" name="Text 42"/>
          <p:cNvSpPr/>
          <p:nvPr/>
        </p:nvSpPr>
        <p:spPr>
          <a:xfrm>
            <a:off x="10261919" y="3410712"/>
            <a:ext cx="1271408" cy="822960"/>
          </a:xfrm>
          <a:prstGeom prst="rect">
            <a:avLst/>
          </a:prstGeom>
          <a:noFill/>
          <a:ln/>
        </p:spPr>
        <p:txBody>
          <a:bodyPr wrap="square" lIns="0" tIns="0" rIns="0" bIns="0" rtlCol="0" anchor="ctr"/>
          <a:lstStyle/>
          <a:p>
            <a:pPr algn="ctr" indent="0" marL="0">
              <a:lnSpc>
                <a:spcPct val="112000"/>
              </a:lnSpc>
              <a:buNone/>
            </a:pPr>
            <a:r>
              <a:rPr lang="en-US" sz="950" dirty="0">
                <a:solidFill>
                  <a:srgbClr val="6B675F"/>
                </a:solidFill>
                <a:latin typeface="Arial" pitchFamily="34" charset="0"/>
                <a:ea typeface="Arial" pitchFamily="34" charset="-122"/>
                <a:cs typeface="Arial" pitchFamily="34" charset="-120"/>
              </a:rPr>
              <a:t>Non-repetitive, capped, opt-out aware</a:t>
            </a:r>
            <a:endParaRPr lang="en-US" sz="950" dirty="0"/>
          </a:p>
        </p:txBody>
      </p:sp>
      <p:sp>
        <p:nvSpPr>
          <p:cNvPr id="45" name="Shape 43"/>
          <p:cNvSpPr/>
          <p:nvPr/>
        </p:nvSpPr>
        <p:spPr>
          <a:xfrm>
            <a:off x="566928" y="4709160"/>
            <a:ext cx="11057839" cy="1417320"/>
          </a:xfrm>
          <a:prstGeom prst="roundRect">
            <a:avLst>
              <a:gd name="adj" fmla="val 2903"/>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46" name="Text 44"/>
          <p:cNvSpPr/>
          <p:nvPr/>
        </p:nvSpPr>
        <p:spPr>
          <a:xfrm>
            <a:off x="886968" y="4928616"/>
            <a:ext cx="3657600" cy="274320"/>
          </a:xfrm>
          <a:prstGeom prst="rect">
            <a:avLst/>
          </a:prstGeom>
          <a:noFill/>
          <a:ln/>
        </p:spPr>
        <p:txBody>
          <a:bodyPr wrap="square" lIns="0" tIns="0" rIns="0" bIns="0" rtlCol="0" anchor="ctr"/>
          <a:lstStyle/>
          <a:p>
            <a:pPr indent="0" marL="0">
              <a:buNone/>
            </a:pPr>
            <a:r>
              <a:rPr lang="en-US" sz="950" b="1" spc="150" kern="0" dirty="0">
                <a:solidFill>
                  <a:srgbClr val="5A3EE0"/>
                </a:solidFill>
                <a:latin typeface="Arial" pitchFamily="34" charset="0"/>
                <a:ea typeface="Arial" pitchFamily="34" charset="-122"/>
                <a:cs typeface="Arial" pitchFamily="34" charset="-120"/>
              </a:rPr>
              <a:t>SAMPLE FIRST TOUCH</a:t>
            </a:r>
            <a:endParaRPr lang="en-US" sz="950" dirty="0"/>
          </a:p>
        </p:txBody>
      </p:sp>
      <p:sp>
        <p:nvSpPr>
          <p:cNvPr id="47" name="Shape 45"/>
          <p:cNvSpPr/>
          <p:nvPr/>
        </p:nvSpPr>
        <p:spPr>
          <a:xfrm>
            <a:off x="10207447" y="4910328"/>
            <a:ext cx="1144829" cy="237744"/>
          </a:xfrm>
          <a:prstGeom prst="roundRect">
            <a:avLst>
              <a:gd name="adj" fmla="val 23077"/>
            </a:avLst>
          </a:prstGeom>
          <a:solidFill>
            <a:srgbClr val="FFFFFF"/>
          </a:solidFill>
          <a:ln w="12700">
            <a:solidFill>
              <a:srgbClr val="5A3EE0"/>
            </a:solidFill>
            <a:prstDash val="solid"/>
          </a:ln>
        </p:spPr>
      </p:sp>
      <p:sp>
        <p:nvSpPr>
          <p:cNvPr id="48" name="Text 46"/>
          <p:cNvSpPr/>
          <p:nvPr/>
        </p:nvSpPr>
        <p:spPr>
          <a:xfrm>
            <a:off x="10207447" y="4910328"/>
            <a:ext cx="1144829" cy="237744"/>
          </a:xfrm>
          <a:prstGeom prst="rect">
            <a:avLst/>
          </a:prstGeom>
          <a:noFill/>
          <a:ln/>
        </p:spPr>
        <p:txBody>
          <a:bodyPr wrap="square" lIns="0" tIns="0" rIns="0" bIns="0" rtlCol="0" anchor="ctr"/>
          <a:lstStyle/>
          <a:p>
            <a:pPr algn="ctr" indent="0" marL="0">
              <a:buNone/>
            </a:pPr>
            <a:r>
              <a:rPr lang="en-US" sz="850" b="1" spc="100" kern="0" dirty="0">
                <a:solidFill>
                  <a:srgbClr val="5A3EE0"/>
                </a:solidFill>
                <a:latin typeface="Arial" pitchFamily="34" charset="0"/>
                <a:ea typeface="Arial" pitchFamily="34" charset="-122"/>
                <a:cs typeface="Arial" pitchFamily="34" charset="-120"/>
              </a:rPr>
              <a:t>EVIDENCE-BOUND</a:t>
            </a:r>
            <a:endParaRPr lang="en-US" sz="850" dirty="0"/>
          </a:p>
        </p:txBody>
      </p:sp>
      <p:sp>
        <p:nvSpPr>
          <p:cNvPr id="49" name="Text 47"/>
          <p:cNvSpPr/>
          <p:nvPr/>
        </p:nvSpPr>
        <p:spPr>
          <a:xfrm>
            <a:off x="886968" y="5239512"/>
            <a:ext cx="10417759" cy="822960"/>
          </a:xfrm>
          <a:prstGeom prst="rect">
            <a:avLst/>
          </a:prstGeom>
          <a:noFill/>
          <a:ln/>
        </p:spPr>
        <p:txBody>
          <a:bodyPr wrap="square" lIns="0" tIns="0" rIns="0" bIns="0" rtlCol="0" anchor="ctr"/>
          <a:lstStyle/>
          <a:p>
            <a:pPr indent="0" marL="0">
              <a:lnSpc>
                <a:spcPct val="120000"/>
              </a:lnSpc>
              <a:buNone/>
            </a:pPr>
            <a:r>
              <a:rPr lang="en-US" sz="1250" i="1" dirty="0">
                <a:solidFill>
                  <a:srgbClr val="35322D"/>
                </a:solidFill>
                <a:latin typeface="Arial" pitchFamily="34" charset="0"/>
                <a:ea typeface="Arial" pitchFamily="34" charset="-122"/>
                <a:cs typeface="Arial" pitchFamily="34" charset="-120"/>
              </a:rPr>
              <a:t>“Hi Wei Ling, saw Kōri put the Uji matcha line on the TikTok menu drop. If you’re lining up creators for it, Influencees can shortlist SG F&amp;B micro-creators by real engagement, tracked from IG/TikTok, and run a match score against the launch. Worth a 15-min look this week?”</a:t>
            </a:r>
            <a:endParaRPr lang="en-US" sz="1250" dirty="0"/>
          </a:p>
        </p:txBody>
      </p:sp>
      <p:sp>
        <p:nvSpPr>
          <p:cNvPr id="50" name="Text 48"/>
          <p:cNvSpPr/>
          <p:nvPr/>
        </p:nvSpPr>
        <p:spPr>
          <a:xfrm>
            <a:off x="8351215" y="6382512"/>
            <a:ext cx="3273552" cy="274320"/>
          </a:xfrm>
          <a:prstGeom prst="rect">
            <a:avLst/>
          </a:prstGeom>
          <a:noFill/>
          <a:ln/>
        </p:spPr>
        <p:txBody>
          <a:bodyPr wrap="square" lIns="0" tIns="0" rIns="0" bIns="0" rtlCol="0" anchor="ctr"/>
          <a:lstStyle/>
          <a:p>
            <a:pPr algn="r" indent="0" marL="0">
              <a:buNone/>
            </a:pPr>
            <a:r>
              <a:rPr lang="en-US" sz="950" b="1" spc="100" kern="0" dirty="0">
                <a:solidFill>
                  <a:srgbClr val="9A968C"/>
                </a:solidFill>
                <a:latin typeface="Arial" pitchFamily="34" charset="0"/>
                <a:ea typeface="Arial" pitchFamily="34" charset="-122"/>
                <a:cs typeface="Arial" pitchFamily="34" charset="-120"/>
              </a:rPr>
              <a:t>INFLUENCEES</a:t>
            </a:r>
            <a:pPr algn="r" indent="0" marL="0">
              <a:buNone/>
            </a:pPr>
            <a:r>
              <a:rPr lang="en-US" sz="950" b="1" spc="100" kern="0" dirty="0">
                <a:solidFill>
                  <a:srgbClr val="6B675F"/>
                </a:solidFill>
                <a:latin typeface="Arial" pitchFamily="34" charset="0"/>
                <a:ea typeface="Arial" pitchFamily="34" charset="-122"/>
                <a:cs typeface="Arial" pitchFamily="34" charset="-120"/>
              </a:rPr>
              <a:t>   04 / 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566928" y="457200"/>
            <a:ext cx="8229600" cy="274320"/>
          </a:xfrm>
          <a:prstGeom prst="rect">
            <a:avLst/>
          </a:prstGeom>
          <a:noFill/>
          <a:ln/>
        </p:spPr>
        <p:txBody>
          <a:bodyPr wrap="square" lIns="0" tIns="0" rIns="0" bIns="0" rtlCol="0" anchor="ctr"/>
          <a:lstStyle/>
          <a:p>
            <a:pPr algn="l" indent="0" marL="0">
              <a:buNone/>
            </a:pPr>
            <a:r>
              <a:rPr lang="en-US" sz="1150" b="1" spc="250" kern="0" dirty="0">
                <a:solidFill>
                  <a:srgbClr val="5A3EE0"/>
                </a:solidFill>
                <a:latin typeface="Arial" pitchFamily="34" charset="0"/>
                <a:ea typeface="Arial" pitchFamily="34" charset="-122"/>
                <a:cs typeface="Arial" pitchFamily="34" charset="-120"/>
              </a:rPr>
              <a:t>SOLUTION 01  ·  THE DASHBOARD</a:t>
            </a:r>
            <a:endParaRPr lang="en-US" sz="1150" dirty="0"/>
          </a:p>
        </p:txBody>
      </p:sp>
      <p:sp>
        <p:nvSpPr>
          <p:cNvPr id="3" name="Text 1"/>
          <p:cNvSpPr/>
          <p:nvPr/>
        </p:nvSpPr>
        <p:spPr>
          <a:xfrm>
            <a:off x="566928" y="822960"/>
            <a:ext cx="10607040" cy="822960"/>
          </a:xfrm>
          <a:prstGeom prst="rect">
            <a:avLst/>
          </a:prstGeom>
          <a:noFill/>
          <a:ln/>
        </p:spPr>
        <p:txBody>
          <a:bodyPr wrap="square" lIns="0" tIns="0" rIns="0" bIns="0" rtlCol="0" anchor="t"/>
          <a:lstStyle/>
          <a:p>
            <a:pPr algn="l" indent="0" marL="0">
              <a:lnSpc>
                <a:spcPct val="102000"/>
              </a:lnSpc>
              <a:buNone/>
            </a:pPr>
            <a:r>
              <a:rPr lang="en-US" sz="2700" b="1" dirty="0">
                <a:solidFill>
                  <a:srgbClr val="0D0C0A"/>
                </a:solidFill>
                <a:latin typeface="Arial" pitchFamily="34" charset="0"/>
                <a:ea typeface="Arial" pitchFamily="34" charset="-122"/>
                <a:cs typeface="Arial" pitchFamily="34" charset="-120"/>
              </a:rPr>
              <a:t>Everything the operator does is visible in one place.</a:t>
            </a:r>
            <a:endParaRPr lang="en-US" sz="2700" dirty="0"/>
          </a:p>
        </p:txBody>
      </p:sp>
      <p:sp>
        <p:nvSpPr>
          <p:cNvPr id="4" name="Shape 2"/>
          <p:cNvSpPr/>
          <p:nvPr/>
        </p:nvSpPr>
        <p:spPr>
          <a:xfrm>
            <a:off x="566928" y="1965960"/>
            <a:ext cx="6720840" cy="4160520"/>
          </a:xfrm>
          <a:prstGeom prst="roundRect">
            <a:avLst>
              <a:gd name="adj" fmla="val 1099"/>
            </a:avLst>
          </a:prstGeom>
          <a:solidFill>
            <a:srgbClr val="FBF9F5"/>
          </a:solidFill>
          <a:ln w="15875">
            <a:solidFill>
              <a:srgbClr val="CBC5B9"/>
            </a:solidFill>
            <a:prstDash val="dash"/>
          </a:ln>
        </p:spPr>
      </p:sp>
      <p:sp>
        <p:nvSpPr>
          <p:cNvPr id="5" name="Text 3"/>
          <p:cNvSpPr/>
          <p:nvPr/>
        </p:nvSpPr>
        <p:spPr>
          <a:xfrm>
            <a:off x="566928" y="3543300"/>
            <a:ext cx="6720840" cy="457200"/>
          </a:xfrm>
          <a:prstGeom prst="rect">
            <a:avLst/>
          </a:prstGeom>
          <a:noFill/>
          <a:ln/>
        </p:spPr>
        <p:txBody>
          <a:bodyPr wrap="square" lIns="0" tIns="0" rIns="0" bIns="0" rtlCol="0" anchor="ctr"/>
          <a:lstStyle/>
          <a:p>
            <a:pPr algn="ctr" indent="0" marL="0">
              <a:buNone/>
            </a:pPr>
            <a:r>
              <a:rPr lang="en-US" sz="2000" dirty="0">
                <a:solidFill>
                  <a:srgbClr val="E2DED6"/>
                </a:solidFill>
                <a:latin typeface="Arial" pitchFamily="34" charset="0"/>
                <a:ea typeface="Arial" pitchFamily="34" charset="-122"/>
                <a:cs typeface="Arial" pitchFamily="34" charset="-120"/>
              </a:rPr>
              <a:t>◻</a:t>
            </a:r>
            <a:endParaRPr lang="en-US" sz="2000" dirty="0"/>
          </a:p>
        </p:txBody>
      </p:sp>
      <p:sp>
        <p:nvSpPr>
          <p:cNvPr id="6" name="Text 4"/>
          <p:cNvSpPr/>
          <p:nvPr/>
        </p:nvSpPr>
        <p:spPr>
          <a:xfrm>
            <a:off x="658368" y="3973068"/>
            <a:ext cx="6537960" cy="274320"/>
          </a:xfrm>
          <a:prstGeom prst="rect">
            <a:avLst/>
          </a:prstGeom>
          <a:noFill/>
          <a:ln/>
        </p:spPr>
        <p:txBody>
          <a:bodyPr wrap="square" lIns="0" tIns="0" rIns="0" bIns="0" rtlCol="0" anchor="ctr"/>
          <a:lstStyle/>
          <a:p>
            <a:pPr algn="ctr" indent="0" marL="0">
              <a:buNone/>
            </a:pPr>
            <a:r>
              <a:rPr lang="en-US" sz="1050" b="1" spc="150" kern="0" dirty="0">
                <a:solidFill>
                  <a:srgbClr val="5A3EE0"/>
                </a:solidFill>
                <a:latin typeface="Arial" pitchFamily="34" charset="0"/>
                <a:ea typeface="Arial" pitchFamily="34" charset="-122"/>
                <a:cs typeface="Arial" pitchFamily="34" charset="-120"/>
              </a:rPr>
              <a:t>SHARED INBOX</a:t>
            </a:r>
            <a:endParaRPr lang="en-US" sz="1050" dirty="0"/>
          </a:p>
        </p:txBody>
      </p:sp>
      <p:sp>
        <p:nvSpPr>
          <p:cNvPr id="7" name="Text 5"/>
          <p:cNvSpPr/>
          <p:nvPr/>
        </p:nvSpPr>
        <p:spPr>
          <a:xfrm>
            <a:off x="676656" y="4265676"/>
            <a:ext cx="6501384" cy="502920"/>
          </a:xfrm>
          <a:prstGeom prst="rect">
            <a:avLst/>
          </a:prstGeom>
          <a:noFill/>
          <a:ln/>
        </p:spPr>
        <p:txBody>
          <a:bodyPr wrap="square" lIns="0" tIns="0" rIns="0" bIns="0" rtlCol="0" anchor="t"/>
          <a:lstStyle/>
          <a:p>
            <a:pPr algn="ctr" indent="0" marL="0">
              <a:lnSpc>
                <a:spcPct val="105000"/>
              </a:lnSpc>
              <a:buNone/>
            </a:pPr>
            <a:r>
              <a:rPr lang="en-US" sz="950" dirty="0">
                <a:solidFill>
                  <a:srgbClr val="9A968C"/>
                </a:solidFill>
                <a:latin typeface="Arial" pitchFamily="34" charset="0"/>
                <a:ea typeface="Arial" pitchFamily="34" charset="-122"/>
                <a:cs typeface="Arial" pitchFamily="34" charset="-120"/>
              </a:rPr>
              <a:t>Conversation list · full thread · company context and agent controls. Drop your inbox screenshot here.</a:t>
            </a:r>
            <a:endParaRPr lang="en-US" sz="950" dirty="0"/>
          </a:p>
        </p:txBody>
      </p:sp>
      <p:sp>
        <p:nvSpPr>
          <p:cNvPr id="8" name="Shape 6"/>
          <p:cNvSpPr/>
          <p:nvPr/>
        </p:nvSpPr>
        <p:spPr>
          <a:xfrm>
            <a:off x="7543800" y="1965960"/>
            <a:ext cx="4069080" cy="1874520"/>
          </a:xfrm>
          <a:prstGeom prst="roundRect">
            <a:avLst>
              <a:gd name="adj" fmla="val 2439"/>
            </a:avLst>
          </a:prstGeom>
          <a:solidFill>
            <a:srgbClr val="FBF9F5"/>
          </a:solidFill>
          <a:ln w="15875">
            <a:solidFill>
              <a:srgbClr val="CBC5B9"/>
            </a:solidFill>
            <a:prstDash val="dash"/>
          </a:ln>
        </p:spPr>
      </p:sp>
      <p:sp>
        <p:nvSpPr>
          <p:cNvPr id="9" name="Text 7"/>
          <p:cNvSpPr/>
          <p:nvPr/>
        </p:nvSpPr>
        <p:spPr>
          <a:xfrm>
            <a:off x="7543800" y="2400300"/>
            <a:ext cx="4069080" cy="457200"/>
          </a:xfrm>
          <a:prstGeom prst="rect">
            <a:avLst/>
          </a:prstGeom>
          <a:noFill/>
          <a:ln/>
        </p:spPr>
        <p:txBody>
          <a:bodyPr wrap="square" lIns="0" tIns="0" rIns="0" bIns="0" rtlCol="0" anchor="ctr"/>
          <a:lstStyle/>
          <a:p>
            <a:pPr algn="ctr" indent="0" marL="0">
              <a:buNone/>
            </a:pPr>
            <a:r>
              <a:rPr lang="en-US" sz="2000" dirty="0">
                <a:solidFill>
                  <a:srgbClr val="E2DED6"/>
                </a:solidFill>
                <a:latin typeface="Arial" pitchFamily="34" charset="0"/>
                <a:ea typeface="Arial" pitchFamily="34" charset="-122"/>
                <a:cs typeface="Arial" pitchFamily="34" charset="-120"/>
              </a:rPr>
              <a:t>◻</a:t>
            </a:r>
            <a:endParaRPr lang="en-US" sz="2000" dirty="0"/>
          </a:p>
        </p:txBody>
      </p:sp>
      <p:sp>
        <p:nvSpPr>
          <p:cNvPr id="10" name="Text 8"/>
          <p:cNvSpPr/>
          <p:nvPr/>
        </p:nvSpPr>
        <p:spPr>
          <a:xfrm>
            <a:off x="7635240" y="2830068"/>
            <a:ext cx="3886200" cy="274320"/>
          </a:xfrm>
          <a:prstGeom prst="rect">
            <a:avLst/>
          </a:prstGeom>
          <a:noFill/>
          <a:ln/>
        </p:spPr>
        <p:txBody>
          <a:bodyPr wrap="square" lIns="0" tIns="0" rIns="0" bIns="0" rtlCol="0" anchor="ctr"/>
          <a:lstStyle/>
          <a:p>
            <a:pPr algn="ctr" indent="0" marL="0">
              <a:buNone/>
            </a:pPr>
            <a:r>
              <a:rPr lang="en-US" sz="1050" b="1" spc="150" kern="0" dirty="0">
                <a:solidFill>
                  <a:srgbClr val="5A3EE0"/>
                </a:solidFill>
                <a:latin typeface="Arial" pitchFamily="34" charset="0"/>
                <a:ea typeface="Arial" pitchFamily="34" charset="-122"/>
                <a:cs typeface="Arial" pitchFamily="34" charset="-120"/>
              </a:rPr>
              <a:t>OVERVIEW</a:t>
            </a:r>
            <a:endParaRPr lang="en-US" sz="1050" dirty="0"/>
          </a:p>
        </p:txBody>
      </p:sp>
      <p:sp>
        <p:nvSpPr>
          <p:cNvPr id="11" name="Text 9"/>
          <p:cNvSpPr/>
          <p:nvPr/>
        </p:nvSpPr>
        <p:spPr>
          <a:xfrm>
            <a:off x="7653528" y="3122676"/>
            <a:ext cx="3849624" cy="502920"/>
          </a:xfrm>
          <a:prstGeom prst="rect">
            <a:avLst/>
          </a:prstGeom>
          <a:noFill/>
          <a:ln/>
        </p:spPr>
        <p:txBody>
          <a:bodyPr wrap="square" lIns="0" tIns="0" rIns="0" bIns="0" rtlCol="0" anchor="t"/>
          <a:lstStyle/>
          <a:p>
            <a:pPr algn="ctr" indent="0" marL="0">
              <a:lnSpc>
                <a:spcPct val="105000"/>
              </a:lnSpc>
              <a:buNone/>
            </a:pPr>
            <a:r>
              <a:rPr lang="en-US" sz="950" dirty="0">
                <a:solidFill>
                  <a:srgbClr val="9A968C"/>
                </a:solidFill>
                <a:latin typeface="Arial" pitchFamily="34" charset="0"/>
                <a:ea typeface="Arial" pitchFamily="34" charset="-122"/>
                <a:cs typeface="Arial" pitchFamily="34" charset="-120"/>
              </a:rPr>
              <a:t>Leads, reply rate, awaiting approval, activity feed.</a:t>
            </a:r>
            <a:endParaRPr lang="en-US" sz="950" dirty="0"/>
          </a:p>
        </p:txBody>
      </p:sp>
      <p:sp>
        <p:nvSpPr>
          <p:cNvPr id="12" name="Shape 10"/>
          <p:cNvSpPr/>
          <p:nvPr/>
        </p:nvSpPr>
        <p:spPr>
          <a:xfrm>
            <a:off x="7543800" y="3977640"/>
            <a:ext cx="4069080" cy="2148840"/>
          </a:xfrm>
          <a:prstGeom prst="roundRect">
            <a:avLst>
              <a:gd name="adj" fmla="val 2128"/>
            </a:avLst>
          </a:prstGeom>
          <a:solidFill>
            <a:srgbClr val="FBF9F5"/>
          </a:solidFill>
          <a:ln w="15875">
            <a:solidFill>
              <a:srgbClr val="CBC5B9"/>
            </a:solidFill>
            <a:prstDash val="dash"/>
          </a:ln>
        </p:spPr>
      </p:sp>
      <p:sp>
        <p:nvSpPr>
          <p:cNvPr id="13" name="Text 11"/>
          <p:cNvSpPr/>
          <p:nvPr/>
        </p:nvSpPr>
        <p:spPr>
          <a:xfrm>
            <a:off x="7543800" y="4549140"/>
            <a:ext cx="4069080" cy="457200"/>
          </a:xfrm>
          <a:prstGeom prst="rect">
            <a:avLst/>
          </a:prstGeom>
          <a:noFill/>
          <a:ln/>
        </p:spPr>
        <p:txBody>
          <a:bodyPr wrap="square" lIns="0" tIns="0" rIns="0" bIns="0" rtlCol="0" anchor="ctr"/>
          <a:lstStyle/>
          <a:p>
            <a:pPr algn="ctr" indent="0" marL="0">
              <a:buNone/>
            </a:pPr>
            <a:r>
              <a:rPr lang="en-US" sz="2000" dirty="0">
                <a:solidFill>
                  <a:srgbClr val="E2DED6"/>
                </a:solidFill>
                <a:latin typeface="Arial" pitchFamily="34" charset="0"/>
                <a:ea typeface="Arial" pitchFamily="34" charset="-122"/>
                <a:cs typeface="Arial" pitchFamily="34" charset="-120"/>
              </a:rPr>
              <a:t>◻</a:t>
            </a:r>
            <a:endParaRPr lang="en-US" sz="2000" dirty="0"/>
          </a:p>
        </p:txBody>
      </p:sp>
      <p:sp>
        <p:nvSpPr>
          <p:cNvPr id="14" name="Text 12"/>
          <p:cNvSpPr/>
          <p:nvPr/>
        </p:nvSpPr>
        <p:spPr>
          <a:xfrm>
            <a:off x="7635240" y="4978908"/>
            <a:ext cx="3886200" cy="274320"/>
          </a:xfrm>
          <a:prstGeom prst="rect">
            <a:avLst/>
          </a:prstGeom>
          <a:noFill/>
          <a:ln/>
        </p:spPr>
        <p:txBody>
          <a:bodyPr wrap="square" lIns="0" tIns="0" rIns="0" bIns="0" rtlCol="0" anchor="ctr"/>
          <a:lstStyle/>
          <a:p>
            <a:pPr algn="ctr" indent="0" marL="0">
              <a:buNone/>
            </a:pPr>
            <a:r>
              <a:rPr lang="en-US" sz="1050" b="1" spc="150" kern="0" dirty="0">
                <a:solidFill>
                  <a:srgbClr val="5A3EE0"/>
                </a:solidFill>
                <a:latin typeface="Arial" pitchFamily="34" charset="0"/>
                <a:ea typeface="Arial" pitchFamily="34" charset="-122"/>
                <a:cs typeface="Arial" pitchFamily="34" charset="-120"/>
              </a:rPr>
              <a:t>LEAD DETAIL</a:t>
            </a:r>
            <a:endParaRPr lang="en-US" sz="1050" dirty="0"/>
          </a:p>
        </p:txBody>
      </p:sp>
      <p:sp>
        <p:nvSpPr>
          <p:cNvPr id="15" name="Text 13"/>
          <p:cNvSpPr/>
          <p:nvPr/>
        </p:nvSpPr>
        <p:spPr>
          <a:xfrm>
            <a:off x="7653528" y="5271516"/>
            <a:ext cx="3849624" cy="502920"/>
          </a:xfrm>
          <a:prstGeom prst="rect">
            <a:avLst/>
          </a:prstGeom>
          <a:noFill/>
          <a:ln/>
        </p:spPr>
        <p:txBody>
          <a:bodyPr wrap="square" lIns="0" tIns="0" rIns="0" bIns="0" rtlCol="0" anchor="t"/>
          <a:lstStyle/>
          <a:p>
            <a:pPr algn="ctr" indent="0" marL="0">
              <a:lnSpc>
                <a:spcPct val="105000"/>
              </a:lnSpc>
              <a:buNone/>
            </a:pPr>
            <a:r>
              <a:rPr lang="en-US" sz="950" dirty="0">
                <a:solidFill>
                  <a:srgbClr val="9A968C"/>
                </a:solidFill>
                <a:latin typeface="Arial" pitchFamily="34" charset="0"/>
                <a:ea typeface="Arial" pitchFamily="34" charset="-122"/>
                <a:cs typeface="Arial" pitchFamily="34" charset="-120"/>
              </a:rPr>
              <a:t>Fit score breakdown + evidence with source and date.</a:t>
            </a:r>
            <a:endParaRPr lang="en-US" sz="950" dirty="0"/>
          </a:p>
        </p:txBody>
      </p:sp>
      <p:sp>
        <p:nvSpPr>
          <p:cNvPr id="16" name="Text 14"/>
          <p:cNvSpPr/>
          <p:nvPr/>
        </p:nvSpPr>
        <p:spPr>
          <a:xfrm>
            <a:off x="566928" y="6263640"/>
            <a:ext cx="868680" cy="256032"/>
          </a:xfrm>
          <a:prstGeom prst="rect">
            <a:avLst/>
          </a:prstGeom>
          <a:noFill/>
          <a:ln/>
        </p:spPr>
        <p:txBody>
          <a:bodyPr wrap="square" lIns="0" tIns="0" rIns="0" bIns="0" rtlCol="0" anchor="ctr"/>
          <a:lstStyle/>
          <a:p>
            <a:pPr indent="0" marL="0">
              <a:buNone/>
            </a:pPr>
            <a:r>
              <a:rPr lang="en-US" sz="950" b="1" dirty="0">
                <a:solidFill>
                  <a:srgbClr val="6B675F"/>
                </a:solidFill>
                <a:latin typeface="Arial" pitchFamily="34" charset="0"/>
                <a:ea typeface="Arial" pitchFamily="34" charset="-122"/>
                <a:cs typeface="Arial" pitchFamily="34" charset="-120"/>
              </a:rPr>
              <a:t>Controls:</a:t>
            </a:r>
            <a:endParaRPr lang="en-US" sz="950" dirty="0"/>
          </a:p>
        </p:txBody>
      </p:sp>
      <p:sp>
        <p:nvSpPr>
          <p:cNvPr id="17" name="Shape 15"/>
          <p:cNvSpPr/>
          <p:nvPr/>
        </p:nvSpPr>
        <p:spPr>
          <a:xfrm>
            <a:off x="1435608" y="6245352"/>
            <a:ext cx="1040587" cy="274320"/>
          </a:xfrm>
          <a:prstGeom prst="roundRect">
            <a:avLst>
              <a:gd name="adj" fmla="val 20000"/>
            </a:avLst>
          </a:prstGeom>
          <a:solidFill>
            <a:srgbClr val="FFFFFF"/>
          </a:solidFill>
          <a:ln w="12700">
            <a:solidFill>
              <a:srgbClr val="E2DED6"/>
            </a:solidFill>
            <a:prstDash val="solid"/>
          </a:ln>
        </p:spPr>
      </p:sp>
      <p:sp>
        <p:nvSpPr>
          <p:cNvPr id="18" name="Text 16"/>
          <p:cNvSpPr/>
          <p:nvPr/>
        </p:nvSpPr>
        <p:spPr>
          <a:xfrm>
            <a:off x="1435608" y="6245352"/>
            <a:ext cx="1040587" cy="274320"/>
          </a:xfrm>
          <a:prstGeom prst="rect">
            <a:avLst/>
          </a:prstGeom>
          <a:noFill/>
          <a:ln/>
        </p:spPr>
        <p:txBody>
          <a:bodyPr wrap="square" lIns="0" tIns="0" rIns="0" bIns="0" rtlCol="0" anchor="ctr"/>
          <a:lstStyle/>
          <a:p>
            <a:pPr algn="ctr" indent="0" marL="0">
              <a:buNone/>
            </a:pPr>
            <a:r>
              <a:rPr lang="en-US" sz="950" dirty="0">
                <a:solidFill>
                  <a:srgbClr val="35322D"/>
                </a:solidFill>
                <a:latin typeface="Arial" pitchFamily="34" charset="0"/>
                <a:ea typeface="Arial" pitchFamily="34" charset="-122"/>
                <a:cs typeface="Arial" pitchFamily="34" charset="-120"/>
              </a:rPr>
              <a:t>Global mode</a:t>
            </a:r>
            <a:endParaRPr lang="en-US" sz="950" dirty="0"/>
          </a:p>
        </p:txBody>
      </p:sp>
      <p:sp>
        <p:nvSpPr>
          <p:cNvPr id="19" name="Shape 17"/>
          <p:cNvSpPr/>
          <p:nvPr/>
        </p:nvSpPr>
        <p:spPr>
          <a:xfrm>
            <a:off x="2604211" y="6245352"/>
            <a:ext cx="1611173" cy="274320"/>
          </a:xfrm>
          <a:prstGeom prst="roundRect">
            <a:avLst>
              <a:gd name="adj" fmla="val 20000"/>
            </a:avLst>
          </a:prstGeom>
          <a:solidFill>
            <a:srgbClr val="FFFFFF"/>
          </a:solidFill>
          <a:ln w="12700">
            <a:solidFill>
              <a:srgbClr val="E2DED6"/>
            </a:solidFill>
            <a:prstDash val="solid"/>
          </a:ln>
        </p:spPr>
      </p:sp>
      <p:sp>
        <p:nvSpPr>
          <p:cNvPr id="20" name="Text 18"/>
          <p:cNvSpPr/>
          <p:nvPr/>
        </p:nvSpPr>
        <p:spPr>
          <a:xfrm>
            <a:off x="2604211" y="6245352"/>
            <a:ext cx="1611173" cy="274320"/>
          </a:xfrm>
          <a:prstGeom prst="rect">
            <a:avLst/>
          </a:prstGeom>
          <a:noFill/>
          <a:ln/>
        </p:spPr>
        <p:txBody>
          <a:bodyPr wrap="square" lIns="0" tIns="0" rIns="0" bIns="0" rtlCol="0" anchor="ctr"/>
          <a:lstStyle/>
          <a:p>
            <a:pPr algn="ctr" indent="0" marL="0">
              <a:buNone/>
            </a:pPr>
            <a:r>
              <a:rPr lang="en-US" sz="950" dirty="0">
                <a:solidFill>
                  <a:srgbClr val="35322D"/>
                </a:solidFill>
                <a:latin typeface="Arial" pitchFamily="34" charset="0"/>
                <a:ea typeface="Arial" pitchFamily="34" charset="-122"/>
                <a:cs typeface="Arial" pitchFamily="34" charset="-120"/>
              </a:rPr>
              <a:t>Per-thread override</a:t>
            </a:r>
            <a:endParaRPr lang="en-US" sz="950" dirty="0"/>
          </a:p>
        </p:txBody>
      </p:sp>
      <p:sp>
        <p:nvSpPr>
          <p:cNvPr id="21" name="Shape 19"/>
          <p:cNvSpPr/>
          <p:nvPr/>
        </p:nvSpPr>
        <p:spPr>
          <a:xfrm>
            <a:off x="4343400" y="6245352"/>
            <a:ext cx="1254557" cy="274320"/>
          </a:xfrm>
          <a:prstGeom prst="roundRect">
            <a:avLst>
              <a:gd name="adj" fmla="val 20000"/>
            </a:avLst>
          </a:prstGeom>
          <a:solidFill>
            <a:srgbClr val="FFFFFF"/>
          </a:solidFill>
          <a:ln w="12700">
            <a:solidFill>
              <a:srgbClr val="E2DED6"/>
            </a:solidFill>
            <a:prstDash val="solid"/>
          </a:ln>
        </p:spPr>
      </p:sp>
      <p:sp>
        <p:nvSpPr>
          <p:cNvPr id="22" name="Text 20"/>
          <p:cNvSpPr/>
          <p:nvPr/>
        </p:nvSpPr>
        <p:spPr>
          <a:xfrm>
            <a:off x="4343400" y="6245352"/>
            <a:ext cx="1254557" cy="274320"/>
          </a:xfrm>
          <a:prstGeom prst="rect">
            <a:avLst/>
          </a:prstGeom>
          <a:noFill/>
          <a:ln/>
        </p:spPr>
        <p:txBody>
          <a:bodyPr wrap="square" lIns="0" tIns="0" rIns="0" bIns="0" rtlCol="0" anchor="ctr"/>
          <a:lstStyle/>
          <a:p>
            <a:pPr algn="ctr" indent="0" marL="0">
              <a:buNone/>
            </a:pPr>
            <a:r>
              <a:rPr lang="en-US" sz="950" dirty="0">
                <a:solidFill>
                  <a:srgbClr val="35322D"/>
                </a:solidFill>
                <a:latin typeface="Arial" pitchFamily="34" charset="0"/>
                <a:ea typeface="Arial" pitchFamily="34" charset="-122"/>
                <a:cs typeface="Arial" pitchFamily="34" charset="-120"/>
              </a:rPr>
              <a:t>Approval queue</a:t>
            </a:r>
            <a:endParaRPr lang="en-US" sz="950" dirty="0"/>
          </a:p>
        </p:txBody>
      </p:sp>
      <p:sp>
        <p:nvSpPr>
          <p:cNvPr id="23" name="Shape 21"/>
          <p:cNvSpPr/>
          <p:nvPr/>
        </p:nvSpPr>
        <p:spPr>
          <a:xfrm>
            <a:off x="5725973" y="6245352"/>
            <a:ext cx="1539850" cy="274320"/>
          </a:xfrm>
          <a:prstGeom prst="roundRect">
            <a:avLst>
              <a:gd name="adj" fmla="val 20000"/>
            </a:avLst>
          </a:prstGeom>
          <a:solidFill>
            <a:srgbClr val="FFFFFF"/>
          </a:solidFill>
          <a:ln w="12700">
            <a:solidFill>
              <a:srgbClr val="E2DED6"/>
            </a:solidFill>
            <a:prstDash val="solid"/>
          </a:ln>
        </p:spPr>
      </p:sp>
      <p:sp>
        <p:nvSpPr>
          <p:cNvPr id="24" name="Text 22"/>
          <p:cNvSpPr/>
          <p:nvPr/>
        </p:nvSpPr>
        <p:spPr>
          <a:xfrm>
            <a:off x="5725973" y="6245352"/>
            <a:ext cx="1539850" cy="274320"/>
          </a:xfrm>
          <a:prstGeom prst="rect">
            <a:avLst/>
          </a:prstGeom>
          <a:noFill/>
          <a:ln/>
        </p:spPr>
        <p:txBody>
          <a:bodyPr wrap="square" lIns="0" tIns="0" rIns="0" bIns="0" rtlCol="0" anchor="ctr"/>
          <a:lstStyle/>
          <a:p>
            <a:pPr algn="ctr" indent="0" marL="0">
              <a:buNone/>
            </a:pPr>
            <a:r>
              <a:rPr lang="en-US" sz="950" dirty="0">
                <a:solidFill>
                  <a:srgbClr val="35322D"/>
                </a:solidFill>
                <a:latin typeface="Arial" pitchFamily="34" charset="0"/>
                <a:ea typeface="Arial" pitchFamily="34" charset="-122"/>
                <a:cs typeface="Arial" pitchFamily="34" charset="-120"/>
              </a:rPr>
              <a:t>Take over / return</a:t>
            </a:r>
            <a:endParaRPr lang="en-US" sz="950" dirty="0"/>
          </a:p>
        </p:txBody>
      </p:sp>
      <p:sp>
        <p:nvSpPr>
          <p:cNvPr id="25" name="Shape 23"/>
          <p:cNvSpPr/>
          <p:nvPr/>
        </p:nvSpPr>
        <p:spPr>
          <a:xfrm>
            <a:off x="7393838" y="6245352"/>
            <a:ext cx="1397203" cy="274320"/>
          </a:xfrm>
          <a:prstGeom prst="roundRect">
            <a:avLst>
              <a:gd name="adj" fmla="val 20000"/>
            </a:avLst>
          </a:prstGeom>
          <a:solidFill>
            <a:srgbClr val="FFFFFF"/>
          </a:solidFill>
          <a:ln w="12700">
            <a:solidFill>
              <a:srgbClr val="E2DED6"/>
            </a:solidFill>
            <a:prstDash val="solid"/>
          </a:ln>
        </p:spPr>
      </p:sp>
      <p:sp>
        <p:nvSpPr>
          <p:cNvPr id="26" name="Text 24"/>
          <p:cNvSpPr/>
          <p:nvPr/>
        </p:nvSpPr>
        <p:spPr>
          <a:xfrm>
            <a:off x="7393838" y="6245352"/>
            <a:ext cx="1397203" cy="274320"/>
          </a:xfrm>
          <a:prstGeom prst="rect">
            <a:avLst/>
          </a:prstGeom>
          <a:noFill/>
          <a:ln/>
        </p:spPr>
        <p:txBody>
          <a:bodyPr wrap="square" lIns="0" tIns="0" rIns="0" bIns="0" rtlCol="0" anchor="ctr"/>
          <a:lstStyle/>
          <a:p>
            <a:pPr algn="ctr" indent="0" marL="0">
              <a:buNone/>
            </a:pPr>
            <a:r>
              <a:rPr lang="en-US" sz="950" dirty="0">
                <a:solidFill>
                  <a:srgbClr val="35322D"/>
                </a:solidFill>
                <a:latin typeface="Arial" pitchFamily="34" charset="0"/>
                <a:ea typeface="Arial" pitchFamily="34" charset="-122"/>
                <a:cs typeface="Arial" pitchFamily="34" charset="-120"/>
              </a:rPr>
              <a:t>Activity history</a:t>
            </a:r>
            <a:endParaRPr lang="en-US" sz="950" dirty="0"/>
          </a:p>
        </p:txBody>
      </p:sp>
      <p:sp>
        <p:nvSpPr>
          <p:cNvPr id="27" name="Text 25"/>
          <p:cNvSpPr/>
          <p:nvPr/>
        </p:nvSpPr>
        <p:spPr>
          <a:xfrm>
            <a:off x="8351215" y="6382512"/>
            <a:ext cx="3273552" cy="274320"/>
          </a:xfrm>
          <a:prstGeom prst="rect">
            <a:avLst/>
          </a:prstGeom>
          <a:noFill/>
          <a:ln/>
        </p:spPr>
        <p:txBody>
          <a:bodyPr wrap="square" lIns="0" tIns="0" rIns="0" bIns="0" rtlCol="0" anchor="ctr"/>
          <a:lstStyle/>
          <a:p>
            <a:pPr algn="r" indent="0" marL="0">
              <a:buNone/>
            </a:pPr>
            <a:r>
              <a:rPr lang="en-US" sz="950" b="1" spc="100" kern="0" dirty="0">
                <a:solidFill>
                  <a:srgbClr val="9A968C"/>
                </a:solidFill>
                <a:latin typeface="Arial" pitchFamily="34" charset="0"/>
                <a:ea typeface="Arial" pitchFamily="34" charset="-122"/>
                <a:cs typeface="Arial" pitchFamily="34" charset="-120"/>
              </a:rPr>
              <a:t>INFLUENCEES</a:t>
            </a:r>
            <a:pPr algn="r" indent="0" marL="0">
              <a:buNone/>
            </a:pPr>
            <a:r>
              <a:rPr lang="en-US" sz="950" b="1" spc="100" kern="0" dirty="0">
                <a:solidFill>
                  <a:srgbClr val="6B675F"/>
                </a:solidFill>
                <a:latin typeface="Arial" pitchFamily="34" charset="0"/>
                <a:ea typeface="Arial" pitchFamily="34" charset="-122"/>
                <a:cs typeface="Arial" pitchFamily="34" charset="-120"/>
              </a:rPr>
              <a:t>   05 / 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566928" y="457200"/>
            <a:ext cx="8229600" cy="274320"/>
          </a:xfrm>
          <a:prstGeom prst="rect">
            <a:avLst/>
          </a:prstGeom>
          <a:noFill/>
          <a:ln/>
        </p:spPr>
        <p:txBody>
          <a:bodyPr wrap="square" lIns="0" tIns="0" rIns="0" bIns="0" rtlCol="0" anchor="ctr"/>
          <a:lstStyle/>
          <a:p>
            <a:pPr algn="l" indent="0" marL="0">
              <a:buNone/>
            </a:pPr>
            <a:r>
              <a:rPr lang="en-US" sz="1150" b="1" spc="250" kern="0" dirty="0">
                <a:solidFill>
                  <a:srgbClr val="5A3EE0"/>
                </a:solidFill>
                <a:latin typeface="Arial" pitchFamily="34" charset="0"/>
                <a:ea typeface="Arial" pitchFamily="34" charset="-122"/>
                <a:cs typeface="Arial" pitchFamily="34" charset="-120"/>
              </a:rPr>
              <a:t>SOLUTION 01  ·  FROM DEMO TO LIVE</a:t>
            </a:r>
            <a:endParaRPr lang="en-US" sz="1150" dirty="0"/>
          </a:p>
        </p:txBody>
      </p:sp>
      <p:sp>
        <p:nvSpPr>
          <p:cNvPr id="3" name="Text 1"/>
          <p:cNvSpPr/>
          <p:nvPr/>
        </p:nvSpPr>
        <p:spPr>
          <a:xfrm>
            <a:off x="566928" y="822960"/>
            <a:ext cx="10607040" cy="822960"/>
          </a:xfrm>
          <a:prstGeom prst="rect">
            <a:avLst/>
          </a:prstGeom>
          <a:noFill/>
          <a:ln/>
        </p:spPr>
        <p:txBody>
          <a:bodyPr wrap="square" lIns="0" tIns="0" rIns="0" bIns="0" rtlCol="0" anchor="t"/>
          <a:lstStyle/>
          <a:p>
            <a:pPr algn="l" indent="0" marL="0">
              <a:lnSpc>
                <a:spcPct val="102000"/>
              </a:lnSpc>
              <a:buNone/>
            </a:pPr>
            <a:r>
              <a:rPr lang="en-US" sz="2700" b="1" dirty="0">
                <a:solidFill>
                  <a:srgbClr val="0D0C0A"/>
                </a:solidFill>
                <a:latin typeface="Arial" pitchFamily="34" charset="0"/>
                <a:ea typeface="Arial" pitchFamily="34" charset="-122"/>
                <a:cs typeface="Arial" pitchFamily="34" charset="-120"/>
              </a:rPr>
              <a:t>It runs today on seeded data. Here's what makes it live.</a:t>
            </a:r>
            <a:endParaRPr lang="en-US" sz="2700" dirty="0"/>
          </a:p>
        </p:txBody>
      </p:sp>
      <p:sp>
        <p:nvSpPr>
          <p:cNvPr id="4" name="Text 2"/>
          <p:cNvSpPr/>
          <p:nvPr/>
        </p:nvSpPr>
        <p:spPr>
          <a:xfrm>
            <a:off x="566928" y="1828800"/>
            <a:ext cx="10881360" cy="685800"/>
          </a:xfrm>
          <a:prstGeom prst="rect">
            <a:avLst/>
          </a:prstGeom>
          <a:noFill/>
          <a:ln/>
        </p:spPr>
        <p:txBody>
          <a:bodyPr wrap="square" lIns="0" tIns="0" rIns="0" bIns="0" rtlCol="0" anchor="ctr"/>
          <a:lstStyle/>
          <a:p>
            <a:pPr algn="l" indent="0" marL="0">
              <a:lnSpc>
                <a:spcPct val="125000"/>
              </a:lnSpc>
              <a:buNone/>
            </a:pPr>
            <a:r>
              <a:rPr lang="en-US" sz="1300" dirty="0">
                <a:solidFill>
                  <a:srgbClr val="6B675F"/>
                </a:solidFill>
                <a:latin typeface="Arial" pitchFamily="34" charset="0"/>
                <a:ea typeface="Arial" pitchFamily="34" charset="-122"/>
                <a:cs typeface="Arial" pitchFamily="34" charset="-120"/>
              </a:rPr>
              <a:t>The demo simulates the full experience, companies, messages, replies, state changes, with no external calls, so it never breaks mid-pitch. Each layer swaps to a real integration behind a clean boundary.</a:t>
            </a:r>
            <a:endParaRPr lang="en-US" sz="1300" dirty="0"/>
          </a:p>
        </p:txBody>
      </p:sp>
      <p:sp>
        <p:nvSpPr>
          <p:cNvPr id="5" name="Shape 3"/>
          <p:cNvSpPr/>
          <p:nvPr/>
        </p:nvSpPr>
        <p:spPr>
          <a:xfrm>
            <a:off x="566928" y="2697480"/>
            <a:ext cx="11057839" cy="658368"/>
          </a:xfrm>
          <a:prstGeom prst="roundRect">
            <a:avLst>
              <a:gd name="adj" fmla="val 6250"/>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6" name="Text 4"/>
          <p:cNvSpPr/>
          <p:nvPr/>
        </p:nvSpPr>
        <p:spPr>
          <a:xfrm>
            <a:off x="859536" y="2697480"/>
            <a:ext cx="2651760" cy="658368"/>
          </a:xfrm>
          <a:prstGeom prst="rect">
            <a:avLst/>
          </a:prstGeom>
          <a:noFill/>
          <a:ln/>
        </p:spPr>
        <p:txBody>
          <a:bodyPr wrap="square" lIns="0" tIns="0" rIns="0" bIns="0" rtlCol="0" anchor="ctr"/>
          <a:lstStyle/>
          <a:p>
            <a:pPr indent="0" marL="0">
              <a:buNone/>
            </a:pPr>
            <a:r>
              <a:rPr lang="en-US" sz="1350" b="1" dirty="0">
                <a:solidFill>
                  <a:srgbClr val="0D0C0A"/>
                </a:solidFill>
                <a:latin typeface="Arial" pitchFamily="34" charset="0"/>
                <a:ea typeface="Arial" pitchFamily="34" charset="-122"/>
                <a:cs typeface="Arial" pitchFamily="34" charset="-120"/>
              </a:rPr>
              <a:t>Discovery + research</a:t>
            </a:r>
            <a:endParaRPr lang="en-US" sz="1350" dirty="0"/>
          </a:p>
        </p:txBody>
      </p:sp>
      <p:sp>
        <p:nvSpPr>
          <p:cNvPr id="7" name="Shape 5"/>
          <p:cNvSpPr/>
          <p:nvPr/>
        </p:nvSpPr>
        <p:spPr>
          <a:xfrm>
            <a:off x="3630168" y="2825496"/>
            <a:ext cx="0" cy="402336"/>
          </a:xfrm>
          <a:prstGeom prst="line">
            <a:avLst/>
          </a:prstGeom>
          <a:noFill/>
          <a:ln w="12700">
            <a:solidFill>
              <a:srgbClr val="E2DED6"/>
            </a:solidFill>
            <a:prstDash val="solid"/>
          </a:ln>
        </p:spPr>
      </p:sp>
      <p:sp>
        <p:nvSpPr>
          <p:cNvPr id="8" name="Text 6"/>
          <p:cNvSpPr/>
          <p:nvPr/>
        </p:nvSpPr>
        <p:spPr>
          <a:xfrm>
            <a:off x="3858768" y="2697480"/>
            <a:ext cx="6394399" cy="658368"/>
          </a:xfrm>
          <a:prstGeom prst="rect">
            <a:avLst/>
          </a:prstGeom>
          <a:noFill/>
          <a:ln/>
        </p:spPr>
        <p:txBody>
          <a:bodyPr wrap="square" lIns="0" tIns="0" rIns="0" bIns="0" rtlCol="0" anchor="ctr"/>
          <a:lstStyle/>
          <a:p>
            <a:pPr indent="0" marL="0">
              <a:lnSpc>
                <a:spcPct val="112000"/>
              </a:lnSpc>
              <a:buNone/>
            </a:pPr>
            <a:r>
              <a:rPr lang="en-US" sz="1150" dirty="0">
                <a:solidFill>
                  <a:srgbClr val="6B675F"/>
                </a:solidFill>
                <a:latin typeface="Arial" pitchFamily="34" charset="0"/>
                <a:ea typeface="Arial" pitchFamily="34" charset="-122"/>
                <a:cs typeface="Arial" pitchFamily="34" charset="-120"/>
              </a:rPr>
              <a:t>Bright Data for LinkedIn company, profile and post data; company sites; public news; job posts</a:t>
            </a:r>
            <a:endParaRPr lang="en-US" sz="1150" dirty="0"/>
          </a:p>
        </p:txBody>
      </p:sp>
      <p:sp>
        <p:nvSpPr>
          <p:cNvPr id="9" name="Text 7"/>
          <p:cNvSpPr/>
          <p:nvPr/>
        </p:nvSpPr>
        <p:spPr>
          <a:xfrm>
            <a:off x="10207447" y="2697480"/>
            <a:ext cx="1280160" cy="658368"/>
          </a:xfrm>
          <a:prstGeom prst="rect">
            <a:avLst/>
          </a:prstGeom>
          <a:noFill/>
          <a:ln/>
        </p:spPr>
        <p:txBody>
          <a:bodyPr wrap="square" lIns="0" tIns="0" rIns="0" bIns="0" rtlCol="0" anchor="ctr"/>
          <a:lstStyle/>
          <a:p>
            <a:pPr algn="r" indent="0" marL="0">
              <a:buNone/>
            </a:pPr>
            <a:r>
              <a:rPr lang="en-US" sz="900" b="1" spc="100" kern="0" dirty="0">
                <a:solidFill>
                  <a:srgbClr val="5A3EE0"/>
                </a:solidFill>
                <a:latin typeface="Arial" pitchFamily="34" charset="0"/>
                <a:ea typeface="Arial" pitchFamily="34" charset="-122"/>
                <a:cs typeface="Arial" pitchFamily="34" charset="-120"/>
              </a:rPr>
              <a:t>SWAPPABLE</a:t>
            </a:r>
            <a:endParaRPr lang="en-US" sz="900" dirty="0"/>
          </a:p>
        </p:txBody>
      </p:sp>
      <p:sp>
        <p:nvSpPr>
          <p:cNvPr id="10" name="Shape 8"/>
          <p:cNvSpPr/>
          <p:nvPr/>
        </p:nvSpPr>
        <p:spPr>
          <a:xfrm>
            <a:off x="566928" y="3429000"/>
            <a:ext cx="11057839" cy="658368"/>
          </a:xfrm>
          <a:prstGeom prst="roundRect">
            <a:avLst>
              <a:gd name="adj" fmla="val 6250"/>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11" name="Text 9"/>
          <p:cNvSpPr/>
          <p:nvPr/>
        </p:nvSpPr>
        <p:spPr>
          <a:xfrm>
            <a:off x="859536" y="3429000"/>
            <a:ext cx="2651760" cy="658368"/>
          </a:xfrm>
          <a:prstGeom prst="rect">
            <a:avLst/>
          </a:prstGeom>
          <a:noFill/>
          <a:ln/>
        </p:spPr>
        <p:txBody>
          <a:bodyPr wrap="square" lIns="0" tIns="0" rIns="0" bIns="0" rtlCol="0" anchor="ctr"/>
          <a:lstStyle/>
          <a:p>
            <a:pPr indent="0" marL="0">
              <a:buNone/>
            </a:pPr>
            <a:r>
              <a:rPr lang="en-US" sz="1350" b="1" dirty="0">
                <a:solidFill>
                  <a:srgbClr val="0D0C0A"/>
                </a:solidFill>
                <a:latin typeface="Arial" pitchFamily="34" charset="0"/>
                <a:ea typeface="Arial" pitchFamily="34" charset="-122"/>
                <a:cs typeface="Arial" pitchFamily="34" charset="-120"/>
              </a:rPr>
              <a:t>Orchestration</a:t>
            </a:r>
            <a:endParaRPr lang="en-US" sz="1350" dirty="0"/>
          </a:p>
        </p:txBody>
      </p:sp>
      <p:sp>
        <p:nvSpPr>
          <p:cNvPr id="12" name="Shape 10"/>
          <p:cNvSpPr/>
          <p:nvPr/>
        </p:nvSpPr>
        <p:spPr>
          <a:xfrm>
            <a:off x="3630168" y="3557016"/>
            <a:ext cx="0" cy="402336"/>
          </a:xfrm>
          <a:prstGeom prst="line">
            <a:avLst/>
          </a:prstGeom>
          <a:noFill/>
          <a:ln w="12700">
            <a:solidFill>
              <a:srgbClr val="E2DED6"/>
            </a:solidFill>
            <a:prstDash val="solid"/>
          </a:ln>
        </p:spPr>
      </p:sp>
      <p:sp>
        <p:nvSpPr>
          <p:cNvPr id="13" name="Text 11"/>
          <p:cNvSpPr/>
          <p:nvPr/>
        </p:nvSpPr>
        <p:spPr>
          <a:xfrm>
            <a:off x="3858768" y="3429000"/>
            <a:ext cx="6394399" cy="658368"/>
          </a:xfrm>
          <a:prstGeom prst="rect">
            <a:avLst/>
          </a:prstGeom>
          <a:noFill/>
          <a:ln/>
        </p:spPr>
        <p:txBody>
          <a:bodyPr wrap="square" lIns="0" tIns="0" rIns="0" bIns="0" rtlCol="0" anchor="ctr"/>
          <a:lstStyle/>
          <a:p>
            <a:pPr indent="0" marL="0">
              <a:lnSpc>
                <a:spcPct val="112000"/>
              </a:lnSpc>
              <a:buNone/>
            </a:pPr>
            <a:r>
              <a:rPr lang="en-US" sz="1150" dirty="0">
                <a:solidFill>
                  <a:srgbClr val="6B675F"/>
                </a:solidFill>
                <a:latin typeface="Arial" pitchFamily="34" charset="0"/>
                <a:ea typeface="Arial" pitchFamily="34" charset="-122"/>
                <a:cs typeface="Arial" pitchFamily="34" charset="-120"/>
              </a:rPr>
              <a:t>n8n, a custom agent service, or a hybrid: dashboard owns state, agent owns decisions</a:t>
            </a:r>
            <a:endParaRPr lang="en-US" sz="1150" dirty="0"/>
          </a:p>
        </p:txBody>
      </p:sp>
      <p:sp>
        <p:nvSpPr>
          <p:cNvPr id="14" name="Text 12"/>
          <p:cNvSpPr/>
          <p:nvPr/>
        </p:nvSpPr>
        <p:spPr>
          <a:xfrm>
            <a:off x="10207447" y="3429000"/>
            <a:ext cx="1280160" cy="658368"/>
          </a:xfrm>
          <a:prstGeom prst="rect">
            <a:avLst/>
          </a:prstGeom>
          <a:noFill/>
          <a:ln/>
        </p:spPr>
        <p:txBody>
          <a:bodyPr wrap="square" lIns="0" tIns="0" rIns="0" bIns="0" rtlCol="0" anchor="ctr"/>
          <a:lstStyle/>
          <a:p>
            <a:pPr algn="r" indent="0" marL="0">
              <a:buNone/>
            </a:pPr>
            <a:r>
              <a:rPr lang="en-US" sz="900" b="1" spc="100" kern="0" dirty="0">
                <a:solidFill>
                  <a:srgbClr val="5A3EE0"/>
                </a:solidFill>
                <a:latin typeface="Arial" pitchFamily="34" charset="0"/>
                <a:ea typeface="Arial" pitchFamily="34" charset="-122"/>
                <a:cs typeface="Arial" pitchFamily="34" charset="-120"/>
              </a:rPr>
              <a:t>YOUR CALL</a:t>
            </a:r>
            <a:endParaRPr lang="en-US" sz="900" dirty="0"/>
          </a:p>
        </p:txBody>
      </p:sp>
      <p:sp>
        <p:nvSpPr>
          <p:cNvPr id="15" name="Shape 13"/>
          <p:cNvSpPr/>
          <p:nvPr/>
        </p:nvSpPr>
        <p:spPr>
          <a:xfrm>
            <a:off x="566928" y="4160520"/>
            <a:ext cx="11057839" cy="658368"/>
          </a:xfrm>
          <a:prstGeom prst="roundRect">
            <a:avLst>
              <a:gd name="adj" fmla="val 6250"/>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16" name="Text 14"/>
          <p:cNvSpPr/>
          <p:nvPr/>
        </p:nvSpPr>
        <p:spPr>
          <a:xfrm>
            <a:off x="859536" y="4160520"/>
            <a:ext cx="2651760" cy="658368"/>
          </a:xfrm>
          <a:prstGeom prst="rect">
            <a:avLst/>
          </a:prstGeom>
          <a:noFill/>
          <a:ln/>
        </p:spPr>
        <p:txBody>
          <a:bodyPr wrap="square" lIns="0" tIns="0" rIns="0" bIns="0" rtlCol="0" anchor="ctr"/>
          <a:lstStyle/>
          <a:p>
            <a:pPr indent="0" marL="0">
              <a:buNone/>
            </a:pPr>
            <a:r>
              <a:rPr lang="en-US" sz="1350" b="1" dirty="0">
                <a:solidFill>
                  <a:srgbClr val="0D0C0A"/>
                </a:solidFill>
                <a:latin typeface="Arial" pitchFamily="34" charset="0"/>
                <a:ea typeface="Arial" pitchFamily="34" charset="-122"/>
                <a:cs typeface="Arial" pitchFamily="34" charset="-120"/>
              </a:rPr>
              <a:t>Messaging channel</a:t>
            </a:r>
            <a:endParaRPr lang="en-US" sz="1350" dirty="0"/>
          </a:p>
        </p:txBody>
      </p:sp>
      <p:sp>
        <p:nvSpPr>
          <p:cNvPr id="17" name="Shape 15"/>
          <p:cNvSpPr/>
          <p:nvPr/>
        </p:nvSpPr>
        <p:spPr>
          <a:xfrm>
            <a:off x="3630168" y="4288536"/>
            <a:ext cx="0" cy="402336"/>
          </a:xfrm>
          <a:prstGeom prst="line">
            <a:avLst/>
          </a:prstGeom>
          <a:noFill/>
          <a:ln w="12700">
            <a:solidFill>
              <a:srgbClr val="E2DED6"/>
            </a:solidFill>
            <a:prstDash val="solid"/>
          </a:ln>
        </p:spPr>
      </p:sp>
      <p:sp>
        <p:nvSpPr>
          <p:cNvPr id="18" name="Text 16"/>
          <p:cNvSpPr/>
          <p:nvPr/>
        </p:nvSpPr>
        <p:spPr>
          <a:xfrm>
            <a:off x="3858768" y="4160520"/>
            <a:ext cx="6394399" cy="658368"/>
          </a:xfrm>
          <a:prstGeom prst="rect">
            <a:avLst/>
          </a:prstGeom>
          <a:noFill/>
          <a:ln/>
        </p:spPr>
        <p:txBody>
          <a:bodyPr wrap="square" lIns="0" tIns="0" rIns="0" bIns="0" rtlCol="0" anchor="ctr"/>
          <a:lstStyle/>
          <a:p>
            <a:pPr indent="0" marL="0">
              <a:lnSpc>
                <a:spcPct val="112000"/>
              </a:lnSpc>
              <a:buNone/>
            </a:pPr>
            <a:r>
              <a:rPr lang="en-US" sz="1150" dirty="0">
                <a:solidFill>
                  <a:srgbClr val="6B675F"/>
                </a:solidFill>
                <a:latin typeface="Arial" pitchFamily="34" charset="0"/>
                <a:ea typeface="Arial" pitchFamily="34" charset="-122"/>
                <a:cs typeface="Arial" pitchFamily="34" charset="-120"/>
              </a:rPr>
              <a:t>Adapter interface: Mock/demo today; Email or LinkedIn assisted / connected next</a:t>
            </a:r>
            <a:endParaRPr lang="en-US" sz="1150" dirty="0"/>
          </a:p>
        </p:txBody>
      </p:sp>
      <p:sp>
        <p:nvSpPr>
          <p:cNvPr id="19" name="Text 17"/>
          <p:cNvSpPr/>
          <p:nvPr/>
        </p:nvSpPr>
        <p:spPr>
          <a:xfrm>
            <a:off x="10207447" y="4160520"/>
            <a:ext cx="1280160" cy="658368"/>
          </a:xfrm>
          <a:prstGeom prst="rect">
            <a:avLst/>
          </a:prstGeom>
          <a:noFill/>
          <a:ln/>
        </p:spPr>
        <p:txBody>
          <a:bodyPr wrap="square" lIns="0" tIns="0" rIns="0" bIns="0" rtlCol="0" anchor="ctr"/>
          <a:lstStyle/>
          <a:p>
            <a:pPr algn="r" indent="0" marL="0">
              <a:buNone/>
            </a:pPr>
            <a:r>
              <a:rPr lang="en-US" sz="900" b="1" spc="100" kern="0" dirty="0">
                <a:solidFill>
                  <a:srgbClr val="5A3EE0"/>
                </a:solidFill>
                <a:latin typeface="Arial" pitchFamily="34" charset="0"/>
                <a:ea typeface="Arial" pitchFamily="34" charset="-122"/>
                <a:cs typeface="Arial" pitchFamily="34" charset="-120"/>
              </a:rPr>
              <a:t>ADAPTER</a:t>
            </a:r>
            <a:endParaRPr lang="en-US" sz="900" dirty="0"/>
          </a:p>
        </p:txBody>
      </p:sp>
      <p:sp>
        <p:nvSpPr>
          <p:cNvPr id="20" name="Shape 18"/>
          <p:cNvSpPr/>
          <p:nvPr/>
        </p:nvSpPr>
        <p:spPr>
          <a:xfrm>
            <a:off x="566928" y="4892040"/>
            <a:ext cx="11057839" cy="658368"/>
          </a:xfrm>
          <a:prstGeom prst="roundRect">
            <a:avLst>
              <a:gd name="adj" fmla="val 6250"/>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21" name="Text 19"/>
          <p:cNvSpPr/>
          <p:nvPr/>
        </p:nvSpPr>
        <p:spPr>
          <a:xfrm>
            <a:off x="859536" y="4892040"/>
            <a:ext cx="2651760" cy="658368"/>
          </a:xfrm>
          <a:prstGeom prst="rect">
            <a:avLst/>
          </a:prstGeom>
          <a:noFill/>
          <a:ln/>
        </p:spPr>
        <p:txBody>
          <a:bodyPr wrap="square" lIns="0" tIns="0" rIns="0" bIns="0" rtlCol="0" anchor="ctr"/>
          <a:lstStyle/>
          <a:p>
            <a:pPr indent="0" marL="0">
              <a:buNone/>
            </a:pPr>
            <a:r>
              <a:rPr lang="en-US" sz="1350" b="1" dirty="0">
                <a:solidFill>
                  <a:srgbClr val="0D0C0A"/>
                </a:solidFill>
                <a:latin typeface="Arial" pitchFamily="34" charset="0"/>
                <a:ea typeface="Arial" pitchFamily="34" charset="-122"/>
                <a:cs typeface="Arial" pitchFamily="34" charset="-120"/>
              </a:rPr>
              <a:t>Reasoning</a:t>
            </a:r>
            <a:endParaRPr lang="en-US" sz="1350" dirty="0"/>
          </a:p>
        </p:txBody>
      </p:sp>
      <p:sp>
        <p:nvSpPr>
          <p:cNvPr id="22" name="Shape 20"/>
          <p:cNvSpPr/>
          <p:nvPr/>
        </p:nvSpPr>
        <p:spPr>
          <a:xfrm>
            <a:off x="3630168" y="5020056"/>
            <a:ext cx="0" cy="402336"/>
          </a:xfrm>
          <a:prstGeom prst="line">
            <a:avLst/>
          </a:prstGeom>
          <a:noFill/>
          <a:ln w="12700">
            <a:solidFill>
              <a:srgbClr val="E2DED6"/>
            </a:solidFill>
            <a:prstDash val="solid"/>
          </a:ln>
        </p:spPr>
      </p:sp>
      <p:sp>
        <p:nvSpPr>
          <p:cNvPr id="23" name="Text 21"/>
          <p:cNvSpPr/>
          <p:nvPr/>
        </p:nvSpPr>
        <p:spPr>
          <a:xfrm>
            <a:off x="3858768" y="4892040"/>
            <a:ext cx="6394399" cy="658368"/>
          </a:xfrm>
          <a:prstGeom prst="rect">
            <a:avLst/>
          </a:prstGeom>
          <a:noFill/>
          <a:ln/>
        </p:spPr>
        <p:txBody>
          <a:bodyPr wrap="square" lIns="0" tIns="0" rIns="0" bIns="0" rtlCol="0" anchor="ctr"/>
          <a:lstStyle/>
          <a:p>
            <a:pPr indent="0" marL="0">
              <a:lnSpc>
                <a:spcPct val="112000"/>
              </a:lnSpc>
              <a:buNone/>
            </a:pPr>
            <a:r>
              <a:rPr lang="en-US" sz="1150" dirty="0">
                <a:solidFill>
                  <a:srgbClr val="6B675F"/>
                </a:solidFill>
                <a:latin typeface="Arial" pitchFamily="34" charset="0"/>
                <a:ea typeface="Arial" pitchFamily="34" charset="-122"/>
                <a:cs typeface="Arial" pitchFamily="34" charset="-120"/>
              </a:rPr>
              <a:t>Business-brain rules plus LLM drafting, gated by claim, tone and duplicate checks</a:t>
            </a:r>
            <a:endParaRPr lang="en-US" sz="1150" dirty="0"/>
          </a:p>
        </p:txBody>
      </p:sp>
      <p:sp>
        <p:nvSpPr>
          <p:cNvPr id="24" name="Text 22"/>
          <p:cNvSpPr/>
          <p:nvPr/>
        </p:nvSpPr>
        <p:spPr>
          <a:xfrm>
            <a:off x="10207447" y="4892040"/>
            <a:ext cx="1280160" cy="658368"/>
          </a:xfrm>
          <a:prstGeom prst="rect">
            <a:avLst/>
          </a:prstGeom>
          <a:noFill/>
          <a:ln/>
        </p:spPr>
        <p:txBody>
          <a:bodyPr wrap="square" lIns="0" tIns="0" rIns="0" bIns="0" rtlCol="0" anchor="ctr"/>
          <a:lstStyle/>
          <a:p>
            <a:pPr algn="r" indent="0" marL="0">
              <a:buNone/>
            </a:pPr>
            <a:r>
              <a:rPr lang="en-US" sz="900" b="1" spc="100" kern="0" dirty="0">
                <a:solidFill>
                  <a:srgbClr val="5A3EE0"/>
                </a:solidFill>
                <a:latin typeface="Arial" pitchFamily="34" charset="0"/>
                <a:ea typeface="Arial" pitchFamily="34" charset="-122"/>
                <a:cs typeface="Arial" pitchFamily="34" charset="-120"/>
              </a:rPr>
              <a:t>GUARDED</a:t>
            </a:r>
            <a:endParaRPr lang="en-US" sz="900" dirty="0"/>
          </a:p>
        </p:txBody>
      </p:sp>
      <p:sp>
        <p:nvSpPr>
          <p:cNvPr id="25" name="Shape 23"/>
          <p:cNvSpPr/>
          <p:nvPr/>
        </p:nvSpPr>
        <p:spPr>
          <a:xfrm>
            <a:off x="566928" y="5623560"/>
            <a:ext cx="11057839" cy="658368"/>
          </a:xfrm>
          <a:prstGeom prst="roundRect">
            <a:avLst>
              <a:gd name="adj" fmla="val 6250"/>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26" name="Text 24"/>
          <p:cNvSpPr/>
          <p:nvPr/>
        </p:nvSpPr>
        <p:spPr>
          <a:xfrm>
            <a:off x="859536" y="5623560"/>
            <a:ext cx="2651760" cy="658368"/>
          </a:xfrm>
          <a:prstGeom prst="rect">
            <a:avLst/>
          </a:prstGeom>
          <a:noFill/>
          <a:ln/>
        </p:spPr>
        <p:txBody>
          <a:bodyPr wrap="square" lIns="0" tIns="0" rIns="0" bIns="0" rtlCol="0" anchor="ctr"/>
          <a:lstStyle/>
          <a:p>
            <a:pPr indent="0" marL="0">
              <a:buNone/>
            </a:pPr>
            <a:r>
              <a:rPr lang="en-US" sz="1350" b="1" dirty="0">
                <a:solidFill>
                  <a:srgbClr val="0D0C0A"/>
                </a:solidFill>
                <a:latin typeface="Arial" pitchFamily="34" charset="0"/>
                <a:ea typeface="Arial" pitchFamily="34" charset="-122"/>
                <a:cs typeface="Arial" pitchFamily="34" charset="-120"/>
              </a:rPr>
              <a:t>State + memory</a:t>
            </a:r>
            <a:endParaRPr lang="en-US" sz="1350" dirty="0"/>
          </a:p>
        </p:txBody>
      </p:sp>
      <p:sp>
        <p:nvSpPr>
          <p:cNvPr id="27" name="Shape 25"/>
          <p:cNvSpPr/>
          <p:nvPr/>
        </p:nvSpPr>
        <p:spPr>
          <a:xfrm>
            <a:off x="3630168" y="5751576"/>
            <a:ext cx="0" cy="402336"/>
          </a:xfrm>
          <a:prstGeom prst="line">
            <a:avLst/>
          </a:prstGeom>
          <a:noFill/>
          <a:ln w="12700">
            <a:solidFill>
              <a:srgbClr val="E2DED6"/>
            </a:solidFill>
            <a:prstDash val="solid"/>
          </a:ln>
        </p:spPr>
      </p:sp>
      <p:sp>
        <p:nvSpPr>
          <p:cNvPr id="28" name="Text 26"/>
          <p:cNvSpPr/>
          <p:nvPr/>
        </p:nvSpPr>
        <p:spPr>
          <a:xfrm>
            <a:off x="3858768" y="5623560"/>
            <a:ext cx="6394399" cy="658368"/>
          </a:xfrm>
          <a:prstGeom prst="rect">
            <a:avLst/>
          </a:prstGeom>
          <a:noFill/>
          <a:ln/>
        </p:spPr>
        <p:txBody>
          <a:bodyPr wrap="square" lIns="0" tIns="0" rIns="0" bIns="0" rtlCol="0" anchor="ctr"/>
          <a:lstStyle/>
          <a:p>
            <a:pPr indent="0" marL="0">
              <a:lnSpc>
                <a:spcPct val="112000"/>
              </a:lnSpc>
              <a:buNone/>
            </a:pPr>
            <a:r>
              <a:rPr lang="en-US" sz="1150" dirty="0">
                <a:solidFill>
                  <a:srgbClr val="6B675F"/>
                </a:solidFill>
                <a:latin typeface="Arial" pitchFamily="34" charset="0"/>
                <a:ea typeface="Arial" pitchFamily="34" charset="-122"/>
                <a:cs typeface="Arial" pitchFamily="34" charset="-120"/>
              </a:rPr>
              <a:t>Pipeline stage and thread-ownership tracked separately, with a full activity log</a:t>
            </a:r>
            <a:endParaRPr lang="en-US" sz="1150" dirty="0"/>
          </a:p>
        </p:txBody>
      </p:sp>
      <p:sp>
        <p:nvSpPr>
          <p:cNvPr id="29" name="Text 27"/>
          <p:cNvSpPr/>
          <p:nvPr/>
        </p:nvSpPr>
        <p:spPr>
          <a:xfrm>
            <a:off x="10207447" y="5623560"/>
            <a:ext cx="1280160" cy="658368"/>
          </a:xfrm>
          <a:prstGeom prst="rect">
            <a:avLst/>
          </a:prstGeom>
          <a:noFill/>
          <a:ln/>
        </p:spPr>
        <p:txBody>
          <a:bodyPr wrap="square" lIns="0" tIns="0" rIns="0" bIns="0" rtlCol="0" anchor="ctr"/>
          <a:lstStyle/>
          <a:p>
            <a:pPr algn="r" indent="0" marL="0">
              <a:buNone/>
            </a:pPr>
            <a:r>
              <a:rPr lang="en-US" sz="900" b="1" spc="100" kern="0" dirty="0">
                <a:solidFill>
                  <a:srgbClr val="5A3EE0"/>
                </a:solidFill>
                <a:latin typeface="Arial" pitchFamily="34" charset="0"/>
                <a:ea typeface="Arial" pitchFamily="34" charset="-122"/>
                <a:cs typeface="Arial" pitchFamily="34" charset="-120"/>
              </a:rPr>
              <a:t>AUDITED</a:t>
            </a:r>
            <a:endParaRPr lang="en-US" sz="900" dirty="0"/>
          </a:p>
        </p:txBody>
      </p:sp>
      <p:sp>
        <p:nvSpPr>
          <p:cNvPr id="30" name="Text 28"/>
          <p:cNvSpPr/>
          <p:nvPr/>
        </p:nvSpPr>
        <p:spPr>
          <a:xfrm>
            <a:off x="8351215" y="6382512"/>
            <a:ext cx="3273552" cy="274320"/>
          </a:xfrm>
          <a:prstGeom prst="rect">
            <a:avLst/>
          </a:prstGeom>
          <a:noFill/>
          <a:ln/>
        </p:spPr>
        <p:txBody>
          <a:bodyPr wrap="square" lIns="0" tIns="0" rIns="0" bIns="0" rtlCol="0" anchor="ctr"/>
          <a:lstStyle/>
          <a:p>
            <a:pPr algn="r" indent="0" marL="0">
              <a:buNone/>
            </a:pPr>
            <a:r>
              <a:rPr lang="en-US" sz="950" b="1" spc="100" kern="0" dirty="0">
                <a:solidFill>
                  <a:srgbClr val="9A968C"/>
                </a:solidFill>
                <a:latin typeface="Arial" pitchFamily="34" charset="0"/>
                <a:ea typeface="Arial" pitchFamily="34" charset="-122"/>
                <a:cs typeface="Arial" pitchFamily="34" charset="-120"/>
              </a:rPr>
              <a:t>INFLUENCEES</a:t>
            </a:r>
            <a:pPr algn="r" indent="0" marL="0">
              <a:buNone/>
            </a:pPr>
            <a:r>
              <a:rPr lang="en-US" sz="950" b="1" spc="100" kern="0" dirty="0">
                <a:solidFill>
                  <a:srgbClr val="6B675F"/>
                </a:solidFill>
                <a:latin typeface="Arial" pitchFamily="34" charset="0"/>
                <a:ea typeface="Arial" pitchFamily="34" charset="-122"/>
                <a:cs typeface="Arial" pitchFamily="34" charset="-120"/>
              </a:rPr>
              <a:t>   06 / 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566928" y="457200"/>
            <a:ext cx="8229600" cy="274320"/>
          </a:xfrm>
          <a:prstGeom prst="rect">
            <a:avLst/>
          </a:prstGeom>
          <a:noFill/>
          <a:ln/>
        </p:spPr>
        <p:txBody>
          <a:bodyPr wrap="square" lIns="0" tIns="0" rIns="0" bIns="0" rtlCol="0" anchor="ctr"/>
          <a:lstStyle/>
          <a:p>
            <a:pPr algn="l" indent="0" marL="0">
              <a:buNone/>
            </a:pPr>
            <a:r>
              <a:rPr lang="en-US" sz="1150" b="1" spc="250" kern="0" dirty="0">
                <a:solidFill>
                  <a:srgbClr val="5A3EE0"/>
                </a:solidFill>
                <a:latin typeface="Arial" pitchFamily="34" charset="0"/>
                <a:ea typeface="Arial" pitchFamily="34" charset="-122"/>
                <a:cs typeface="Arial" pitchFamily="34" charset="-120"/>
              </a:rPr>
              <a:t>SOLUTION 02  ·  WEBSITE REDESIGN</a:t>
            </a:r>
            <a:endParaRPr lang="en-US" sz="1150" dirty="0"/>
          </a:p>
        </p:txBody>
      </p:sp>
      <p:sp>
        <p:nvSpPr>
          <p:cNvPr id="3" name="Text 1"/>
          <p:cNvSpPr/>
          <p:nvPr/>
        </p:nvSpPr>
        <p:spPr>
          <a:xfrm>
            <a:off x="566928" y="822960"/>
            <a:ext cx="10789920" cy="1188720"/>
          </a:xfrm>
          <a:prstGeom prst="rect">
            <a:avLst/>
          </a:prstGeom>
          <a:noFill/>
          <a:ln/>
        </p:spPr>
        <p:txBody>
          <a:bodyPr wrap="square" lIns="0" tIns="0" rIns="0" bIns="0" rtlCol="0" anchor="t"/>
          <a:lstStyle/>
          <a:p>
            <a:pPr algn="l" indent="0" marL="0">
              <a:lnSpc>
                <a:spcPct val="102000"/>
              </a:lnSpc>
              <a:buNone/>
            </a:pPr>
            <a:r>
              <a:rPr lang="en-US" sz="2600" b="1" dirty="0">
                <a:solidFill>
                  <a:srgbClr val="0D0C0A"/>
                </a:solidFill>
                <a:latin typeface="Arial" pitchFamily="34" charset="0"/>
                <a:ea typeface="Arial" pitchFamily="34" charset="-122"/>
                <a:cs typeface="Arial" pitchFamily="34" charset="-120"/>
              </a:rPr>
              <a:t>The current site has the substance. The presentation gets in the way.</a:t>
            </a:r>
            <a:endParaRPr lang="en-US" sz="2600" dirty="0"/>
          </a:p>
        </p:txBody>
      </p:sp>
      <p:sp>
        <p:nvSpPr>
          <p:cNvPr id="4" name="Text 2"/>
          <p:cNvSpPr/>
          <p:nvPr/>
        </p:nvSpPr>
        <p:spPr>
          <a:xfrm>
            <a:off x="566928" y="1965960"/>
            <a:ext cx="10789920" cy="457200"/>
          </a:xfrm>
          <a:prstGeom prst="rect">
            <a:avLst/>
          </a:prstGeom>
          <a:noFill/>
          <a:ln/>
        </p:spPr>
        <p:txBody>
          <a:bodyPr wrap="square" lIns="0" tIns="0" rIns="0" bIns="0" rtlCol="0" anchor="ctr"/>
          <a:lstStyle/>
          <a:p>
            <a:pPr algn="l" indent="0" marL="0">
              <a:lnSpc>
                <a:spcPct val="120000"/>
              </a:lnSpc>
              <a:buNone/>
            </a:pPr>
            <a:r>
              <a:rPr lang="en-US" sz="1350" i="1" dirty="0">
                <a:solidFill>
                  <a:srgbClr val="6B675F"/>
                </a:solidFill>
                <a:latin typeface="Arial" pitchFamily="34" charset="0"/>
                <a:ea typeface="Arial" pitchFamily="34" charset="-122"/>
                <a:cs typeface="Arial" pitchFamily="34" charset="-120"/>
              </a:rPr>
              <a:t>None of this is a content problem. It's a system problem, the pages grew one at a time without one design to hold them together.</a:t>
            </a:r>
            <a:endParaRPr lang="en-US" sz="1350" dirty="0"/>
          </a:p>
        </p:txBody>
      </p:sp>
      <p:sp>
        <p:nvSpPr>
          <p:cNvPr id="5" name="Text 3"/>
          <p:cNvSpPr/>
          <p:nvPr/>
        </p:nvSpPr>
        <p:spPr>
          <a:xfrm>
            <a:off x="566928" y="2624328"/>
            <a:ext cx="310896" cy="310896"/>
          </a:xfrm>
          <a:prstGeom prst="roundRect">
            <a:avLst/>
          </a:prstGeom>
          <a:solidFill>
            <a:srgbClr val="B7791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6" name="Text 4"/>
          <p:cNvSpPr/>
          <p:nvPr/>
        </p:nvSpPr>
        <p:spPr>
          <a:xfrm>
            <a:off x="987552" y="2587752"/>
            <a:ext cx="4925416" cy="329184"/>
          </a:xfrm>
          <a:prstGeom prst="rect">
            <a:avLst/>
          </a:prstGeom>
          <a:noFill/>
          <a:ln/>
        </p:spPr>
        <p:txBody>
          <a:bodyPr wrap="square" lIns="0" tIns="0" rIns="0" bIns="0" rtlCol="0" anchor="ctr"/>
          <a:lstStyle/>
          <a:p>
            <a:pPr indent="0" marL="0">
              <a:buNone/>
            </a:pPr>
            <a:r>
              <a:rPr lang="en-US" sz="1400" b="1" dirty="0">
                <a:solidFill>
                  <a:srgbClr val="0D0C0A"/>
                </a:solidFill>
                <a:latin typeface="Arial" pitchFamily="34" charset="0"/>
                <a:ea typeface="Arial" pitchFamily="34" charset="-122"/>
                <a:cs typeface="Arial" pitchFamily="34" charset="-120"/>
              </a:rPr>
              <a:t>Pricing says three different things</a:t>
            </a:r>
            <a:endParaRPr lang="en-US" sz="1400" dirty="0"/>
          </a:p>
        </p:txBody>
      </p:sp>
      <p:sp>
        <p:nvSpPr>
          <p:cNvPr id="7" name="Text 5"/>
          <p:cNvSpPr/>
          <p:nvPr/>
        </p:nvSpPr>
        <p:spPr>
          <a:xfrm>
            <a:off x="987552" y="2935224"/>
            <a:ext cx="4925416" cy="731520"/>
          </a:xfrm>
          <a:prstGeom prst="rect">
            <a:avLst/>
          </a:prstGeom>
          <a:noFill/>
          <a:ln/>
        </p:spPr>
        <p:txBody>
          <a:bodyPr wrap="square" lIns="0" tIns="0" rIns="0" bIns="0" rtlCol="0" anchor="ctr"/>
          <a:lstStyle/>
          <a:p>
            <a:pPr indent="0" marL="0">
              <a:lnSpc>
                <a:spcPct val="118000"/>
              </a:lnSpc>
              <a:buNone/>
            </a:pPr>
            <a:r>
              <a:rPr lang="en-US" sz="1100" dirty="0">
                <a:solidFill>
                  <a:srgbClr val="6B675F"/>
                </a:solidFill>
                <a:latin typeface="Arial" pitchFamily="34" charset="0"/>
                <a:ea typeface="Arial" pitchFamily="34" charset="-122"/>
                <a:cs typeface="Arial" pitchFamily="34" charset="-120"/>
              </a:rPr>
              <a:t>/brands shows 59/149/299, /pricing shows 49/119/249, the comparison table says Growth $149.</a:t>
            </a:r>
            <a:endParaRPr lang="en-US" sz="1100" dirty="0"/>
          </a:p>
        </p:txBody>
      </p:sp>
      <p:sp>
        <p:nvSpPr>
          <p:cNvPr id="8" name="Text 6"/>
          <p:cNvSpPr/>
          <p:nvPr/>
        </p:nvSpPr>
        <p:spPr>
          <a:xfrm>
            <a:off x="6278728" y="2624328"/>
            <a:ext cx="310896" cy="310896"/>
          </a:xfrm>
          <a:prstGeom prst="roundRect">
            <a:avLst/>
          </a:prstGeom>
          <a:solidFill>
            <a:srgbClr val="B7791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9" name="Text 7"/>
          <p:cNvSpPr/>
          <p:nvPr/>
        </p:nvSpPr>
        <p:spPr>
          <a:xfrm>
            <a:off x="6699352" y="2587752"/>
            <a:ext cx="4925416" cy="329184"/>
          </a:xfrm>
          <a:prstGeom prst="rect">
            <a:avLst/>
          </a:prstGeom>
          <a:noFill/>
          <a:ln/>
        </p:spPr>
        <p:txBody>
          <a:bodyPr wrap="square" lIns="0" tIns="0" rIns="0" bIns="0" rtlCol="0" anchor="ctr"/>
          <a:lstStyle/>
          <a:p>
            <a:pPr indent="0" marL="0">
              <a:buNone/>
            </a:pPr>
            <a:r>
              <a:rPr lang="en-US" sz="1400" b="1" dirty="0">
                <a:solidFill>
                  <a:srgbClr val="0D0C0A"/>
                </a:solidFill>
                <a:latin typeface="Arial" pitchFamily="34" charset="0"/>
                <a:ea typeface="Arial" pitchFamily="34" charset="-122"/>
                <a:cs typeface="Arial" pitchFamily="34" charset="-120"/>
              </a:rPr>
              <a:t>The value prop is buried</a:t>
            </a:r>
            <a:endParaRPr lang="en-US" sz="1400" dirty="0"/>
          </a:p>
        </p:txBody>
      </p:sp>
      <p:sp>
        <p:nvSpPr>
          <p:cNvPr id="10" name="Text 8"/>
          <p:cNvSpPr/>
          <p:nvPr/>
        </p:nvSpPr>
        <p:spPr>
          <a:xfrm>
            <a:off x="6699352" y="2935224"/>
            <a:ext cx="4925416" cy="731520"/>
          </a:xfrm>
          <a:prstGeom prst="rect">
            <a:avLst/>
          </a:prstGeom>
          <a:noFill/>
          <a:ln/>
        </p:spPr>
        <p:txBody>
          <a:bodyPr wrap="square" lIns="0" tIns="0" rIns="0" bIns="0" rtlCol="0" anchor="ctr"/>
          <a:lstStyle/>
          <a:p>
            <a:pPr indent="0" marL="0">
              <a:lnSpc>
                <a:spcPct val="118000"/>
              </a:lnSpc>
              <a:buNone/>
            </a:pPr>
            <a:r>
              <a:rPr lang="en-US" sz="1100" dirty="0">
                <a:solidFill>
                  <a:srgbClr val="6B675F"/>
                </a:solidFill>
                <a:latin typeface="Arial" pitchFamily="34" charset="0"/>
                <a:ea typeface="Arial" pitchFamily="34" charset="-122"/>
                <a:cs typeface="Arial" pitchFamily="34" charset="-120"/>
              </a:rPr>
              <a:t>The homepage opens on the Ai-kyo box and a trending feed repeated three times; the pitch is hard to find.</a:t>
            </a:r>
            <a:endParaRPr lang="en-US" sz="1100" dirty="0"/>
          </a:p>
        </p:txBody>
      </p:sp>
      <p:sp>
        <p:nvSpPr>
          <p:cNvPr id="11" name="Text 9"/>
          <p:cNvSpPr/>
          <p:nvPr/>
        </p:nvSpPr>
        <p:spPr>
          <a:xfrm>
            <a:off x="566928" y="3849624"/>
            <a:ext cx="310896" cy="310896"/>
          </a:xfrm>
          <a:prstGeom prst="roundRect">
            <a:avLst/>
          </a:prstGeom>
          <a:solidFill>
            <a:srgbClr val="B7791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2" name="Text 10"/>
          <p:cNvSpPr/>
          <p:nvPr/>
        </p:nvSpPr>
        <p:spPr>
          <a:xfrm>
            <a:off x="987552" y="3813048"/>
            <a:ext cx="4925416" cy="329184"/>
          </a:xfrm>
          <a:prstGeom prst="rect">
            <a:avLst/>
          </a:prstGeom>
          <a:noFill/>
          <a:ln/>
        </p:spPr>
        <p:txBody>
          <a:bodyPr wrap="square" lIns="0" tIns="0" rIns="0" bIns="0" rtlCol="0" anchor="ctr"/>
          <a:lstStyle/>
          <a:p>
            <a:pPr indent="0" marL="0">
              <a:buNone/>
            </a:pPr>
            <a:r>
              <a:rPr lang="en-US" sz="1400" b="1" dirty="0">
                <a:solidFill>
                  <a:srgbClr val="0D0C0A"/>
                </a:solidFill>
                <a:latin typeface="Arial" pitchFamily="34" charset="0"/>
                <a:ea typeface="Arial" pitchFamily="34" charset="-122"/>
                <a:cs typeface="Arial" pitchFamily="34" charset="-120"/>
              </a:rPr>
              <a:t>Feature status is unclear</a:t>
            </a:r>
            <a:endParaRPr lang="en-US" sz="1400" dirty="0"/>
          </a:p>
        </p:txBody>
      </p:sp>
      <p:sp>
        <p:nvSpPr>
          <p:cNvPr id="13" name="Text 11"/>
          <p:cNvSpPr/>
          <p:nvPr/>
        </p:nvSpPr>
        <p:spPr>
          <a:xfrm>
            <a:off x="987552" y="4160520"/>
            <a:ext cx="4925416" cy="731520"/>
          </a:xfrm>
          <a:prstGeom prst="rect">
            <a:avLst/>
          </a:prstGeom>
          <a:noFill/>
          <a:ln/>
        </p:spPr>
        <p:txBody>
          <a:bodyPr wrap="square" lIns="0" tIns="0" rIns="0" bIns="0" rtlCol="0" anchor="ctr"/>
          <a:lstStyle/>
          <a:p>
            <a:pPr indent="0" marL="0">
              <a:lnSpc>
                <a:spcPct val="118000"/>
              </a:lnSpc>
              <a:buNone/>
            </a:pPr>
            <a:r>
              <a:rPr lang="en-US" sz="1100" dirty="0">
                <a:solidFill>
                  <a:srgbClr val="6B675F"/>
                </a:solidFill>
                <a:latin typeface="Arial" pitchFamily="34" charset="0"/>
                <a:ea typeface="Arial" pitchFamily="34" charset="-122"/>
                <a:cs typeface="Arial" pitchFamily="34" charset="-120"/>
              </a:rPr>
              <a:t>LIVE / BETA / SOON labels exist only on Trust Check, so nothing else signals what's shipped.</a:t>
            </a:r>
            <a:endParaRPr lang="en-US" sz="1100" dirty="0"/>
          </a:p>
        </p:txBody>
      </p:sp>
      <p:sp>
        <p:nvSpPr>
          <p:cNvPr id="14" name="Text 12"/>
          <p:cNvSpPr/>
          <p:nvPr/>
        </p:nvSpPr>
        <p:spPr>
          <a:xfrm>
            <a:off x="6278728" y="3849624"/>
            <a:ext cx="310896" cy="310896"/>
          </a:xfrm>
          <a:prstGeom prst="roundRect">
            <a:avLst/>
          </a:prstGeom>
          <a:solidFill>
            <a:srgbClr val="B7791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5" name="Text 13"/>
          <p:cNvSpPr/>
          <p:nvPr/>
        </p:nvSpPr>
        <p:spPr>
          <a:xfrm>
            <a:off x="6699352" y="3813048"/>
            <a:ext cx="4925416" cy="329184"/>
          </a:xfrm>
          <a:prstGeom prst="rect">
            <a:avLst/>
          </a:prstGeom>
          <a:noFill/>
          <a:ln/>
        </p:spPr>
        <p:txBody>
          <a:bodyPr wrap="square" lIns="0" tIns="0" rIns="0" bIns="0" rtlCol="0" anchor="ctr"/>
          <a:lstStyle/>
          <a:p>
            <a:pPr indent="0" marL="0">
              <a:buNone/>
            </a:pPr>
            <a:r>
              <a:rPr lang="en-US" sz="1400" b="1" dirty="0">
                <a:solidFill>
                  <a:srgbClr val="0D0C0A"/>
                </a:solidFill>
                <a:latin typeface="Arial" pitchFamily="34" charset="0"/>
                <a:ea typeface="Arial" pitchFamily="34" charset="-122"/>
                <a:cs typeface="Arial" pitchFamily="34" charset="-120"/>
              </a:rPr>
              <a:t>A headline feature has no home</a:t>
            </a:r>
            <a:endParaRPr lang="en-US" sz="1400" dirty="0"/>
          </a:p>
        </p:txBody>
      </p:sp>
      <p:sp>
        <p:nvSpPr>
          <p:cNvPr id="16" name="Text 14"/>
          <p:cNvSpPr/>
          <p:nvPr/>
        </p:nvSpPr>
        <p:spPr>
          <a:xfrm>
            <a:off x="6699352" y="4160520"/>
            <a:ext cx="4925416" cy="731520"/>
          </a:xfrm>
          <a:prstGeom prst="rect">
            <a:avLst/>
          </a:prstGeom>
          <a:noFill/>
          <a:ln/>
        </p:spPr>
        <p:txBody>
          <a:bodyPr wrap="square" lIns="0" tIns="0" rIns="0" bIns="0" rtlCol="0" anchor="ctr"/>
          <a:lstStyle/>
          <a:p>
            <a:pPr indent="0" marL="0">
              <a:lnSpc>
                <a:spcPct val="118000"/>
              </a:lnSpc>
              <a:buNone/>
            </a:pPr>
            <a:r>
              <a:rPr lang="en-US" sz="1100" dirty="0">
                <a:solidFill>
                  <a:srgbClr val="6B675F"/>
                </a:solidFill>
                <a:latin typeface="Arial" pitchFamily="34" charset="0"/>
                <a:ea typeface="Arial" pitchFamily="34" charset="-122"/>
                <a:cs typeface="Arial" pitchFamily="34" charset="-120"/>
              </a:rPr>
              <a:t>“Creator Index” is sold everywhere, but there's no directory or profile page in the nav.</a:t>
            </a:r>
            <a:endParaRPr lang="en-US" sz="1100" dirty="0"/>
          </a:p>
        </p:txBody>
      </p:sp>
      <p:sp>
        <p:nvSpPr>
          <p:cNvPr id="17" name="Text 15"/>
          <p:cNvSpPr/>
          <p:nvPr/>
        </p:nvSpPr>
        <p:spPr>
          <a:xfrm>
            <a:off x="566928" y="5074920"/>
            <a:ext cx="310896" cy="310896"/>
          </a:xfrm>
          <a:prstGeom prst="roundRect">
            <a:avLst/>
          </a:prstGeom>
          <a:solidFill>
            <a:srgbClr val="B7791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8" name="Text 16"/>
          <p:cNvSpPr/>
          <p:nvPr/>
        </p:nvSpPr>
        <p:spPr>
          <a:xfrm>
            <a:off x="987552" y="5038344"/>
            <a:ext cx="4925416" cy="329184"/>
          </a:xfrm>
          <a:prstGeom prst="rect">
            <a:avLst/>
          </a:prstGeom>
          <a:noFill/>
          <a:ln/>
        </p:spPr>
        <p:txBody>
          <a:bodyPr wrap="square" lIns="0" tIns="0" rIns="0" bIns="0" rtlCol="0" anchor="ctr"/>
          <a:lstStyle/>
          <a:p>
            <a:pPr indent="0" marL="0">
              <a:buNone/>
            </a:pPr>
            <a:r>
              <a:rPr lang="en-US" sz="1400" b="1" dirty="0">
                <a:solidFill>
                  <a:srgbClr val="0D0C0A"/>
                </a:solidFill>
                <a:latin typeface="Arial" pitchFamily="34" charset="0"/>
                <a:ea typeface="Arial" pitchFamily="34" charset="-122"/>
                <a:cs typeface="Arial" pitchFamily="34" charset="-120"/>
              </a:rPr>
              <a:t>Broken and contradictory bits</a:t>
            </a:r>
            <a:endParaRPr lang="en-US" sz="1400" dirty="0"/>
          </a:p>
        </p:txBody>
      </p:sp>
      <p:sp>
        <p:nvSpPr>
          <p:cNvPr id="19" name="Text 17"/>
          <p:cNvSpPr/>
          <p:nvPr/>
        </p:nvSpPr>
        <p:spPr>
          <a:xfrm>
            <a:off x="987552" y="5385816"/>
            <a:ext cx="4925416" cy="731520"/>
          </a:xfrm>
          <a:prstGeom prst="rect">
            <a:avLst/>
          </a:prstGeom>
          <a:noFill/>
          <a:ln/>
        </p:spPr>
        <p:txBody>
          <a:bodyPr wrap="square" lIns="0" tIns="0" rIns="0" bIns="0" rtlCol="0" anchor="ctr"/>
          <a:lstStyle/>
          <a:p>
            <a:pPr indent="0" marL="0">
              <a:lnSpc>
                <a:spcPct val="118000"/>
              </a:lnSpc>
              <a:buNone/>
            </a:pPr>
            <a:r>
              <a:rPr lang="en-US" sz="1100" dirty="0">
                <a:solidFill>
                  <a:srgbClr val="6B675F"/>
                </a:solidFill>
                <a:latin typeface="Arial" pitchFamily="34" charset="0"/>
                <a:ea typeface="Arial" pitchFamily="34" charset="-122"/>
                <a:cs typeface="Arial" pitchFamily="34" charset="-120"/>
              </a:rPr>
              <a:t>/ccs2026 renders empty without JS; data is called “live” in one place and “pulled manually” in another.</a:t>
            </a:r>
            <a:endParaRPr lang="en-US" sz="1100" dirty="0"/>
          </a:p>
        </p:txBody>
      </p:sp>
      <p:sp>
        <p:nvSpPr>
          <p:cNvPr id="20" name="Text 18"/>
          <p:cNvSpPr/>
          <p:nvPr/>
        </p:nvSpPr>
        <p:spPr>
          <a:xfrm>
            <a:off x="6278728" y="5074920"/>
            <a:ext cx="310896" cy="310896"/>
          </a:xfrm>
          <a:prstGeom prst="roundRect">
            <a:avLst/>
          </a:prstGeom>
          <a:solidFill>
            <a:srgbClr val="B7791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1" name="Text 19"/>
          <p:cNvSpPr/>
          <p:nvPr/>
        </p:nvSpPr>
        <p:spPr>
          <a:xfrm>
            <a:off x="6699352" y="5038344"/>
            <a:ext cx="4925416" cy="329184"/>
          </a:xfrm>
          <a:prstGeom prst="rect">
            <a:avLst/>
          </a:prstGeom>
          <a:noFill/>
          <a:ln/>
        </p:spPr>
        <p:txBody>
          <a:bodyPr wrap="square" lIns="0" tIns="0" rIns="0" bIns="0" rtlCol="0" anchor="ctr"/>
          <a:lstStyle/>
          <a:p>
            <a:pPr indent="0" marL="0">
              <a:buNone/>
            </a:pPr>
            <a:r>
              <a:rPr lang="en-US" sz="1400" b="1" dirty="0">
                <a:solidFill>
                  <a:srgbClr val="0D0C0A"/>
                </a:solidFill>
                <a:latin typeface="Arial" pitchFamily="34" charset="0"/>
                <a:ea typeface="Arial" pitchFamily="34" charset="-122"/>
                <a:cs typeface="Arial" pitchFamily="34" charset="-120"/>
              </a:rPr>
              <a:t>No single system</a:t>
            </a:r>
            <a:endParaRPr lang="en-US" sz="1400" dirty="0"/>
          </a:p>
        </p:txBody>
      </p:sp>
      <p:sp>
        <p:nvSpPr>
          <p:cNvPr id="22" name="Text 20"/>
          <p:cNvSpPr/>
          <p:nvPr/>
        </p:nvSpPr>
        <p:spPr>
          <a:xfrm>
            <a:off x="6699352" y="5385816"/>
            <a:ext cx="4925416" cy="731520"/>
          </a:xfrm>
          <a:prstGeom prst="rect">
            <a:avLst/>
          </a:prstGeom>
          <a:noFill/>
          <a:ln/>
        </p:spPr>
        <p:txBody>
          <a:bodyPr wrap="square" lIns="0" tIns="0" rIns="0" bIns="0" rtlCol="0" anchor="ctr"/>
          <a:lstStyle/>
          <a:p>
            <a:pPr indent="0" marL="0">
              <a:lnSpc>
                <a:spcPct val="118000"/>
              </a:lnSpc>
              <a:buNone/>
            </a:pPr>
            <a:r>
              <a:rPr lang="en-US" sz="1100" dirty="0">
                <a:solidFill>
                  <a:srgbClr val="6B675F"/>
                </a:solidFill>
                <a:latin typeface="Arial" pitchFamily="34" charset="0"/>
                <a:ea typeface="Arial" pitchFamily="34" charset="-122"/>
                <a:cs typeface="Arial" pitchFamily="34" charset="-120"/>
              </a:rPr>
              <a:t>Type, spacing, cards and states shift page to page, so a real product reads as vibe-coded.</a:t>
            </a:r>
            <a:endParaRPr lang="en-US" sz="1100" dirty="0"/>
          </a:p>
        </p:txBody>
      </p:sp>
      <p:sp>
        <p:nvSpPr>
          <p:cNvPr id="23" name="Text 21"/>
          <p:cNvSpPr/>
          <p:nvPr/>
        </p:nvSpPr>
        <p:spPr>
          <a:xfrm>
            <a:off x="8351215" y="6382512"/>
            <a:ext cx="3273552" cy="274320"/>
          </a:xfrm>
          <a:prstGeom prst="rect">
            <a:avLst/>
          </a:prstGeom>
          <a:noFill/>
          <a:ln/>
        </p:spPr>
        <p:txBody>
          <a:bodyPr wrap="square" lIns="0" tIns="0" rIns="0" bIns="0" rtlCol="0" anchor="ctr"/>
          <a:lstStyle/>
          <a:p>
            <a:pPr algn="r" indent="0" marL="0">
              <a:buNone/>
            </a:pPr>
            <a:r>
              <a:rPr lang="en-US" sz="950" b="1" spc="100" kern="0" dirty="0">
                <a:solidFill>
                  <a:srgbClr val="9A968C"/>
                </a:solidFill>
                <a:latin typeface="Arial" pitchFamily="34" charset="0"/>
                <a:ea typeface="Arial" pitchFamily="34" charset="-122"/>
                <a:cs typeface="Arial" pitchFamily="34" charset="-120"/>
              </a:rPr>
              <a:t>INFLUENCEES</a:t>
            </a:r>
            <a:pPr algn="r" indent="0" marL="0">
              <a:buNone/>
            </a:pPr>
            <a:r>
              <a:rPr lang="en-US" sz="950" b="1" spc="100" kern="0" dirty="0">
                <a:solidFill>
                  <a:srgbClr val="6B675F"/>
                </a:solidFill>
                <a:latin typeface="Arial" pitchFamily="34" charset="0"/>
                <a:ea typeface="Arial" pitchFamily="34" charset="-122"/>
                <a:cs typeface="Arial" pitchFamily="34" charset="-120"/>
              </a:rPr>
              <a:t>   07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566928" y="457200"/>
            <a:ext cx="8229600" cy="274320"/>
          </a:xfrm>
          <a:prstGeom prst="rect">
            <a:avLst/>
          </a:prstGeom>
          <a:noFill/>
          <a:ln/>
        </p:spPr>
        <p:txBody>
          <a:bodyPr wrap="square" lIns="0" tIns="0" rIns="0" bIns="0" rtlCol="0" anchor="ctr"/>
          <a:lstStyle/>
          <a:p>
            <a:pPr algn="l" indent="0" marL="0">
              <a:buNone/>
            </a:pPr>
            <a:r>
              <a:rPr lang="en-US" sz="1150" b="1" spc="250" kern="0" dirty="0">
                <a:solidFill>
                  <a:srgbClr val="5A3EE0"/>
                </a:solidFill>
                <a:latin typeface="Arial" pitchFamily="34" charset="0"/>
                <a:ea typeface="Arial" pitchFamily="34" charset="-122"/>
                <a:cs typeface="Arial" pitchFamily="34" charset="-120"/>
              </a:rPr>
              <a:t>SOLUTION 02  ·  THE REDESIGN</a:t>
            </a:r>
            <a:endParaRPr lang="en-US" sz="1150" dirty="0"/>
          </a:p>
        </p:txBody>
      </p:sp>
      <p:sp>
        <p:nvSpPr>
          <p:cNvPr id="3" name="Text 1"/>
          <p:cNvSpPr/>
          <p:nvPr/>
        </p:nvSpPr>
        <p:spPr>
          <a:xfrm>
            <a:off x="566928" y="822960"/>
            <a:ext cx="10607040" cy="822960"/>
          </a:xfrm>
          <a:prstGeom prst="rect">
            <a:avLst/>
          </a:prstGeom>
          <a:noFill/>
          <a:ln/>
        </p:spPr>
        <p:txBody>
          <a:bodyPr wrap="square" lIns="0" tIns="0" rIns="0" bIns="0" rtlCol="0" anchor="t"/>
          <a:lstStyle/>
          <a:p>
            <a:pPr algn="l" indent="0" marL="0">
              <a:lnSpc>
                <a:spcPct val="102000"/>
              </a:lnSpc>
              <a:buNone/>
            </a:pPr>
            <a:r>
              <a:rPr lang="en-US" sz="2700" b="1" dirty="0">
                <a:solidFill>
                  <a:srgbClr val="0D0C0A"/>
                </a:solidFill>
                <a:latin typeface="Arial" pitchFamily="34" charset="0"/>
                <a:ea typeface="Arial" pitchFamily="34" charset="-122"/>
                <a:cs typeface="Arial" pitchFamily="34" charset="-120"/>
              </a:rPr>
              <a:t>Every public page, rebuilt on one system.</a:t>
            </a:r>
            <a:endParaRPr lang="en-US" sz="2700" dirty="0"/>
          </a:p>
        </p:txBody>
      </p:sp>
      <p:sp>
        <p:nvSpPr>
          <p:cNvPr id="4" name="Shape 2"/>
          <p:cNvSpPr/>
          <p:nvPr/>
        </p:nvSpPr>
        <p:spPr>
          <a:xfrm>
            <a:off x="566928" y="1965960"/>
            <a:ext cx="3490874" cy="1783080"/>
          </a:xfrm>
          <a:prstGeom prst="roundRect">
            <a:avLst>
              <a:gd name="adj" fmla="val 2564"/>
            </a:avLst>
          </a:prstGeom>
          <a:solidFill>
            <a:srgbClr val="FBF9F5"/>
          </a:solidFill>
          <a:ln w="15875">
            <a:solidFill>
              <a:srgbClr val="CBC5B9"/>
            </a:solidFill>
            <a:prstDash val="dash"/>
          </a:ln>
        </p:spPr>
      </p:sp>
      <p:sp>
        <p:nvSpPr>
          <p:cNvPr id="5" name="Text 3"/>
          <p:cNvSpPr/>
          <p:nvPr/>
        </p:nvSpPr>
        <p:spPr>
          <a:xfrm>
            <a:off x="566928" y="2354580"/>
            <a:ext cx="3490874" cy="457200"/>
          </a:xfrm>
          <a:prstGeom prst="rect">
            <a:avLst/>
          </a:prstGeom>
          <a:noFill/>
          <a:ln/>
        </p:spPr>
        <p:txBody>
          <a:bodyPr wrap="square" lIns="0" tIns="0" rIns="0" bIns="0" rtlCol="0" anchor="ctr"/>
          <a:lstStyle/>
          <a:p>
            <a:pPr algn="ctr" indent="0" marL="0">
              <a:buNone/>
            </a:pPr>
            <a:r>
              <a:rPr lang="en-US" sz="2000" dirty="0">
                <a:solidFill>
                  <a:srgbClr val="E2DED6"/>
                </a:solidFill>
                <a:latin typeface="Arial" pitchFamily="34" charset="0"/>
                <a:ea typeface="Arial" pitchFamily="34" charset="-122"/>
                <a:cs typeface="Arial" pitchFamily="34" charset="-120"/>
              </a:rPr>
              <a:t>◻</a:t>
            </a:r>
            <a:endParaRPr lang="en-US" sz="2000" dirty="0"/>
          </a:p>
        </p:txBody>
      </p:sp>
      <p:sp>
        <p:nvSpPr>
          <p:cNvPr id="6" name="Text 4"/>
          <p:cNvSpPr/>
          <p:nvPr/>
        </p:nvSpPr>
        <p:spPr>
          <a:xfrm>
            <a:off x="658368" y="2784348"/>
            <a:ext cx="3307994" cy="274320"/>
          </a:xfrm>
          <a:prstGeom prst="rect">
            <a:avLst/>
          </a:prstGeom>
          <a:noFill/>
          <a:ln/>
        </p:spPr>
        <p:txBody>
          <a:bodyPr wrap="square" lIns="0" tIns="0" rIns="0" bIns="0" rtlCol="0" anchor="ctr"/>
          <a:lstStyle/>
          <a:p>
            <a:pPr algn="ctr" indent="0" marL="0">
              <a:buNone/>
            </a:pPr>
            <a:r>
              <a:rPr lang="en-US" sz="1050" b="1" spc="150" kern="0" dirty="0">
                <a:solidFill>
                  <a:srgbClr val="5A3EE0"/>
                </a:solidFill>
                <a:latin typeface="Arial" pitchFamily="34" charset="0"/>
                <a:ea typeface="Arial" pitchFamily="34" charset="-122"/>
                <a:cs typeface="Arial" pitchFamily="34" charset="-120"/>
              </a:rPr>
              <a:t>HOME</a:t>
            </a:r>
            <a:endParaRPr lang="en-US" sz="1050" dirty="0"/>
          </a:p>
        </p:txBody>
      </p:sp>
      <p:sp>
        <p:nvSpPr>
          <p:cNvPr id="7" name="Text 5"/>
          <p:cNvSpPr/>
          <p:nvPr/>
        </p:nvSpPr>
        <p:spPr>
          <a:xfrm>
            <a:off x="566928" y="3794760"/>
            <a:ext cx="3490874" cy="256032"/>
          </a:xfrm>
          <a:prstGeom prst="rect">
            <a:avLst/>
          </a:prstGeom>
          <a:noFill/>
          <a:ln/>
        </p:spPr>
        <p:txBody>
          <a:bodyPr wrap="square" lIns="0" tIns="0" rIns="0" bIns="0" rtlCol="0" anchor="ctr"/>
          <a:lstStyle/>
          <a:p>
            <a:pPr algn="l" indent="0" marL="0">
              <a:buNone/>
            </a:pPr>
            <a:r>
              <a:rPr lang="en-US" sz="1000" dirty="0">
                <a:solidFill>
                  <a:srgbClr val="6B675F"/>
                </a:solidFill>
                <a:latin typeface="Arial" pitchFamily="34" charset="0"/>
                <a:ea typeface="Arial" pitchFamily="34" charset="-122"/>
                <a:cs typeface="Arial" pitchFamily="34" charset="-120"/>
              </a:rPr>
              <a:t>Value prop first, trending as a section</a:t>
            </a:r>
            <a:endParaRPr lang="en-US" sz="1000" dirty="0"/>
          </a:p>
        </p:txBody>
      </p:sp>
      <p:sp>
        <p:nvSpPr>
          <p:cNvPr id="8" name="Shape 6"/>
          <p:cNvSpPr/>
          <p:nvPr/>
        </p:nvSpPr>
        <p:spPr>
          <a:xfrm>
            <a:off x="4350410" y="1965960"/>
            <a:ext cx="3490874" cy="1783080"/>
          </a:xfrm>
          <a:prstGeom prst="roundRect">
            <a:avLst>
              <a:gd name="adj" fmla="val 2564"/>
            </a:avLst>
          </a:prstGeom>
          <a:solidFill>
            <a:srgbClr val="FBF9F5"/>
          </a:solidFill>
          <a:ln w="15875">
            <a:solidFill>
              <a:srgbClr val="CBC5B9"/>
            </a:solidFill>
            <a:prstDash val="dash"/>
          </a:ln>
        </p:spPr>
      </p:sp>
      <p:sp>
        <p:nvSpPr>
          <p:cNvPr id="9" name="Text 7"/>
          <p:cNvSpPr/>
          <p:nvPr/>
        </p:nvSpPr>
        <p:spPr>
          <a:xfrm>
            <a:off x="4350410" y="2354580"/>
            <a:ext cx="3490874" cy="457200"/>
          </a:xfrm>
          <a:prstGeom prst="rect">
            <a:avLst/>
          </a:prstGeom>
          <a:noFill/>
          <a:ln/>
        </p:spPr>
        <p:txBody>
          <a:bodyPr wrap="square" lIns="0" tIns="0" rIns="0" bIns="0" rtlCol="0" anchor="ctr"/>
          <a:lstStyle/>
          <a:p>
            <a:pPr algn="ctr" indent="0" marL="0">
              <a:buNone/>
            </a:pPr>
            <a:r>
              <a:rPr lang="en-US" sz="2000" dirty="0">
                <a:solidFill>
                  <a:srgbClr val="E2DED6"/>
                </a:solidFill>
                <a:latin typeface="Arial" pitchFamily="34" charset="0"/>
                <a:ea typeface="Arial" pitchFamily="34" charset="-122"/>
                <a:cs typeface="Arial" pitchFamily="34" charset="-120"/>
              </a:rPr>
              <a:t>◻</a:t>
            </a:r>
            <a:endParaRPr lang="en-US" sz="2000" dirty="0"/>
          </a:p>
        </p:txBody>
      </p:sp>
      <p:sp>
        <p:nvSpPr>
          <p:cNvPr id="10" name="Text 8"/>
          <p:cNvSpPr/>
          <p:nvPr/>
        </p:nvSpPr>
        <p:spPr>
          <a:xfrm>
            <a:off x="4441850" y="2784348"/>
            <a:ext cx="3307994" cy="274320"/>
          </a:xfrm>
          <a:prstGeom prst="rect">
            <a:avLst/>
          </a:prstGeom>
          <a:noFill/>
          <a:ln/>
        </p:spPr>
        <p:txBody>
          <a:bodyPr wrap="square" lIns="0" tIns="0" rIns="0" bIns="0" rtlCol="0" anchor="ctr"/>
          <a:lstStyle/>
          <a:p>
            <a:pPr algn="ctr" indent="0" marL="0">
              <a:buNone/>
            </a:pPr>
            <a:r>
              <a:rPr lang="en-US" sz="1050" b="1" spc="150" kern="0" dirty="0">
                <a:solidFill>
                  <a:srgbClr val="5A3EE0"/>
                </a:solidFill>
                <a:latin typeface="Arial" pitchFamily="34" charset="0"/>
                <a:ea typeface="Arial" pitchFamily="34" charset="-122"/>
                <a:cs typeface="Arial" pitchFamily="34" charset="-120"/>
              </a:rPr>
              <a:t>FOR BRANDS</a:t>
            </a:r>
            <a:endParaRPr lang="en-US" sz="1050" dirty="0"/>
          </a:p>
        </p:txBody>
      </p:sp>
      <p:sp>
        <p:nvSpPr>
          <p:cNvPr id="11" name="Text 9"/>
          <p:cNvSpPr/>
          <p:nvPr/>
        </p:nvSpPr>
        <p:spPr>
          <a:xfrm>
            <a:off x="4350410" y="3794760"/>
            <a:ext cx="3490874" cy="256032"/>
          </a:xfrm>
          <a:prstGeom prst="rect">
            <a:avLst/>
          </a:prstGeom>
          <a:noFill/>
          <a:ln/>
        </p:spPr>
        <p:txBody>
          <a:bodyPr wrap="square" lIns="0" tIns="0" rIns="0" bIns="0" rtlCol="0" anchor="ctr"/>
          <a:lstStyle/>
          <a:p>
            <a:pPr algn="l" indent="0" marL="0">
              <a:buNone/>
            </a:pPr>
            <a:r>
              <a:rPr lang="en-US" sz="1000" dirty="0">
                <a:solidFill>
                  <a:srgbClr val="6B675F"/>
                </a:solidFill>
                <a:latin typeface="Arial" pitchFamily="34" charset="0"/>
                <a:ea typeface="Arial" pitchFamily="34" charset="-122"/>
                <a:cs typeface="Arial" pitchFamily="34" charset="-120"/>
              </a:rPr>
              <a:t>Discover, compare, brief, report</a:t>
            </a:r>
            <a:endParaRPr lang="en-US" sz="1000" dirty="0"/>
          </a:p>
        </p:txBody>
      </p:sp>
      <p:sp>
        <p:nvSpPr>
          <p:cNvPr id="12" name="Shape 10"/>
          <p:cNvSpPr/>
          <p:nvPr/>
        </p:nvSpPr>
        <p:spPr>
          <a:xfrm>
            <a:off x="8133893" y="1965960"/>
            <a:ext cx="3490874" cy="1783080"/>
          </a:xfrm>
          <a:prstGeom prst="roundRect">
            <a:avLst>
              <a:gd name="adj" fmla="val 2564"/>
            </a:avLst>
          </a:prstGeom>
          <a:solidFill>
            <a:srgbClr val="FBF9F5"/>
          </a:solidFill>
          <a:ln w="15875">
            <a:solidFill>
              <a:srgbClr val="CBC5B9"/>
            </a:solidFill>
            <a:prstDash val="dash"/>
          </a:ln>
        </p:spPr>
      </p:sp>
      <p:sp>
        <p:nvSpPr>
          <p:cNvPr id="13" name="Text 11"/>
          <p:cNvSpPr/>
          <p:nvPr/>
        </p:nvSpPr>
        <p:spPr>
          <a:xfrm>
            <a:off x="8133893" y="2354580"/>
            <a:ext cx="3490874" cy="457200"/>
          </a:xfrm>
          <a:prstGeom prst="rect">
            <a:avLst/>
          </a:prstGeom>
          <a:noFill/>
          <a:ln/>
        </p:spPr>
        <p:txBody>
          <a:bodyPr wrap="square" lIns="0" tIns="0" rIns="0" bIns="0" rtlCol="0" anchor="ctr"/>
          <a:lstStyle/>
          <a:p>
            <a:pPr algn="ctr" indent="0" marL="0">
              <a:buNone/>
            </a:pPr>
            <a:r>
              <a:rPr lang="en-US" sz="2000" dirty="0">
                <a:solidFill>
                  <a:srgbClr val="E2DED6"/>
                </a:solidFill>
                <a:latin typeface="Arial" pitchFamily="34" charset="0"/>
                <a:ea typeface="Arial" pitchFamily="34" charset="-122"/>
                <a:cs typeface="Arial" pitchFamily="34" charset="-120"/>
              </a:rPr>
              <a:t>◻</a:t>
            </a:r>
            <a:endParaRPr lang="en-US" sz="2000" dirty="0"/>
          </a:p>
        </p:txBody>
      </p:sp>
      <p:sp>
        <p:nvSpPr>
          <p:cNvPr id="14" name="Text 12"/>
          <p:cNvSpPr/>
          <p:nvPr/>
        </p:nvSpPr>
        <p:spPr>
          <a:xfrm>
            <a:off x="8225333" y="2784348"/>
            <a:ext cx="3307994" cy="274320"/>
          </a:xfrm>
          <a:prstGeom prst="rect">
            <a:avLst/>
          </a:prstGeom>
          <a:noFill/>
          <a:ln/>
        </p:spPr>
        <p:txBody>
          <a:bodyPr wrap="square" lIns="0" tIns="0" rIns="0" bIns="0" rtlCol="0" anchor="ctr"/>
          <a:lstStyle/>
          <a:p>
            <a:pPr algn="ctr" indent="0" marL="0">
              <a:buNone/>
            </a:pPr>
            <a:r>
              <a:rPr lang="en-US" sz="1050" b="1" spc="150" kern="0" dirty="0">
                <a:solidFill>
                  <a:srgbClr val="5A3EE0"/>
                </a:solidFill>
                <a:latin typeface="Arial" pitchFamily="34" charset="0"/>
                <a:ea typeface="Arial" pitchFamily="34" charset="-122"/>
                <a:cs typeface="Arial" pitchFamily="34" charset="-120"/>
              </a:rPr>
              <a:t>FOR CREATORS</a:t>
            </a:r>
            <a:endParaRPr lang="en-US" sz="1050" dirty="0"/>
          </a:p>
        </p:txBody>
      </p:sp>
      <p:sp>
        <p:nvSpPr>
          <p:cNvPr id="15" name="Text 13"/>
          <p:cNvSpPr/>
          <p:nvPr/>
        </p:nvSpPr>
        <p:spPr>
          <a:xfrm>
            <a:off x="8133893" y="3794760"/>
            <a:ext cx="3490874" cy="256032"/>
          </a:xfrm>
          <a:prstGeom prst="rect">
            <a:avLst/>
          </a:prstGeom>
          <a:noFill/>
          <a:ln/>
        </p:spPr>
        <p:txBody>
          <a:bodyPr wrap="square" lIns="0" tIns="0" rIns="0" bIns="0" rtlCol="0" anchor="ctr"/>
          <a:lstStyle/>
          <a:p>
            <a:pPr algn="l" indent="0" marL="0">
              <a:buNone/>
            </a:pPr>
            <a:r>
              <a:rPr lang="en-US" sz="1000" dirty="0">
                <a:solidFill>
                  <a:srgbClr val="6B675F"/>
                </a:solidFill>
                <a:latin typeface="Arial" pitchFamily="34" charset="0"/>
                <a:ea typeface="Arial" pitchFamily="34" charset="-122"/>
                <a:cs typeface="Arial" pitchFamily="34" charset="-120"/>
              </a:rPr>
              <a:t>Verified stats, rate card, deals</a:t>
            </a:r>
            <a:endParaRPr lang="en-US" sz="1000" dirty="0"/>
          </a:p>
        </p:txBody>
      </p:sp>
      <p:sp>
        <p:nvSpPr>
          <p:cNvPr id="16" name="Shape 14"/>
          <p:cNvSpPr/>
          <p:nvPr/>
        </p:nvSpPr>
        <p:spPr>
          <a:xfrm>
            <a:off x="566928" y="4315968"/>
            <a:ext cx="3490874" cy="1783080"/>
          </a:xfrm>
          <a:prstGeom prst="roundRect">
            <a:avLst>
              <a:gd name="adj" fmla="val 2564"/>
            </a:avLst>
          </a:prstGeom>
          <a:solidFill>
            <a:srgbClr val="FBF9F5"/>
          </a:solidFill>
          <a:ln w="15875">
            <a:solidFill>
              <a:srgbClr val="CBC5B9"/>
            </a:solidFill>
            <a:prstDash val="dash"/>
          </a:ln>
        </p:spPr>
      </p:sp>
      <p:sp>
        <p:nvSpPr>
          <p:cNvPr id="17" name="Text 15"/>
          <p:cNvSpPr/>
          <p:nvPr/>
        </p:nvSpPr>
        <p:spPr>
          <a:xfrm>
            <a:off x="566928" y="4704588"/>
            <a:ext cx="3490874" cy="457200"/>
          </a:xfrm>
          <a:prstGeom prst="rect">
            <a:avLst/>
          </a:prstGeom>
          <a:noFill/>
          <a:ln/>
        </p:spPr>
        <p:txBody>
          <a:bodyPr wrap="square" lIns="0" tIns="0" rIns="0" bIns="0" rtlCol="0" anchor="ctr"/>
          <a:lstStyle/>
          <a:p>
            <a:pPr algn="ctr" indent="0" marL="0">
              <a:buNone/>
            </a:pPr>
            <a:r>
              <a:rPr lang="en-US" sz="2000" dirty="0">
                <a:solidFill>
                  <a:srgbClr val="E2DED6"/>
                </a:solidFill>
                <a:latin typeface="Arial" pitchFamily="34" charset="0"/>
                <a:ea typeface="Arial" pitchFamily="34" charset="-122"/>
                <a:cs typeface="Arial" pitchFamily="34" charset="-120"/>
              </a:rPr>
              <a:t>◻</a:t>
            </a:r>
            <a:endParaRPr lang="en-US" sz="2000" dirty="0"/>
          </a:p>
        </p:txBody>
      </p:sp>
      <p:sp>
        <p:nvSpPr>
          <p:cNvPr id="18" name="Text 16"/>
          <p:cNvSpPr/>
          <p:nvPr/>
        </p:nvSpPr>
        <p:spPr>
          <a:xfrm>
            <a:off x="658368" y="5134356"/>
            <a:ext cx="3307994" cy="274320"/>
          </a:xfrm>
          <a:prstGeom prst="rect">
            <a:avLst/>
          </a:prstGeom>
          <a:noFill/>
          <a:ln/>
        </p:spPr>
        <p:txBody>
          <a:bodyPr wrap="square" lIns="0" tIns="0" rIns="0" bIns="0" rtlCol="0" anchor="ctr"/>
          <a:lstStyle/>
          <a:p>
            <a:pPr algn="ctr" indent="0" marL="0">
              <a:buNone/>
            </a:pPr>
            <a:r>
              <a:rPr lang="en-US" sz="1050" b="1" spc="150" kern="0" dirty="0">
                <a:solidFill>
                  <a:srgbClr val="5A3EE0"/>
                </a:solidFill>
                <a:latin typeface="Arial" pitchFamily="34" charset="0"/>
                <a:ea typeface="Arial" pitchFamily="34" charset="-122"/>
                <a:cs typeface="Arial" pitchFamily="34" charset="-120"/>
              </a:rPr>
              <a:t>CREATOR DIRECTORY</a:t>
            </a:r>
            <a:endParaRPr lang="en-US" sz="1050" dirty="0"/>
          </a:p>
        </p:txBody>
      </p:sp>
      <p:sp>
        <p:nvSpPr>
          <p:cNvPr id="19" name="Text 17"/>
          <p:cNvSpPr/>
          <p:nvPr/>
        </p:nvSpPr>
        <p:spPr>
          <a:xfrm>
            <a:off x="566928" y="6144768"/>
            <a:ext cx="3490874" cy="256032"/>
          </a:xfrm>
          <a:prstGeom prst="rect">
            <a:avLst/>
          </a:prstGeom>
          <a:noFill/>
          <a:ln/>
        </p:spPr>
        <p:txBody>
          <a:bodyPr wrap="square" lIns="0" tIns="0" rIns="0" bIns="0" rtlCol="0" anchor="ctr"/>
          <a:lstStyle/>
          <a:p>
            <a:pPr algn="l" indent="0" marL="0">
              <a:buNone/>
            </a:pPr>
            <a:r>
              <a:rPr lang="en-US" sz="1000" dirty="0">
                <a:solidFill>
                  <a:srgbClr val="6B675F"/>
                </a:solidFill>
                <a:latin typeface="Arial" pitchFamily="34" charset="0"/>
                <a:ea typeface="Arial" pitchFamily="34" charset="-122"/>
                <a:cs typeface="Arial" pitchFamily="34" charset="-120"/>
              </a:rPr>
              <a:t>Local filters, trust indicators</a:t>
            </a:r>
            <a:endParaRPr lang="en-US" sz="1000" dirty="0"/>
          </a:p>
        </p:txBody>
      </p:sp>
      <p:sp>
        <p:nvSpPr>
          <p:cNvPr id="20" name="Shape 18"/>
          <p:cNvSpPr/>
          <p:nvPr/>
        </p:nvSpPr>
        <p:spPr>
          <a:xfrm>
            <a:off x="4350410" y="4315968"/>
            <a:ext cx="3490874" cy="1783080"/>
          </a:xfrm>
          <a:prstGeom prst="roundRect">
            <a:avLst>
              <a:gd name="adj" fmla="val 2564"/>
            </a:avLst>
          </a:prstGeom>
          <a:solidFill>
            <a:srgbClr val="FBF9F5"/>
          </a:solidFill>
          <a:ln w="15875">
            <a:solidFill>
              <a:srgbClr val="CBC5B9"/>
            </a:solidFill>
            <a:prstDash val="dash"/>
          </a:ln>
        </p:spPr>
      </p:sp>
      <p:sp>
        <p:nvSpPr>
          <p:cNvPr id="21" name="Text 19"/>
          <p:cNvSpPr/>
          <p:nvPr/>
        </p:nvSpPr>
        <p:spPr>
          <a:xfrm>
            <a:off x="4350410" y="4704588"/>
            <a:ext cx="3490874" cy="457200"/>
          </a:xfrm>
          <a:prstGeom prst="rect">
            <a:avLst/>
          </a:prstGeom>
          <a:noFill/>
          <a:ln/>
        </p:spPr>
        <p:txBody>
          <a:bodyPr wrap="square" lIns="0" tIns="0" rIns="0" bIns="0" rtlCol="0" anchor="ctr"/>
          <a:lstStyle/>
          <a:p>
            <a:pPr algn="ctr" indent="0" marL="0">
              <a:buNone/>
            </a:pPr>
            <a:r>
              <a:rPr lang="en-US" sz="2000" dirty="0">
                <a:solidFill>
                  <a:srgbClr val="E2DED6"/>
                </a:solidFill>
                <a:latin typeface="Arial" pitchFamily="34" charset="0"/>
                <a:ea typeface="Arial" pitchFamily="34" charset="-122"/>
                <a:cs typeface="Arial" pitchFamily="34" charset="-120"/>
              </a:rPr>
              <a:t>◻</a:t>
            </a:r>
            <a:endParaRPr lang="en-US" sz="2000" dirty="0"/>
          </a:p>
        </p:txBody>
      </p:sp>
      <p:sp>
        <p:nvSpPr>
          <p:cNvPr id="22" name="Text 20"/>
          <p:cNvSpPr/>
          <p:nvPr/>
        </p:nvSpPr>
        <p:spPr>
          <a:xfrm>
            <a:off x="4441850" y="5134356"/>
            <a:ext cx="3307994" cy="274320"/>
          </a:xfrm>
          <a:prstGeom prst="rect">
            <a:avLst/>
          </a:prstGeom>
          <a:noFill/>
          <a:ln/>
        </p:spPr>
        <p:txBody>
          <a:bodyPr wrap="square" lIns="0" tIns="0" rIns="0" bIns="0" rtlCol="0" anchor="ctr"/>
          <a:lstStyle/>
          <a:p>
            <a:pPr algn="ctr" indent="0" marL="0">
              <a:buNone/>
            </a:pPr>
            <a:r>
              <a:rPr lang="en-US" sz="1050" b="1" spc="150" kern="0" dirty="0">
                <a:solidFill>
                  <a:srgbClr val="5A3EE0"/>
                </a:solidFill>
                <a:latin typeface="Arial" pitchFamily="34" charset="0"/>
                <a:ea typeface="Arial" pitchFamily="34" charset="-122"/>
                <a:cs typeface="Arial" pitchFamily="34" charset="-120"/>
              </a:rPr>
              <a:t>CREATOR PROFILE</a:t>
            </a:r>
            <a:endParaRPr lang="en-US" sz="1050" dirty="0"/>
          </a:p>
        </p:txBody>
      </p:sp>
      <p:sp>
        <p:nvSpPr>
          <p:cNvPr id="23" name="Text 21"/>
          <p:cNvSpPr/>
          <p:nvPr/>
        </p:nvSpPr>
        <p:spPr>
          <a:xfrm>
            <a:off x="4350410" y="6144768"/>
            <a:ext cx="3490874" cy="256032"/>
          </a:xfrm>
          <a:prstGeom prst="rect">
            <a:avLst/>
          </a:prstGeom>
          <a:noFill/>
          <a:ln/>
        </p:spPr>
        <p:txBody>
          <a:bodyPr wrap="square" lIns="0" tIns="0" rIns="0" bIns="0" rtlCol="0" anchor="ctr"/>
          <a:lstStyle/>
          <a:p>
            <a:pPr algn="l" indent="0" marL="0">
              <a:buNone/>
            </a:pPr>
            <a:r>
              <a:rPr lang="en-US" sz="1000" dirty="0">
                <a:solidFill>
                  <a:srgbClr val="6B675F"/>
                </a:solidFill>
                <a:latin typeface="Arial" pitchFamily="34" charset="0"/>
                <a:ea typeface="Arial" pitchFamily="34" charset="-122"/>
                <a:cs typeface="Arial" pitchFamily="34" charset="-120"/>
              </a:rPr>
              <a:t>Performance + rate, sample data</a:t>
            </a:r>
            <a:endParaRPr lang="en-US" sz="1000" dirty="0"/>
          </a:p>
        </p:txBody>
      </p:sp>
      <p:sp>
        <p:nvSpPr>
          <p:cNvPr id="24" name="Shape 22"/>
          <p:cNvSpPr/>
          <p:nvPr/>
        </p:nvSpPr>
        <p:spPr>
          <a:xfrm>
            <a:off x="8133893" y="4315968"/>
            <a:ext cx="3490874" cy="1783080"/>
          </a:xfrm>
          <a:prstGeom prst="roundRect">
            <a:avLst>
              <a:gd name="adj" fmla="val 2564"/>
            </a:avLst>
          </a:prstGeom>
          <a:solidFill>
            <a:srgbClr val="FBF9F5"/>
          </a:solidFill>
          <a:ln w="15875">
            <a:solidFill>
              <a:srgbClr val="CBC5B9"/>
            </a:solidFill>
            <a:prstDash val="dash"/>
          </a:ln>
        </p:spPr>
      </p:sp>
      <p:sp>
        <p:nvSpPr>
          <p:cNvPr id="25" name="Text 23"/>
          <p:cNvSpPr/>
          <p:nvPr/>
        </p:nvSpPr>
        <p:spPr>
          <a:xfrm>
            <a:off x="8133893" y="4704588"/>
            <a:ext cx="3490874" cy="457200"/>
          </a:xfrm>
          <a:prstGeom prst="rect">
            <a:avLst/>
          </a:prstGeom>
          <a:noFill/>
          <a:ln/>
        </p:spPr>
        <p:txBody>
          <a:bodyPr wrap="square" lIns="0" tIns="0" rIns="0" bIns="0" rtlCol="0" anchor="ctr"/>
          <a:lstStyle/>
          <a:p>
            <a:pPr algn="ctr" indent="0" marL="0">
              <a:buNone/>
            </a:pPr>
            <a:r>
              <a:rPr lang="en-US" sz="2000" dirty="0">
                <a:solidFill>
                  <a:srgbClr val="E2DED6"/>
                </a:solidFill>
                <a:latin typeface="Arial" pitchFamily="34" charset="0"/>
                <a:ea typeface="Arial" pitchFamily="34" charset="-122"/>
                <a:cs typeface="Arial" pitchFamily="34" charset="-120"/>
              </a:rPr>
              <a:t>◻</a:t>
            </a:r>
            <a:endParaRPr lang="en-US" sz="2000" dirty="0"/>
          </a:p>
        </p:txBody>
      </p:sp>
      <p:sp>
        <p:nvSpPr>
          <p:cNvPr id="26" name="Text 24"/>
          <p:cNvSpPr/>
          <p:nvPr/>
        </p:nvSpPr>
        <p:spPr>
          <a:xfrm>
            <a:off x="8225333" y="5134356"/>
            <a:ext cx="3307994" cy="274320"/>
          </a:xfrm>
          <a:prstGeom prst="rect">
            <a:avLst/>
          </a:prstGeom>
          <a:noFill/>
          <a:ln/>
        </p:spPr>
        <p:txBody>
          <a:bodyPr wrap="square" lIns="0" tIns="0" rIns="0" bIns="0" rtlCol="0" anchor="ctr"/>
          <a:lstStyle/>
          <a:p>
            <a:pPr algn="ctr" indent="0" marL="0">
              <a:buNone/>
            </a:pPr>
            <a:r>
              <a:rPr lang="en-US" sz="1050" b="1" spc="150" kern="0" dirty="0">
                <a:solidFill>
                  <a:srgbClr val="5A3EE0"/>
                </a:solidFill>
                <a:latin typeface="Arial" pitchFamily="34" charset="0"/>
                <a:ea typeface="Arial" pitchFamily="34" charset="-122"/>
                <a:cs typeface="Arial" pitchFamily="34" charset="-120"/>
              </a:rPr>
              <a:t>PRICING + TRUST CHECK</a:t>
            </a:r>
            <a:endParaRPr lang="en-US" sz="1050" dirty="0"/>
          </a:p>
        </p:txBody>
      </p:sp>
      <p:sp>
        <p:nvSpPr>
          <p:cNvPr id="27" name="Text 25"/>
          <p:cNvSpPr/>
          <p:nvPr/>
        </p:nvSpPr>
        <p:spPr>
          <a:xfrm>
            <a:off x="8133893" y="6144768"/>
            <a:ext cx="3490874" cy="256032"/>
          </a:xfrm>
          <a:prstGeom prst="rect">
            <a:avLst/>
          </a:prstGeom>
          <a:noFill/>
          <a:ln/>
        </p:spPr>
        <p:txBody>
          <a:bodyPr wrap="square" lIns="0" tIns="0" rIns="0" bIns="0" rtlCol="0" anchor="ctr"/>
          <a:lstStyle/>
          <a:p>
            <a:pPr algn="l" indent="0" marL="0">
              <a:buNone/>
            </a:pPr>
            <a:r>
              <a:rPr lang="en-US" sz="1000" dirty="0">
                <a:solidFill>
                  <a:srgbClr val="6B675F"/>
                </a:solidFill>
                <a:latin typeface="Arial" pitchFamily="34" charset="0"/>
                <a:ea typeface="Arial" pitchFamily="34" charset="-122"/>
                <a:cs typeface="Arial" pitchFamily="34" charset="-120"/>
              </a:rPr>
              <a:t>One price set; BETA labeled honestly</a:t>
            </a:r>
            <a:endParaRPr lang="en-US" sz="1000" dirty="0"/>
          </a:p>
        </p:txBody>
      </p:sp>
      <p:sp>
        <p:nvSpPr>
          <p:cNvPr id="28" name="Text 26"/>
          <p:cNvSpPr/>
          <p:nvPr/>
        </p:nvSpPr>
        <p:spPr>
          <a:xfrm>
            <a:off x="8351215" y="6382512"/>
            <a:ext cx="3273552" cy="274320"/>
          </a:xfrm>
          <a:prstGeom prst="rect">
            <a:avLst/>
          </a:prstGeom>
          <a:noFill/>
          <a:ln/>
        </p:spPr>
        <p:txBody>
          <a:bodyPr wrap="square" lIns="0" tIns="0" rIns="0" bIns="0" rtlCol="0" anchor="ctr"/>
          <a:lstStyle/>
          <a:p>
            <a:pPr algn="r" indent="0" marL="0">
              <a:buNone/>
            </a:pPr>
            <a:r>
              <a:rPr lang="en-US" sz="950" b="1" spc="100" kern="0" dirty="0">
                <a:solidFill>
                  <a:srgbClr val="9A968C"/>
                </a:solidFill>
                <a:latin typeface="Arial" pitchFamily="34" charset="0"/>
                <a:ea typeface="Arial" pitchFamily="34" charset="-122"/>
                <a:cs typeface="Arial" pitchFamily="34" charset="-120"/>
              </a:rPr>
              <a:t>INFLUENCEES</a:t>
            </a:r>
            <a:pPr algn="r" indent="0" marL="0">
              <a:buNone/>
            </a:pPr>
            <a:r>
              <a:rPr lang="en-US" sz="950" b="1" spc="100" kern="0" dirty="0">
                <a:solidFill>
                  <a:srgbClr val="6B675F"/>
                </a:solidFill>
                <a:latin typeface="Arial" pitchFamily="34" charset="0"/>
                <a:ea typeface="Arial" pitchFamily="34" charset="-122"/>
                <a:cs typeface="Arial" pitchFamily="34" charset="-120"/>
              </a:rPr>
              <a:t>   08 / 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566928" y="457200"/>
            <a:ext cx="8229600" cy="274320"/>
          </a:xfrm>
          <a:prstGeom prst="rect">
            <a:avLst/>
          </a:prstGeom>
          <a:noFill/>
          <a:ln/>
        </p:spPr>
        <p:txBody>
          <a:bodyPr wrap="square" lIns="0" tIns="0" rIns="0" bIns="0" rtlCol="0" anchor="ctr"/>
          <a:lstStyle/>
          <a:p>
            <a:pPr algn="l" indent="0" marL="0">
              <a:buNone/>
            </a:pPr>
            <a:r>
              <a:rPr lang="en-US" sz="1150" b="1" spc="250" kern="0" dirty="0">
                <a:solidFill>
                  <a:srgbClr val="5A3EE0"/>
                </a:solidFill>
                <a:latin typeface="Arial" pitchFamily="34" charset="0"/>
                <a:ea typeface="Arial" pitchFamily="34" charset="-122"/>
                <a:cs typeface="Arial" pitchFamily="34" charset="-120"/>
              </a:rPr>
              <a:t>SOLUTION 02  ·  WHY IT WORKS</a:t>
            </a:r>
            <a:endParaRPr lang="en-US" sz="1150" dirty="0"/>
          </a:p>
        </p:txBody>
      </p:sp>
      <p:sp>
        <p:nvSpPr>
          <p:cNvPr id="3" name="Text 1"/>
          <p:cNvSpPr/>
          <p:nvPr/>
        </p:nvSpPr>
        <p:spPr>
          <a:xfrm>
            <a:off x="566928" y="822960"/>
            <a:ext cx="10607040" cy="822960"/>
          </a:xfrm>
          <a:prstGeom prst="rect">
            <a:avLst/>
          </a:prstGeom>
          <a:noFill/>
          <a:ln/>
        </p:spPr>
        <p:txBody>
          <a:bodyPr wrap="square" lIns="0" tIns="0" rIns="0" bIns="0" rtlCol="0" anchor="t"/>
          <a:lstStyle/>
          <a:p>
            <a:pPr algn="l" indent="0" marL="0">
              <a:lnSpc>
                <a:spcPct val="102000"/>
              </a:lnSpc>
              <a:buNone/>
            </a:pPr>
            <a:r>
              <a:rPr lang="en-US" sz="2700" b="1" dirty="0">
                <a:solidFill>
                  <a:srgbClr val="0D0C0A"/>
                </a:solidFill>
                <a:latin typeface="Arial" pitchFamily="34" charset="0"/>
                <a:ea typeface="Arial" pitchFamily="34" charset="-122"/>
                <a:cs typeface="Arial" pitchFamily="34" charset="-120"/>
              </a:rPr>
              <a:t>The redesign fixes the journey, not just the paint.</a:t>
            </a:r>
            <a:endParaRPr lang="en-US" sz="2700" dirty="0"/>
          </a:p>
        </p:txBody>
      </p:sp>
      <p:sp>
        <p:nvSpPr>
          <p:cNvPr id="4" name="Shape 2"/>
          <p:cNvSpPr/>
          <p:nvPr/>
        </p:nvSpPr>
        <p:spPr>
          <a:xfrm>
            <a:off x="566928" y="2011680"/>
            <a:ext cx="3490874" cy="1783080"/>
          </a:xfrm>
          <a:prstGeom prst="roundRect">
            <a:avLst>
              <a:gd name="adj" fmla="val 2308"/>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5" name="Text 3"/>
          <p:cNvSpPr/>
          <p:nvPr/>
        </p:nvSpPr>
        <p:spPr>
          <a:xfrm>
            <a:off x="822960" y="2249424"/>
            <a:ext cx="365760" cy="365760"/>
          </a:xfrm>
          <a:prstGeom prst="ellipse">
            <a:avLst/>
          </a:prstGeom>
          <a:solidFill>
            <a:srgbClr val="1F9D57"/>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6" name="Text 4"/>
          <p:cNvSpPr/>
          <p:nvPr/>
        </p:nvSpPr>
        <p:spPr>
          <a:xfrm>
            <a:off x="822960" y="2724912"/>
            <a:ext cx="2978810" cy="502920"/>
          </a:xfrm>
          <a:prstGeom prst="rect">
            <a:avLst/>
          </a:prstGeom>
          <a:noFill/>
          <a:ln/>
        </p:spPr>
        <p:txBody>
          <a:bodyPr wrap="square" lIns="0" tIns="0" rIns="0" bIns="0" rtlCol="0" anchor="ctr"/>
          <a:lstStyle/>
          <a:p>
            <a:pPr indent="0" marL="0">
              <a:lnSpc>
                <a:spcPct val="105000"/>
              </a:lnSpc>
              <a:buNone/>
            </a:pPr>
            <a:r>
              <a:rPr lang="en-US" sz="1400" b="1" dirty="0">
                <a:solidFill>
                  <a:srgbClr val="0D0C0A"/>
                </a:solidFill>
                <a:latin typeface="Arial" pitchFamily="34" charset="0"/>
                <a:ea typeface="Arial" pitchFamily="34" charset="-122"/>
                <a:cs typeface="Arial" pitchFamily="34" charset="-120"/>
              </a:rPr>
              <a:t>One canonical price set</a:t>
            </a:r>
            <a:endParaRPr lang="en-US" sz="1400" dirty="0"/>
          </a:p>
        </p:txBody>
      </p:sp>
      <p:sp>
        <p:nvSpPr>
          <p:cNvPr id="7" name="Text 5"/>
          <p:cNvSpPr/>
          <p:nvPr/>
        </p:nvSpPr>
        <p:spPr>
          <a:xfrm>
            <a:off x="822960" y="3182112"/>
            <a:ext cx="2978810" cy="548640"/>
          </a:xfrm>
          <a:prstGeom prst="rect">
            <a:avLst/>
          </a:prstGeom>
          <a:noFill/>
          <a:ln/>
        </p:spPr>
        <p:txBody>
          <a:bodyPr wrap="square" lIns="0" tIns="0" rIns="0" bIns="0" rtlCol="0" anchor="ctr"/>
          <a:lstStyle/>
          <a:p>
            <a:pPr indent="0" marL="0">
              <a:lnSpc>
                <a:spcPct val="118000"/>
              </a:lnSpc>
              <a:buNone/>
            </a:pPr>
            <a:r>
              <a:rPr lang="en-US" sz="1050" dirty="0">
                <a:solidFill>
                  <a:srgbClr val="6B675F"/>
                </a:solidFill>
                <a:latin typeface="Arial" pitchFamily="34" charset="0"/>
                <a:ea typeface="Arial" pitchFamily="34" charset="-122"/>
                <a:cs typeface="Arial" pitchFamily="34" charset="-120"/>
              </a:rPr>
              <a:t>$49 / $119 / $249 for brands, Free / $16 for creators, the same everywhere.</a:t>
            </a:r>
            <a:endParaRPr lang="en-US" sz="1050" dirty="0"/>
          </a:p>
        </p:txBody>
      </p:sp>
      <p:sp>
        <p:nvSpPr>
          <p:cNvPr id="8" name="Shape 6"/>
          <p:cNvSpPr/>
          <p:nvPr/>
        </p:nvSpPr>
        <p:spPr>
          <a:xfrm>
            <a:off x="4350410" y="2011680"/>
            <a:ext cx="3490874" cy="1783080"/>
          </a:xfrm>
          <a:prstGeom prst="roundRect">
            <a:avLst>
              <a:gd name="adj" fmla="val 2308"/>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9" name="Text 7"/>
          <p:cNvSpPr/>
          <p:nvPr/>
        </p:nvSpPr>
        <p:spPr>
          <a:xfrm>
            <a:off x="4606442" y="2249424"/>
            <a:ext cx="365760" cy="365760"/>
          </a:xfrm>
          <a:prstGeom prst="ellipse">
            <a:avLst/>
          </a:prstGeom>
          <a:solidFill>
            <a:srgbClr val="1F9D57"/>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0" name="Text 8"/>
          <p:cNvSpPr/>
          <p:nvPr/>
        </p:nvSpPr>
        <p:spPr>
          <a:xfrm>
            <a:off x="4606442" y="2724912"/>
            <a:ext cx="2978810" cy="502920"/>
          </a:xfrm>
          <a:prstGeom prst="rect">
            <a:avLst/>
          </a:prstGeom>
          <a:noFill/>
          <a:ln/>
        </p:spPr>
        <p:txBody>
          <a:bodyPr wrap="square" lIns="0" tIns="0" rIns="0" bIns="0" rtlCol="0" anchor="ctr"/>
          <a:lstStyle/>
          <a:p>
            <a:pPr indent="0" marL="0">
              <a:lnSpc>
                <a:spcPct val="105000"/>
              </a:lnSpc>
              <a:buNone/>
            </a:pPr>
            <a:r>
              <a:rPr lang="en-US" sz="1400" b="1" dirty="0">
                <a:solidFill>
                  <a:srgbClr val="0D0C0A"/>
                </a:solidFill>
                <a:latin typeface="Arial" pitchFamily="34" charset="0"/>
                <a:ea typeface="Arial" pitchFamily="34" charset="-122"/>
                <a:cs typeface="Arial" pitchFamily="34" charset="-120"/>
              </a:rPr>
              <a:t>Honest feature labels</a:t>
            </a:r>
            <a:endParaRPr lang="en-US" sz="1400" dirty="0"/>
          </a:p>
        </p:txBody>
      </p:sp>
      <p:sp>
        <p:nvSpPr>
          <p:cNvPr id="11" name="Text 9"/>
          <p:cNvSpPr/>
          <p:nvPr/>
        </p:nvSpPr>
        <p:spPr>
          <a:xfrm>
            <a:off x="4606442" y="3182112"/>
            <a:ext cx="2978810" cy="548640"/>
          </a:xfrm>
          <a:prstGeom prst="rect">
            <a:avLst/>
          </a:prstGeom>
          <a:noFill/>
          <a:ln/>
        </p:spPr>
        <p:txBody>
          <a:bodyPr wrap="square" lIns="0" tIns="0" rIns="0" bIns="0" rtlCol="0" anchor="ctr"/>
          <a:lstStyle/>
          <a:p>
            <a:pPr indent="0" marL="0">
              <a:lnSpc>
                <a:spcPct val="118000"/>
              </a:lnSpc>
              <a:buNone/>
            </a:pPr>
            <a:r>
              <a:rPr lang="en-US" sz="1050" dirty="0">
                <a:solidFill>
                  <a:srgbClr val="6B675F"/>
                </a:solidFill>
                <a:latin typeface="Arial" pitchFamily="34" charset="0"/>
                <a:ea typeface="Arial" pitchFamily="34" charset="-122"/>
                <a:cs typeface="Arial" pitchFamily="34" charset="-120"/>
              </a:rPr>
              <a:t>LIVE / BETA / SOON on every feature, so trust is earned, not implied.</a:t>
            </a:r>
            <a:endParaRPr lang="en-US" sz="1050" dirty="0"/>
          </a:p>
        </p:txBody>
      </p:sp>
      <p:sp>
        <p:nvSpPr>
          <p:cNvPr id="12" name="Shape 10"/>
          <p:cNvSpPr/>
          <p:nvPr/>
        </p:nvSpPr>
        <p:spPr>
          <a:xfrm>
            <a:off x="8133893" y="2011680"/>
            <a:ext cx="3490874" cy="1783080"/>
          </a:xfrm>
          <a:prstGeom prst="roundRect">
            <a:avLst>
              <a:gd name="adj" fmla="val 2308"/>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13" name="Text 11"/>
          <p:cNvSpPr/>
          <p:nvPr/>
        </p:nvSpPr>
        <p:spPr>
          <a:xfrm>
            <a:off x="8389925" y="2249424"/>
            <a:ext cx="365760" cy="365760"/>
          </a:xfrm>
          <a:prstGeom prst="ellipse">
            <a:avLst/>
          </a:prstGeom>
          <a:solidFill>
            <a:srgbClr val="1F9D57"/>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4" name="Text 12"/>
          <p:cNvSpPr/>
          <p:nvPr/>
        </p:nvSpPr>
        <p:spPr>
          <a:xfrm>
            <a:off x="8389925" y="2724912"/>
            <a:ext cx="2978810" cy="502920"/>
          </a:xfrm>
          <a:prstGeom prst="rect">
            <a:avLst/>
          </a:prstGeom>
          <a:noFill/>
          <a:ln/>
        </p:spPr>
        <p:txBody>
          <a:bodyPr wrap="square" lIns="0" tIns="0" rIns="0" bIns="0" rtlCol="0" anchor="ctr"/>
          <a:lstStyle/>
          <a:p>
            <a:pPr indent="0" marL="0">
              <a:lnSpc>
                <a:spcPct val="105000"/>
              </a:lnSpc>
              <a:buNone/>
            </a:pPr>
            <a:r>
              <a:rPr lang="en-US" sz="1400" b="1" dirty="0">
                <a:solidFill>
                  <a:srgbClr val="0D0C0A"/>
                </a:solidFill>
                <a:latin typeface="Arial" pitchFamily="34" charset="0"/>
                <a:ea typeface="Arial" pitchFamily="34" charset="-122"/>
                <a:cs typeface="Arial" pitchFamily="34" charset="-120"/>
              </a:rPr>
              <a:t>Brand and creator paths split</a:t>
            </a:r>
            <a:endParaRPr lang="en-US" sz="1400" dirty="0"/>
          </a:p>
        </p:txBody>
      </p:sp>
      <p:sp>
        <p:nvSpPr>
          <p:cNvPr id="15" name="Text 13"/>
          <p:cNvSpPr/>
          <p:nvPr/>
        </p:nvSpPr>
        <p:spPr>
          <a:xfrm>
            <a:off x="8389925" y="3182112"/>
            <a:ext cx="2978810" cy="548640"/>
          </a:xfrm>
          <a:prstGeom prst="rect">
            <a:avLst/>
          </a:prstGeom>
          <a:noFill/>
          <a:ln/>
        </p:spPr>
        <p:txBody>
          <a:bodyPr wrap="square" lIns="0" tIns="0" rIns="0" bIns="0" rtlCol="0" anchor="ctr"/>
          <a:lstStyle/>
          <a:p>
            <a:pPr indent="0" marL="0">
              <a:lnSpc>
                <a:spcPct val="118000"/>
              </a:lnSpc>
              <a:buNone/>
            </a:pPr>
            <a:r>
              <a:rPr lang="en-US" sz="1050" dirty="0">
                <a:solidFill>
                  <a:srgbClr val="6B675F"/>
                </a:solidFill>
                <a:latin typeface="Arial" pitchFamily="34" charset="0"/>
                <a:ea typeface="Arial" pitchFamily="34" charset="-122"/>
                <a:cs typeface="Arial" pitchFamily="34" charset="-120"/>
              </a:rPr>
              <a:t>Each audience gets its own language and journey instead of one blurred pitch.</a:t>
            </a:r>
            <a:endParaRPr lang="en-US" sz="1050" dirty="0"/>
          </a:p>
        </p:txBody>
      </p:sp>
      <p:sp>
        <p:nvSpPr>
          <p:cNvPr id="16" name="Shape 14"/>
          <p:cNvSpPr/>
          <p:nvPr/>
        </p:nvSpPr>
        <p:spPr>
          <a:xfrm>
            <a:off x="566928" y="4087368"/>
            <a:ext cx="3490874" cy="1783080"/>
          </a:xfrm>
          <a:prstGeom prst="roundRect">
            <a:avLst>
              <a:gd name="adj" fmla="val 2308"/>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17" name="Text 15"/>
          <p:cNvSpPr/>
          <p:nvPr/>
        </p:nvSpPr>
        <p:spPr>
          <a:xfrm>
            <a:off x="822960" y="4325112"/>
            <a:ext cx="365760" cy="365760"/>
          </a:xfrm>
          <a:prstGeom prst="ellipse">
            <a:avLst/>
          </a:prstGeom>
          <a:solidFill>
            <a:srgbClr val="1F9D57"/>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8" name="Text 16"/>
          <p:cNvSpPr/>
          <p:nvPr/>
        </p:nvSpPr>
        <p:spPr>
          <a:xfrm>
            <a:off x="822960" y="4800600"/>
            <a:ext cx="2978810" cy="502920"/>
          </a:xfrm>
          <a:prstGeom prst="rect">
            <a:avLst/>
          </a:prstGeom>
          <a:noFill/>
          <a:ln/>
        </p:spPr>
        <p:txBody>
          <a:bodyPr wrap="square" lIns="0" tIns="0" rIns="0" bIns="0" rtlCol="0" anchor="ctr"/>
          <a:lstStyle/>
          <a:p>
            <a:pPr indent="0" marL="0">
              <a:lnSpc>
                <a:spcPct val="105000"/>
              </a:lnSpc>
              <a:buNone/>
            </a:pPr>
            <a:r>
              <a:rPr lang="en-US" sz="1400" b="1" dirty="0">
                <a:solidFill>
                  <a:srgbClr val="0D0C0A"/>
                </a:solidFill>
                <a:latin typeface="Arial" pitchFamily="34" charset="0"/>
                <a:ea typeface="Arial" pitchFamily="34" charset="-122"/>
                <a:cs typeface="Arial" pitchFamily="34" charset="-120"/>
              </a:rPr>
              <a:t>Value prop leads</a:t>
            </a:r>
            <a:endParaRPr lang="en-US" sz="1400" dirty="0"/>
          </a:p>
        </p:txBody>
      </p:sp>
      <p:sp>
        <p:nvSpPr>
          <p:cNvPr id="19" name="Text 17"/>
          <p:cNvSpPr/>
          <p:nvPr/>
        </p:nvSpPr>
        <p:spPr>
          <a:xfrm>
            <a:off x="822960" y="5257800"/>
            <a:ext cx="2978810" cy="548640"/>
          </a:xfrm>
          <a:prstGeom prst="rect">
            <a:avLst/>
          </a:prstGeom>
          <a:noFill/>
          <a:ln/>
        </p:spPr>
        <p:txBody>
          <a:bodyPr wrap="square" lIns="0" tIns="0" rIns="0" bIns="0" rtlCol="0" anchor="ctr"/>
          <a:lstStyle/>
          <a:p>
            <a:pPr indent="0" marL="0">
              <a:lnSpc>
                <a:spcPct val="118000"/>
              </a:lnSpc>
              <a:buNone/>
            </a:pPr>
            <a:r>
              <a:rPr lang="en-US" sz="1050" dirty="0">
                <a:solidFill>
                  <a:srgbClr val="6B675F"/>
                </a:solidFill>
                <a:latin typeface="Arial" pitchFamily="34" charset="0"/>
                <a:ea typeface="Arial" pitchFamily="34" charset="-122"/>
                <a:cs typeface="Arial" pitchFamily="34" charset="-120"/>
              </a:rPr>
              <a:t>The homepage sells first; the trending feed becomes a section, not the whole page.</a:t>
            </a:r>
            <a:endParaRPr lang="en-US" sz="1050" dirty="0"/>
          </a:p>
        </p:txBody>
      </p:sp>
      <p:sp>
        <p:nvSpPr>
          <p:cNvPr id="20" name="Shape 18"/>
          <p:cNvSpPr/>
          <p:nvPr/>
        </p:nvSpPr>
        <p:spPr>
          <a:xfrm>
            <a:off x="4350410" y="4087368"/>
            <a:ext cx="3490874" cy="1783080"/>
          </a:xfrm>
          <a:prstGeom prst="roundRect">
            <a:avLst>
              <a:gd name="adj" fmla="val 2308"/>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21" name="Text 19"/>
          <p:cNvSpPr/>
          <p:nvPr/>
        </p:nvSpPr>
        <p:spPr>
          <a:xfrm>
            <a:off x="4606442" y="4325112"/>
            <a:ext cx="365760" cy="365760"/>
          </a:xfrm>
          <a:prstGeom prst="ellipse">
            <a:avLst/>
          </a:prstGeom>
          <a:solidFill>
            <a:srgbClr val="1F9D57"/>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2" name="Text 20"/>
          <p:cNvSpPr/>
          <p:nvPr/>
        </p:nvSpPr>
        <p:spPr>
          <a:xfrm>
            <a:off x="4606442" y="4800600"/>
            <a:ext cx="2978810" cy="502920"/>
          </a:xfrm>
          <a:prstGeom prst="rect">
            <a:avLst/>
          </a:prstGeom>
          <a:noFill/>
          <a:ln/>
        </p:spPr>
        <p:txBody>
          <a:bodyPr wrap="square" lIns="0" tIns="0" rIns="0" bIns="0" rtlCol="0" anchor="ctr"/>
          <a:lstStyle/>
          <a:p>
            <a:pPr indent="0" marL="0">
              <a:lnSpc>
                <a:spcPct val="105000"/>
              </a:lnSpc>
              <a:buNone/>
            </a:pPr>
            <a:r>
              <a:rPr lang="en-US" sz="1400" b="1" dirty="0">
                <a:solidFill>
                  <a:srgbClr val="0D0C0A"/>
                </a:solidFill>
                <a:latin typeface="Arial" pitchFamily="34" charset="0"/>
                <a:ea typeface="Arial" pitchFamily="34" charset="-122"/>
                <a:cs typeface="Arial" pitchFamily="34" charset="-120"/>
              </a:rPr>
              <a:t>One design system</a:t>
            </a:r>
            <a:endParaRPr lang="en-US" sz="1400" dirty="0"/>
          </a:p>
        </p:txBody>
      </p:sp>
      <p:sp>
        <p:nvSpPr>
          <p:cNvPr id="23" name="Text 21"/>
          <p:cNvSpPr/>
          <p:nvPr/>
        </p:nvSpPr>
        <p:spPr>
          <a:xfrm>
            <a:off x="4606442" y="5257800"/>
            <a:ext cx="2978810" cy="548640"/>
          </a:xfrm>
          <a:prstGeom prst="rect">
            <a:avLst/>
          </a:prstGeom>
          <a:noFill/>
          <a:ln/>
        </p:spPr>
        <p:txBody>
          <a:bodyPr wrap="square" lIns="0" tIns="0" rIns="0" bIns="0" rtlCol="0" anchor="ctr"/>
          <a:lstStyle/>
          <a:p>
            <a:pPr indent="0" marL="0">
              <a:lnSpc>
                <a:spcPct val="118000"/>
              </a:lnSpc>
              <a:buNone/>
            </a:pPr>
            <a:r>
              <a:rPr lang="en-US" sz="1050" dirty="0">
                <a:solidFill>
                  <a:srgbClr val="6B675F"/>
                </a:solidFill>
                <a:latin typeface="Arial" pitchFamily="34" charset="0"/>
                <a:ea typeface="Arial" pitchFamily="34" charset="-122"/>
                <a:cs typeface="Arial" pitchFamily="34" charset="-120"/>
              </a:rPr>
              <a:t>Shared type, spacing, cards and status chips. It reads deliberate, not vibe-coded.</a:t>
            </a:r>
            <a:endParaRPr lang="en-US" sz="1050" dirty="0"/>
          </a:p>
        </p:txBody>
      </p:sp>
      <p:sp>
        <p:nvSpPr>
          <p:cNvPr id="24" name="Shape 22"/>
          <p:cNvSpPr/>
          <p:nvPr/>
        </p:nvSpPr>
        <p:spPr>
          <a:xfrm>
            <a:off x="8133893" y="4087368"/>
            <a:ext cx="3490874" cy="1783080"/>
          </a:xfrm>
          <a:prstGeom prst="roundRect">
            <a:avLst>
              <a:gd name="adj" fmla="val 2308"/>
            </a:avLst>
          </a:prstGeom>
          <a:solidFill>
            <a:srgbClr val="FFFFFF"/>
          </a:solidFill>
          <a:ln w="12700">
            <a:solidFill>
              <a:srgbClr val="E2DED6"/>
            </a:solidFill>
            <a:prstDash val="solid"/>
          </a:ln>
          <a:effectLst>
            <a:outerShdw sx="100000" sy="100000" kx="0" ky="0" algn="bl" rotWithShape="0" blurRad="76200" dist="25400" dir="5400000">
              <a:srgbClr val="C9C4BA">
                <a:alpha val="55000"/>
              </a:srgbClr>
            </a:outerShdw>
          </a:effectLst>
        </p:spPr>
      </p:sp>
      <p:sp>
        <p:nvSpPr>
          <p:cNvPr id="25" name="Text 23"/>
          <p:cNvSpPr/>
          <p:nvPr/>
        </p:nvSpPr>
        <p:spPr>
          <a:xfrm>
            <a:off x="8389925" y="4325112"/>
            <a:ext cx="365760" cy="365760"/>
          </a:xfrm>
          <a:prstGeom prst="ellipse">
            <a:avLst/>
          </a:prstGeom>
          <a:solidFill>
            <a:srgbClr val="1F9D57"/>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6" name="Text 24"/>
          <p:cNvSpPr/>
          <p:nvPr/>
        </p:nvSpPr>
        <p:spPr>
          <a:xfrm>
            <a:off x="8389925" y="4800600"/>
            <a:ext cx="2978810" cy="502920"/>
          </a:xfrm>
          <a:prstGeom prst="rect">
            <a:avLst/>
          </a:prstGeom>
          <a:noFill/>
          <a:ln/>
        </p:spPr>
        <p:txBody>
          <a:bodyPr wrap="square" lIns="0" tIns="0" rIns="0" bIns="0" rtlCol="0" anchor="ctr"/>
          <a:lstStyle/>
          <a:p>
            <a:pPr indent="0" marL="0">
              <a:lnSpc>
                <a:spcPct val="105000"/>
              </a:lnSpc>
              <a:buNone/>
            </a:pPr>
            <a:r>
              <a:rPr lang="en-US" sz="1400" b="1" dirty="0">
                <a:solidFill>
                  <a:srgbClr val="0D0C0A"/>
                </a:solidFill>
                <a:latin typeface="Arial" pitchFamily="34" charset="0"/>
                <a:ea typeface="Arial" pitchFamily="34" charset="-122"/>
                <a:cs typeface="Arial" pitchFamily="34" charset="-120"/>
              </a:rPr>
              <a:t>Responsive and static</a:t>
            </a:r>
            <a:endParaRPr lang="en-US" sz="1400" dirty="0"/>
          </a:p>
        </p:txBody>
      </p:sp>
      <p:sp>
        <p:nvSpPr>
          <p:cNvPr id="27" name="Text 25"/>
          <p:cNvSpPr/>
          <p:nvPr/>
        </p:nvSpPr>
        <p:spPr>
          <a:xfrm>
            <a:off x="8389925" y="5257800"/>
            <a:ext cx="2978810" cy="548640"/>
          </a:xfrm>
          <a:prstGeom prst="rect">
            <a:avLst/>
          </a:prstGeom>
          <a:noFill/>
          <a:ln/>
        </p:spPr>
        <p:txBody>
          <a:bodyPr wrap="square" lIns="0" tIns="0" rIns="0" bIns="0" rtlCol="0" anchor="ctr"/>
          <a:lstStyle/>
          <a:p>
            <a:pPr indent="0" marL="0">
              <a:lnSpc>
                <a:spcPct val="118000"/>
              </a:lnSpc>
              <a:buNone/>
            </a:pPr>
            <a:r>
              <a:rPr lang="en-US" sz="1050" dirty="0">
                <a:solidFill>
                  <a:srgbClr val="6B675F"/>
                </a:solidFill>
                <a:latin typeface="Arial" pitchFamily="34" charset="0"/>
                <a:ea typeface="Arial" pitchFamily="34" charset="-122"/>
                <a:cs typeface="Arial" pitchFamily="34" charset="-120"/>
              </a:rPr>
              <a:t>Works at 360, 768 and 1440, no backend, consistent sample data throughout.</a:t>
            </a:r>
            <a:endParaRPr lang="en-US" sz="1050" dirty="0"/>
          </a:p>
        </p:txBody>
      </p:sp>
      <p:sp>
        <p:nvSpPr>
          <p:cNvPr id="28" name="Text 26"/>
          <p:cNvSpPr/>
          <p:nvPr/>
        </p:nvSpPr>
        <p:spPr>
          <a:xfrm>
            <a:off x="8351215" y="6382512"/>
            <a:ext cx="3273552" cy="274320"/>
          </a:xfrm>
          <a:prstGeom prst="rect">
            <a:avLst/>
          </a:prstGeom>
          <a:noFill/>
          <a:ln/>
        </p:spPr>
        <p:txBody>
          <a:bodyPr wrap="square" lIns="0" tIns="0" rIns="0" bIns="0" rtlCol="0" anchor="ctr"/>
          <a:lstStyle/>
          <a:p>
            <a:pPr algn="r" indent="0" marL="0">
              <a:buNone/>
            </a:pPr>
            <a:r>
              <a:rPr lang="en-US" sz="950" b="1" spc="100" kern="0" dirty="0">
                <a:solidFill>
                  <a:srgbClr val="9A968C"/>
                </a:solidFill>
                <a:latin typeface="Arial" pitchFamily="34" charset="0"/>
                <a:ea typeface="Arial" pitchFamily="34" charset="-122"/>
                <a:cs typeface="Arial" pitchFamily="34" charset="-120"/>
              </a:rPr>
              <a:t>INFLUENCEES</a:t>
            </a:r>
            <a:pPr algn="r" indent="0" marL="0">
              <a:buNone/>
            </a:pPr>
            <a:r>
              <a:rPr lang="en-US" sz="950" b="1" spc="100" kern="0" dirty="0">
                <a:solidFill>
                  <a:srgbClr val="6B675F"/>
                </a:solidFill>
                <a:latin typeface="Arial" pitchFamily="34" charset="0"/>
                <a:ea typeface="Arial" pitchFamily="34" charset="-122"/>
                <a:cs typeface="Arial" pitchFamily="34" charset="-120"/>
              </a:rPr>
              <a:t>   09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C0A"/>
        </a:solidFill>
      </p:bgPr>
    </p:bg>
    <p:spTree>
      <p:nvGrpSpPr>
        <p:cNvPr id="1" name=""/>
        <p:cNvGrpSpPr/>
        <p:nvPr/>
      </p:nvGrpSpPr>
      <p:grpSpPr>
        <a:xfrm>
          <a:off x="0" y="0"/>
          <a:ext cx="0" cy="0"/>
          <a:chOff x="0" y="0"/>
          <a:chExt cx="0" cy="0"/>
        </a:xfrm>
      </p:grpSpPr>
      <p:sp>
        <p:nvSpPr>
          <p:cNvPr id="2" name="Text 0"/>
          <p:cNvSpPr/>
          <p:nvPr/>
        </p:nvSpPr>
        <p:spPr>
          <a:xfrm>
            <a:off x="566928" y="640080"/>
            <a:ext cx="8229600" cy="274320"/>
          </a:xfrm>
          <a:prstGeom prst="rect">
            <a:avLst/>
          </a:prstGeom>
          <a:noFill/>
          <a:ln/>
        </p:spPr>
        <p:txBody>
          <a:bodyPr wrap="square" lIns="0" tIns="0" rIns="0" bIns="0" rtlCol="0" anchor="ctr"/>
          <a:lstStyle/>
          <a:p>
            <a:pPr indent="0" marL="0">
              <a:buNone/>
            </a:pPr>
            <a:r>
              <a:rPr lang="en-US" sz="1150" b="1" spc="250" kern="0" dirty="0">
                <a:solidFill>
                  <a:srgbClr val="9E86FF"/>
                </a:solidFill>
                <a:latin typeface="Arial" pitchFamily="34" charset="0"/>
                <a:ea typeface="Arial" pitchFamily="34" charset="-122"/>
                <a:cs typeface="Arial" pitchFamily="34" charset="-120"/>
              </a:rPr>
              <a:t>INFLUENCEES  ·  BUILD REVIEW</a:t>
            </a:r>
            <a:endParaRPr lang="en-US" sz="1150" dirty="0"/>
          </a:p>
        </p:txBody>
      </p:sp>
      <p:sp>
        <p:nvSpPr>
          <p:cNvPr id="3" name="Text 1"/>
          <p:cNvSpPr/>
          <p:nvPr/>
        </p:nvSpPr>
        <p:spPr>
          <a:xfrm>
            <a:off x="566928" y="1600200"/>
            <a:ext cx="10424160" cy="1371600"/>
          </a:xfrm>
          <a:prstGeom prst="rect">
            <a:avLst/>
          </a:prstGeom>
          <a:noFill/>
          <a:ln/>
        </p:spPr>
        <p:txBody>
          <a:bodyPr wrap="square" lIns="0" tIns="0" rIns="0" bIns="0" rtlCol="0" anchor="t"/>
          <a:lstStyle/>
          <a:p>
            <a:pPr algn="l" indent="0" marL="0">
              <a:lnSpc>
                <a:spcPct val="105000"/>
              </a:lnSpc>
              <a:buNone/>
            </a:pPr>
            <a:r>
              <a:rPr lang="en-US" sz="3800" b="1" dirty="0">
                <a:solidFill>
                  <a:srgbClr val="FFFFFF"/>
                </a:solidFill>
                <a:latin typeface="Arial" pitchFamily="34" charset="0"/>
                <a:ea typeface="Arial" pitchFamily="34" charset="-122"/>
                <a:cs typeface="Arial" pitchFamily="34" charset="-120"/>
              </a:rPr>
              <a:t>One track. Two solutions. Both sides of the platform.</a:t>
            </a:r>
            <a:endParaRPr lang="en-US" sz="3800" dirty="0"/>
          </a:p>
        </p:txBody>
      </p:sp>
      <p:sp>
        <p:nvSpPr>
          <p:cNvPr id="4" name="Shape 2"/>
          <p:cNvSpPr/>
          <p:nvPr/>
        </p:nvSpPr>
        <p:spPr>
          <a:xfrm>
            <a:off x="566928" y="3520440"/>
            <a:ext cx="5257800" cy="1965960"/>
          </a:xfrm>
          <a:prstGeom prst="roundRect">
            <a:avLst>
              <a:gd name="adj" fmla="val 2093"/>
            </a:avLst>
          </a:prstGeom>
          <a:solidFill>
            <a:srgbClr val="17161C"/>
          </a:solidFill>
          <a:ln w="12700">
            <a:solidFill>
              <a:srgbClr val="2C2A33"/>
            </a:solidFill>
            <a:prstDash val="solid"/>
          </a:ln>
        </p:spPr>
      </p:sp>
      <p:sp>
        <p:nvSpPr>
          <p:cNvPr id="5" name="Text 3"/>
          <p:cNvSpPr/>
          <p:nvPr/>
        </p:nvSpPr>
        <p:spPr>
          <a:xfrm>
            <a:off x="877824" y="3794760"/>
            <a:ext cx="4636008" cy="365760"/>
          </a:xfrm>
          <a:prstGeom prst="rect">
            <a:avLst/>
          </a:prstGeom>
          <a:noFill/>
          <a:ln/>
        </p:spPr>
        <p:txBody>
          <a:bodyPr wrap="square" lIns="0" tIns="0" rIns="0" bIns="0" rtlCol="0" anchor="ctr"/>
          <a:lstStyle/>
          <a:p>
            <a:pPr indent="0" marL="0">
              <a:buNone/>
            </a:pPr>
            <a:r>
              <a:rPr lang="en-US" sz="1300" b="1" spc="100" kern="0" dirty="0">
                <a:solidFill>
                  <a:srgbClr val="9E86FF"/>
                </a:solidFill>
                <a:latin typeface="Arial" pitchFamily="34" charset="0"/>
                <a:ea typeface="Arial" pitchFamily="34" charset="-122"/>
                <a:cs typeface="Arial" pitchFamily="34" charset="-120"/>
              </a:rPr>
              <a:t>01  ·  BD Agent</a:t>
            </a:r>
            <a:endParaRPr lang="en-US" sz="1300" dirty="0"/>
          </a:p>
        </p:txBody>
      </p:sp>
      <p:sp>
        <p:nvSpPr>
          <p:cNvPr id="6" name="Text 4"/>
          <p:cNvSpPr/>
          <p:nvPr/>
        </p:nvSpPr>
        <p:spPr>
          <a:xfrm>
            <a:off x="877824" y="4297680"/>
            <a:ext cx="4636008" cy="1051560"/>
          </a:xfrm>
          <a:prstGeom prst="rect">
            <a:avLst/>
          </a:prstGeom>
          <a:noFill/>
          <a:ln/>
        </p:spPr>
        <p:txBody>
          <a:bodyPr wrap="square" lIns="0" tIns="0" rIns="0" bIns="0" rtlCol="0" anchor="ctr"/>
          <a:lstStyle/>
          <a:p>
            <a:pPr indent="0" marL="0">
              <a:lnSpc>
                <a:spcPct val="130000"/>
              </a:lnSpc>
              <a:buNone/>
            </a:pPr>
            <a:r>
              <a:rPr lang="en-US" sz="1200" dirty="0">
                <a:solidFill>
                  <a:srgbClr val="D6D4DA"/>
                </a:solidFill>
                <a:latin typeface="Arial" pitchFamily="34" charset="0"/>
                <a:ea typeface="Arial" pitchFamily="34" charset="-122"/>
                <a:cs typeface="Arial" pitchFamily="34" charset="-120"/>
              </a:rPr>
              <a:t>A controllable outreach operator: discovers, researches, messages, reads replies and follows up. Demoable end to end today, and built to go live with Bright Data plus a channel adapter.</a:t>
            </a:r>
            <a:endParaRPr lang="en-US" sz="1200" dirty="0"/>
          </a:p>
        </p:txBody>
      </p:sp>
      <p:sp>
        <p:nvSpPr>
          <p:cNvPr id="7" name="Shape 5"/>
          <p:cNvSpPr/>
          <p:nvPr/>
        </p:nvSpPr>
        <p:spPr>
          <a:xfrm>
            <a:off x="6190488" y="3520440"/>
            <a:ext cx="5257800" cy="1965960"/>
          </a:xfrm>
          <a:prstGeom prst="roundRect">
            <a:avLst>
              <a:gd name="adj" fmla="val 2093"/>
            </a:avLst>
          </a:prstGeom>
          <a:solidFill>
            <a:srgbClr val="17161C"/>
          </a:solidFill>
          <a:ln w="12700">
            <a:solidFill>
              <a:srgbClr val="2C2A33"/>
            </a:solidFill>
            <a:prstDash val="solid"/>
          </a:ln>
        </p:spPr>
      </p:sp>
      <p:sp>
        <p:nvSpPr>
          <p:cNvPr id="8" name="Text 6"/>
          <p:cNvSpPr/>
          <p:nvPr/>
        </p:nvSpPr>
        <p:spPr>
          <a:xfrm>
            <a:off x="6501384" y="3794760"/>
            <a:ext cx="4636008" cy="365760"/>
          </a:xfrm>
          <a:prstGeom prst="rect">
            <a:avLst/>
          </a:prstGeom>
          <a:noFill/>
          <a:ln/>
        </p:spPr>
        <p:txBody>
          <a:bodyPr wrap="square" lIns="0" tIns="0" rIns="0" bIns="0" rtlCol="0" anchor="ctr"/>
          <a:lstStyle/>
          <a:p>
            <a:pPr indent="0" marL="0">
              <a:buNone/>
            </a:pPr>
            <a:r>
              <a:rPr lang="en-US" sz="1300" b="1" spc="100" kern="0" dirty="0">
                <a:solidFill>
                  <a:srgbClr val="9E86FF"/>
                </a:solidFill>
                <a:latin typeface="Arial" pitchFamily="34" charset="0"/>
                <a:ea typeface="Arial" pitchFamily="34" charset="-122"/>
                <a:cs typeface="Arial" pitchFamily="34" charset="-120"/>
              </a:rPr>
              <a:t>02  ·  Website redesign</a:t>
            </a:r>
            <a:endParaRPr lang="en-US" sz="1300" dirty="0"/>
          </a:p>
        </p:txBody>
      </p:sp>
      <p:sp>
        <p:nvSpPr>
          <p:cNvPr id="9" name="Text 7"/>
          <p:cNvSpPr/>
          <p:nvPr/>
        </p:nvSpPr>
        <p:spPr>
          <a:xfrm>
            <a:off x="6501384" y="4297680"/>
            <a:ext cx="4636008" cy="1051560"/>
          </a:xfrm>
          <a:prstGeom prst="rect">
            <a:avLst/>
          </a:prstGeom>
          <a:noFill/>
          <a:ln/>
        </p:spPr>
        <p:txBody>
          <a:bodyPr wrap="square" lIns="0" tIns="0" rIns="0" bIns="0" rtlCol="0" anchor="ctr"/>
          <a:lstStyle/>
          <a:p>
            <a:pPr indent="0" marL="0">
              <a:lnSpc>
                <a:spcPct val="130000"/>
              </a:lnSpc>
              <a:buNone/>
            </a:pPr>
            <a:r>
              <a:rPr lang="en-US" sz="1200" dirty="0">
                <a:solidFill>
                  <a:srgbClr val="D6D4DA"/>
                </a:solidFill>
                <a:latin typeface="Arial" pitchFamily="34" charset="0"/>
                <a:ea typeface="Arial" pitchFamily="34" charset="-122"/>
                <a:cs typeface="Arial" pitchFamily="34" charset="-120"/>
              </a:rPr>
              <a:t>A credible, consistent public site: one price set, honest feature labels, split brand and creator journeys, one design system. Static, responsive, no backend.</a:t>
            </a:r>
            <a:endParaRPr lang="en-US" sz="1200" dirty="0"/>
          </a:p>
        </p:txBody>
      </p:sp>
      <p:sp>
        <p:nvSpPr>
          <p:cNvPr id="10" name="Text 8"/>
          <p:cNvSpPr/>
          <p:nvPr/>
        </p:nvSpPr>
        <p:spPr>
          <a:xfrm>
            <a:off x="7436815" y="6355080"/>
            <a:ext cx="4187952" cy="274320"/>
          </a:xfrm>
          <a:prstGeom prst="rect">
            <a:avLst/>
          </a:prstGeom>
          <a:noFill/>
          <a:ln/>
        </p:spPr>
        <p:txBody>
          <a:bodyPr wrap="square" lIns="0" tIns="0" rIns="0" bIns="0" rtlCol="0" anchor="ctr"/>
          <a:lstStyle/>
          <a:p>
            <a:pPr algn="r" indent="0" marL="0">
              <a:buNone/>
            </a:pPr>
            <a:r>
              <a:rPr lang="en-US" sz="1000" dirty="0">
                <a:solidFill>
                  <a:srgbClr val="8A8891"/>
                </a:solidFill>
                <a:latin typeface="Arial" pitchFamily="34" charset="0"/>
                <a:ea typeface="Arial" pitchFamily="34" charset="-122"/>
                <a:cs typeface="Arial" pitchFamily="34" charset="-120"/>
              </a:rPr>
              <a:t>hello@influencees.com   ·   Singapore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Influencees — One track, two solutions</dc:title>
  <dc:subject>PptxGenJS Presentation</dc:subject>
  <dc:creator>Influencees build review</dc:creator>
  <cp:lastModifiedBy>Influencees build review</cp:lastModifiedBy>
  <cp:revision>1</cp:revision>
  <dcterms:created xsi:type="dcterms:W3CDTF">2026-07-24T06:43:57Z</dcterms:created>
  <dcterms:modified xsi:type="dcterms:W3CDTF">2026-07-24T06:43:57Z</dcterms:modified>
</cp:coreProperties>
</file>